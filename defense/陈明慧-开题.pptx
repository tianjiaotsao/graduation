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tags/tag1.xml" ContentType="application/vnd.openxmlformats-officedocument.presentationml.tags+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27"/>
  </p:notesMasterIdLst>
  <p:handoutMasterIdLst>
    <p:handoutMasterId r:id="rId28"/>
  </p:handoutMasterIdLst>
  <p:sldIdLst>
    <p:sldId id="462" r:id="rId2"/>
    <p:sldId id="513" r:id="rId3"/>
    <p:sldId id="554" r:id="rId4"/>
    <p:sldId id="662" r:id="rId5"/>
    <p:sldId id="887" r:id="rId6"/>
    <p:sldId id="693" r:id="rId7"/>
    <p:sldId id="888" r:id="rId8"/>
    <p:sldId id="889" r:id="rId9"/>
    <p:sldId id="734" r:id="rId10"/>
    <p:sldId id="601" r:id="rId11"/>
    <p:sldId id="647" r:id="rId12"/>
    <p:sldId id="600" r:id="rId13"/>
    <p:sldId id="891" r:id="rId14"/>
    <p:sldId id="690" r:id="rId15"/>
    <p:sldId id="762" r:id="rId16"/>
    <p:sldId id="608" r:id="rId17"/>
    <p:sldId id="603" r:id="rId18"/>
    <p:sldId id="618" r:id="rId19"/>
    <p:sldId id="605" r:id="rId20"/>
    <p:sldId id="620" r:id="rId21"/>
    <p:sldId id="606" r:id="rId22"/>
    <p:sldId id="634" r:id="rId23"/>
    <p:sldId id="651" r:id="rId24"/>
    <p:sldId id="893" r:id="rId25"/>
    <p:sldId id="636" r:id="rId26"/>
  </p:sldIdLst>
  <p:sldSz cx="9144000" cy="6858000" type="screen4x3"/>
  <p:notesSz cx="9144000" cy="6858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037">
          <p15:clr>
            <a:srgbClr val="A4A3A4"/>
          </p15:clr>
        </p15:guide>
        <p15:guide id="2" pos="3168">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xiong z" initials="xz" lastIdx="14"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FC26C"/>
    <a:srgbClr val="FFFFFF"/>
    <a:srgbClr val="FFE699"/>
    <a:srgbClr val="DDEBF7"/>
    <a:srgbClr val="FBE4D6"/>
    <a:srgbClr val="FFFAEE"/>
    <a:srgbClr val="DAA5E3"/>
    <a:srgbClr val="FFF2CC"/>
    <a:srgbClr val="A2C2FC"/>
    <a:srgbClr val="F3E2F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中度样式 4 - 强调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812" autoAdjust="0"/>
    <p:restoredTop sz="91066" autoAdjust="0"/>
  </p:normalViewPr>
  <p:slideViewPr>
    <p:cSldViewPr snapToGrid="0">
      <p:cViewPr varScale="1">
        <p:scale>
          <a:sx n="92" d="100"/>
          <a:sy n="92" d="100"/>
        </p:scale>
        <p:origin x="870" y="90"/>
      </p:cViewPr>
      <p:guideLst>
        <p:guide orient="horz" pos="2037"/>
        <p:guide pos="3168"/>
      </p:guideLst>
    </p:cSldViewPr>
  </p:slideViewPr>
  <p:outlineViewPr>
    <p:cViewPr>
      <p:scale>
        <a:sx n="33" d="100"/>
        <a:sy n="33" d="100"/>
      </p:scale>
      <p:origin x="0" y="-26432"/>
    </p:cViewPr>
  </p:outlineViewPr>
  <p:notesTextViewPr>
    <p:cViewPr>
      <p:scale>
        <a:sx n="1" d="1"/>
        <a:sy n="1" d="1"/>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presProps" Target="presProps.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962400" cy="344091"/>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sz="quarter" idx="1"/>
          </p:nvPr>
        </p:nvSpPr>
        <p:spPr>
          <a:xfrm>
            <a:off x="5179484" y="0"/>
            <a:ext cx="3962400" cy="344091"/>
          </a:xfrm>
          <a:prstGeom prst="rect">
            <a:avLst/>
          </a:prstGeom>
        </p:spPr>
        <p:txBody>
          <a:bodyPr vert="horz" lIns="91440" tIns="45720" rIns="91440" bIns="45720" rtlCol="0"/>
          <a:lstStyle>
            <a:lvl1pPr algn="r">
              <a:defRPr sz="1200"/>
            </a:lvl1pPr>
          </a:lstStyle>
          <a:p>
            <a:fld id="{40B3B8F7-85AC-BA41-BE0D-E687F3BF4948}" type="datetimeFigureOut">
              <a:rPr kumimoji="1" lang="zh-CN" altLang="en-US" smtClean="0"/>
              <a:t>2025/3/20</a:t>
            </a:fld>
            <a:endParaRPr kumimoji="1" lang="zh-CN" altLang="en-US"/>
          </a:p>
        </p:txBody>
      </p:sp>
      <p:sp>
        <p:nvSpPr>
          <p:cNvPr id="4" name="页脚占位符 3"/>
          <p:cNvSpPr>
            <a:spLocks noGrp="1"/>
          </p:cNvSpPr>
          <p:nvPr>
            <p:ph type="ftr" sz="quarter" idx="2"/>
          </p:nvPr>
        </p:nvSpPr>
        <p:spPr>
          <a:xfrm>
            <a:off x="0" y="6513910"/>
            <a:ext cx="3962400" cy="344090"/>
          </a:xfrm>
          <a:prstGeom prst="rect">
            <a:avLst/>
          </a:prstGeom>
        </p:spPr>
        <p:txBody>
          <a:bodyPr vert="horz" lIns="91440" tIns="45720" rIns="91440" bIns="45720" rtlCol="0" anchor="b"/>
          <a:lstStyle>
            <a:lvl1pPr algn="l">
              <a:defRPr sz="1200"/>
            </a:lvl1pPr>
          </a:lstStyle>
          <a:p>
            <a:endParaRPr kumimoji="1" lang="zh-CN" altLang="en-US"/>
          </a:p>
        </p:txBody>
      </p:sp>
      <p:sp>
        <p:nvSpPr>
          <p:cNvPr id="5" name="幻灯片编号占位符 4"/>
          <p:cNvSpPr>
            <a:spLocks noGrp="1"/>
          </p:cNvSpPr>
          <p:nvPr>
            <p:ph type="sldNum" sz="quarter" idx="3"/>
          </p:nvPr>
        </p:nvSpPr>
        <p:spPr>
          <a:xfrm>
            <a:off x="5179484" y="6513910"/>
            <a:ext cx="3962400" cy="344090"/>
          </a:xfrm>
          <a:prstGeom prst="rect">
            <a:avLst/>
          </a:prstGeom>
        </p:spPr>
        <p:txBody>
          <a:bodyPr vert="horz" lIns="91440" tIns="45720" rIns="91440" bIns="45720" rtlCol="0" anchor="b"/>
          <a:lstStyle>
            <a:lvl1pPr algn="r">
              <a:defRPr sz="1200"/>
            </a:lvl1pPr>
          </a:lstStyle>
          <a:p>
            <a:fld id="{658700AA-FBEC-2C46-A04F-BFEFFE6CD42F}" type="slidenum">
              <a:rPr kumimoji="1" lang="zh-CN" altLang="en-US" smtClean="0"/>
              <a:t>‹#›</a:t>
            </a:fld>
            <a:endParaRPr kumimoji="1"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962400" cy="344091"/>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5179484" y="0"/>
            <a:ext cx="3962400" cy="344091"/>
          </a:xfrm>
          <a:prstGeom prst="rect">
            <a:avLst/>
          </a:prstGeom>
        </p:spPr>
        <p:txBody>
          <a:bodyPr vert="horz" lIns="91440" tIns="45720" rIns="91440" bIns="45720" rtlCol="0"/>
          <a:lstStyle>
            <a:lvl1pPr algn="r">
              <a:defRPr sz="1200"/>
            </a:lvl1pPr>
          </a:lstStyle>
          <a:p>
            <a:fld id="{4E406BDE-2862-4418-BE18-E8FEB87C1189}" type="datetimeFigureOut">
              <a:rPr lang="zh-CN" altLang="en-US" smtClean="0"/>
              <a:t>2025/3/20</a:t>
            </a:fld>
            <a:endParaRPr lang="zh-CN" altLang="en-US"/>
          </a:p>
        </p:txBody>
      </p:sp>
      <p:sp>
        <p:nvSpPr>
          <p:cNvPr id="4" name="幻灯片图像占位符 3"/>
          <p:cNvSpPr>
            <a:spLocks noGrp="1" noRot="1" noChangeAspect="1"/>
          </p:cNvSpPr>
          <p:nvPr>
            <p:ph type="sldImg" idx="2"/>
          </p:nvPr>
        </p:nvSpPr>
        <p:spPr>
          <a:xfrm>
            <a:off x="3028950" y="857250"/>
            <a:ext cx="3086100" cy="2314575"/>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914400" y="3300412"/>
            <a:ext cx="7315200" cy="2700338"/>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6513910"/>
            <a:ext cx="3962400" cy="34409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5179484" y="6513910"/>
            <a:ext cx="3962400" cy="344090"/>
          </a:xfrm>
          <a:prstGeom prst="rect">
            <a:avLst/>
          </a:prstGeom>
        </p:spPr>
        <p:txBody>
          <a:bodyPr vert="horz" lIns="91440" tIns="45720" rIns="91440" bIns="45720" rtlCol="0" anchor="b"/>
          <a:lstStyle>
            <a:lvl1pPr algn="r">
              <a:defRPr sz="1200"/>
            </a:lvl1pPr>
          </a:lstStyle>
          <a:p>
            <a:fld id="{4E778869-AF05-4C0C-B5F3-5E79DED043FA}"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幻灯片图像占位符 1"/>
          <p:cNvSpPr>
            <a:spLocks noGrp="1" noRot="1" noChangeAspect="1" noTextEdit="1"/>
          </p:cNvSpPr>
          <p:nvPr>
            <p:ph type="sldImg"/>
          </p:nvPr>
        </p:nvSpPr>
        <p:spPr bwMode="auto">
          <a:xfrm>
            <a:off x="3028950" y="857250"/>
            <a:ext cx="3086100" cy="2314575"/>
          </a:xfrm>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8435"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r>
              <a:rPr lang="zh-CN" altLang="en-US" dirty="0"/>
              <a:t>各位老师同学上午好，我是</a:t>
            </a:r>
            <a:r>
              <a:rPr lang="en-US" altLang="zh-CN" dirty="0"/>
              <a:t>2023</a:t>
            </a:r>
            <a:r>
              <a:rPr lang="zh-CN" altLang="en-US" dirty="0"/>
              <a:t>级硕士生陈明慧；我的导师是吴大衍老师；我本次开题答辩的题目是</a:t>
            </a:r>
          </a:p>
        </p:txBody>
      </p:sp>
      <p:sp>
        <p:nvSpPr>
          <p:cNvPr id="18436"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a:defRPr>
                <a:solidFill>
                  <a:schemeClr val="tx1"/>
                </a:solidFill>
                <a:latin typeface="Arial" panose="020B0604020202020204" pitchFamily="34" charset="0"/>
                <a:ea typeface="宋体" pitchFamily="2" charset="-122"/>
              </a:defRPr>
            </a:lvl1pPr>
            <a:lvl2pPr marL="742950" indent="-285750">
              <a:defRPr>
                <a:solidFill>
                  <a:schemeClr val="tx1"/>
                </a:solidFill>
                <a:latin typeface="Arial" panose="020B0604020202020204" pitchFamily="34" charset="0"/>
                <a:ea typeface="宋体" pitchFamily="2" charset="-122"/>
              </a:defRPr>
            </a:lvl2pPr>
            <a:lvl3pPr marL="1143000" indent="-228600">
              <a:defRPr>
                <a:solidFill>
                  <a:schemeClr val="tx1"/>
                </a:solidFill>
                <a:latin typeface="Arial" panose="020B0604020202020204" pitchFamily="34" charset="0"/>
                <a:ea typeface="宋体" pitchFamily="2" charset="-122"/>
              </a:defRPr>
            </a:lvl3pPr>
            <a:lvl4pPr marL="1600200" indent="-228600">
              <a:defRPr>
                <a:solidFill>
                  <a:schemeClr val="tx1"/>
                </a:solidFill>
                <a:latin typeface="Arial" panose="020B0604020202020204" pitchFamily="34" charset="0"/>
                <a:ea typeface="宋体" pitchFamily="2" charset="-122"/>
              </a:defRPr>
            </a:lvl4pPr>
            <a:lvl5pPr marL="2057400" indent="-228600">
              <a:defRPr>
                <a:solidFill>
                  <a:schemeClr val="tx1"/>
                </a:solidFill>
                <a:latin typeface="Arial" panose="020B060402020202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9pPr>
          </a:lstStyle>
          <a:p>
            <a:fld id="{4A3BE2E2-167B-4524-99BF-2A8A98CA1CE8}"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本次答辩我将从以下几个方面展开介绍</a:t>
            </a:r>
          </a:p>
        </p:txBody>
      </p:sp>
      <p:sp>
        <p:nvSpPr>
          <p:cNvPr id="4" name="幻灯片编号占位符 3"/>
          <p:cNvSpPr>
            <a:spLocks noGrp="1"/>
          </p:cNvSpPr>
          <p:nvPr>
            <p:ph type="sldNum" sz="quarter" idx="10"/>
          </p:nvPr>
        </p:nvSpPr>
        <p:spPr/>
        <p:txBody>
          <a:bodyPr/>
          <a:lstStyle/>
          <a:p>
            <a:fld id="{4E778869-AF05-4C0C-B5F3-5E79DED043FA}" type="slidenum">
              <a:rPr lang="zh-CN" altLang="en-US" smtClean="0"/>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en-US" altLang="zh-CN" dirty="0"/>
          </a:p>
        </p:txBody>
      </p:sp>
      <p:sp>
        <p:nvSpPr>
          <p:cNvPr id="4" name="幻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E778869-AF05-4C0C-B5F3-5E79DED043FA}"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t>3</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如图所示，给定一张用户关注的查询图像后，将在不同的监控摄像头下查询目标人物，并期望以排名靠前的顺序返回目标人物的图片。因此，行人重识别任务的本质是一个跨相机的检索任务。</a:t>
            </a:r>
          </a:p>
        </p:txBody>
      </p:sp>
      <p:sp>
        <p:nvSpPr>
          <p:cNvPr id="4" name="幻灯片编号占位符 3"/>
          <p:cNvSpPr>
            <a:spLocks noGrp="1"/>
          </p:cNvSpPr>
          <p:nvPr>
            <p:ph type="sldNum" sz="quarter" idx="10"/>
          </p:nvPr>
        </p:nvSpPr>
        <p:spPr/>
        <p:txBody>
          <a:bodyPr/>
          <a:lstStyle/>
          <a:p>
            <a:fld id="{4E778869-AF05-4C0C-B5F3-5E79DED043FA}" type="slidenum">
              <a:rPr lang="zh-CN" altLang="en-US" smtClean="0"/>
              <a:t>4</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C0D494-62D8-43AF-00D5-051337277BC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DF94602-3DE4-3D79-23D2-5962A42E4C3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6EE85A2-6086-9171-354C-7397ADD2625D}"/>
              </a:ext>
            </a:extLst>
          </p:cNvPr>
          <p:cNvSpPr>
            <a:spLocks noGrp="1"/>
          </p:cNvSpPr>
          <p:nvPr>
            <p:ph type="body" idx="1"/>
          </p:nvPr>
        </p:nvSpPr>
        <p:spPr/>
        <p:txBody>
          <a:bodyPr/>
          <a:lstStyle/>
          <a:p>
            <a:endParaRPr kumimoji="1" lang="zh-CN" altLang="en-US" dirty="0"/>
          </a:p>
        </p:txBody>
      </p:sp>
      <p:sp>
        <p:nvSpPr>
          <p:cNvPr id="4" name="幻灯片编号占位符 3">
            <a:extLst>
              <a:ext uri="{FF2B5EF4-FFF2-40B4-BE49-F238E27FC236}">
                <a16:creationId xmlns:a16="http://schemas.microsoft.com/office/drawing/2014/main" id="{413763BD-7213-0488-7685-EB8D56C23D2B}"/>
              </a:ext>
            </a:extLst>
          </p:cNvPr>
          <p:cNvSpPr>
            <a:spLocks noGrp="1"/>
          </p:cNvSpPr>
          <p:nvPr>
            <p:ph type="sldNum" sz="quarter" idx="10"/>
          </p:nvPr>
        </p:nvSpPr>
        <p:spPr/>
        <p:txBody>
          <a:bodyPr/>
          <a:lstStyle/>
          <a:p>
            <a:fld id="{4E778869-AF05-4C0C-B5F3-5E79DED043FA}" type="slidenum">
              <a:rPr lang="zh-CN" altLang="en-US" smtClean="0"/>
              <a:t>5</a:t>
            </a:fld>
            <a:endParaRPr lang="zh-CN" altLang="en-US"/>
          </a:p>
        </p:txBody>
      </p:sp>
    </p:spTree>
    <p:extLst>
      <p:ext uri="{BB962C8B-B14F-4D97-AF65-F5344CB8AC3E}">
        <p14:creationId xmlns:p14="http://schemas.microsoft.com/office/powerpoint/2010/main" val="366931893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dirty="0"/>
          </a:p>
        </p:txBody>
      </p:sp>
      <p:sp>
        <p:nvSpPr>
          <p:cNvPr id="4" name="幻灯片编号占位符 3"/>
          <p:cNvSpPr>
            <a:spLocks noGrp="1"/>
          </p:cNvSpPr>
          <p:nvPr>
            <p:ph type="sldNum" sz="quarter" idx="10"/>
          </p:nvPr>
        </p:nvSpPr>
        <p:spPr/>
        <p:txBody>
          <a:bodyPr/>
          <a:lstStyle/>
          <a:p>
            <a:fld id="{4E778869-AF05-4C0C-B5F3-5E79DED043FA}" type="slidenum">
              <a:rPr lang="zh-CN" altLang="en-US" smtClean="0"/>
              <a:t>6</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6D3158-4611-8314-531D-F3C9EFD350E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D7A9CF9-CCC1-FA34-045E-4FEB347B653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CFDAC36-5DF9-D29E-2F2B-6EB3BBC52BD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dirty="0"/>
          </a:p>
        </p:txBody>
      </p:sp>
      <p:sp>
        <p:nvSpPr>
          <p:cNvPr id="4" name="幻灯片编号占位符 3">
            <a:extLst>
              <a:ext uri="{FF2B5EF4-FFF2-40B4-BE49-F238E27FC236}">
                <a16:creationId xmlns:a16="http://schemas.microsoft.com/office/drawing/2014/main" id="{294595C2-1890-0573-BA43-97471F75B659}"/>
              </a:ext>
            </a:extLst>
          </p:cNvPr>
          <p:cNvSpPr>
            <a:spLocks noGrp="1"/>
          </p:cNvSpPr>
          <p:nvPr>
            <p:ph type="sldNum" sz="quarter" idx="10"/>
          </p:nvPr>
        </p:nvSpPr>
        <p:spPr/>
        <p:txBody>
          <a:bodyPr/>
          <a:lstStyle/>
          <a:p>
            <a:fld id="{4E778869-AF05-4C0C-B5F3-5E79DED043FA}" type="slidenum">
              <a:rPr lang="zh-CN" altLang="en-US" smtClean="0"/>
              <a:t>7</a:t>
            </a:fld>
            <a:endParaRPr lang="zh-CN" altLang="en-US"/>
          </a:p>
        </p:txBody>
      </p:sp>
    </p:spTree>
    <p:extLst>
      <p:ext uri="{BB962C8B-B14F-4D97-AF65-F5344CB8AC3E}">
        <p14:creationId xmlns:p14="http://schemas.microsoft.com/office/powerpoint/2010/main" val="6081050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1C4408-C565-0B45-83CC-86F36B3B1EA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980DC0E-522B-4948-B493-E65100348B1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1D90759-4D86-1FB9-4E01-619CDC385732}"/>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dirty="0"/>
          </a:p>
        </p:txBody>
      </p:sp>
      <p:sp>
        <p:nvSpPr>
          <p:cNvPr id="4" name="幻灯片编号占位符 3">
            <a:extLst>
              <a:ext uri="{FF2B5EF4-FFF2-40B4-BE49-F238E27FC236}">
                <a16:creationId xmlns:a16="http://schemas.microsoft.com/office/drawing/2014/main" id="{06440C75-FC26-80C9-C22D-F00D0487BD08}"/>
              </a:ext>
            </a:extLst>
          </p:cNvPr>
          <p:cNvSpPr>
            <a:spLocks noGrp="1"/>
          </p:cNvSpPr>
          <p:nvPr>
            <p:ph type="sldNum" sz="quarter" idx="10"/>
          </p:nvPr>
        </p:nvSpPr>
        <p:spPr/>
        <p:txBody>
          <a:bodyPr/>
          <a:lstStyle/>
          <a:p>
            <a:fld id="{4E778869-AF05-4C0C-B5F3-5E79DED043FA}" type="slidenum">
              <a:rPr lang="zh-CN" altLang="en-US" smtClean="0"/>
              <a:t>8</a:t>
            </a:fld>
            <a:endParaRPr lang="zh-CN" altLang="en-US"/>
          </a:p>
        </p:txBody>
      </p:sp>
    </p:spTree>
    <p:extLst>
      <p:ext uri="{BB962C8B-B14F-4D97-AF65-F5344CB8AC3E}">
        <p14:creationId xmlns:p14="http://schemas.microsoft.com/office/powerpoint/2010/main" val="15949473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a:endParaRPr kumimoji="1" lang="zh-CN" altLang="en-US" dirty="0"/>
          </a:p>
        </p:txBody>
      </p:sp>
      <p:sp>
        <p:nvSpPr>
          <p:cNvPr id="4" name="幻灯片编号占位符 3"/>
          <p:cNvSpPr>
            <a:spLocks noGrp="1"/>
          </p:cNvSpPr>
          <p:nvPr>
            <p:ph type="sldNum" sz="quarter" idx="10"/>
          </p:nvPr>
        </p:nvSpPr>
        <p:spPr/>
        <p:txBody>
          <a:bodyPr/>
          <a:lstStyle/>
          <a:p>
            <a:fld id="{4E778869-AF05-4C0C-B5F3-5E79DED043FA}" type="slidenum">
              <a:rPr lang="zh-CN" altLang="en-US" smtClean="0"/>
              <a:t>9</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下面介绍一下国内外研究现状。</a:t>
            </a:r>
          </a:p>
        </p:txBody>
      </p:sp>
      <p:sp>
        <p:nvSpPr>
          <p:cNvPr id="4" name="幻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E778869-AF05-4C0C-B5F3-5E79DED043FA}"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t>10</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200" kern="1200" dirty="0">
              <a:solidFill>
                <a:schemeClr val="bg1"/>
              </a:solidFill>
              <a:latin typeface="STKaiti" panose="02010600040101010101" charset="-122"/>
              <a:ea typeface="STKaiti" panose="02010600040101010101" charset="-122"/>
              <a:cs typeface="+mn-cs"/>
            </a:endParaRPr>
          </a:p>
        </p:txBody>
      </p:sp>
      <p:sp>
        <p:nvSpPr>
          <p:cNvPr id="4" name="幻灯片编号占位符 3"/>
          <p:cNvSpPr>
            <a:spLocks noGrp="1"/>
          </p:cNvSpPr>
          <p:nvPr>
            <p:ph type="sldNum" sz="quarter" idx="10"/>
          </p:nvPr>
        </p:nvSpPr>
        <p:spPr/>
        <p:txBody>
          <a:bodyPr/>
          <a:lstStyle/>
          <a:p>
            <a:fld id="{4E778869-AF05-4C0C-B5F3-5E79DED043FA}" type="slidenum">
              <a:rPr lang="zh-CN" altLang="en-US" smtClean="0"/>
              <a:t>11</a:t>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E778869-AF05-4C0C-B5F3-5E79DED043FA}"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t>12</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solidFill>
                <a:srgbClr val="002060"/>
              </a:solidFill>
              <a:latin typeface="华文楷体" panose="02010600040101010101" charset="-122"/>
              <a:ea typeface="华文楷体" panose="02010600040101010101" charset="-122"/>
            </a:endParaRPr>
          </a:p>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solidFill>
                <a:srgbClr val="FF0000"/>
              </a:solidFill>
              <a:latin typeface="华文楷体" panose="02010600040101010101" charset="-122"/>
              <a:ea typeface="华文楷体" panose="02010600040101010101" charset="-122"/>
            </a:endParaRPr>
          </a:p>
          <a:p>
            <a:endParaRPr kumimoji="1" lang="en-US" altLang="zh-CN" b="0" dirty="0"/>
          </a:p>
        </p:txBody>
      </p:sp>
      <p:sp>
        <p:nvSpPr>
          <p:cNvPr id="4" name="幻灯片编号占位符 3"/>
          <p:cNvSpPr>
            <a:spLocks noGrp="1"/>
          </p:cNvSpPr>
          <p:nvPr>
            <p:ph type="sldNum" sz="quarter" idx="10"/>
          </p:nvPr>
        </p:nvSpPr>
        <p:spPr/>
        <p:txBody>
          <a:bodyPr/>
          <a:lstStyle/>
          <a:p>
            <a:fld id="{4E778869-AF05-4C0C-B5F3-5E79DED043FA}" type="slidenum">
              <a:rPr lang="zh-CN" altLang="en-US" smtClean="0"/>
              <a:t>13</a:t>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solidFill>
                <a:srgbClr val="FF0000"/>
              </a:solidFill>
              <a:latin typeface="STKaiti" panose="02010600040101010101" charset="-122"/>
              <a:ea typeface="STKaiti" panose="02010600040101010101" charset="-122"/>
            </a:endParaRPr>
          </a:p>
          <a:p>
            <a:endParaRPr kumimoji="1" lang="en-US" altLang="zh-CN" dirty="0"/>
          </a:p>
        </p:txBody>
      </p:sp>
      <p:sp>
        <p:nvSpPr>
          <p:cNvPr id="4" name="幻灯片编号占位符 3"/>
          <p:cNvSpPr>
            <a:spLocks noGrp="1"/>
          </p:cNvSpPr>
          <p:nvPr>
            <p:ph type="sldNum" sz="quarter" idx="10"/>
          </p:nvPr>
        </p:nvSpPr>
        <p:spPr/>
        <p:txBody>
          <a:bodyPr/>
          <a:lstStyle/>
          <a:p>
            <a:fld id="{4E778869-AF05-4C0C-B5F3-5E79DED043FA}" type="slidenum">
              <a:rPr lang="zh-CN" altLang="en-US" smtClean="0"/>
              <a:t>14</a:t>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en-US" altLang="zh-CN" dirty="0"/>
          </a:p>
        </p:txBody>
      </p:sp>
      <p:sp>
        <p:nvSpPr>
          <p:cNvPr id="4" name="幻灯片编号占位符 3"/>
          <p:cNvSpPr>
            <a:spLocks noGrp="1"/>
          </p:cNvSpPr>
          <p:nvPr>
            <p:ph type="sldNum" sz="quarter" idx="10"/>
          </p:nvPr>
        </p:nvSpPr>
        <p:spPr/>
        <p:txBody>
          <a:bodyPr/>
          <a:lstStyle/>
          <a:p>
            <a:fld id="{4E778869-AF05-4C0C-B5F3-5E79DED043FA}" type="slidenum">
              <a:rPr lang="zh-CN" altLang="en-US" smtClean="0"/>
              <a:t>15</a:t>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en-US" altLang="zh-CN" dirty="0"/>
          </a:p>
        </p:txBody>
      </p:sp>
      <p:sp>
        <p:nvSpPr>
          <p:cNvPr id="4" name="幻灯片编号占位符 3"/>
          <p:cNvSpPr>
            <a:spLocks noGrp="1"/>
          </p:cNvSpPr>
          <p:nvPr>
            <p:ph type="sldNum" sz="quarter" idx="10"/>
          </p:nvPr>
        </p:nvSpPr>
        <p:spPr/>
        <p:txBody>
          <a:bodyPr/>
          <a:lstStyle/>
          <a:p>
            <a:fld id="{4E778869-AF05-4C0C-B5F3-5E79DED043FA}" type="slidenum">
              <a:rPr lang="zh-CN" altLang="en-US" smtClean="0"/>
              <a:t>16</a:t>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E778869-AF05-4C0C-B5F3-5E79DED043FA}"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t>17</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针对研究内容一，已有一篇论文被录用</a:t>
            </a:r>
            <a:endParaRPr lang="en-GB" altLang="zh-CN" dirty="0"/>
          </a:p>
        </p:txBody>
      </p:sp>
      <p:sp>
        <p:nvSpPr>
          <p:cNvPr id="4" name="幻灯片编号占位符 3"/>
          <p:cNvSpPr>
            <a:spLocks noGrp="1"/>
          </p:cNvSpPr>
          <p:nvPr>
            <p:ph type="sldNum" sz="quarter" idx="10"/>
          </p:nvPr>
        </p:nvSpPr>
        <p:spPr/>
        <p:txBody>
          <a:bodyPr/>
          <a:lstStyle/>
          <a:p>
            <a:fld id="{4E778869-AF05-4C0C-B5F3-5E79DED043FA}" type="slidenum">
              <a:rPr lang="zh-CN" altLang="en-US" smtClean="0"/>
              <a:t>18</a:t>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E778869-AF05-4C0C-B5F3-5E79DED043FA}"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t>19</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en-US" altLang="zh-CN" dirty="0"/>
          </a:p>
        </p:txBody>
      </p:sp>
      <p:sp>
        <p:nvSpPr>
          <p:cNvPr id="4" name="幻灯片编号占位符 3"/>
          <p:cNvSpPr>
            <a:spLocks noGrp="1"/>
          </p:cNvSpPr>
          <p:nvPr>
            <p:ph type="sldNum" sz="quarter" idx="10"/>
          </p:nvPr>
        </p:nvSpPr>
        <p:spPr/>
        <p:txBody>
          <a:bodyPr/>
          <a:lstStyle/>
          <a:p>
            <a:fld id="{4E778869-AF05-4C0C-B5F3-5E79DED043FA}" type="slidenum">
              <a:rPr lang="zh-CN" altLang="en-US" smtClean="0"/>
              <a:t>20</a:t>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E778869-AF05-4C0C-B5F3-5E79DED043FA}"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t>21</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en-US" altLang="zh-CN" dirty="0"/>
          </a:p>
        </p:txBody>
      </p:sp>
      <p:sp>
        <p:nvSpPr>
          <p:cNvPr id="4" name="幻灯片编号占位符 3"/>
          <p:cNvSpPr>
            <a:spLocks noGrp="1"/>
          </p:cNvSpPr>
          <p:nvPr>
            <p:ph type="sldNum" sz="quarter" idx="10"/>
          </p:nvPr>
        </p:nvSpPr>
        <p:spPr/>
        <p:txBody>
          <a:bodyPr/>
          <a:lstStyle/>
          <a:p>
            <a:fld id="{4E778869-AF05-4C0C-B5F3-5E79DED043FA}" type="slidenum">
              <a:rPr lang="zh-CN" altLang="en-US" smtClean="0"/>
              <a:t>22</a:t>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en-US" altLang="zh-CN" dirty="0"/>
          </a:p>
        </p:txBody>
      </p:sp>
      <p:sp>
        <p:nvSpPr>
          <p:cNvPr id="4" name="幻灯片编号占位符 3"/>
          <p:cNvSpPr>
            <a:spLocks noGrp="1"/>
          </p:cNvSpPr>
          <p:nvPr>
            <p:ph type="sldNum" sz="quarter" idx="10"/>
          </p:nvPr>
        </p:nvSpPr>
        <p:spPr/>
        <p:txBody>
          <a:bodyPr/>
          <a:lstStyle/>
          <a:p>
            <a:fld id="{4E778869-AF05-4C0C-B5F3-5E79DED043FA}" type="slidenum">
              <a:rPr lang="zh-CN" altLang="en-US" smtClean="0"/>
              <a:t>23</a:t>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C5FDD6-A265-246B-AF2C-49AC3CC6982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7FFD49B-B133-CE57-3586-3EFDE0C1D79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4E97D87-0E0A-F4DF-25A1-64AB01128125}"/>
              </a:ext>
            </a:extLst>
          </p:cNvPr>
          <p:cNvSpPr>
            <a:spLocks noGrp="1"/>
          </p:cNvSpPr>
          <p:nvPr>
            <p:ph type="body" idx="1"/>
          </p:nvPr>
        </p:nvSpPr>
        <p:spPr/>
        <p:txBody>
          <a:bodyPr/>
          <a:lstStyle/>
          <a:p>
            <a:endParaRPr kumimoji="1" lang="en-US" altLang="zh-CN" dirty="0"/>
          </a:p>
        </p:txBody>
      </p:sp>
      <p:sp>
        <p:nvSpPr>
          <p:cNvPr id="4" name="幻灯片编号占位符 3">
            <a:extLst>
              <a:ext uri="{FF2B5EF4-FFF2-40B4-BE49-F238E27FC236}">
                <a16:creationId xmlns:a16="http://schemas.microsoft.com/office/drawing/2014/main" id="{0A253D7B-92E5-AD45-DA98-78121AE1B60E}"/>
              </a:ext>
            </a:extLst>
          </p:cNvPr>
          <p:cNvSpPr>
            <a:spLocks noGrp="1"/>
          </p:cNvSpPr>
          <p:nvPr>
            <p:ph type="sldNum" sz="quarter" idx="10"/>
          </p:nvPr>
        </p:nvSpPr>
        <p:spPr/>
        <p:txBody>
          <a:bodyPr/>
          <a:lstStyle/>
          <a:p>
            <a:fld id="{4E778869-AF05-4C0C-B5F3-5E79DED043FA}" type="slidenum">
              <a:rPr lang="zh-CN" altLang="en-US" smtClean="0"/>
              <a:t>24</a:t>
            </a:fld>
            <a:endParaRPr lang="zh-CN" altLang="en-US"/>
          </a:p>
        </p:txBody>
      </p:sp>
    </p:spTree>
    <p:extLst>
      <p:ext uri="{BB962C8B-B14F-4D97-AF65-F5344CB8AC3E}">
        <p14:creationId xmlns:p14="http://schemas.microsoft.com/office/powerpoint/2010/main" val="224464569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en-US" altLang="zh-CN" dirty="0"/>
          </a:p>
        </p:txBody>
      </p:sp>
      <p:sp>
        <p:nvSpPr>
          <p:cNvPr id="4" name="幻灯片编号占位符 3"/>
          <p:cNvSpPr>
            <a:spLocks noGrp="1"/>
          </p:cNvSpPr>
          <p:nvPr>
            <p:ph type="sldNum" sz="quarter" idx="10"/>
          </p:nvPr>
        </p:nvSpPr>
        <p:spPr/>
        <p:txBody>
          <a:bodyPr/>
          <a:lstStyle/>
          <a:p>
            <a:fld id="{4E778869-AF05-4C0C-B5F3-5E79DED043FA}" type="slidenum">
              <a:rPr lang="zh-CN" altLang="en-US" smtClean="0"/>
              <a:t>25</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6.jpeg"/><Relationship Id="rId4" Type="http://schemas.openxmlformats.org/officeDocument/2006/relationships/image" Target="../media/image5.jpe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A0697CFC-F8DF-4AEB-940F-E938B70C0E57}"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A0697CFC-F8DF-4AEB-940F-E938B70C0E57}"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A0697CFC-F8DF-4AEB-940F-E938B70C0E57}"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项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4"/>
          <p:cNvSpPr>
            <a:spLocks noGrp="1"/>
          </p:cNvSpPr>
          <p:nvPr>
            <p:ph type="dt" sz="half" idx="10"/>
          </p:nvPr>
        </p:nvSpPr>
        <p:spPr/>
        <p:txBody>
          <a:bodyPr/>
          <a:lstStyle/>
          <a:p>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A0697CFC-F8DF-4AEB-940F-E938B70C0E57}"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629842" y="2505075"/>
            <a:ext cx="3868340"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4629150" y="2505075"/>
            <a:ext cx="3887391"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A0697CFC-F8DF-4AEB-940F-E938B70C0E57}"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A0697CFC-F8DF-4AEB-940F-E938B70C0E57}"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A0697CFC-F8DF-4AEB-940F-E938B70C0E57}"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A0697CFC-F8DF-4AEB-940F-E938B70C0E57}"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hasCustomPrompt="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将图片拖动到占位符，或单击添加图标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A0697CFC-F8DF-4AEB-940F-E938B70C0E57}"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本">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A0697CFC-F8DF-4AEB-940F-E938B70C0E57}"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和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A0697CFC-F8DF-4AEB-940F-E938B70C0E57}"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pic>
        <p:nvPicPr>
          <p:cNvPr id="3" name="Picture 7" descr="B-1"/>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1588"/>
            <a:ext cx="9144000" cy="6856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ctrTitle"/>
          </p:nvPr>
        </p:nvSpPr>
        <p:spPr>
          <a:xfrm>
            <a:off x="683568" y="1412780"/>
            <a:ext cx="7772400" cy="1470025"/>
          </a:xfrm>
          <a:prstGeom prst="rect">
            <a:avLst/>
          </a:prstGeom>
        </p:spPr>
        <p:txBody>
          <a:bodyPr/>
          <a:lstStyle>
            <a:lvl1pPr>
              <a:defRPr>
                <a:solidFill>
                  <a:schemeClr val="bg1"/>
                </a:solidFill>
              </a:defRPr>
            </a:lvl1pPr>
          </a:lstStyle>
          <a:p>
            <a:r>
              <a:rPr lang="zh-CN" altLang="en-US" dirty="0"/>
              <a:t>单击此处编辑母版标题样式</a:t>
            </a:r>
          </a:p>
        </p:txBody>
      </p:sp>
      <p:sp>
        <p:nvSpPr>
          <p:cNvPr id="4" name="Rectangle 4"/>
          <p:cNvSpPr>
            <a:spLocks noGrp="1" noChangeArrowheads="1"/>
          </p:cNvSpPr>
          <p:nvPr>
            <p:ph type="dt" sz="half" idx="10"/>
          </p:nvPr>
        </p:nvSpPr>
        <p:spPr>
          <a:xfrm>
            <a:off x="457200" y="6356354"/>
            <a:ext cx="2133600" cy="365125"/>
          </a:xfrm>
          <a:prstGeom prst="rect">
            <a:avLst/>
          </a:prstGeom>
        </p:spPr>
        <p:txBody>
          <a:bodyPr/>
          <a:lstStyle>
            <a:lvl1pPr eaLnBrk="1" hangingPunct="1">
              <a:defRPr>
                <a:latin typeface="Arial" panose="020B0604020202020204" pitchFamily="34" charset="0"/>
              </a:defRPr>
            </a:lvl1pPr>
          </a:lstStyle>
          <a:p>
            <a:pPr>
              <a:defRPr/>
            </a:pPr>
            <a:endParaRPr lang="en-US" altLang="zh-CN"/>
          </a:p>
        </p:txBody>
      </p:sp>
      <p:sp>
        <p:nvSpPr>
          <p:cNvPr id="5" name="Rectangle 5"/>
          <p:cNvSpPr>
            <a:spLocks noGrp="1" noChangeArrowheads="1"/>
          </p:cNvSpPr>
          <p:nvPr>
            <p:ph type="ftr" sz="quarter" idx="11"/>
          </p:nvPr>
        </p:nvSpPr>
        <p:spPr>
          <a:xfrm>
            <a:off x="3124200" y="6356354"/>
            <a:ext cx="2895600" cy="365125"/>
          </a:xfrm>
          <a:prstGeom prst="rect">
            <a:avLst/>
          </a:prstGeom>
        </p:spPr>
        <p:txBody>
          <a:bodyPr/>
          <a:lstStyle>
            <a:lvl1pPr eaLnBrk="1" hangingPunct="1">
              <a:defRPr>
                <a:latin typeface="Arial" panose="020B0604020202020204" pitchFamily="34" charset="0"/>
              </a:defRPr>
            </a:lvl1pPr>
          </a:lstStyle>
          <a:p>
            <a:pPr>
              <a:defRPr/>
            </a:pPr>
            <a:endParaRPr lang="en-US" altLang="zh-CN"/>
          </a:p>
        </p:txBody>
      </p:sp>
      <p:sp>
        <p:nvSpPr>
          <p:cNvPr id="6" name="Rectangle 6"/>
          <p:cNvSpPr>
            <a:spLocks noGrp="1" noChangeArrowheads="1"/>
          </p:cNvSpPr>
          <p:nvPr>
            <p:ph type="sldNum" sz="quarter" idx="12"/>
          </p:nvPr>
        </p:nvSpPr>
        <p:spPr>
          <a:xfrm>
            <a:off x="6553200" y="6356354"/>
            <a:ext cx="2133600" cy="365125"/>
          </a:xfrm>
          <a:prstGeom prst="rect">
            <a:avLst/>
          </a:prstGeom>
        </p:spPr>
        <p:txBody>
          <a:bodyPr/>
          <a:lstStyle>
            <a:lvl1pPr eaLnBrk="1" hangingPunct="1">
              <a:defRPr>
                <a:latin typeface="Arial" panose="020B0604020202020204" pitchFamily="34" charset="0"/>
              </a:defRPr>
            </a:lvl1pPr>
          </a:lstStyle>
          <a:p>
            <a:pPr>
              <a:defRPr/>
            </a:pPr>
            <a:fld id="{7E4120DA-79AD-4503-BE19-C8576EFBED5B}" type="slidenum">
              <a:rPr lang="en-US" altLang="zh-CN"/>
              <a:t>‹#›</a:t>
            </a:fld>
            <a:endParaRPr lang="en-US" altLang="zh-CN"/>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5" name="灯片编号占位符 5"/>
          <p:cNvSpPr txBox="1"/>
          <p:nvPr userDrawn="1"/>
        </p:nvSpPr>
        <p:spPr>
          <a:xfrm>
            <a:off x="6553200" y="6356354"/>
            <a:ext cx="2133600" cy="365125"/>
          </a:xfrm>
          <a:prstGeom prst="rect">
            <a:avLst/>
          </a:prstGeom>
        </p:spPr>
        <p:txBody>
          <a:bodyPr anchor="ctr"/>
          <a:lstStyle>
            <a:lvl1pPr algn="r">
              <a:defRPr sz="1200">
                <a:solidFill>
                  <a:schemeClr val="tx1">
                    <a:tint val="75000"/>
                  </a:schemeClr>
                </a:solidFill>
              </a:defRPr>
            </a:lvl1pPr>
          </a:lstStyle>
          <a:p>
            <a:pPr eaLnBrk="1" hangingPunct="1">
              <a:defRPr/>
            </a:pPr>
            <a:fld id="{87F78984-D3A6-481C-8961-64B17F40E09F}" type="slidenum">
              <a:rPr lang="en-US" altLang="zh-CN" sz="900" smtClean="0">
                <a:latin typeface="Arial" panose="020B0604020202020204" pitchFamily="34" charset="0"/>
              </a:rPr>
              <a:t>‹#›</a:t>
            </a:fld>
            <a:endParaRPr lang="en-US" altLang="zh-CN" sz="900">
              <a:latin typeface="Arial" panose="020B0604020202020204" pitchFamily="34" charset="0"/>
            </a:endParaRPr>
          </a:p>
        </p:txBody>
      </p:sp>
      <p:pic>
        <p:nvPicPr>
          <p:cNvPr id="6" name="图片 3" descr="IMG_5097.png"/>
          <p:cNvPicPr>
            <a:picLocks noChangeAspect="1"/>
          </p:cNvPicPr>
          <p:nvPr userDrawn="1"/>
        </p:nvPicPr>
        <p:blipFill>
          <a:blip r:embed="rId2">
            <a:extLst>
              <a:ext uri="{28A0092B-C50C-407E-A947-70E740481C1C}">
                <a14:useLocalDpi xmlns:a14="http://schemas.microsoft.com/office/drawing/2010/main" val="0"/>
              </a:ext>
            </a:extLst>
          </a:blip>
          <a:srcRect l="19299"/>
          <a:stretch>
            <a:fillRect/>
          </a:stretch>
        </p:blipFill>
        <p:spPr bwMode="auto">
          <a:xfrm>
            <a:off x="1" y="1425576"/>
            <a:ext cx="7378700" cy="538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图片 10" descr="15-5.png"/>
          <p:cNvPicPr>
            <a:picLocks noChangeAspect="1"/>
          </p:cNvPicPr>
          <p:nvPr userDrawn="1"/>
        </p:nvPicPr>
        <p:blipFill>
          <a:blip r:embed="rId3">
            <a:extLst>
              <a:ext uri="{28A0092B-C50C-407E-A947-70E740481C1C}">
                <a14:useLocalDpi xmlns:a14="http://schemas.microsoft.com/office/drawing/2010/main" val="0"/>
              </a:ext>
            </a:extLst>
          </a:blip>
          <a:srcRect l="13919" b="44911"/>
          <a:stretch>
            <a:fillRect/>
          </a:stretch>
        </p:blipFill>
        <p:spPr bwMode="auto">
          <a:xfrm>
            <a:off x="1276351" y="1098554"/>
            <a:ext cx="7862888" cy="2360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矩形 7"/>
          <p:cNvSpPr/>
          <p:nvPr userDrawn="1"/>
        </p:nvSpPr>
        <p:spPr>
          <a:xfrm>
            <a:off x="0" y="1098376"/>
            <a:ext cx="9144000" cy="5715000"/>
          </a:xfrm>
          <a:prstGeom prst="rect">
            <a:avLst/>
          </a:prstGeom>
          <a:gradFill flip="none" rotWithShape="1">
            <a:gsLst>
              <a:gs pos="0">
                <a:srgbClr val="5E9EFF">
                  <a:alpha val="0"/>
                </a:srgbClr>
              </a:gs>
              <a:gs pos="39999">
                <a:schemeClr val="bg1">
                  <a:alpha val="67000"/>
                </a:schemeClr>
              </a:gs>
              <a:gs pos="70000">
                <a:srgbClr val="C4D6EB">
                  <a:alpha val="69000"/>
                </a:srgbClr>
              </a:gs>
              <a:gs pos="100000">
                <a:schemeClr val="bg1"/>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sz="1350"/>
          </a:p>
        </p:txBody>
      </p:sp>
      <p:pic>
        <p:nvPicPr>
          <p:cNvPr id="9" name="Picture 4" descr="B-1"/>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图片 8" descr="15-5.png"/>
          <p:cNvPicPr>
            <a:picLocks noChangeAspect="1"/>
          </p:cNvPicPr>
          <p:nvPr userDrawn="1"/>
        </p:nvPicPr>
        <p:blipFill>
          <a:blip r:embed="rId3">
            <a:extLst>
              <a:ext uri="{28A0092B-C50C-407E-A947-70E740481C1C}">
                <a14:useLocalDpi xmlns:a14="http://schemas.microsoft.com/office/drawing/2010/main" val="0"/>
              </a:ext>
            </a:extLst>
          </a:blip>
          <a:srcRect l="13919" b="44911"/>
          <a:stretch>
            <a:fillRect/>
          </a:stretch>
        </p:blipFill>
        <p:spPr bwMode="auto">
          <a:xfrm>
            <a:off x="1276351" y="1169988"/>
            <a:ext cx="7862888" cy="2362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Picture 4" descr="B-1"/>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0" y="4763"/>
            <a:ext cx="9144000" cy="1624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文本占位符 2"/>
          <p:cNvSpPr>
            <a:spLocks noGrp="1"/>
          </p:cNvSpPr>
          <p:nvPr>
            <p:ph idx="13"/>
          </p:nvPr>
        </p:nvSpPr>
        <p:spPr>
          <a:xfrm>
            <a:off x="457200" y="1600204"/>
            <a:ext cx="8229600" cy="4525963"/>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2" name="标题 1"/>
          <p:cNvSpPr>
            <a:spLocks noGrp="1"/>
          </p:cNvSpPr>
          <p:nvPr>
            <p:ph type="title"/>
          </p:nvPr>
        </p:nvSpPr>
        <p:spPr>
          <a:xfrm>
            <a:off x="508000" y="274638"/>
            <a:ext cx="8229600" cy="1143000"/>
          </a:xfrm>
          <a:prstGeom prst="rect">
            <a:avLst/>
          </a:prstGeom>
        </p:spPr>
        <p:txBody>
          <a:bodyPr/>
          <a:lstStyle>
            <a:lvl1pPr>
              <a:defRPr sz="3600">
                <a:solidFill>
                  <a:schemeClr val="accent5">
                    <a:lumMod val="75000"/>
                  </a:schemeClr>
                </a:solidFill>
                <a:latin typeface="STKaiti" panose="02010600040101010101" charset="-122"/>
                <a:ea typeface="STKaiti" panose="02010600040101010101" charset="-122"/>
                <a:cs typeface="STKaiti" panose="02010600040101010101" charset="-122"/>
              </a:defRPr>
            </a:lvl1pPr>
          </a:lstStyle>
          <a:p>
            <a:r>
              <a:rPr lang="zh-CN" altLang="en-US" dirty="0"/>
              <a:t>单击此处编辑母版标题样式</a:t>
            </a:r>
          </a:p>
        </p:txBody>
      </p:sp>
      <p:sp>
        <p:nvSpPr>
          <p:cNvPr id="16" name="日期占位符 3"/>
          <p:cNvSpPr>
            <a:spLocks noGrp="1"/>
          </p:cNvSpPr>
          <p:nvPr>
            <p:ph type="dt" sz="half" idx="14"/>
          </p:nvPr>
        </p:nvSpPr>
        <p:spPr>
          <a:xfrm>
            <a:off x="457200" y="6356354"/>
            <a:ext cx="2133600" cy="365125"/>
          </a:xfrm>
          <a:prstGeom prst="rect">
            <a:avLst/>
          </a:prstGeom>
        </p:spPr>
        <p:txBody>
          <a:bodyPr/>
          <a:lstStyle>
            <a:lvl1pPr eaLnBrk="1" hangingPunct="1">
              <a:defRPr>
                <a:latin typeface="Arial" panose="020B0604020202020204" pitchFamily="34" charset="0"/>
              </a:defRPr>
            </a:lvl1pPr>
          </a:lstStyle>
          <a:p>
            <a:pPr>
              <a:defRPr/>
            </a:pPr>
            <a:endParaRPr lang="en-US" altLang="zh-CN"/>
          </a:p>
        </p:txBody>
      </p:sp>
      <p:sp>
        <p:nvSpPr>
          <p:cNvPr id="17" name="页脚占位符 4"/>
          <p:cNvSpPr>
            <a:spLocks noGrp="1"/>
          </p:cNvSpPr>
          <p:nvPr>
            <p:ph type="ftr" sz="quarter" idx="15"/>
          </p:nvPr>
        </p:nvSpPr>
        <p:spPr>
          <a:xfrm>
            <a:off x="3124200" y="6356354"/>
            <a:ext cx="2895600" cy="365125"/>
          </a:xfrm>
          <a:prstGeom prst="rect">
            <a:avLst/>
          </a:prstGeom>
        </p:spPr>
        <p:txBody>
          <a:bodyPr/>
          <a:lstStyle>
            <a:lvl1pPr eaLnBrk="1" hangingPunct="1">
              <a:defRPr>
                <a:latin typeface="Arial" panose="020B0604020202020204" pitchFamily="34" charset="0"/>
              </a:defRPr>
            </a:lvl1pPr>
          </a:lstStyle>
          <a:p>
            <a:pPr>
              <a:defRPr/>
            </a:pPr>
            <a:endParaRPr lang="en-US" altLang="zh-CN"/>
          </a:p>
        </p:txBody>
      </p:sp>
      <p:sp>
        <p:nvSpPr>
          <p:cNvPr id="18" name="灯片编号占位符 5"/>
          <p:cNvSpPr>
            <a:spLocks noGrp="1"/>
          </p:cNvSpPr>
          <p:nvPr>
            <p:ph type="sldNum" sz="quarter" idx="16"/>
          </p:nvPr>
        </p:nvSpPr>
        <p:spPr>
          <a:xfrm>
            <a:off x="6553200" y="6356354"/>
            <a:ext cx="2133600" cy="365125"/>
          </a:xfrm>
          <a:prstGeom prst="rect">
            <a:avLst/>
          </a:prstGeom>
        </p:spPr>
        <p:txBody>
          <a:bodyPr/>
          <a:lstStyle>
            <a:lvl1pPr eaLnBrk="1" hangingPunct="1">
              <a:defRPr>
                <a:latin typeface="Arial" panose="020B0604020202020204" pitchFamily="34" charset="0"/>
              </a:defRPr>
            </a:lvl1pPr>
          </a:lstStyle>
          <a:p>
            <a:pPr>
              <a:defRPr/>
            </a:pPr>
            <a:fld id="{D69E98CB-8E38-42BF-857B-65773CD3393B}" type="slidenum">
              <a:rPr lang="en-US" altLang="zh-CN"/>
              <a:t>‹#›</a:t>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5">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CN" altLang="en-US" dirty="0"/>
              <a:t>单击此处编辑母版标题样式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zh-CN"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0697CFC-F8DF-4AEB-940F-E938B70C0E57}"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STKaiti" panose="02010600040101010101" charset="-122"/>
          <a:ea typeface="STKaiti" panose="02010600040101010101" charset="-122"/>
          <a:cs typeface="STKaiti" panose="02010600040101010101" charset="-122"/>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TKaiti" panose="02010600040101010101" charset="-122"/>
          <a:ea typeface="STKaiti" panose="02010600040101010101" charset="-122"/>
          <a:cs typeface="STKaiti" panose="02010600040101010101" charset="-122"/>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TKaiti" panose="02010600040101010101" charset="-122"/>
          <a:ea typeface="STKaiti" panose="02010600040101010101" charset="-122"/>
          <a:cs typeface="STKaiti" panose="02010600040101010101" charset="-122"/>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TKaiti" panose="02010600040101010101" charset="-122"/>
          <a:ea typeface="STKaiti" panose="02010600040101010101" charset="-122"/>
          <a:cs typeface="STKaiti" panose="02010600040101010101" charset="-122"/>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8.png"/></Relationships>
</file>

<file path=ppt/slides/_rels/slide2.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8" Type="http://schemas.openxmlformats.org/officeDocument/2006/relationships/image" Target="../media/image15.jpeg"/><Relationship Id="rId3" Type="http://schemas.openxmlformats.org/officeDocument/2006/relationships/image" Target="../media/image10.jpeg"/><Relationship Id="rId7" Type="http://schemas.openxmlformats.org/officeDocument/2006/relationships/image" Target="../media/image14.jpeg"/><Relationship Id="rId12" Type="http://schemas.openxmlformats.org/officeDocument/2006/relationships/image" Target="../media/image19.jpg"/><Relationship Id="rId2" Type="http://schemas.openxmlformats.org/officeDocument/2006/relationships/notesSlide" Target="../notesSlides/notesSlide4.xml"/><Relationship Id="rId1" Type="http://schemas.openxmlformats.org/officeDocument/2006/relationships/slideLayout" Target="../slideLayouts/slideLayout13.xml"/><Relationship Id="rId6" Type="http://schemas.openxmlformats.org/officeDocument/2006/relationships/image" Target="../media/image13.jpeg"/><Relationship Id="rId11" Type="http://schemas.openxmlformats.org/officeDocument/2006/relationships/image" Target="../media/image18.jpeg"/><Relationship Id="rId5" Type="http://schemas.openxmlformats.org/officeDocument/2006/relationships/image" Target="../media/image12.jpeg"/><Relationship Id="rId10" Type="http://schemas.openxmlformats.org/officeDocument/2006/relationships/image" Target="../media/image17.jpeg"/><Relationship Id="rId4" Type="http://schemas.openxmlformats.org/officeDocument/2006/relationships/image" Target="../media/image11.jpeg"/><Relationship Id="rId9" Type="http://schemas.openxmlformats.org/officeDocument/2006/relationships/image" Target="../media/image16.jpeg"/></Relationships>
</file>

<file path=ppt/slides/_rels/slide5.xml.rels><?xml version="1.0" encoding="UTF-8" standalone="yes"?>
<Relationships xmlns="http://schemas.openxmlformats.org/package/2006/relationships"><Relationship Id="rId8" Type="http://schemas.openxmlformats.org/officeDocument/2006/relationships/image" Target="../media/image25.jpg"/><Relationship Id="rId13" Type="http://schemas.openxmlformats.org/officeDocument/2006/relationships/image" Target="../media/image30.jpg"/><Relationship Id="rId3" Type="http://schemas.openxmlformats.org/officeDocument/2006/relationships/image" Target="../media/image20.jpg"/><Relationship Id="rId7" Type="http://schemas.openxmlformats.org/officeDocument/2006/relationships/image" Target="../media/image24.jpg"/><Relationship Id="rId12" Type="http://schemas.openxmlformats.org/officeDocument/2006/relationships/image" Target="../media/image29.jpg"/><Relationship Id="rId2" Type="http://schemas.openxmlformats.org/officeDocument/2006/relationships/notesSlide" Target="../notesSlides/notesSlide5.xml"/><Relationship Id="rId16" Type="http://schemas.openxmlformats.org/officeDocument/2006/relationships/image" Target="../media/image33.jpg"/><Relationship Id="rId1" Type="http://schemas.openxmlformats.org/officeDocument/2006/relationships/slideLayout" Target="../slideLayouts/slideLayout13.xml"/><Relationship Id="rId6" Type="http://schemas.openxmlformats.org/officeDocument/2006/relationships/image" Target="../media/image23.jpg"/><Relationship Id="rId11" Type="http://schemas.openxmlformats.org/officeDocument/2006/relationships/image" Target="../media/image28.jpg"/><Relationship Id="rId5" Type="http://schemas.openxmlformats.org/officeDocument/2006/relationships/image" Target="../media/image22.jpg"/><Relationship Id="rId15" Type="http://schemas.openxmlformats.org/officeDocument/2006/relationships/image" Target="../media/image32.jpg"/><Relationship Id="rId10" Type="http://schemas.openxmlformats.org/officeDocument/2006/relationships/image" Target="../media/image27.jpg"/><Relationship Id="rId4" Type="http://schemas.openxmlformats.org/officeDocument/2006/relationships/image" Target="../media/image21.jpg"/><Relationship Id="rId9" Type="http://schemas.openxmlformats.org/officeDocument/2006/relationships/image" Target="../media/image26.jpg"/><Relationship Id="rId14" Type="http://schemas.openxmlformats.org/officeDocument/2006/relationships/image" Target="../media/image31.jpg"/></Relationships>
</file>

<file path=ppt/slides/_rels/slide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6.xml"/><Relationship Id="rId1" Type="http://schemas.openxmlformats.org/officeDocument/2006/relationships/slideLayout" Target="../slideLayouts/slideLayout13.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7.xml"/><Relationship Id="rId1" Type="http://schemas.openxmlformats.org/officeDocument/2006/relationships/slideLayout" Target="../slideLayouts/slideLayout13.xml"/><Relationship Id="rId5" Type="http://schemas.openxmlformats.org/officeDocument/2006/relationships/image" Target="../media/image40.png"/><Relationship Id="rId4" Type="http://schemas.openxmlformats.org/officeDocument/2006/relationships/image" Target="../media/image39.png"/></Relationships>
</file>

<file path=ppt/slides/_rels/slide8.xml.rels><?xml version="1.0" encoding="UTF-8" standalone="yes"?>
<Relationships xmlns="http://schemas.openxmlformats.org/package/2006/relationships"><Relationship Id="rId8" Type="http://schemas.openxmlformats.org/officeDocument/2006/relationships/image" Target="../media/image46.jpg"/><Relationship Id="rId13" Type="http://schemas.openxmlformats.org/officeDocument/2006/relationships/image" Target="../media/image51.png"/><Relationship Id="rId3" Type="http://schemas.openxmlformats.org/officeDocument/2006/relationships/image" Target="../media/image41.jpg"/><Relationship Id="rId7" Type="http://schemas.openxmlformats.org/officeDocument/2006/relationships/image" Target="../media/image45.jpg"/><Relationship Id="rId12" Type="http://schemas.openxmlformats.org/officeDocument/2006/relationships/image" Target="../media/image50.png"/><Relationship Id="rId17" Type="http://schemas.openxmlformats.org/officeDocument/2006/relationships/image" Target="../media/image55.png"/><Relationship Id="rId2" Type="http://schemas.openxmlformats.org/officeDocument/2006/relationships/notesSlide" Target="../notesSlides/notesSlide8.xml"/><Relationship Id="rId16" Type="http://schemas.openxmlformats.org/officeDocument/2006/relationships/image" Target="../media/image54.png"/><Relationship Id="rId1" Type="http://schemas.openxmlformats.org/officeDocument/2006/relationships/slideLayout" Target="../slideLayouts/slideLayout13.xml"/><Relationship Id="rId6" Type="http://schemas.openxmlformats.org/officeDocument/2006/relationships/image" Target="../media/image44.jpg"/><Relationship Id="rId11" Type="http://schemas.openxmlformats.org/officeDocument/2006/relationships/image" Target="../media/image49.png"/><Relationship Id="rId5" Type="http://schemas.openxmlformats.org/officeDocument/2006/relationships/image" Target="../media/image43.jpg"/><Relationship Id="rId15" Type="http://schemas.openxmlformats.org/officeDocument/2006/relationships/image" Target="../media/image53.png"/><Relationship Id="rId10" Type="http://schemas.openxmlformats.org/officeDocument/2006/relationships/image" Target="../media/image48.png"/><Relationship Id="rId4" Type="http://schemas.openxmlformats.org/officeDocument/2006/relationships/image" Target="../media/image42.jpg"/><Relationship Id="rId9" Type="http://schemas.openxmlformats.org/officeDocument/2006/relationships/image" Target="../media/image47.png"/><Relationship Id="rId14" Type="http://schemas.openxmlformats.org/officeDocument/2006/relationships/image" Target="../media/image52.png"/></Relationships>
</file>

<file path=ppt/slides/_rels/slide9.xml.rels><?xml version="1.0" encoding="UTF-8" standalone="yes"?>
<Relationships xmlns="http://schemas.openxmlformats.org/package/2006/relationships"><Relationship Id="rId3" Type="http://schemas.openxmlformats.org/officeDocument/2006/relationships/image" Target="../media/image56.png"/><Relationship Id="rId7" Type="http://schemas.openxmlformats.org/officeDocument/2006/relationships/image" Target="../media/image60.jpg"/><Relationship Id="rId2" Type="http://schemas.openxmlformats.org/officeDocument/2006/relationships/notesSlide" Target="../notesSlides/notesSlide9.xml"/><Relationship Id="rId1" Type="http://schemas.openxmlformats.org/officeDocument/2006/relationships/slideLayout" Target="../slideLayouts/slideLayout13.xml"/><Relationship Id="rId6" Type="http://schemas.openxmlformats.org/officeDocument/2006/relationships/image" Target="../media/image59.jpg"/><Relationship Id="rId5" Type="http://schemas.openxmlformats.org/officeDocument/2006/relationships/image" Target="../media/image58.png"/><Relationship Id="rId4" Type="http://schemas.openxmlformats.org/officeDocument/2006/relationships/image" Target="../media/image57.jp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3.xml"/><Relationship Id="rId1" Type="http://schemas.openxmlformats.org/officeDocument/2006/relationships/tags" Target="../tags/tag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8" Type="http://schemas.openxmlformats.org/officeDocument/2006/relationships/image" Target="../media/image66.png"/><Relationship Id="rId13" Type="http://schemas.openxmlformats.org/officeDocument/2006/relationships/image" Target="../media/image70.png"/><Relationship Id="rId3" Type="http://schemas.openxmlformats.org/officeDocument/2006/relationships/image" Target="../media/image61.jpg"/><Relationship Id="rId7" Type="http://schemas.openxmlformats.org/officeDocument/2006/relationships/image" Target="../media/image65.png"/><Relationship Id="rId12" Type="http://schemas.openxmlformats.org/officeDocument/2006/relationships/image" Target="../media/image69.png"/><Relationship Id="rId2" Type="http://schemas.openxmlformats.org/officeDocument/2006/relationships/notesSlide" Target="../notesSlides/notesSlide14.xml"/><Relationship Id="rId1" Type="http://schemas.openxmlformats.org/officeDocument/2006/relationships/slideLayout" Target="../slideLayouts/slideLayout13.xml"/><Relationship Id="rId6" Type="http://schemas.openxmlformats.org/officeDocument/2006/relationships/image" Target="../media/image63.jpg"/><Relationship Id="rId11" Type="http://schemas.openxmlformats.org/officeDocument/2006/relationships/image" Target="../media/image68.png"/><Relationship Id="rId5" Type="http://schemas.openxmlformats.org/officeDocument/2006/relationships/image" Target="../media/image62.jpg"/><Relationship Id="rId10" Type="http://schemas.openxmlformats.org/officeDocument/2006/relationships/image" Target="../media/image67.png"/><Relationship Id="rId4" Type="http://schemas.openxmlformats.org/officeDocument/2006/relationships/image" Target="../media/image62.png"/><Relationship Id="rId9" Type="http://schemas.openxmlformats.org/officeDocument/2006/relationships/image" Target="../media/image64.png"/><Relationship Id="rId14" Type="http://schemas.openxmlformats.org/officeDocument/2006/relationships/image" Target="../media/image71.png"/></Relationships>
</file>

<file path=ppt/slides/_rels/slide15.xml.rels><?xml version="1.0" encoding="UTF-8" standalone="yes"?>
<Relationships xmlns="http://schemas.openxmlformats.org/package/2006/relationships"><Relationship Id="rId8" Type="http://schemas.openxmlformats.org/officeDocument/2006/relationships/image" Target="../media/image62.jpg"/><Relationship Id="rId13" Type="http://schemas.openxmlformats.org/officeDocument/2006/relationships/image" Target="../media/image80.png"/><Relationship Id="rId3" Type="http://schemas.openxmlformats.org/officeDocument/2006/relationships/image" Target="../media/image72.png"/><Relationship Id="rId7" Type="http://schemas.openxmlformats.org/officeDocument/2006/relationships/image" Target="../media/image77.png"/><Relationship Id="rId12" Type="http://schemas.openxmlformats.org/officeDocument/2006/relationships/image" Target="../media/image78.png"/><Relationship Id="rId2" Type="http://schemas.openxmlformats.org/officeDocument/2006/relationships/notesSlide" Target="../notesSlides/notesSlide15.xml"/><Relationship Id="rId1" Type="http://schemas.openxmlformats.org/officeDocument/2006/relationships/slideLayout" Target="../slideLayouts/slideLayout7.xml"/><Relationship Id="rId6" Type="http://schemas.openxmlformats.org/officeDocument/2006/relationships/image" Target="../media/image76.png"/><Relationship Id="rId11" Type="http://schemas.openxmlformats.org/officeDocument/2006/relationships/image" Target="../media/image73.jpg"/><Relationship Id="rId5" Type="http://schemas.openxmlformats.org/officeDocument/2006/relationships/image" Target="../media/image75.png"/><Relationship Id="rId10" Type="http://schemas.openxmlformats.org/officeDocument/2006/relationships/image" Target="../media/image61.jpg"/><Relationship Id="rId4" Type="http://schemas.openxmlformats.org/officeDocument/2006/relationships/image" Target="../media/image74.png"/><Relationship Id="rId9" Type="http://schemas.openxmlformats.org/officeDocument/2006/relationships/image" Target="../media/image63.jpg"/></Relationships>
</file>

<file path=ppt/slides/_rels/slide16.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3" Type="http://schemas.openxmlformats.org/officeDocument/2006/relationships/image" Target="../media/image80.jpeg"/><Relationship Id="rId2" Type="http://schemas.openxmlformats.org/officeDocument/2006/relationships/notesSlide" Target="../notesSlides/notesSlide25.xml"/><Relationship Id="rId1" Type="http://schemas.openxmlformats.org/officeDocument/2006/relationships/slideLayout" Target="../slideLayouts/slideLayout13.xml"/><Relationship Id="rId4" Type="http://schemas.openxmlformats.org/officeDocument/2006/relationships/image" Target="../media/image81.jpe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tile tx="0" ty="0" sx="100000" sy="100000" flip="none" algn="tl"/>
        </a:blipFill>
        <a:effectLst/>
      </p:bgPr>
    </p:bg>
    <p:spTree>
      <p:nvGrpSpPr>
        <p:cNvPr id="1" name=""/>
        <p:cNvGrpSpPr/>
        <p:nvPr/>
      </p:nvGrpSpPr>
      <p:grpSpPr>
        <a:xfrm>
          <a:off x="0" y="0"/>
          <a:ext cx="0" cy="0"/>
          <a:chOff x="0" y="0"/>
          <a:chExt cx="0" cy="0"/>
        </a:xfrm>
      </p:grpSpPr>
      <p:pic>
        <p:nvPicPr>
          <p:cNvPr id="4" name="图片 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68287" y="3689737"/>
            <a:ext cx="3538448" cy="687602"/>
          </a:xfrm>
          <a:prstGeom prst="rect">
            <a:avLst/>
          </a:prstGeom>
          <a:effectLst>
            <a:glow rad="63500">
              <a:schemeClr val="bg1">
                <a:alpha val="40000"/>
              </a:schemeClr>
            </a:glow>
            <a:outerShdw blurRad="12700" dist="12700" dir="2700000" algn="tl" rotWithShape="0">
              <a:schemeClr val="bg1">
                <a:alpha val="30000"/>
              </a:schemeClr>
            </a:outerShdw>
          </a:effectLst>
        </p:spPr>
      </p:pic>
      <p:sp>
        <p:nvSpPr>
          <p:cNvPr id="6" name="标题 3"/>
          <p:cNvSpPr>
            <a:spLocks noGrp="1"/>
          </p:cNvSpPr>
          <p:nvPr>
            <p:ph type="ctrTitle"/>
          </p:nvPr>
        </p:nvSpPr>
        <p:spPr>
          <a:xfrm>
            <a:off x="1571625" y="1321435"/>
            <a:ext cx="6715125" cy="1470025"/>
          </a:xfrm>
        </p:spPr>
        <p:txBody>
          <a:bodyPr>
            <a:normAutofit/>
          </a:bodyPr>
          <a:lstStyle/>
          <a:p>
            <a:pPr algn="ctr"/>
            <a:r>
              <a:rPr lang="zh-CN" altLang="en-US" sz="3000" b="1" dirty="0"/>
              <a:t>基于细粒度语言引导的遮挡</a:t>
            </a:r>
            <a:r>
              <a:rPr lang="zh-CN" altLang="en-US" sz="3000" b="1" dirty="0">
                <a:latin typeface="STKaiti" panose="02010600040101010101" charset="-122"/>
                <a:ea typeface="STKaiti" panose="02010600040101010101" charset="-122"/>
                <a:cs typeface="STKaiti" panose="02010600040101010101" charset="-122"/>
              </a:rPr>
              <a:t>行人重识别</a:t>
            </a:r>
            <a:br>
              <a:rPr lang="en-US" altLang="zh-CN" sz="3000" b="1" dirty="0">
                <a:latin typeface="STKaiti" panose="02010600040101010101" charset="-122"/>
                <a:ea typeface="STKaiti" panose="02010600040101010101" charset="-122"/>
                <a:cs typeface="STKaiti" panose="02010600040101010101" charset="-122"/>
              </a:rPr>
            </a:br>
            <a:r>
              <a:rPr lang="zh-CN" altLang="en-US" sz="3000" b="1" dirty="0"/>
              <a:t>技术</a:t>
            </a:r>
            <a:r>
              <a:rPr lang="zh-CN" altLang="en-US" sz="3000" b="1" dirty="0">
                <a:latin typeface="STKaiti" panose="02010600040101010101" charset="-122"/>
                <a:ea typeface="STKaiti" panose="02010600040101010101" charset="-122"/>
                <a:cs typeface="STKaiti" panose="02010600040101010101" charset="-122"/>
              </a:rPr>
              <a:t>研究</a:t>
            </a:r>
          </a:p>
        </p:txBody>
      </p:sp>
      <p:sp>
        <p:nvSpPr>
          <p:cNvPr id="7" name="副标题 1"/>
          <p:cNvSpPr txBox="1"/>
          <p:nvPr/>
        </p:nvSpPr>
        <p:spPr>
          <a:xfrm>
            <a:off x="6470015" y="5138420"/>
            <a:ext cx="2673985" cy="1579880"/>
          </a:xfrm>
          <a:prstGeom prst="rect">
            <a:avLst/>
          </a:prstGeom>
        </p:spPr>
        <p:txBody>
          <a:bodyPr vert="horz" lIns="91440" tIns="45720" rIns="91440" bIns="45720" rtlCol="0">
            <a:normAutofit fontScale="92500" lnSpcReduction="10000"/>
          </a:bodyPr>
          <a:lstStyle>
            <a:lvl1pPr marL="0" indent="0" algn="l" defTabSz="914400" rtl="0" eaLnBrk="1" latinLnBrk="0" hangingPunct="1">
              <a:spcBef>
                <a:spcPct val="20000"/>
              </a:spcBef>
              <a:buFont typeface="Arial" panose="020B0604020202020204" pitchFamily="34" charset="0"/>
              <a:buNone/>
              <a:defRPr sz="2400" kern="1200">
                <a:solidFill>
                  <a:schemeClr val="bg1"/>
                </a:solidFill>
                <a:latin typeface="+mn-lt"/>
                <a:ea typeface="+mn-ea"/>
                <a:cs typeface="+mn-cs"/>
              </a:defRPr>
            </a:lvl1pPr>
            <a:lvl2pPr marL="457200" indent="0" algn="ctr" defTabSz="914400" rtl="0" eaLnBrk="1" latinLnBrk="0" hangingPunct="1">
              <a:spcBef>
                <a:spcPct val="20000"/>
              </a:spcBef>
              <a:buFont typeface="Arial" panose="020B0604020202020204"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anose="020B0604020202020204"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r>
              <a:rPr lang="zh-CN" altLang="en-US" dirty="0">
                <a:solidFill>
                  <a:schemeClr val="tx1"/>
                </a:solidFill>
                <a:latin typeface="STKaiti" panose="02010600040101010101" charset="-122"/>
                <a:ea typeface="STKaiti" panose="02010600040101010101" charset="-122"/>
                <a:cs typeface="STKaiti" panose="02010600040101010101" charset="-122"/>
              </a:rPr>
              <a:t>答辩人：陈明慧</a:t>
            </a:r>
            <a:endParaRPr lang="en-US" altLang="zh-CN" dirty="0">
              <a:solidFill>
                <a:schemeClr val="tx1"/>
              </a:solidFill>
              <a:latin typeface="STKaiti" panose="02010600040101010101" charset="-122"/>
              <a:ea typeface="STKaiti" panose="02010600040101010101" charset="-122"/>
              <a:cs typeface="STKaiti" panose="02010600040101010101" charset="-122"/>
            </a:endParaRPr>
          </a:p>
          <a:p>
            <a:r>
              <a:rPr lang="zh-CN" altLang="en-US" dirty="0">
                <a:solidFill>
                  <a:schemeClr val="tx1"/>
                </a:solidFill>
                <a:latin typeface="STKaiti" panose="02010600040101010101" charset="-122"/>
                <a:ea typeface="STKaiti" panose="02010600040101010101" charset="-122"/>
                <a:cs typeface="STKaiti" panose="02010600040101010101" charset="-122"/>
              </a:rPr>
              <a:t>导师：吴大衍</a:t>
            </a:r>
            <a:endParaRPr lang="en-US" altLang="zh-CN" dirty="0">
              <a:solidFill>
                <a:schemeClr val="tx1"/>
              </a:solidFill>
              <a:latin typeface="STKaiti" panose="02010600040101010101" charset="-122"/>
              <a:ea typeface="STKaiti" panose="02010600040101010101" charset="-122"/>
              <a:cs typeface="STKaiti" panose="02010600040101010101" charset="-122"/>
            </a:endParaRPr>
          </a:p>
          <a:p>
            <a:r>
              <a:rPr lang="zh-CN" altLang="en-US" dirty="0">
                <a:solidFill>
                  <a:schemeClr val="tx1"/>
                </a:solidFill>
                <a:latin typeface="STKaiti" panose="02010600040101010101" charset="-122"/>
                <a:ea typeface="STKaiti" panose="02010600040101010101" charset="-122"/>
                <a:cs typeface="STKaiti" panose="02010600040101010101" charset="-122"/>
              </a:rPr>
              <a:t>年级： </a:t>
            </a:r>
            <a:r>
              <a:rPr lang="en-US" altLang="zh-CN" dirty="0">
                <a:solidFill>
                  <a:schemeClr val="tx1"/>
                </a:solidFill>
                <a:latin typeface="STKaiti" panose="02010600040101010101" charset="-122"/>
                <a:ea typeface="STKaiti" panose="02010600040101010101" charset="-122"/>
                <a:cs typeface="STKaiti" panose="02010600040101010101" charset="-122"/>
              </a:rPr>
              <a:t>2023</a:t>
            </a:r>
            <a:r>
              <a:rPr lang="zh-CN" altLang="en-US" dirty="0">
                <a:solidFill>
                  <a:schemeClr val="tx1"/>
                </a:solidFill>
                <a:latin typeface="STKaiti" panose="02010600040101010101" charset="-122"/>
                <a:ea typeface="STKaiti" panose="02010600040101010101" charset="-122"/>
                <a:cs typeface="STKaiti" panose="02010600040101010101" charset="-122"/>
              </a:rPr>
              <a:t>级硕士</a:t>
            </a:r>
            <a:endParaRPr lang="en-US" altLang="zh-CN" dirty="0">
              <a:solidFill>
                <a:schemeClr val="tx1"/>
              </a:solidFill>
              <a:latin typeface="STKaiti" panose="02010600040101010101" charset="-122"/>
              <a:ea typeface="STKaiti" panose="02010600040101010101" charset="-122"/>
              <a:cs typeface="STKaiti" panose="02010600040101010101" charset="-122"/>
            </a:endParaRPr>
          </a:p>
          <a:p>
            <a:r>
              <a:rPr lang="zh-CN" altLang="en-US" dirty="0">
                <a:solidFill>
                  <a:schemeClr val="tx1"/>
                </a:solidFill>
                <a:latin typeface="STKaiti" panose="02010600040101010101" charset="-122"/>
                <a:ea typeface="STKaiti" panose="02010600040101010101" charset="-122"/>
                <a:cs typeface="STKaiti" panose="02010600040101010101" charset="-122"/>
              </a:rPr>
              <a:t>时间： </a:t>
            </a:r>
            <a:r>
              <a:rPr lang="en-US" altLang="zh-CN" dirty="0">
                <a:solidFill>
                  <a:schemeClr val="tx1"/>
                </a:solidFill>
                <a:latin typeface="STKaiti" panose="02010600040101010101" charset="-122"/>
                <a:ea typeface="STKaiti" panose="02010600040101010101" charset="-122"/>
                <a:cs typeface="STKaiti" panose="02010600040101010101" charset="-122"/>
              </a:rPr>
              <a:t>2025.3.15</a:t>
            </a:r>
          </a:p>
        </p:txBody>
      </p:sp>
      <p:sp>
        <p:nvSpPr>
          <p:cNvPr id="5" name="标题 3"/>
          <p:cNvSpPr txBox="1"/>
          <p:nvPr/>
        </p:nvSpPr>
        <p:spPr>
          <a:xfrm>
            <a:off x="5258562" y="2424593"/>
            <a:ext cx="3661503" cy="73433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bg1"/>
                </a:solidFill>
                <a:latin typeface="STKaiti" panose="02010600040101010101" charset="-122"/>
                <a:ea typeface="STKaiti" panose="02010600040101010101" charset="-122"/>
                <a:cs typeface="STKaiti" panose="02010600040101010101" charset="-122"/>
              </a:defRPr>
            </a:lvl1pPr>
          </a:lstStyle>
          <a:p>
            <a:pPr algn="ctr"/>
            <a:r>
              <a:rPr lang="en-US" altLang="zh-CN" sz="2400" dirty="0">
                <a:latin typeface="STKaiti" panose="02010600040101010101" charset="-122"/>
                <a:ea typeface="STKaiti" panose="02010600040101010101" charset="-122"/>
              </a:rPr>
              <a:t>——</a:t>
            </a:r>
            <a:r>
              <a:rPr lang="zh-CN" altLang="en-US" sz="2400" b="1" dirty="0"/>
              <a:t>硕士</a:t>
            </a:r>
            <a:r>
              <a:rPr lang="zh-CN" altLang="en-US" sz="2400" b="1" dirty="0">
                <a:latin typeface="STKaiti" panose="02010600040101010101" charset="-122"/>
                <a:ea typeface="STKaiti" panose="02010600040101010101" charset="-122"/>
              </a:rPr>
              <a:t>开题答辩</a:t>
            </a:r>
          </a:p>
        </p:txBody>
      </p:sp>
    </p:spTree>
  </p:cSld>
  <p:clrMapOvr>
    <a:masterClrMapping/>
  </p:clrMapOvr>
  <p:transition advTm="1887"/>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latin typeface="STKaiti" panose="02010600040101010101" charset="-122"/>
                <a:ea typeface="STKaiti" panose="02010600040101010101" charset="-122"/>
              </a:rPr>
              <a:t>报告提纲</a:t>
            </a:r>
          </a:p>
        </p:txBody>
      </p:sp>
      <p:sp>
        <p:nvSpPr>
          <p:cNvPr id="8" name="Slide Number Placeholder 7"/>
          <p:cNvSpPr>
            <a:spLocks noGrp="1"/>
          </p:cNvSpPr>
          <p:nvPr>
            <p:ph type="sldNum" sz="quarter" idx="16"/>
          </p:nvPr>
        </p:nvSpPr>
        <p:spPr/>
        <p:txBody>
          <a:bodyPr/>
          <a:lstStyle/>
          <a:p>
            <a:pPr>
              <a:defRPr/>
            </a:pPr>
            <a:fld id="{D69E98CB-8E38-42BF-857B-65773CD3393B}" type="slidenum">
              <a:rPr lang="en-US" altLang="zh-CN" smtClean="0"/>
              <a:t>2</a:t>
            </a:fld>
            <a:endParaRPr lang="en-US" altLang="zh-CN"/>
          </a:p>
        </p:txBody>
      </p:sp>
      <p:sp>
        <p:nvSpPr>
          <p:cNvPr id="7" name="AutoShape 5"/>
          <p:cNvSpPr>
            <a:spLocks noChangeArrowheads="1"/>
          </p:cNvSpPr>
          <p:nvPr/>
        </p:nvSpPr>
        <p:spPr bwMode="auto">
          <a:xfrm>
            <a:off x="3308175" y="2523034"/>
            <a:ext cx="5301555" cy="457200"/>
          </a:xfrm>
          <a:prstGeom prst="roundRect">
            <a:avLst>
              <a:gd name="adj" fmla="val 50000"/>
            </a:avLst>
          </a:prstGeom>
          <a:noFill/>
          <a:ln w="19050" cap="rnd">
            <a:solidFill>
              <a:schemeClr val="tx1"/>
            </a:solidFill>
            <a:prstDash val="sysDot"/>
            <a:round/>
          </a:ln>
          <a:effectLst>
            <a:outerShdw dist="107763" dir="2700000" algn="ctr" rotWithShape="0">
              <a:schemeClr val="bg1">
                <a:alpha val="50000"/>
              </a:schemeClr>
            </a:outerShdw>
          </a:effectLst>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itchFamily="2" charset="-122"/>
              </a:defRPr>
            </a:lvl1pPr>
            <a:lvl2pPr marL="742950" indent="-285750" eaLnBrk="0" hangingPunct="0">
              <a:defRPr>
                <a:solidFill>
                  <a:schemeClr val="tx1"/>
                </a:solidFill>
                <a:latin typeface="Arial" panose="020B0604020202020204" pitchFamily="34" charset="0"/>
                <a:ea typeface="宋体" pitchFamily="2" charset="-122"/>
              </a:defRPr>
            </a:lvl2pPr>
            <a:lvl3pPr marL="1143000" indent="-228600" eaLnBrk="0" hangingPunct="0">
              <a:defRPr>
                <a:solidFill>
                  <a:schemeClr val="tx1"/>
                </a:solidFill>
                <a:latin typeface="Arial" panose="020B0604020202020204" pitchFamily="34" charset="0"/>
                <a:ea typeface="宋体" pitchFamily="2" charset="-122"/>
              </a:defRPr>
            </a:lvl3pPr>
            <a:lvl4pPr marL="1600200" indent="-228600" eaLnBrk="0" hangingPunct="0">
              <a:defRPr>
                <a:solidFill>
                  <a:schemeClr val="tx1"/>
                </a:solidFill>
                <a:latin typeface="Arial" panose="020B0604020202020204" pitchFamily="34" charset="0"/>
                <a:ea typeface="宋体" pitchFamily="2" charset="-122"/>
              </a:defRPr>
            </a:lvl4pPr>
            <a:lvl5pPr marL="2057400" indent="-228600" eaLnBrk="0" hangingPunct="0">
              <a:defRPr>
                <a:solidFill>
                  <a:schemeClr val="tx1"/>
                </a:solidFill>
                <a:latin typeface="Arial" panose="020B060402020202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9pPr>
          </a:lstStyle>
          <a:p>
            <a:pPr eaLnBrk="1" hangingPunct="1"/>
            <a:endParaRPr lang="zh-CN" altLang="en-US">
              <a:latin typeface="STKaiti" panose="02010600040101010101" charset="-122"/>
              <a:ea typeface="STKaiti" panose="02010600040101010101" charset="-122"/>
            </a:endParaRPr>
          </a:p>
        </p:txBody>
      </p:sp>
      <p:sp>
        <p:nvSpPr>
          <p:cNvPr id="9" name="Rectangle 6"/>
          <p:cNvSpPr>
            <a:spLocks noChangeArrowheads="1"/>
          </p:cNvSpPr>
          <p:nvPr/>
        </p:nvSpPr>
        <p:spPr bwMode="auto">
          <a:xfrm>
            <a:off x="3505428" y="2561134"/>
            <a:ext cx="121058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itchFamily="2" charset="-122"/>
              </a:defRPr>
            </a:lvl1pPr>
            <a:lvl2pPr marL="742950" indent="-285750" eaLnBrk="0" hangingPunct="0">
              <a:defRPr>
                <a:solidFill>
                  <a:schemeClr val="tx1"/>
                </a:solidFill>
                <a:latin typeface="Arial" panose="020B0604020202020204" pitchFamily="34" charset="0"/>
                <a:ea typeface="宋体" pitchFamily="2" charset="-122"/>
              </a:defRPr>
            </a:lvl2pPr>
            <a:lvl3pPr marL="1143000" indent="-228600" eaLnBrk="0" hangingPunct="0">
              <a:defRPr>
                <a:solidFill>
                  <a:schemeClr val="tx1"/>
                </a:solidFill>
                <a:latin typeface="Arial" panose="020B0604020202020204" pitchFamily="34" charset="0"/>
                <a:ea typeface="宋体" pitchFamily="2" charset="-122"/>
              </a:defRPr>
            </a:lvl3pPr>
            <a:lvl4pPr marL="1600200" indent="-228600" eaLnBrk="0" hangingPunct="0">
              <a:defRPr>
                <a:solidFill>
                  <a:schemeClr val="tx1"/>
                </a:solidFill>
                <a:latin typeface="Arial" panose="020B0604020202020204" pitchFamily="34" charset="0"/>
                <a:ea typeface="宋体" pitchFamily="2" charset="-122"/>
              </a:defRPr>
            </a:lvl4pPr>
            <a:lvl5pPr marL="2057400" indent="-228600" eaLnBrk="0" hangingPunct="0">
              <a:defRPr>
                <a:solidFill>
                  <a:schemeClr val="tx1"/>
                </a:solidFill>
                <a:latin typeface="Arial" panose="020B060402020202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9pPr>
          </a:lstStyle>
          <a:p>
            <a:r>
              <a:rPr lang="zh-CN" altLang="en-US" sz="2000" dirty="0">
                <a:latin typeface="STKaiti" panose="02010600040101010101" charset="-122"/>
                <a:ea typeface="STKaiti" panose="02010600040101010101" charset="-122"/>
              </a:rPr>
              <a:t>研究现状</a:t>
            </a:r>
            <a:endParaRPr lang="en-US" altLang="zh-CN" sz="2000" dirty="0">
              <a:latin typeface="STKaiti" panose="02010600040101010101" charset="-122"/>
              <a:ea typeface="STKaiti" panose="02010600040101010101" charset="-122"/>
            </a:endParaRPr>
          </a:p>
        </p:txBody>
      </p:sp>
      <p:sp>
        <p:nvSpPr>
          <p:cNvPr id="10" name="Oval 7"/>
          <p:cNvSpPr>
            <a:spLocks noChangeArrowheads="1"/>
          </p:cNvSpPr>
          <p:nvPr/>
        </p:nvSpPr>
        <p:spPr bwMode="auto">
          <a:xfrm>
            <a:off x="3217168" y="2627809"/>
            <a:ext cx="228600" cy="228600"/>
          </a:xfrm>
          <a:prstGeom prst="ellipse">
            <a:avLst/>
          </a:prstGeom>
          <a:gradFill rotWithShape="1">
            <a:gsLst>
              <a:gs pos="0">
                <a:srgbClr val="E96E29"/>
              </a:gs>
              <a:gs pos="100000">
                <a:srgbClr val="9B491B"/>
              </a:gs>
            </a:gsLst>
            <a:path path="shape">
              <a:fillToRect l="50000" t="50000" r="50000" b="50000"/>
            </a:path>
          </a:gradFill>
          <a:ln w="19050">
            <a:solidFill>
              <a:schemeClr val="tx1"/>
            </a:solidFill>
            <a:round/>
          </a:ln>
          <a:effectLst>
            <a:outerShdw dist="63500" dir="2212194" algn="ctr" rotWithShape="0">
              <a:schemeClr val="bg1">
                <a:alpha val="50000"/>
              </a:schemeClr>
            </a:outerShdw>
          </a:effectLst>
        </p:spPr>
        <p:txBody>
          <a:bodyPr wrap="none" anchor="ctr"/>
          <a:lstStyle>
            <a:lvl1pPr eaLnBrk="0" hangingPunct="0">
              <a:defRPr>
                <a:solidFill>
                  <a:schemeClr val="tx1"/>
                </a:solidFill>
                <a:latin typeface="Arial" panose="020B0604020202020204" pitchFamily="34" charset="0"/>
                <a:ea typeface="宋体" pitchFamily="2" charset="-122"/>
              </a:defRPr>
            </a:lvl1pPr>
            <a:lvl2pPr marL="742950" indent="-285750" eaLnBrk="0" hangingPunct="0">
              <a:defRPr>
                <a:solidFill>
                  <a:schemeClr val="tx1"/>
                </a:solidFill>
                <a:latin typeface="Arial" panose="020B0604020202020204" pitchFamily="34" charset="0"/>
                <a:ea typeface="宋体" pitchFamily="2" charset="-122"/>
              </a:defRPr>
            </a:lvl2pPr>
            <a:lvl3pPr marL="1143000" indent="-228600" eaLnBrk="0" hangingPunct="0">
              <a:defRPr>
                <a:solidFill>
                  <a:schemeClr val="tx1"/>
                </a:solidFill>
                <a:latin typeface="Arial" panose="020B0604020202020204" pitchFamily="34" charset="0"/>
                <a:ea typeface="宋体" pitchFamily="2" charset="-122"/>
              </a:defRPr>
            </a:lvl3pPr>
            <a:lvl4pPr marL="1600200" indent="-228600" eaLnBrk="0" hangingPunct="0">
              <a:defRPr>
                <a:solidFill>
                  <a:schemeClr val="tx1"/>
                </a:solidFill>
                <a:latin typeface="Arial" panose="020B0604020202020204" pitchFamily="34" charset="0"/>
                <a:ea typeface="宋体" pitchFamily="2" charset="-122"/>
              </a:defRPr>
            </a:lvl4pPr>
            <a:lvl5pPr marL="2057400" indent="-228600" eaLnBrk="0" hangingPunct="0">
              <a:defRPr>
                <a:solidFill>
                  <a:schemeClr val="tx1"/>
                </a:solidFill>
                <a:latin typeface="Arial" panose="020B060402020202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9pPr>
          </a:lstStyle>
          <a:p>
            <a:pPr eaLnBrk="1" hangingPunct="1"/>
            <a:endParaRPr lang="zh-CN" altLang="en-US">
              <a:latin typeface="STKaiti" panose="02010600040101010101" charset="-122"/>
              <a:ea typeface="STKaiti" panose="02010600040101010101" charset="-122"/>
            </a:endParaRPr>
          </a:p>
        </p:txBody>
      </p:sp>
      <p:sp>
        <p:nvSpPr>
          <p:cNvPr id="11" name="AutoShape 9"/>
          <p:cNvSpPr>
            <a:spLocks noChangeArrowheads="1"/>
          </p:cNvSpPr>
          <p:nvPr/>
        </p:nvSpPr>
        <p:spPr bwMode="auto">
          <a:xfrm>
            <a:off x="3308175" y="3246934"/>
            <a:ext cx="5301555" cy="457200"/>
          </a:xfrm>
          <a:prstGeom prst="roundRect">
            <a:avLst>
              <a:gd name="adj" fmla="val 50000"/>
            </a:avLst>
          </a:prstGeom>
          <a:noFill/>
          <a:ln w="19050" cap="rnd">
            <a:solidFill>
              <a:schemeClr val="tx1"/>
            </a:solidFill>
            <a:prstDash val="sysDot"/>
            <a:round/>
          </a:ln>
          <a:effectLst>
            <a:outerShdw dist="107763" dir="2700000" algn="ctr" rotWithShape="0">
              <a:schemeClr val="bg1">
                <a:alpha val="50000"/>
              </a:schemeClr>
            </a:outerShdw>
          </a:effectLst>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itchFamily="2" charset="-122"/>
              </a:defRPr>
            </a:lvl1pPr>
            <a:lvl2pPr marL="742950" indent="-285750" eaLnBrk="0" hangingPunct="0">
              <a:defRPr>
                <a:solidFill>
                  <a:schemeClr val="tx1"/>
                </a:solidFill>
                <a:latin typeface="Arial" panose="020B0604020202020204" pitchFamily="34" charset="0"/>
                <a:ea typeface="宋体" pitchFamily="2" charset="-122"/>
              </a:defRPr>
            </a:lvl2pPr>
            <a:lvl3pPr marL="1143000" indent="-228600" eaLnBrk="0" hangingPunct="0">
              <a:defRPr>
                <a:solidFill>
                  <a:schemeClr val="tx1"/>
                </a:solidFill>
                <a:latin typeface="Arial" panose="020B0604020202020204" pitchFamily="34" charset="0"/>
                <a:ea typeface="宋体" pitchFamily="2" charset="-122"/>
              </a:defRPr>
            </a:lvl3pPr>
            <a:lvl4pPr marL="1600200" indent="-228600" eaLnBrk="0" hangingPunct="0">
              <a:defRPr>
                <a:solidFill>
                  <a:schemeClr val="tx1"/>
                </a:solidFill>
                <a:latin typeface="Arial" panose="020B0604020202020204" pitchFamily="34" charset="0"/>
                <a:ea typeface="宋体" pitchFamily="2" charset="-122"/>
              </a:defRPr>
            </a:lvl4pPr>
            <a:lvl5pPr marL="2057400" indent="-228600" eaLnBrk="0" hangingPunct="0">
              <a:defRPr>
                <a:solidFill>
                  <a:schemeClr val="tx1"/>
                </a:solidFill>
                <a:latin typeface="Arial" panose="020B060402020202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9pPr>
          </a:lstStyle>
          <a:p>
            <a:pPr eaLnBrk="1" hangingPunct="1"/>
            <a:endParaRPr lang="zh-CN" altLang="en-US">
              <a:latin typeface="STKaiti" panose="02010600040101010101" charset="-122"/>
              <a:ea typeface="STKaiti" panose="02010600040101010101" charset="-122"/>
            </a:endParaRPr>
          </a:p>
        </p:txBody>
      </p:sp>
      <p:sp>
        <p:nvSpPr>
          <p:cNvPr id="12" name="Rectangle 10"/>
          <p:cNvSpPr>
            <a:spLocks noChangeArrowheads="1"/>
          </p:cNvSpPr>
          <p:nvPr/>
        </p:nvSpPr>
        <p:spPr bwMode="auto">
          <a:xfrm>
            <a:off x="3505428" y="3294559"/>
            <a:ext cx="428086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itchFamily="2" charset="-122"/>
              </a:defRPr>
            </a:lvl1pPr>
            <a:lvl2pPr marL="742950" indent="-285750" eaLnBrk="0" hangingPunct="0">
              <a:defRPr>
                <a:solidFill>
                  <a:schemeClr val="tx1"/>
                </a:solidFill>
                <a:latin typeface="Arial" panose="020B0604020202020204" pitchFamily="34" charset="0"/>
                <a:ea typeface="宋体" pitchFamily="2" charset="-122"/>
              </a:defRPr>
            </a:lvl2pPr>
            <a:lvl3pPr marL="1143000" indent="-228600" eaLnBrk="0" hangingPunct="0">
              <a:defRPr>
                <a:solidFill>
                  <a:schemeClr val="tx1"/>
                </a:solidFill>
                <a:latin typeface="Arial" panose="020B0604020202020204" pitchFamily="34" charset="0"/>
                <a:ea typeface="宋体" pitchFamily="2" charset="-122"/>
              </a:defRPr>
            </a:lvl3pPr>
            <a:lvl4pPr marL="1600200" indent="-228600" eaLnBrk="0" hangingPunct="0">
              <a:defRPr>
                <a:solidFill>
                  <a:schemeClr val="tx1"/>
                </a:solidFill>
                <a:latin typeface="Arial" panose="020B0604020202020204" pitchFamily="34" charset="0"/>
                <a:ea typeface="宋体" pitchFamily="2" charset="-122"/>
              </a:defRPr>
            </a:lvl4pPr>
            <a:lvl5pPr marL="2057400" indent="-228600" eaLnBrk="0" hangingPunct="0">
              <a:defRPr>
                <a:solidFill>
                  <a:schemeClr val="tx1"/>
                </a:solidFill>
                <a:latin typeface="Arial" panose="020B060402020202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9pPr>
          </a:lstStyle>
          <a:p>
            <a:r>
              <a:rPr lang="zh-CN" altLang="en-US" sz="2000" dirty="0">
                <a:latin typeface="STKaiti" panose="02010600040101010101" charset="-122"/>
                <a:ea typeface="STKaiti" panose="02010600040101010101" charset="-122"/>
              </a:rPr>
              <a:t>研究目标、内容及拟解决的关键问题</a:t>
            </a:r>
          </a:p>
        </p:txBody>
      </p:sp>
      <p:sp>
        <p:nvSpPr>
          <p:cNvPr id="13" name="Oval 11"/>
          <p:cNvSpPr>
            <a:spLocks noChangeArrowheads="1"/>
          </p:cNvSpPr>
          <p:nvPr/>
        </p:nvSpPr>
        <p:spPr bwMode="auto">
          <a:xfrm>
            <a:off x="3217168" y="3342184"/>
            <a:ext cx="228600" cy="228600"/>
          </a:xfrm>
          <a:prstGeom prst="ellipse">
            <a:avLst/>
          </a:prstGeom>
          <a:gradFill rotWithShape="1">
            <a:gsLst>
              <a:gs pos="0">
                <a:srgbClr val="DCDC48"/>
              </a:gs>
              <a:gs pos="100000">
                <a:srgbClr val="939330"/>
              </a:gs>
            </a:gsLst>
            <a:path path="shape">
              <a:fillToRect l="50000" t="50000" r="50000" b="50000"/>
            </a:path>
          </a:gradFill>
          <a:ln w="19050">
            <a:solidFill>
              <a:schemeClr val="tx1"/>
            </a:solidFill>
            <a:round/>
          </a:ln>
          <a:effectLst>
            <a:outerShdw dist="63500" dir="2212194" algn="ctr" rotWithShape="0">
              <a:schemeClr val="bg1">
                <a:alpha val="50000"/>
              </a:schemeClr>
            </a:outerShdw>
          </a:effectLst>
        </p:spPr>
        <p:txBody>
          <a:bodyPr wrap="none" anchor="ctr"/>
          <a:lstStyle>
            <a:lvl1pPr eaLnBrk="0" hangingPunct="0">
              <a:defRPr>
                <a:solidFill>
                  <a:schemeClr val="tx1"/>
                </a:solidFill>
                <a:latin typeface="Arial" panose="020B0604020202020204" pitchFamily="34" charset="0"/>
                <a:ea typeface="宋体" pitchFamily="2" charset="-122"/>
              </a:defRPr>
            </a:lvl1pPr>
            <a:lvl2pPr marL="742950" indent="-285750" eaLnBrk="0" hangingPunct="0">
              <a:defRPr>
                <a:solidFill>
                  <a:schemeClr val="tx1"/>
                </a:solidFill>
                <a:latin typeface="Arial" panose="020B0604020202020204" pitchFamily="34" charset="0"/>
                <a:ea typeface="宋体" pitchFamily="2" charset="-122"/>
              </a:defRPr>
            </a:lvl2pPr>
            <a:lvl3pPr marL="1143000" indent="-228600" eaLnBrk="0" hangingPunct="0">
              <a:defRPr>
                <a:solidFill>
                  <a:schemeClr val="tx1"/>
                </a:solidFill>
                <a:latin typeface="Arial" panose="020B0604020202020204" pitchFamily="34" charset="0"/>
                <a:ea typeface="宋体" pitchFamily="2" charset="-122"/>
              </a:defRPr>
            </a:lvl3pPr>
            <a:lvl4pPr marL="1600200" indent="-228600" eaLnBrk="0" hangingPunct="0">
              <a:defRPr>
                <a:solidFill>
                  <a:schemeClr val="tx1"/>
                </a:solidFill>
                <a:latin typeface="Arial" panose="020B0604020202020204" pitchFamily="34" charset="0"/>
                <a:ea typeface="宋体" pitchFamily="2" charset="-122"/>
              </a:defRPr>
            </a:lvl4pPr>
            <a:lvl5pPr marL="2057400" indent="-228600" eaLnBrk="0" hangingPunct="0">
              <a:defRPr>
                <a:solidFill>
                  <a:schemeClr val="tx1"/>
                </a:solidFill>
                <a:latin typeface="Arial" panose="020B060402020202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9pPr>
          </a:lstStyle>
          <a:p>
            <a:pPr eaLnBrk="1" hangingPunct="1"/>
            <a:endParaRPr lang="zh-CN" altLang="en-US">
              <a:latin typeface="STKaiti" panose="02010600040101010101" charset="-122"/>
              <a:ea typeface="STKaiti" panose="02010600040101010101" charset="-122"/>
            </a:endParaRPr>
          </a:p>
        </p:txBody>
      </p:sp>
      <p:sp>
        <p:nvSpPr>
          <p:cNvPr id="14" name="AutoShape 13"/>
          <p:cNvSpPr>
            <a:spLocks noChangeArrowheads="1"/>
          </p:cNvSpPr>
          <p:nvPr/>
        </p:nvSpPr>
        <p:spPr bwMode="auto">
          <a:xfrm>
            <a:off x="3308175" y="3954760"/>
            <a:ext cx="5301555" cy="457200"/>
          </a:xfrm>
          <a:prstGeom prst="roundRect">
            <a:avLst>
              <a:gd name="adj" fmla="val 50000"/>
            </a:avLst>
          </a:prstGeom>
          <a:noFill/>
          <a:ln w="19050" cap="rnd">
            <a:solidFill>
              <a:schemeClr val="tx1"/>
            </a:solidFill>
            <a:prstDash val="sysDot"/>
            <a:round/>
          </a:ln>
          <a:effectLst>
            <a:outerShdw dist="107763" dir="2700000" algn="ctr" rotWithShape="0">
              <a:schemeClr val="bg1">
                <a:alpha val="50000"/>
              </a:schemeClr>
            </a:outerShdw>
          </a:effectLst>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itchFamily="2" charset="-122"/>
              </a:defRPr>
            </a:lvl1pPr>
            <a:lvl2pPr marL="742950" indent="-285750" eaLnBrk="0" hangingPunct="0">
              <a:defRPr>
                <a:solidFill>
                  <a:schemeClr val="tx1"/>
                </a:solidFill>
                <a:latin typeface="Arial" panose="020B0604020202020204" pitchFamily="34" charset="0"/>
                <a:ea typeface="宋体" pitchFamily="2" charset="-122"/>
              </a:defRPr>
            </a:lvl2pPr>
            <a:lvl3pPr marL="1143000" indent="-228600" eaLnBrk="0" hangingPunct="0">
              <a:defRPr>
                <a:solidFill>
                  <a:schemeClr val="tx1"/>
                </a:solidFill>
                <a:latin typeface="Arial" panose="020B0604020202020204" pitchFamily="34" charset="0"/>
                <a:ea typeface="宋体" pitchFamily="2" charset="-122"/>
              </a:defRPr>
            </a:lvl3pPr>
            <a:lvl4pPr marL="1600200" indent="-228600" eaLnBrk="0" hangingPunct="0">
              <a:defRPr>
                <a:solidFill>
                  <a:schemeClr val="tx1"/>
                </a:solidFill>
                <a:latin typeface="Arial" panose="020B0604020202020204" pitchFamily="34" charset="0"/>
                <a:ea typeface="宋体" pitchFamily="2" charset="-122"/>
              </a:defRPr>
            </a:lvl4pPr>
            <a:lvl5pPr marL="2057400" indent="-228600" eaLnBrk="0" hangingPunct="0">
              <a:defRPr>
                <a:solidFill>
                  <a:schemeClr val="tx1"/>
                </a:solidFill>
                <a:latin typeface="Arial" panose="020B060402020202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9pPr>
          </a:lstStyle>
          <a:p>
            <a:pPr eaLnBrk="1" hangingPunct="1"/>
            <a:endParaRPr lang="zh-CN" altLang="en-US">
              <a:latin typeface="STKaiti" panose="02010600040101010101" charset="-122"/>
              <a:ea typeface="STKaiti" panose="02010600040101010101" charset="-122"/>
            </a:endParaRPr>
          </a:p>
        </p:txBody>
      </p:sp>
      <p:sp>
        <p:nvSpPr>
          <p:cNvPr id="15" name="Rectangle 14"/>
          <p:cNvSpPr>
            <a:spLocks noChangeArrowheads="1"/>
          </p:cNvSpPr>
          <p:nvPr/>
        </p:nvSpPr>
        <p:spPr bwMode="auto">
          <a:xfrm>
            <a:off x="3505428" y="4007148"/>
            <a:ext cx="507295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itchFamily="2" charset="-122"/>
              </a:defRPr>
            </a:lvl1pPr>
            <a:lvl2pPr marL="742950" indent="-285750" eaLnBrk="0" hangingPunct="0">
              <a:defRPr>
                <a:solidFill>
                  <a:schemeClr val="tx1"/>
                </a:solidFill>
                <a:latin typeface="Arial" panose="020B0604020202020204" pitchFamily="34" charset="0"/>
                <a:ea typeface="宋体" pitchFamily="2" charset="-122"/>
              </a:defRPr>
            </a:lvl2pPr>
            <a:lvl3pPr marL="1143000" indent="-228600" eaLnBrk="0" hangingPunct="0">
              <a:defRPr>
                <a:solidFill>
                  <a:schemeClr val="tx1"/>
                </a:solidFill>
                <a:latin typeface="Arial" panose="020B0604020202020204" pitchFamily="34" charset="0"/>
                <a:ea typeface="宋体" pitchFamily="2" charset="-122"/>
              </a:defRPr>
            </a:lvl3pPr>
            <a:lvl4pPr marL="1600200" indent="-228600" eaLnBrk="0" hangingPunct="0">
              <a:defRPr>
                <a:solidFill>
                  <a:schemeClr val="tx1"/>
                </a:solidFill>
                <a:latin typeface="Arial" panose="020B0604020202020204" pitchFamily="34" charset="0"/>
                <a:ea typeface="宋体" pitchFamily="2" charset="-122"/>
              </a:defRPr>
            </a:lvl4pPr>
            <a:lvl5pPr marL="2057400" indent="-228600" eaLnBrk="0" hangingPunct="0">
              <a:defRPr>
                <a:solidFill>
                  <a:schemeClr val="tx1"/>
                </a:solidFill>
                <a:latin typeface="Arial" panose="020B060402020202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9pPr>
          </a:lstStyle>
          <a:p>
            <a:r>
              <a:rPr lang="zh-CN" altLang="en-US" sz="2000" dirty="0">
                <a:latin typeface="STKaiti" panose="02010600040101010101" charset="-122"/>
                <a:ea typeface="STKaiti" panose="02010600040101010101" charset="-122"/>
              </a:rPr>
              <a:t>已有工作基础</a:t>
            </a:r>
            <a:endParaRPr lang="en-US" altLang="zh-CN" sz="2000" b="1" dirty="0">
              <a:latin typeface="STKaiti" panose="02010600040101010101" charset="-122"/>
              <a:ea typeface="STKaiti" panose="02010600040101010101" charset="-122"/>
            </a:endParaRPr>
          </a:p>
        </p:txBody>
      </p:sp>
      <p:sp>
        <p:nvSpPr>
          <p:cNvPr id="16" name="Oval 15"/>
          <p:cNvSpPr>
            <a:spLocks noChangeArrowheads="1"/>
          </p:cNvSpPr>
          <p:nvPr/>
        </p:nvSpPr>
        <p:spPr bwMode="auto">
          <a:xfrm>
            <a:off x="3217168" y="4059535"/>
            <a:ext cx="228600" cy="228600"/>
          </a:xfrm>
          <a:prstGeom prst="ellipse">
            <a:avLst/>
          </a:prstGeom>
          <a:gradFill rotWithShape="1">
            <a:gsLst>
              <a:gs pos="0">
                <a:schemeClr val="accent2"/>
              </a:gs>
              <a:gs pos="100000">
                <a:schemeClr val="accent2">
                  <a:gamma/>
                  <a:shade val="66667"/>
                  <a:invGamma/>
                </a:schemeClr>
              </a:gs>
            </a:gsLst>
            <a:path path="shape">
              <a:fillToRect l="50000" t="50000" r="50000" b="50000"/>
            </a:path>
          </a:gradFill>
          <a:ln w="19050">
            <a:solidFill>
              <a:schemeClr val="tx1"/>
            </a:solidFill>
            <a:round/>
          </a:ln>
          <a:effectLst>
            <a:outerShdw dist="63500" dir="2212194" algn="ctr" rotWithShape="0">
              <a:schemeClr val="bg1">
                <a:alpha val="50000"/>
              </a:schemeClr>
            </a:outerShdw>
          </a:effectLst>
        </p:spPr>
        <p:txBody>
          <a:bodyPr wrap="none" anchor="ctr"/>
          <a:lstStyle/>
          <a:p>
            <a:pPr>
              <a:defRPr/>
            </a:pPr>
            <a:endParaRPr lang="zh-CN" altLang="en-US">
              <a:latin typeface="STKaiti" panose="02010600040101010101" charset="-122"/>
              <a:ea typeface="STKaiti" panose="02010600040101010101" charset="-122"/>
            </a:endParaRPr>
          </a:p>
        </p:txBody>
      </p:sp>
      <p:sp>
        <p:nvSpPr>
          <p:cNvPr id="17" name="AutoShape 21"/>
          <p:cNvSpPr>
            <a:spLocks noChangeArrowheads="1"/>
          </p:cNvSpPr>
          <p:nvPr/>
        </p:nvSpPr>
        <p:spPr bwMode="auto">
          <a:xfrm>
            <a:off x="3308175" y="4699992"/>
            <a:ext cx="5301555" cy="457200"/>
          </a:xfrm>
          <a:prstGeom prst="roundRect">
            <a:avLst>
              <a:gd name="adj" fmla="val 50000"/>
            </a:avLst>
          </a:prstGeom>
          <a:noFill/>
          <a:ln w="19050" cap="rnd">
            <a:solidFill>
              <a:schemeClr val="tx1"/>
            </a:solidFill>
            <a:prstDash val="sysDot"/>
            <a:round/>
          </a:ln>
          <a:effectLst>
            <a:outerShdw dist="107763" dir="2700000" algn="ctr" rotWithShape="0">
              <a:schemeClr val="bg1">
                <a:alpha val="50000"/>
              </a:schemeClr>
            </a:outerShdw>
          </a:effectLst>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itchFamily="2" charset="-122"/>
              </a:defRPr>
            </a:lvl1pPr>
            <a:lvl2pPr marL="742950" indent="-285750" eaLnBrk="0" hangingPunct="0">
              <a:defRPr>
                <a:solidFill>
                  <a:schemeClr val="tx1"/>
                </a:solidFill>
                <a:latin typeface="Arial" panose="020B0604020202020204" pitchFamily="34" charset="0"/>
                <a:ea typeface="宋体" pitchFamily="2" charset="-122"/>
              </a:defRPr>
            </a:lvl2pPr>
            <a:lvl3pPr marL="1143000" indent="-228600" eaLnBrk="0" hangingPunct="0">
              <a:defRPr>
                <a:solidFill>
                  <a:schemeClr val="tx1"/>
                </a:solidFill>
                <a:latin typeface="Arial" panose="020B0604020202020204" pitchFamily="34" charset="0"/>
                <a:ea typeface="宋体" pitchFamily="2" charset="-122"/>
              </a:defRPr>
            </a:lvl3pPr>
            <a:lvl4pPr marL="1600200" indent="-228600" eaLnBrk="0" hangingPunct="0">
              <a:defRPr>
                <a:solidFill>
                  <a:schemeClr val="tx1"/>
                </a:solidFill>
                <a:latin typeface="Arial" panose="020B0604020202020204" pitchFamily="34" charset="0"/>
                <a:ea typeface="宋体" pitchFamily="2" charset="-122"/>
              </a:defRPr>
            </a:lvl4pPr>
            <a:lvl5pPr marL="2057400" indent="-228600" eaLnBrk="0" hangingPunct="0">
              <a:defRPr>
                <a:solidFill>
                  <a:schemeClr val="tx1"/>
                </a:solidFill>
                <a:latin typeface="Arial" panose="020B060402020202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9pPr>
          </a:lstStyle>
          <a:p>
            <a:pPr eaLnBrk="1" hangingPunct="1"/>
            <a:endParaRPr lang="zh-CN" altLang="en-US">
              <a:latin typeface="STKaiti" panose="02010600040101010101" charset="-122"/>
              <a:ea typeface="STKaiti" panose="02010600040101010101" charset="-122"/>
            </a:endParaRPr>
          </a:p>
        </p:txBody>
      </p:sp>
      <p:sp>
        <p:nvSpPr>
          <p:cNvPr id="18" name="Rectangle 22"/>
          <p:cNvSpPr>
            <a:spLocks noChangeArrowheads="1"/>
          </p:cNvSpPr>
          <p:nvPr/>
        </p:nvSpPr>
        <p:spPr bwMode="auto">
          <a:xfrm>
            <a:off x="3505428" y="4730155"/>
            <a:ext cx="274947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itchFamily="2" charset="-122"/>
              </a:defRPr>
            </a:lvl1pPr>
            <a:lvl2pPr marL="742950" indent="-285750" eaLnBrk="0" hangingPunct="0">
              <a:defRPr>
                <a:solidFill>
                  <a:schemeClr val="tx1"/>
                </a:solidFill>
                <a:latin typeface="Arial" panose="020B0604020202020204" pitchFamily="34" charset="0"/>
                <a:ea typeface="宋体" pitchFamily="2" charset="-122"/>
              </a:defRPr>
            </a:lvl2pPr>
            <a:lvl3pPr marL="1143000" indent="-228600" eaLnBrk="0" hangingPunct="0">
              <a:defRPr>
                <a:solidFill>
                  <a:schemeClr val="tx1"/>
                </a:solidFill>
                <a:latin typeface="Arial" panose="020B0604020202020204" pitchFamily="34" charset="0"/>
                <a:ea typeface="宋体" pitchFamily="2" charset="-122"/>
              </a:defRPr>
            </a:lvl3pPr>
            <a:lvl4pPr marL="1600200" indent="-228600" eaLnBrk="0" hangingPunct="0">
              <a:defRPr>
                <a:solidFill>
                  <a:schemeClr val="tx1"/>
                </a:solidFill>
                <a:latin typeface="Arial" panose="020B0604020202020204" pitchFamily="34" charset="0"/>
                <a:ea typeface="宋体" pitchFamily="2" charset="-122"/>
              </a:defRPr>
            </a:lvl4pPr>
            <a:lvl5pPr marL="2057400" indent="-228600" eaLnBrk="0" hangingPunct="0">
              <a:defRPr>
                <a:solidFill>
                  <a:schemeClr val="tx1"/>
                </a:solidFill>
                <a:latin typeface="Arial" panose="020B060402020202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9pPr>
          </a:lstStyle>
          <a:p>
            <a:r>
              <a:rPr lang="zh-CN" altLang="en-US" sz="2000" dirty="0">
                <a:latin typeface="STKaiti" panose="02010600040101010101" charset="-122"/>
                <a:ea typeface="STKaiti" panose="02010600040101010101" charset="-122"/>
              </a:rPr>
              <a:t>研究计划以及预期进展</a:t>
            </a:r>
            <a:endParaRPr lang="en-US" altLang="zh-CN" sz="2000" dirty="0">
              <a:latin typeface="STKaiti" panose="02010600040101010101" charset="-122"/>
              <a:ea typeface="STKaiti" panose="02010600040101010101" charset="-122"/>
            </a:endParaRPr>
          </a:p>
        </p:txBody>
      </p:sp>
      <p:sp>
        <p:nvSpPr>
          <p:cNvPr id="19" name="Oval 23"/>
          <p:cNvSpPr>
            <a:spLocks noChangeArrowheads="1"/>
          </p:cNvSpPr>
          <p:nvPr/>
        </p:nvSpPr>
        <p:spPr bwMode="auto">
          <a:xfrm>
            <a:off x="3217168" y="4800005"/>
            <a:ext cx="228600" cy="228600"/>
          </a:xfrm>
          <a:prstGeom prst="ellipse">
            <a:avLst/>
          </a:prstGeom>
          <a:gradFill rotWithShape="1">
            <a:gsLst>
              <a:gs pos="0">
                <a:schemeClr val="hlink"/>
              </a:gs>
              <a:gs pos="100000">
                <a:schemeClr val="hlink">
                  <a:gamma/>
                  <a:shade val="66667"/>
                  <a:invGamma/>
                </a:schemeClr>
              </a:gs>
            </a:gsLst>
            <a:path path="shape">
              <a:fillToRect l="50000" t="50000" r="50000" b="50000"/>
            </a:path>
          </a:gradFill>
          <a:ln w="19050">
            <a:solidFill>
              <a:schemeClr val="tx1"/>
            </a:solidFill>
            <a:round/>
          </a:ln>
          <a:effectLst>
            <a:outerShdw dist="63500" dir="2212194" algn="ctr" rotWithShape="0">
              <a:schemeClr val="bg1">
                <a:alpha val="50000"/>
              </a:schemeClr>
            </a:outerShdw>
          </a:effectLst>
        </p:spPr>
        <p:txBody>
          <a:bodyPr wrap="none" anchor="ctr"/>
          <a:lstStyle/>
          <a:p>
            <a:pPr>
              <a:defRPr/>
            </a:pPr>
            <a:endParaRPr lang="zh-CN" altLang="en-US">
              <a:latin typeface="STKaiti" panose="02010600040101010101" charset="-122"/>
              <a:ea typeface="STKaiti" panose="02010600040101010101" charset="-122"/>
            </a:endParaRPr>
          </a:p>
        </p:txBody>
      </p:sp>
      <p:sp>
        <p:nvSpPr>
          <p:cNvPr id="20" name="Line 25"/>
          <p:cNvSpPr>
            <a:spLocks noChangeShapeType="1"/>
          </p:cNvSpPr>
          <p:nvPr/>
        </p:nvSpPr>
        <p:spPr bwMode="auto">
          <a:xfrm flipV="1">
            <a:off x="2483768" y="1963688"/>
            <a:ext cx="381000" cy="381000"/>
          </a:xfrm>
          <a:prstGeom prst="line">
            <a:avLst/>
          </a:prstGeom>
          <a:noFill/>
          <a:ln w="12700" cap="rnd">
            <a:solidFill>
              <a:schemeClr val="tx1"/>
            </a:solidFill>
            <a:prstDash val="sysDot"/>
            <a:round/>
          </a:ln>
          <a:extLst>
            <a:ext uri="{909E8E84-426E-40DD-AFC4-6F175D3DCCD1}">
              <a14:hiddenFill xmlns:a14="http://schemas.microsoft.com/office/drawing/2010/main">
                <a:noFill/>
              </a14:hiddenFill>
            </a:ext>
          </a:extLst>
        </p:spPr>
        <p:txBody>
          <a:bodyPr/>
          <a:lstStyle/>
          <a:p>
            <a:endParaRPr lang="zh-CN" altLang="en-US">
              <a:latin typeface="STKaiti" panose="02010600040101010101" charset="-122"/>
              <a:ea typeface="STKaiti" panose="02010600040101010101" charset="-122"/>
            </a:endParaRPr>
          </a:p>
        </p:txBody>
      </p:sp>
      <p:sp>
        <p:nvSpPr>
          <p:cNvPr id="21" name="Line 26"/>
          <p:cNvSpPr>
            <a:spLocks noChangeShapeType="1"/>
          </p:cNvSpPr>
          <p:nvPr/>
        </p:nvSpPr>
        <p:spPr bwMode="auto">
          <a:xfrm>
            <a:off x="2438400" y="5500464"/>
            <a:ext cx="457200" cy="304800"/>
          </a:xfrm>
          <a:prstGeom prst="line">
            <a:avLst/>
          </a:prstGeom>
          <a:noFill/>
          <a:ln w="12700" cap="rnd">
            <a:solidFill>
              <a:schemeClr val="tx1"/>
            </a:solidFill>
            <a:prstDash val="sysDot"/>
            <a:round/>
          </a:ln>
          <a:extLst>
            <a:ext uri="{909E8E84-426E-40DD-AFC4-6F175D3DCCD1}">
              <a14:hiddenFill xmlns:a14="http://schemas.microsoft.com/office/drawing/2010/main">
                <a:noFill/>
              </a14:hiddenFill>
            </a:ext>
          </a:extLst>
        </p:spPr>
        <p:txBody>
          <a:bodyPr/>
          <a:lstStyle/>
          <a:p>
            <a:endParaRPr lang="zh-CN" altLang="en-US">
              <a:latin typeface="STKaiti" panose="02010600040101010101" charset="-122"/>
              <a:ea typeface="STKaiti" panose="02010600040101010101" charset="-122"/>
            </a:endParaRPr>
          </a:p>
        </p:txBody>
      </p:sp>
      <p:grpSp>
        <p:nvGrpSpPr>
          <p:cNvPr id="22" name="Group 27"/>
          <p:cNvGrpSpPr/>
          <p:nvPr/>
        </p:nvGrpSpPr>
        <p:grpSpPr bwMode="auto">
          <a:xfrm>
            <a:off x="2882280" y="1963688"/>
            <a:ext cx="609600" cy="3841576"/>
            <a:chOff x="1824" y="1488"/>
            <a:chExt cx="240" cy="1776"/>
          </a:xfrm>
        </p:grpSpPr>
        <p:sp>
          <p:nvSpPr>
            <p:cNvPr id="23" name="Line 28"/>
            <p:cNvSpPr>
              <a:spLocks noChangeShapeType="1"/>
            </p:cNvSpPr>
            <p:nvPr/>
          </p:nvSpPr>
          <p:spPr bwMode="auto">
            <a:xfrm>
              <a:off x="1824" y="1488"/>
              <a:ext cx="240" cy="0"/>
            </a:xfrm>
            <a:prstGeom prst="line">
              <a:avLst/>
            </a:prstGeom>
            <a:noFill/>
            <a:ln w="12700" cap="rnd">
              <a:solidFill>
                <a:schemeClr val="tx1"/>
              </a:solidFill>
              <a:prstDash val="sysDot"/>
              <a:round/>
            </a:ln>
            <a:extLst>
              <a:ext uri="{909E8E84-426E-40DD-AFC4-6F175D3DCCD1}">
                <a14:hiddenFill xmlns:a14="http://schemas.microsoft.com/office/drawing/2010/main">
                  <a:noFill/>
                </a14:hiddenFill>
              </a:ext>
            </a:extLst>
          </p:spPr>
          <p:txBody>
            <a:bodyPr/>
            <a:lstStyle/>
            <a:p>
              <a:endParaRPr lang="zh-CN" altLang="en-US">
                <a:latin typeface="STKaiti" panose="02010600040101010101" charset="-122"/>
                <a:ea typeface="STKaiti" panose="02010600040101010101" charset="-122"/>
              </a:endParaRPr>
            </a:p>
          </p:txBody>
        </p:sp>
        <p:sp>
          <p:nvSpPr>
            <p:cNvPr id="24" name="Line 29"/>
            <p:cNvSpPr>
              <a:spLocks noChangeShapeType="1"/>
            </p:cNvSpPr>
            <p:nvPr/>
          </p:nvSpPr>
          <p:spPr bwMode="auto">
            <a:xfrm>
              <a:off x="1824" y="3264"/>
              <a:ext cx="240" cy="0"/>
            </a:xfrm>
            <a:prstGeom prst="line">
              <a:avLst/>
            </a:prstGeom>
            <a:noFill/>
            <a:ln w="12700" cap="rnd">
              <a:solidFill>
                <a:schemeClr val="tx1"/>
              </a:solidFill>
              <a:prstDash val="sysDot"/>
              <a:round/>
            </a:ln>
            <a:extLst>
              <a:ext uri="{909E8E84-426E-40DD-AFC4-6F175D3DCCD1}">
                <a14:hiddenFill xmlns:a14="http://schemas.microsoft.com/office/drawing/2010/main">
                  <a:noFill/>
                </a14:hiddenFill>
              </a:ext>
            </a:extLst>
          </p:spPr>
          <p:txBody>
            <a:bodyPr/>
            <a:lstStyle/>
            <a:p>
              <a:endParaRPr lang="zh-CN" altLang="en-US">
                <a:latin typeface="STKaiti" panose="02010600040101010101" charset="-122"/>
                <a:ea typeface="STKaiti" panose="02010600040101010101" charset="-122"/>
              </a:endParaRPr>
            </a:p>
          </p:txBody>
        </p:sp>
      </p:grpSp>
      <p:sp>
        <p:nvSpPr>
          <p:cNvPr id="25" name="Line 30"/>
          <p:cNvSpPr>
            <a:spLocks noChangeShapeType="1"/>
          </p:cNvSpPr>
          <p:nvPr/>
        </p:nvSpPr>
        <p:spPr bwMode="auto">
          <a:xfrm flipV="1">
            <a:off x="2819400" y="3454896"/>
            <a:ext cx="685800" cy="0"/>
          </a:xfrm>
          <a:prstGeom prst="line">
            <a:avLst/>
          </a:prstGeom>
          <a:noFill/>
          <a:ln w="12700" cap="rnd">
            <a:solidFill>
              <a:schemeClr val="tx1"/>
            </a:solidFill>
            <a:prstDash val="sysDot"/>
            <a:round/>
          </a:ln>
          <a:extLst>
            <a:ext uri="{909E8E84-426E-40DD-AFC4-6F175D3DCCD1}">
              <a14:hiddenFill xmlns:a14="http://schemas.microsoft.com/office/drawing/2010/main">
                <a:noFill/>
              </a14:hiddenFill>
            </a:ext>
          </a:extLst>
        </p:spPr>
        <p:txBody>
          <a:bodyPr/>
          <a:lstStyle/>
          <a:p>
            <a:endParaRPr lang="zh-CN" altLang="en-US">
              <a:latin typeface="STKaiti" panose="02010600040101010101" charset="-122"/>
              <a:ea typeface="STKaiti" panose="02010600040101010101" charset="-122"/>
            </a:endParaRPr>
          </a:p>
        </p:txBody>
      </p:sp>
      <p:sp>
        <p:nvSpPr>
          <p:cNvPr id="26" name="Line 31"/>
          <p:cNvSpPr>
            <a:spLocks noChangeShapeType="1"/>
          </p:cNvSpPr>
          <p:nvPr/>
        </p:nvSpPr>
        <p:spPr bwMode="auto">
          <a:xfrm>
            <a:off x="2895600" y="4173835"/>
            <a:ext cx="609600" cy="0"/>
          </a:xfrm>
          <a:prstGeom prst="line">
            <a:avLst/>
          </a:prstGeom>
          <a:noFill/>
          <a:ln w="12700" cap="rnd">
            <a:solidFill>
              <a:schemeClr val="tx1"/>
            </a:solidFill>
            <a:prstDash val="sysDot"/>
            <a:round/>
          </a:ln>
          <a:extLst>
            <a:ext uri="{909E8E84-426E-40DD-AFC4-6F175D3DCCD1}">
              <a14:hiddenFill xmlns:a14="http://schemas.microsoft.com/office/drawing/2010/main">
                <a:noFill/>
              </a14:hiddenFill>
            </a:ext>
          </a:extLst>
        </p:spPr>
        <p:txBody>
          <a:bodyPr/>
          <a:lstStyle/>
          <a:p>
            <a:endParaRPr lang="zh-CN" altLang="en-US">
              <a:latin typeface="STKaiti" panose="02010600040101010101" charset="-122"/>
              <a:ea typeface="STKaiti" panose="02010600040101010101" charset="-122"/>
            </a:endParaRPr>
          </a:p>
        </p:txBody>
      </p:sp>
      <p:sp>
        <p:nvSpPr>
          <p:cNvPr id="27" name="Line 30"/>
          <p:cNvSpPr>
            <a:spLocks noChangeShapeType="1"/>
          </p:cNvSpPr>
          <p:nvPr/>
        </p:nvSpPr>
        <p:spPr bwMode="auto">
          <a:xfrm flipV="1">
            <a:off x="2806080" y="2755776"/>
            <a:ext cx="685800" cy="0"/>
          </a:xfrm>
          <a:prstGeom prst="line">
            <a:avLst/>
          </a:prstGeom>
          <a:noFill/>
          <a:ln w="12700" cap="rnd">
            <a:solidFill>
              <a:schemeClr val="tx1"/>
            </a:solidFill>
            <a:prstDash val="sysDot"/>
            <a:round/>
          </a:ln>
          <a:extLst>
            <a:ext uri="{909E8E84-426E-40DD-AFC4-6F175D3DCCD1}">
              <a14:hiddenFill xmlns:a14="http://schemas.microsoft.com/office/drawing/2010/main">
                <a:noFill/>
              </a14:hiddenFill>
            </a:ext>
          </a:extLst>
        </p:spPr>
        <p:txBody>
          <a:bodyPr/>
          <a:lstStyle/>
          <a:p>
            <a:endParaRPr lang="zh-CN" altLang="en-US">
              <a:latin typeface="STKaiti" panose="02010600040101010101" charset="-122"/>
              <a:ea typeface="STKaiti" panose="02010600040101010101" charset="-122"/>
            </a:endParaRPr>
          </a:p>
        </p:txBody>
      </p:sp>
      <p:sp>
        <p:nvSpPr>
          <p:cNvPr id="28" name="Line 32"/>
          <p:cNvSpPr>
            <a:spLocks noChangeShapeType="1"/>
          </p:cNvSpPr>
          <p:nvPr/>
        </p:nvSpPr>
        <p:spPr bwMode="auto">
          <a:xfrm flipV="1">
            <a:off x="2843808" y="4921646"/>
            <a:ext cx="685800" cy="0"/>
          </a:xfrm>
          <a:prstGeom prst="line">
            <a:avLst/>
          </a:prstGeom>
          <a:noFill/>
          <a:ln w="12700" cap="rnd">
            <a:solidFill>
              <a:schemeClr val="tx1"/>
            </a:solidFill>
            <a:prstDash val="sysDot"/>
            <a:round/>
          </a:ln>
          <a:extLst>
            <a:ext uri="{909E8E84-426E-40DD-AFC4-6F175D3DCCD1}">
              <a14:hiddenFill xmlns:a14="http://schemas.microsoft.com/office/drawing/2010/main">
                <a:noFill/>
              </a14:hiddenFill>
            </a:ext>
          </a:extLst>
        </p:spPr>
        <p:txBody>
          <a:bodyPr/>
          <a:lstStyle/>
          <a:p>
            <a:endParaRPr lang="zh-CN" altLang="en-US">
              <a:latin typeface="STKaiti" panose="02010600040101010101" charset="-122"/>
              <a:ea typeface="STKaiti" panose="02010600040101010101" charset="-122"/>
            </a:endParaRPr>
          </a:p>
        </p:txBody>
      </p:sp>
      <p:sp>
        <p:nvSpPr>
          <p:cNvPr id="29" name="AutoShape 5"/>
          <p:cNvSpPr>
            <a:spLocks noChangeArrowheads="1"/>
          </p:cNvSpPr>
          <p:nvPr/>
        </p:nvSpPr>
        <p:spPr bwMode="auto">
          <a:xfrm>
            <a:off x="3308176" y="1819672"/>
            <a:ext cx="5301554" cy="457200"/>
          </a:xfrm>
          <a:prstGeom prst="roundRect">
            <a:avLst>
              <a:gd name="adj" fmla="val 50000"/>
            </a:avLst>
          </a:prstGeom>
          <a:noFill/>
          <a:ln w="19050" cap="rnd">
            <a:solidFill>
              <a:schemeClr val="tx1"/>
            </a:solidFill>
            <a:prstDash val="sysDot"/>
            <a:round/>
          </a:ln>
          <a:effectLst>
            <a:outerShdw dist="107763" dir="2700000" algn="ctr" rotWithShape="0">
              <a:schemeClr val="bg1">
                <a:alpha val="50000"/>
              </a:schemeClr>
            </a:outerShdw>
          </a:effectLst>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itchFamily="2" charset="-122"/>
              </a:defRPr>
            </a:lvl1pPr>
            <a:lvl2pPr marL="742950" indent="-285750" eaLnBrk="0" hangingPunct="0">
              <a:defRPr>
                <a:solidFill>
                  <a:schemeClr val="tx1"/>
                </a:solidFill>
                <a:latin typeface="Arial" panose="020B0604020202020204" pitchFamily="34" charset="0"/>
                <a:ea typeface="宋体" pitchFamily="2" charset="-122"/>
              </a:defRPr>
            </a:lvl2pPr>
            <a:lvl3pPr marL="1143000" indent="-228600" eaLnBrk="0" hangingPunct="0">
              <a:defRPr>
                <a:solidFill>
                  <a:schemeClr val="tx1"/>
                </a:solidFill>
                <a:latin typeface="Arial" panose="020B0604020202020204" pitchFamily="34" charset="0"/>
                <a:ea typeface="宋体" pitchFamily="2" charset="-122"/>
              </a:defRPr>
            </a:lvl3pPr>
            <a:lvl4pPr marL="1600200" indent="-228600" eaLnBrk="0" hangingPunct="0">
              <a:defRPr>
                <a:solidFill>
                  <a:schemeClr val="tx1"/>
                </a:solidFill>
                <a:latin typeface="Arial" panose="020B0604020202020204" pitchFamily="34" charset="0"/>
                <a:ea typeface="宋体" pitchFamily="2" charset="-122"/>
              </a:defRPr>
            </a:lvl4pPr>
            <a:lvl5pPr marL="2057400" indent="-228600" eaLnBrk="0" hangingPunct="0">
              <a:defRPr>
                <a:solidFill>
                  <a:schemeClr val="tx1"/>
                </a:solidFill>
                <a:latin typeface="Arial" panose="020B060402020202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9pPr>
          </a:lstStyle>
          <a:p>
            <a:pPr eaLnBrk="1" hangingPunct="1"/>
            <a:endParaRPr lang="zh-CN" altLang="en-US" sz="2000" dirty="0">
              <a:solidFill>
                <a:srgbClr val="FF0000"/>
              </a:solidFill>
              <a:latin typeface="STKaiti" panose="02010600040101010101" charset="-122"/>
              <a:ea typeface="STKaiti" panose="02010600040101010101" charset="-122"/>
            </a:endParaRPr>
          </a:p>
        </p:txBody>
      </p:sp>
      <p:sp>
        <p:nvSpPr>
          <p:cNvPr id="30" name="Oval 7"/>
          <p:cNvSpPr>
            <a:spLocks noChangeArrowheads="1"/>
          </p:cNvSpPr>
          <p:nvPr/>
        </p:nvSpPr>
        <p:spPr bwMode="auto">
          <a:xfrm>
            <a:off x="3203848" y="1951112"/>
            <a:ext cx="228600" cy="228600"/>
          </a:xfrm>
          <a:prstGeom prst="ellipse">
            <a:avLst/>
          </a:prstGeom>
          <a:gradFill rotWithShape="1">
            <a:gsLst>
              <a:gs pos="0">
                <a:srgbClr val="E96E29"/>
              </a:gs>
              <a:gs pos="100000">
                <a:srgbClr val="9B491B"/>
              </a:gs>
            </a:gsLst>
            <a:path path="shape">
              <a:fillToRect l="50000" t="50000" r="50000" b="50000"/>
            </a:path>
          </a:gradFill>
          <a:ln w="19050">
            <a:solidFill>
              <a:schemeClr val="tx1"/>
            </a:solidFill>
            <a:round/>
          </a:ln>
          <a:effectLst>
            <a:outerShdw dist="63500" dir="2212194" algn="ctr" rotWithShape="0">
              <a:schemeClr val="bg1">
                <a:alpha val="50000"/>
              </a:schemeClr>
            </a:outerShdw>
          </a:effectLst>
        </p:spPr>
        <p:txBody>
          <a:bodyPr wrap="none" anchor="ctr"/>
          <a:lstStyle>
            <a:lvl1pPr eaLnBrk="0" hangingPunct="0">
              <a:defRPr>
                <a:solidFill>
                  <a:schemeClr val="tx1"/>
                </a:solidFill>
                <a:latin typeface="Arial" panose="020B0604020202020204" pitchFamily="34" charset="0"/>
                <a:ea typeface="宋体" pitchFamily="2" charset="-122"/>
              </a:defRPr>
            </a:lvl1pPr>
            <a:lvl2pPr marL="742950" indent="-285750" eaLnBrk="0" hangingPunct="0">
              <a:defRPr>
                <a:solidFill>
                  <a:schemeClr val="tx1"/>
                </a:solidFill>
                <a:latin typeface="Arial" panose="020B0604020202020204" pitchFamily="34" charset="0"/>
                <a:ea typeface="宋体" pitchFamily="2" charset="-122"/>
              </a:defRPr>
            </a:lvl2pPr>
            <a:lvl3pPr marL="1143000" indent="-228600" eaLnBrk="0" hangingPunct="0">
              <a:defRPr>
                <a:solidFill>
                  <a:schemeClr val="tx1"/>
                </a:solidFill>
                <a:latin typeface="Arial" panose="020B0604020202020204" pitchFamily="34" charset="0"/>
                <a:ea typeface="宋体" pitchFamily="2" charset="-122"/>
              </a:defRPr>
            </a:lvl3pPr>
            <a:lvl4pPr marL="1600200" indent="-228600" eaLnBrk="0" hangingPunct="0">
              <a:defRPr>
                <a:solidFill>
                  <a:schemeClr val="tx1"/>
                </a:solidFill>
                <a:latin typeface="Arial" panose="020B0604020202020204" pitchFamily="34" charset="0"/>
                <a:ea typeface="宋体" pitchFamily="2" charset="-122"/>
              </a:defRPr>
            </a:lvl4pPr>
            <a:lvl5pPr marL="2057400" indent="-228600" eaLnBrk="0" hangingPunct="0">
              <a:defRPr>
                <a:solidFill>
                  <a:schemeClr val="tx1"/>
                </a:solidFill>
                <a:latin typeface="Arial" panose="020B060402020202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9pPr>
          </a:lstStyle>
          <a:p>
            <a:pPr eaLnBrk="1" hangingPunct="1"/>
            <a:endParaRPr lang="zh-CN" altLang="en-US">
              <a:latin typeface="STKaiti" panose="02010600040101010101" charset="-122"/>
              <a:ea typeface="STKaiti" panose="02010600040101010101" charset="-122"/>
            </a:endParaRPr>
          </a:p>
        </p:txBody>
      </p:sp>
      <p:sp>
        <p:nvSpPr>
          <p:cNvPr id="31" name="AutoShape 21"/>
          <p:cNvSpPr>
            <a:spLocks noChangeArrowheads="1"/>
          </p:cNvSpPr>
          <p:nvPr/>
        </p:nvSpPr>
        <p:spPr bwMode="auto">
          <a:xfrm>
            <a:off x="3308176" y="5492080"/>
            <a:ext cx="5301554" cy="457200"/>
          </a:xfrm>
          <a:prstGeom prst="roundRect">
            <a:avLst>
              <a:gd name="adj" fmla="val 50000"/>
            </a:avLst>
          </a:prstGeom>
          <a:noFill/>
          <a:ln w="19050" cap="rnd">
            <a:solidFill>
              <a:schemeClr val="tx1"/>
            </a:solidFill>
            <a:prstDash val="sysDot"/>
            <a:round/>
          </a:ln>
          <a:effectLst>
            <a:outerShdw dist="107763" dir="2700000" algn="ctr" rotWithShape="0">
              <a:schemeClr val="bg1">
                <a:alpha val="50000"/>
              </a:schemeClr>
            </a:outerShdw>
          </a:effectLst>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itchFamily="2" charset="-122"/>
              </a:defRPr>
            </a:lvl1pPr>
            <a:lvl2pPr marL="742950" indent="-285750" eaLnBrk="0" hangingPunct="0">
              <a:defRPr>
                <a:solidFill>
                  <a:schemeClr val="tx1"/>
                </a:solidFill>
                <a:latin typeface="Arial" panose="020B0604020202020204" pitchFamily="34" charset="0"/>
                <a:ea typeface="宋体" pitchFamily="2" charset="-122"/>
              </a:defRPr>
            </a:lvl2pPr>
            <a:lvl3pPr marL="1143000" indent="-228600" eaLnBrk="0" hangingPunct="0">
              <a:defRPr>
                <a:solidFill>
                  <a:schemeClr val="tx1"/>
                </a:solidFill>
                <a:latin typeface="Arial" panose="020B0604020202020204" pitchFamily="34" charset="0"/>
                <a:ea typeface="宋体" pitchFamily="2" charset="-122"/>
              </a:defRPr>
            </a:lvl3pPr>
            <a:lvl4pPr marL="1600200" indent="-228600" eaLnBrk="0" hangingPunct="0">
              <a:defRPr>
                <a:solidFill>
                  <a:schemeClr val="tx1"/>
                </a:solidFill>
                <a:latin typeface="Arial" panose="020B0604020202020204" pitchFamily="34" charset="0"/>
                <a:ea typeface="宋体" pitchFamily="2" charset="-122"/>
              </a:defRPr>
            </a:lvl4pPr>
            <a:lvl5pPr marL="2057400" indent="-228600" eaLnBrk="0" hangingPunct="0">
              <a:defRPr>
                <a:solidFill>
                  <a:schemeClr val="tx1"/>
                </a:solidFill>
                <a:latin typeface="Arial" panose="020B060402020202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9pPr>
          </a:lstStyle>
          <a:p>
            <a:pPr eaLnBrk="1" hangingPunct="1"/>
            <a:endParaRPr lang="zh-CN" altLang="en-US">
              <a:latin typeface="STKaiti" panose="02010600040101010101" charset="-122"/>
              <a:ea typeface="STKaiti" panose="02010600040101010101" charset="-122"/>
            </a:endParaRPr>
          </a:p>
        </p:txBody>
      </p:sp>
      <p:sp>
        <p:nvSpPr>
          <p:cNvPr id="32" name="Oval 15"/>
          <p:cNvSpPr>
            <a:spLocks noChangeArrowheads="1"/>
          </p:cNvSpPr>
          <p:nvPr/>
        </p:nvSpPr>
        <p:spPr bwMode="auto">
          <a:xfrm>
            <a:off x="3203848" y="5623520"/>
            <a:ext cx="228600" cy="228600"/>
          </a:xfrm>
          <a:prstGeom prst="ellipse">
            <a:avLst/>
          </a:prstGeom>
          <a:gradFill rotWithShape="1">
            <a:gsLst>
              <a:gs pos="0">
                <a:schemeClr val="accent2"/>
              </a:gs>
              <a:gs pos="100000">
                <a:schemeClr val="accent2">
                  <a:gamma/>
                  <a:shade val="66667"/>
                  <a:invGamma/>
                </a:schemeClr>
              </a:gs>
            </a:gsLst>
            <a:path path="shape">
              <a:fillToRect l="50000" t="50000" r="50000" b="50000"/>
            </a:path>
          </a:gradFill>
          <a:ln w="19050">
            <a:solidFill>
              <a:schemeClr val="tx1"/>
            </a:solidFill>
            <a:round/>
          </a:ln>
          <a:effectLst>
            <a:outerShdw dist="63500" dir="2212194" algn="ctr" rotWithShape="0">
              <a:schemeClr val="bg1">
                <a:alpha val="50000"/>
              </a:schemeClr>
            </a:outerShdw>
          </a:effectLst>
        </p:spPr>
        <p:txBody>
          <a:bodyPr wrap="none" anchor="ctr"/>
          <a:lstStyle/>
          <a:p>
            <a:pPr>
              <a:defRPr/>
            </a:pPr>
            <a:endParaRPr lang="zh-CN" altLang="en-US">
              <a:latin typeface="STKaiti" panose="02010600040101010101" charset="-122"/>
              <a:ea typeface="STKaiti" panose="02010600040101010101" charset="-122"/>
            </a:endParaRPr>
          </a:p>
        </p:txBody>
      </p:sp>
      <p:sp>
        <p:nvSpPr>
          <p:cNvPr id="33" name="Rectangle 22"/>
          <p:cNvSpPr>
            <a:spLocks noChangeArrowheads="1"/>
          </p:cNvSpPr>
          <p:nvPr/>
        </p:nvSpPr>
        <p:spPr bwMode="auto">
          <a:xfrm>
            <a:off x="3505428" y="5507384"/>
            <a:ext cx="121058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itchFamily="2" charset="-122"/>
              </a:defRPr>
            </a:lvl1pPr>
            <a:lvl2pPr marL="742950" indent="-285750" eaLnBrk="0" hangingPunct="0">
              <a:defRPr>
                <a:solidFill>
                  <a:schemeClr val="tx1"/>
                </a:solidFill>
                <a:latin typeface="Arial" panose="020B0604020202020204" pitchFamily="34" charset="0"/>
                <a:ea typeface="宋体" pitchFamily="2" charset="-122"/>
              </a:defRPr>
            </a:lvl2pPr>
            <a:lvl3pPr marL="1143000" indent="-228600" eaLnBrk="0" hangingPunct="0">
              <a:defRPr>
                <a:solidFill>
                  <a:schemeClr val="tx1"/>
                </a:solidFill>
                <a:latin typeface="Arial" panose="020B0604020202020204" pitchFamily="34" charset="0"/>
                <a:ea typeface="宋体" pitchFamily="2" charset="-122"/>
              </a:defRPr>
            </a:lvl3pPr>
            <a:lvl4pPr marL="1600200" indent="-228600" eaLnBrk="0" hangingPunct="0">
              <a:defRPr>
                <a:solidFill>
                  <a:schemeClr val="tx1"/>
                </a:solidFill>
                <a:latin typeface="Arial" panose="020B0604020202020204" pitchFamily="34" charset="0"/>
                <a:ea typeface="宋体" pitchFamily="2" charset="-122"/>
              </a:defRPr>
            </a:lvl4pPr>
            <a:lvl5pPr marL="2057400" indent="-228600" eaLnBrk="0" hangingPunct="0">
              <a:defRPr>
                <a:solidFill>
                  <a:schemeClr val="tx1"/>
                </a:solidFill>
                <a:latin typeface="Arial" panose="020B060402020202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itchFamily="2" charset="-122"/>
              </a:defRPr>
            </a:lvl9pPr>
          </a:lstStyle>
          <a:p>
            <a:r>
              <a:rPr lang="zh-CN" altLang="en-US" sz="2000" dirty="0">
                <a:latin typeface="STKaiti" panose="02010600040101010101" charset="-122"/>
                <a:ea typeface="STKaiti" panose="02010600040101010101" charset="-122"/>
              </a:rPr>
              <a:t>参考文献</a:t>
            </a:r>
            <a:endParaRPr lang="en-US" altLang="zh-CN" sz="2000" dirty="0">
              <a:latin typeface="STKaiti" panose="02010600040101010101" charset="-122"/>
              <a:ea typeface="STKaiti" panose="02010600040101010101" charset="-122"/>
            </a:endParaRPr>
          </a:p>
        </p:txBody>
      </p:sp>
      <p:sp>
        <p:nvSpPr>
          <p:cNvPr id="34" name="矩形 33"/>
          <p:cNvSpPr/>
          <p:nvPr/>
        </p:nvSpPr>
        <p:spPr>
          <a:xfrm>
            <a:off x="3505428" y="1819672"/>
            <a:ext cx="1980029" cy="400110"/>
          </a:xfrm>
          <a:prstGeom prst="rect">
            <a:avLst/>
          </a:prstGeom>
        </p:spPr>
        <p:txBody>
          <a:bodyPr wrap="none">
            <a:spAutoFit/>
          </a:bodyPr>
          <a:lstStyle/>
          <a:p>
            <a:r>
              <a:rPr lang="zh-CN" altLang="en-US" sz="2000" dirty="0">
                <a:latin typeface="STKaiti" panose="02010600040101010101" charset="-122"/>
                <a:ea typeface="STKaiti" panose="02010600040101010101" charset="-122"/>
              </a:rPr>
              <a:t>研究背景及意义</a:t>
            </a:r>
          </a:p>
        </p:txBody>
      </p:sp>
      <p:sp>
        <p:nvSpPr>
          <p:cNvPr id="5" name="圆角矩形 4"/>
          <p:cNvSpPr/>
          <p:nvPr/>
        </p:nvSpPr>
        <p:spPr>
          <a:xfrm>
            <a:off x="257175" y="2562860"/>
            <a:ext cx="2469515" cy="2506345"/>
          </a:xfrm>
          <a:prstGeom prst="roundRect">
            <a:avLst/>
          </a:prstGeom>
          <a:blipFill rotWithShape="1">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4381"/>
    </mc:Choice>
    <mc:Fallback xmlns="">
      <p:transition spd="slow" advTm="4381"/>
    </mc:Fallback>
  </mc:AlternateContent>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16" name="Rectangle 15"/>
          <p:cNvSpPr/>
          <p:nvPr/>
        </p:nvSpPr>
        <p:spPr>
          <a:xfrm>
            <a:off x="0" y="2628900"/>
            <a:ext cx="9144000" cy="1409700"/>
          </a:xfrm>
          <a:prstGeom prst="rect">
            <a:avLst/>
          </a:prstGeom>
          <a:solidFill>
            <a:srgbClr val="2E75B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标题 2"/>
          <p:cNvSpPr>
            <a:spLocks noGrp="1"/>
          </p:cNvSpPr>
          <p:nvPr>
            <p:ph type="title"/>
          </p:nvPr>
        </p:nvSpPr>
        <p:spPr>
          <a:xfrm>
            <a:off x="457200" y="2762250"/>
            <a:ext cx="8229600" cy="1143000"/>
          </a:xfrm>
        </p:spPr>
        <p:txBody>
          <a:bodyPr/>
          <a:lstStyle/>
          <a:p>
            <a:pPr algn="ctr"/>
            <a:r>
              <a:rPr kumimoji="1" lang="zh-CN" altLang="en-US" dirty="0">
                <a:solidFill>
                  <a:schemeClr val="bg1"/>
                </a:solidFill>
                <a:latin typeface="STKaiti" panose="02010600040101010101" charset="-122"/>
                <a:ea typeface="STKaiti" panose="02010600040101010101" charset="-122"/>
              </a:rPr>
              <a:t>研究背景及意义</a:t>
            </a:r>
          </a:p>
        </p:txBody>
      </p:sp>
      <p:sp>
        <p:nvSpPr>
          <p:cNvPr id="2" name="Slide Number Placeholder 1"/>
          <p:cNvSpPr>
            <a:spLocks noGrp="1"/>
          </p:cNvSpPr>
          <p:nvPr>
            <p:ph type="sldNum" sz="quarter" idx="16"/>
          </p:nvPr>
        </p:nvSpPr>
        <p:spPr/>
        <p:txBody>
          <a:bodyPr/>
          <a:lstStyle/>
          <a:p>
            <a:pPr>
              <a:defRPr/>
            </a:pPr>
            <a:fld id="{D69E98CB-8E38-42BF-857B-65773CD3393B}" type="slidenum">
              <a:rPr lang="en-US" altLang="zh-CN" smtClean="0"/>
              <a:t>3</a:t>
            </a:fld>
            <a:endParaRPr lang="en-US" altLang="zh-CN"/>
          </a:p>
        </p:txBody>
      </p:sp>
    </p:spTree>
  </p:cSld>
  <p:clrMapOvr>
    <a:masterClrMapping/>
  </p:clrMapOvr>
  <mc:AlternateContent xmlns:mc="http://schemas.openxmlformats.org/markup-compatibility/2006" xmlns:p14="http://schemas.microsoft.com/office/powerpoint/2010/main">
    <mc:Choice Requires="p14">
      <p:transition spd="slow" p14:dur="2000" advTm="3149"/>
    </mc:Choice>
    <mc:Fallback xmlns="">
      <p:transition spd="slow" advTm="3149"/>
    </mc:Fallback>
  </mc:AlternateContent>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标题 2"/>
          <p:cNvSpPr>
            <a:spLocks noGrp="1"/>
          </p:cNvSpPr>
          <p:nvPr>
            <p:ph type="title"/>
          </p:nvPr>
        </p:nvSpPr>
        <p:spPr>
          <a:xfrm>
            <a:off x="603157" y="308766"/>
            <a:ext cx="8229600" cy="1143000"/>
          </a:xfrm>
        </p:spPr>
        <p:txBody>
          <a:bodyPr/>
          <a:lstStyle/>
          <a:p>
            <a:pPr algn="ctr"/>
            <a:r>
              <a:rPr kumimoji="1" lang="zh-CN" altLang="en-US" sz="3200" b="1" dirty="0"/>
              <a:t>什么是行人重识别</a:t>
            </a:r>
            <a:endParaRPr kumimoji="1" lang="zh-CN" altLang="en-US" sz="3200" b="1" dirty="0">
              <a:latin typeface="STKaiti" panose="02010600040101010101" charset="-122"/>
              <a:ea typeface="STKaiti" panose="02010600040101010101" charset="-122"/>
            </a:endParaRPr>
          </a:p>
        </p:txBody>
      </p:sp>
      <p:sp>
        <p:nvSpPr>
          <p:cNvPr id="53" name="Slide Number Placeholder 52"/>
          <p:cNvSpPr>
            <a:spLocks noGrp="1"/>
          </p:cNvSpPr>
          <p:nvPr>
            <p:ph type="sldNum" sz="quarter" idx="16"/>
          </p:nvPr>
        </p:nvSpPr>
        <p:spPr/>
        <p:txBody>
          <a:bodyPr/>
          <a:lstStyle/>
          <a:p>
            <a:pPr>
              <a:defRPr/>
            </a:pPr>
            <a:fld id="{D69E98CB-8E38-42BF-857B-65773CD3393B}" type="slidenum">
              <a:rPr lang="en-US" altLang="zh-CN" smtClean="0"/>
              <a:t>4</a:t>
            </a:fld>
            <a:endParaRPr lang="en-US" altLang="zh-CN" dirty="0"/>
          </a:p>
        </p:txBody>
      </p:sp>
      <p:pic>
        <p:nvPicPr>
          <p:cNvPr id="44" name="Picture 43" descr="A blurry image of a dog&#10;&#10;Description automatically generated with medium confidence"/>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98909" y="3683000"/>
            <a:ext cx="406400" cy="812800"/>
          </a:xfrm>
          <a:prstGeom prst="rect">
            <a:avLst/>
          </a:prstGeom>
        </p:spPr>
      </p:pic>
      <p:pic>
        <p:nvPicPr>
          <p:cNvPr id="52" name="Picture 51" descr="A person riding a bicycle&#10;&#10;Description automatically generated with medium confidence"/>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091416" y="3682758"/>
            <a:ext cx="406400" cy="812800"/>
          </a:xfrm>
          <a:prstGeom prst="rect">
            <a:avLst/>
          </a:prstGeom>
        </p:spPr>
      </p:pic>
      <p:pic>
        <p:nvPicPr>
          <p:cNvPr id="57" name="Picture 56" descr="A picture containing person, indoor, blurry&#10;&#10;Description automatically generated"/>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106424" y="3683011"/>
            <a:ext cx="406400" cy="812800"/>
          </a:xfrm>
          <a:prstGeom prst="rect">
            <a:avLst/>
          </a:prstGeom>
        </p:spPr>
      </p:pic>
      <p:pic>
        <p:nvPicPr>
          <p:cNvPr id="59" name="Picture 58" descr="A person walking in the rain&#10;&#10;Description automatically generated with low confidence"/>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018665" y="2651760"/>
            <a:ext cx="354965" cy="632460"/>
          </a:xfrm>
          <a:prstGeom prst="rect">
            <a:avLst/>
          </a:prstGeom>
        </p:spPr>
      </p:pic>
      <p:sp>
        <p:nvSpPr>
          <p:cNvPr id="61" name="文本框 5"/>
          <p:cNvSpPr txBox="1"/>
          <p:nvPr/>
        </p:nvSpPr>
        <p:spPr>
          <a:xfrm>
            <a:off x="887405" y="2744415"/>
            <a:ext cx="1208690" cy="369332"/>
          </a:xfrm>
          <a:prstGeom prst="rect">
            <a:avLst/>
          </a:prstGeom>
          <a:noFill/>
        </p:spPr>
        <p:txBody>
          <a:bodyPr wrap="square" rtlCol="0">
            <a:spAutoFit/>
          </a:bodyPr>
          <a:lstStyle/>
          <a:p>
            <a:pPr algn="ctr"/>
            <a:r>
              <a:rPr kumimoji="1" lang="zh-CN" altLang="en-US" b="1" dirty="0">
                <a:solidFill>
                  <a:srgbClr val="002060"/>
                </a:solidFill>
                <a:latin typeface="STKaiti" panose="02010600040101010101" charset="-122"/>
                <a:ea typeface="STKaiti" panose="02010600040101010101" charset="-122"/>
              </a:rPr>
              <a:t>查询图像</a:t>
            </a:r>
          </a:p>
        </p:txBody>
      </p:sp>
      <p:sp>
        <p:nvSpPr>
          <p:cNvPr id="26" name="Rounded Rectangle 25"/>
          <p:cNvSpPr/>
          <p:nvPr/>
        </p:nvSpPr>
        <p:spPr>
          <a:xfrm>
            <a:off x="4206875" y="3545205"/>
            <a:ext cx="3954780" cy="1136650"/>
          </a:xfrm>
          <a:prstGeom prst="roundRect">
            <a:avLst/>
          </a:prstGeom>
          <a:noFill/>
          <a:ln w="31750">
            <a:prstDash val="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p:sp>
        <p:nvSpPr>
          <p:cNvPr id="2" name="Rectangle 1"/>
          <p:cNvSpPr/>
          <p:nvPr/>
        </p:nvSpPr>
        <p:spPr>
          <a:xfrm>
            <a:off x="812165" y="2508250"/>
            <a:ext cx="2658110" cy="3455670"/>
          </a:xfrm>
          <a:prstGeom prst="roundRect">
            <a:avLst/>
          </a:prstGeom>
          <a:noFill/>
          <a:ln w="19050">
            <a:solidFill>
              <a:srgbClr val="FFA723"/>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文本框 5"/>
          <p:cNvSpPr txBox="1"/>
          <p:nvPr/>
        </p:nvSpPr>
        <p:spPr>
          <a:xfrm>
            <a:off x="3779520" y="5189855"/>
            <a:ext cx="4552315" cy="707886"/>
          </a:xfrm>
          <a:prstGeom prst="rect">
            <a:avLst/>
          </a:prstGeom>
          <a:noFill/>
        </p:spPr>
        <p:txBody>
          <a:bodyPr wrap="square" rtlCol="0">
            <a:spAutoFit/>
          </a:bodyPr>
          <a:lstStyle/>
          <a:p>
            <a:pPr algn="ctr"/>
            <a:r>
              <a:rPr kumimoji="1" lang="zh-CN" altLang="en-US" sz="2000" b="1" dirty="0">
                <a:solidFill>
                  <a:schemeClr val="accent6">
                    <a:lumMod val="75000"/>
                  </a:schemeClr>
                </a:solidFill>
                <a:latin typeface="STKaiti" panose="02010600040101010101" charset="-122"/>
                <a:ea typeface="STKaiti" panose="02010600040101010101" charset="-122"/>
              </a:rPr>
              <a:t>目标：</a:t>
            </a:r>
            <a:r>
              <a:rPr kumimoji="1" lang="zh-CN" altLang="en-US" sz="2000" b="1" dirty="0">
                <a:solidFill>
                  <a:srgbClr val="002060"/>
                </a:solidFill>
                <a:latin typeface="STKaiti" panose="02010600040101010101" charset="-122"/>
                <a:ea typeface="STKaiti" panose="02010600040101010101" charset="-122"/>
              </a:rPr>
              <a:t>跨多个摄像头识别唯一的个体</a:t>
            </a:r>
            <a:r>
              <a:rPr kumimoji="1" lang="en-US" altLang="zh-CN" sz="2000" b="1" dirty="0">
                <a:solidFill>
                  <a:srgbClr val="002060"/>
                </a:solidFill>
                <a:latin typeface="STKaiti" panose="02010600040101010101" charset="-122"/>
                <a:ea typeface="STKaiti" panose="02010600040101010101" charset="-122"/>
              </a:rPr>
              <a:t>,</a:t>
            </a:r>
            <a:r>
              <a:rPr kumimoji="1" lang="zh-CN" altLang="en-US" sz="2000" b="1" dirty="0">
                <a:solidFill>
                  <a:srgbClr val="002060"/>
                </a:solidFill>
                <a:latin typeface="STKaiti" panose="02010600040101010101" charset="-122"/>
                <a:ea typeface="STKaiti" panose="02010600040101010101" charset="-122"/>
              </a:rPr>
              <a:t>最终形成运动轨迹。</a:t>
            </a:r>
          </a:p>
        </p:txBody>
      </p:sp>
      <p:pic>
        <p:nvPicPr>
          <p:cNvPr id="29" name="Picture 28" descr="A picture containing person, mammal, blurry&#10;&#10;Description automatically generated"/>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494383" y="3701062"/>
            <a:ext cx="406400" cy="812800"/>
          </a:xfrm>
          <a:prstGeom prst="rect">
            <a:avLst/>
          </a:prstGeom>
          <a:ln w="19050">
            <a:solidFill>
              <a:srgbClr val="FF0000"/>
            </a:solidFill>
          </a:ln>
        </p:spPr>
      </p:pic>
      <p:pic>
        <p:nvPicPr>
          <p:cNvPr id="31" name="Picture 30" descr="A person wearing a black shirt and blue shorts&#10;&#10;Description automatically generated with low confidence"/>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5000304" y="3701062"/>
            <a:ext cx="406400" cy="812800"/>
          </a:xfrm>
          <a:prstGeom prst="rect">
            <a:avLst/>
          </a:prstGeom>
          <a:ln w="19050">
            <a:solidFill>
              <a:srgbClr val="FF0000"/>
            </a:solidFill>
          </a:ln>
        </p:spPr>
      </p:pic>
      <p:sp>
        <p:nvSpPr>
          <p:cNvPr id="4" name="Right Arrow 3"/>
          <p:cNvSpPr/>
          <p:nvPr/>
        </p:nvSpPr>
        <p:spPr>
          <a:xfrm rot="5400000">
            <a:off x="1988185" y="3444875"/>
            <a:ext cx="396240" cy="235585"/>
          </a:xfrm>
          <a:prstGeom prst="rightArrow">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7" name="文本框 5"/>
          <p:cNvSpPr txBox="1"/>
          <p:nvPr/>
        </p:nvSpPr>
        <p:spPr>
          <a:xfrm>
            <a:off x="2301240" y="3314700"/>
            <a:ext cx="951865" cy="368300"/>
          </a:xfrm>
          <a:prstGeom prst="rect">
            <a:avLst/>
          </a:prstGeom>
          <a:noFill/>
        </p:spPr>
        <p:txBody>
          <a:bodyPr wrap="square" rtlCol="0">
            <a:spAutoFit/>
          </a:bodyPr>
          <a:lstStyle/>
          <a:p>
            <a:pPr algn="ctr"/>
            <a:r>
              <a:rPr kumimoji="1" lang="zh-CN" altLang="en-US" b="1" dirty="0">
                <a:solidFill>
                  <a:srgbClr val="002060"/>
                </a:solidFill>
                <a:latin typeface="STKaiti" panose="02010600040101010101" charset="-122"/>
                <a:ea typeface="STKaiti" panose="02010600040101010101" charset="-122"/>
              </a:rPr>
              <a:t>检索</a:t>
            </a:r>
          </a:p>
        </p:txBody>
      </p:sp>
      <p:sp>
        <p:nvSpPr>
          <p:cNvPr id="8" name="云形 7"/>
          <p:cNvSpPr/>
          <p:nvPr/>
        </p:nvSpPr>
        <p:spPr>
          <a:xfrm>
            <a:off x="982345" y="3824605"/>
            <a:ext cx="2339975" cy="1624965"/>
          </a:xfrm>
          <a:prstGeom prst="cloud">
            <a:avLst/>
          </a:prstGeom>
          <a:noFill/>
          <a:ln>
            <a:solidFill>
              <a:schemeClr val="bg2">
                <a:lumMod val="75000"/>
              </a:schemeClr>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文本框 5"/>
          <p:cNvSpPr txBox="1"/>
          <p:nvPr/>
        </p:nvSpPr>
        <p:spPr>
          <a:xfrm>
            <a:off x="1409065" y="5498465"/>
            <a:ext cx="1470025" cy="368300"/>
          </a:xfrm>
          <a:prstGeom prst="rect">
            <a:avLst/>
          </a:prstGeom>
          <a:noFill/>
        </p:spPr>
        <p:txBody>
          <a:bodyPr wrap="square" rtlCol="0">
            <a:spAutoFit/>
          </a:bodyPr>
          <a:lstStyle/>
          <a:p>
            <a:pPr algn="ctr"/>
            <a:r>
              <a:rPr kumimoji="1" lang="zh-CN" altLang="en-US" b="1" dirty="0">
                <a:solidFill>
                  <a:srgbClr val="002060"/>
                </a:solidFill>
                <a:latin typeface="STKaiti" panose="02010600040101010101" charset="-122"/>
                <a:ea typeface="STKaiti" panose="02010600040101010101" charset="-122"/>
              </a:rPr>
              <a:t>图像数据库</a:t>
            </a:r>
          </a:p>
        </p:txBody>
      </p:sp>
      <p:sp>
        <p:nvSpPr>
          <p:cNvPr id="14" name="文本框 5"/>
          <p:cNvSpPr txBox="1"/>
          <p:nvPr/>
        </p:nvSpPr>
        <p:spPr>
          <a:xfrm>
            <a:off x="2113915" y="2529205"/>
            <a:ext cx="1208405" cy="275590"/>
          </a:xfrm>
          <a:prstGeom prst="rect">
            <a:avLst/>
          </a:prstGeom>
          <a:noFill/>
        </p:spPr>
        <p:txBody>
          <a:bodyPr wrap="square" rtlCol="0">
            <a:spAutoFit/>
          </a:bodyPr>
          <a:lstStyle/>
          <a:p>
            <a:pPr algn="ctr"/>
            <a:r>
              <a:rPr kumimoji="1" lang="zh-CN" altLang="en-US" sz="1200" b="1" dirty="0">
                <a:solidFill>
                  <a:srgbClr val="002060"/>
                </a:solidFill>
                <a:latin typeface="STKaiti" panose="02010600040101010101" charset="-122"/>
                <a:ea typeface="STKaiti" panose="02010600040101010101" charset="-122"/>
              </a:rPr>
              <a:t>相机</a:t>
            </a:r>
            <a:r>
              <a:rPr kumimoji="1" lang="en-US" altLang="zh-CN" sz="1200" b="1" dirty="0">
                <a:solidFill>
                  <a:srgbClr val="002060"/>
                </a:solidFill>
                <a:latin typeface="STKaiti" panose="02010600040101010101" charset="-122"/>
                <a:ea typeface="STKaiti" panose="02010600040101010101" charset="-122"/>
              </a:rPr>
              <a:t>1</a:t>
            </a:r>
          </a:p>
        </p:txBody>
      </p:sp>
      <p:sp>
        <p:nvSpPr>
          <p:cNvPr id="17" name="文本框 5"/>
          <p:cNvSpPr txBox="1"/>
          <p:nvPr/>
        </p:nvSpPr>
        <p:spPr>
          <a:xfrm>
            <a:off x="723265" y="4578985"/>
            <a:ext cx="1208405" cy="275590"/>
          </a:xfrm>
          <a:prstGeom prst="rect">
            <a:avLst/>
          </a:prstGeom>
          <a:noFill/>
        </p:spPr>
        <p:txBody>
          <a:bodyPr wrap="square" rtlCol="0">
            <a:spAutoFit/>
          </a:bodyPr>
          <a:lstStyle/>
          <a:p>
            <a:pPr algn="ctr"/>
            <a:r>
              <a:rPr kumimoji="1" lang="zh-CN" altLang="en-US" sz="1200" b="1" dirty="0">
                <a:solidFill>
                  <a:srgbClr val="002060"/>
                </a:solidFill>
                <a:latin typeface="STKaiti" panose="02010600040101010101" charset="-122"/>
                <a:ea typeface="STKaiti" panose="02010600040101010101" charset="-122"/>
              </a:rPr>
              <a:t>相机</a:t>
            </a:r>
            <a:r>
              <a:rPr kumimoji="1" lang="en-US" altLang="zh-CN" sz="1200" b="1" dirty="0">
                <a:solidFill>
                  <a:srgbClr val="002060"/>
                </a:solidFill>
                <a:latin typeface="STKaiti" panose="02010600040101010101" charset="-122"/>
                <a:ea typeface="STKaiti" panose="02010600040101010101" charset="-122"/>
              </a:rPr>
              <a:t>1</a:t>
            </a:r>
          </a:p>
        </p:txBody>
      </p:sp>
      <p:grpSp>
        <p:nvGrpSpPr>
          <p:cNvPr id="24" name="组合 23"/>
          <p:cNvGrpSpPr/>
          <p:nvPr/>
        </p:nvGrpSpPr>
        <p:grpSpPr>
          <a:xfrm>
            <a:off x="1322705" y="4000500"/>
            <a:ext cx="1951990" cy="1305560"/>
            <a:chOff x="1679" y="6349"/>
            <a:chExt cx="3074" cy="2056"/>
          </a:xfrm>
        </p:grpSpPr>
        <p:pic>
          <p:nvPicPr>
            <p:cNvPr id="11" name="Picture 10" descr="A person wearing a dress&#10;&#10;Description automatically generated with low confidence"/>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1679" y="6680"/>
              <a:ext cx="331" cy="662"/>
            </a:xfrm>
            <a:prstGeom prst="rect">
              <a:avLst/>
            </a:prstGeom>
          </p:spPr>
        </p:pic>
        <p:pic>
          <p:nvPicPr>
            <p:cNvPr id="36" name="Picture 35" descr="A picture containing person, mammal, blurry&#10;&#10;Description automatically generated"/>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650" y="6349"/>
              <a:ext cx="449" cy="898"/>
            </a:xfrm>
            <a:prstGeom prst="rect">
              <a:avLst/>
            </a:prstGeom>
          </p:spPr>
        </p:pic>
        <p:pic>
          <p:nvPicPr>
            <p:cNvPr id="48" name="Picture 47" descr="A picture containing ground, outdoor, blurry, street&#10;&#10;Description automatically generated"/>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2133" y="6846"/>
              <a:ext cx="395" cy="790"/>
            </a:xfrm>
            <a:prstGeom prst="rect">
              <a:avLst/>
            </a:prstGeom>
          </p:spPr>
        </p:pic>
        <p:pic>
          <p:nvPicPr>
            <p:cNvPr id="55" name="Picture 54" descr="A picture containing person, blurry&#10;&#10;Description automatically generated"/>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2690" y="7342"/>
              <a:ext cx="333" cy="666"/>
            </a:xfrm>
            <a:prstGeom prst="rect">
              <a:avLst/>
            </a:prstGeom>
          </p:spPr>
        </p:pic>
        <p:pic>
          <p:nvPicPr>
            <p:cNvPr id="9" name="Picture 43" descr="A blurry image of a dog&#10;&#10;Description automatically generated with medium confidence"/>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21" y="6543"/>
              <a:ext cx="497" cy="994"/>
            </a:xfrm>
            <a:prstGeom prst="rect">
              <a:avLst/>
            </a:prstGeom>
          </p:spPr>
        </p:pic>
        <p:pic>
          <p:nvPicPr>
            <p:cNvPr id="10" name="Picture 49" descr="A person wearing a black shirt and blue shorts&#10;&#10;Description automatically generated with low confidence"/>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3852" y="6443"/>
              <a:ext cx="355" cy="710"/>
            </a:xfrm>
            <a:prstGeom prst="rect">
              <a:avLst/>
            </a:prstGeom>
          </p:spPr>
        </p:pic>
        <p:sp>
          <p:nvSpPr>
            <p:cNvPr id="12" name="文本框 11"/>
            <p:cNvSpPr txBox="1"/>
            <p:nvPr/>
          </p:nvSpPr>
          <p:spPr>
            <a:xfrm>
              <a:off x="2784" y="7777"/>
              <a:ext cx="700" cy="628"/>
            </a:xfrm>
            <a:prstGeom prst="rect">
              <a:avLst/>
            </a:prstGeom>
            <a:noFill/>
          </p:spPr>
          <p:txBody>
            <a:bodyPr wrap="square" rtlCol="0">
              <a:spAutoFit/>
            </a:bodyPr>
            <a:lstStyle/>
            <a:p>
              <a:r>
                <a:rPr lang="en-US" altLang="zh-CN" sz="2000" b="1">
                  <a:cs typeface="Arial" panose="020B0604020202020204" pitchFamily="34" charset="0"/>
                </a:rPr>
                <a:t>…</a:t>
              </a:r>
            </a:p>
          </p:txBody>
        </p:sp>
        <p:sp>
          <p:nvSpPr>
            <p:cNvPr id="19" name="文本框 5"/>
            <p:cNvSpPr txBox="1"/>
            <p:nvPr/>
          </p:nvSpPr>
          <p:spPr>
            <a:xfrm>
              <a:off x="1699" y="7583"/>
              <a:ext cx="1319" cy="434"/>
            </a:xfrm>
            <a:prstGeom prst="rect">
              <a:avLst/>
            </a:prstGeom>
            <a:noFill/>
          </p:spPr>
          <p:txBody>
            <a:bodyPr wrap="square" rtlCol="0">
              <a:spAutoFit/>
            </a:bodyPr>
            <a:lstStyle/>
            <a:p>
              <a:pPr algn="ctr"/>
              <a:r>
                <a:rPr kumimoji="1" lang="zh-CN" altLang="en-US" sz="1200" b="1" dirty="0">
                  <a:solidFill>
                    <a:schemeClr val="accent6">
                      <a:lumMod val="75000"/>
                    </a:schemeClr>
                  </a:solidFill>
                  <a:latin typeface="STKaiti" panose="02010600040101010101" charset="-122"/>
                  <a:ea typeface="STKaiti" panose="02010600040101010101" charset="-122"/>
                </a:rPr>
                <a:t>相机</a:t>
              </a:r>
              <a:r>
                <a:rPr kumimoji="1" lang="en-US" altLang="zh-CN" sz="1200" b="1" dirty="0">
                  <a:solidFill>
                    <a:schemeClr val="accent6">
                      <a:lumMod val="75000"/>
                    </a:schemeClr>
                  </a:solidFill>
                  <a:latin typeface="STKaiti" panose="02010600040101010101" charset="-122"/>
                  <a:ea typeface="STKaiti" panose="02010600040101010101" charset="-122"/>
                </a:rPr>
                <a:t>2</a:t>
              </a:r>
            </a:p>
          </p:txBody>
        </p:sp>
        <p:sp>
          <p:nvSpPr>
            <p:cNvPr id="21" name="文本框 5"/>
            <p:cNvSpPr txBox="1"/>
            <p:nvPr/>
          </p:nvSpPr>
          <p:spPr>
            <a:xfrm>
              <a:off x="2850" y="7421"/>
              <a:ext cx="1903" cy="434"/>
            </a:xfrm>
            <a:prstGeom prst="rect">
              <a:avLst/>
            </a:prstGeom>
            <a:noFill/>
          </p:spPr>
          <p:txBody>
            <a:bodyPr wrap="square" rtlCol="0">
              <a:spAutoFit/>
            </a:bodyPr>
            <a:lstStyle/>
            <a:p>
              <a:pPr algn="ctr"/>
              <a:r>
                <a:rPr kumimoji="1" lang="zh-CN" altLang="en-US" sz="1200" b="1" dirty="0">
                  <a:solidFill>
                    <a:schemeClr val="accent2">
                      <a:lumMod val="75000"/>
                    </a:schemeClr>
                  </a:solidFill>
                  <a:latin typeface="STKaiti" panose="02010600040101010101" charset="-122"/>
                  <a:ea typeface="STKaiti" panose="02010600040101010101" charset="-122"/>
                </a:rPr>
                <a:t>相机</a:t>
              </a:r>
              <a:r>
                <a:rPr kumimoji="1" lang="en-US" altLang="zh-CN" sz="1200" b="1" i="1" dirty="0">
                  <a:solidFill>
                    <a:schemeClr val="accent2">
                      <a:lumMod val="75000"/>
                    </a:schemeClr>
                  </a:solidFill>
                  <a:latin typeface="STKaiti" panose="02010600040101010101" charset="-122"/>
                  <a:ea typeface="STKaiti" panose="02010600040101010101" charset="-122"/>
                </a:rPr>
                <a:t>N</a:t>
              </a:r>
            </a:p>
          </p:txBody>
        </p:sp>
      </p:grpSp>
      <p:pic>
        <p:nvPicPr>
          <p:cNvPr id="25" name="Picture 10" descr="A person wearing a dress&#10;&#10;Description automatically generated with low confidence"/>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7584440" y="3683000"/>
            <a:ext cx="405765" cy="812165"/>
          </a:xfrm>
          <a:prstGeom prst="rect">
            <a:avLst/>
          </a:prstGeom>
        </p:spPr>
      </p:pic>
      <p:pic>
        <p:nvPicPr>
          <p:cNvPr id="27" name="Picture 47" descr="A picture containing ground, outdoor, blurry, street&#10;&#10;Description automatically generated"/>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5614670" y="3685540"/>
            <a:ext cx="405130" cy="810260"/>
          </a:xfrm>
          <a:prstGeom prst="rect">
            <a:avLst/>
          </a:prstGeom>
        </p:spPr>
      </p:pic>
      <p:sp>
        <p:nvSpPr>
          <p:cNvPr id="32" name="文本框 5"/>
          <p:cNvSpPr txBox="1"/>
          <p:nvPr/>
        </p:nvSpPr>
        <p:spPr>
          <a:xfrm>
            <a:off x="4381500" y="3114040"/>
            <a:ext cx="3688715" cy="368300"/>
          </a:xfrm>
          <a:prstGeom prst="rect">
            <a:avLst/>
          </a:prstGeom>
          <a:noFill/>
        </p:spPr>
        <p:txBody>
          <a:bodyPr wrap="square" rtlCol="0">
            <a:spAutoFit/>
          </a:bodyPr>
          <a:lstStyle/>
          <a:p>
            <a:pPr algn="ctr"/>
            <a:r>
              <a:rPr kumimoji="1" lang="zh-CN" altLang="en-US" b="1" dirty="0">
                <a:solidFill>
                  <a:srgbClr val="002060"/>
                </a:solidFill>
                <a:latin typeface="STKaiti" panose="02010600040101010101" charset="-122"/>
                <a:ea typeface="STKaiti" panose="02010600040101010101" charset="-122"/>
              </a:rPr>
              <a:t>期望的查询排序列表</a:t>
            </a:r>
          </a:p>
        </p:txBody>
      </p:sp>
      <p:sp>
        <p:nvSpPr>
          <p:cNvPr id="39" name="右箭头 38"/>
          <p:cNvSpPr/>
          <p:nvPr/>
        </p:nvSpPr>
        <p:spPr>
          <a:xfrm>
            <a:off x="3674110" y="4060190"/>
            <a:ext cx="375920" cy="224155"/>
          </a:xfrm>
          <a:prstGeom prst="rightArrow">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18" name="文本框 17"/>
          <p:cNvSpPr txBox="1"/>
          <p:nvPr/>
        </p:nvSpPr>
        <p:spPr>
          <a:xfrm>
            <a:off x="1522095" y="1444625"/>
            <a:ext cx="6602730" cy="706755"/>
          </a:xfrm>
          <a:prstGeom prst="rect">
            <a:avLst/>
          </a:prstGeom>
          <a:noFill/>
        </p:spPr>
        <p:txBody>
          <a:bodyPr wrap="square" rtlCol="0" anchor="t">
            <a:spAutoFit/>
          </a:bodyPr>
          <a:lstStyle/>
          <a:p>
            <a:pPr indent="0" algn="ctr">
              <a:buFont typeface="Arial" panose="020B0604020202020204" pitchFamily="34" charset="0"/>
              <a:buNone/>
            </a:pPr>
            <a:r>
              <a:rPr kumimoji="1" lang="zh-CN" altLang="en-US" sz="2000" b="1" dirty="0">
                <a:latin typeface="STKaiti" panose="02010600040101010101" charset="-122"/>
                <a:ea typeface="STKaiti" panose="02010600040101010101" charset="-122"/>
                <a:sym typeface="+mn-ea"/>
              </a:rPr>
              <a:t>行人重识别</a:t>
            </a:r>
            <a:r>
              <a:rPr kumimoji="1" lang="en-US" altLang="zh-CN" sz="2000" b="1" dirty="0">
                <a:latin typeface="STKaiti" panose="02010600040101010101" charset="-122"/>
                <a:ea typeface="STKaiti" panose="02010600040101010101" charset="-122"/>
                <a:sym typeface="+mn-ea"/>
              </a:rPr>
              <a:t>, </a:t>
            </a:r>
            <a:r>
              <a:rPr kumimoji="1" lang="zh-CN" altLang="en-US" sz="2000" b="1" dirty="0">
                <a:latin typeface="STKaiti" panose="02010600040101010101" charset="-122"/>
                <a:ea typeface="STKaiti" panose="02010600040101010101" charset="-122"/>
                <a:sym typeface="+mn-ea"/>
              </a:rPr>
              <a:t>是利用计算机视觉技术判断图像或者视频中</a:t>
            </a:r>
            <a:r>
              <a:rPr kumimoji="1" lang="zh-CN" altLang="en-US" sz="2000" b="1" dirty="0">
                <a:solidFill>
                  <a:srgbClr val="FF0000"/>
                </a:solidFill>
                <a:latin typeface="STKaiti" panose="02010600040101010101" charset="-122"/>
                <a:ea typeface="STKaiti" panose="02010600040101010101" charset="-122"/>
                <a:sym typeface="+mn-ea"/>
              </a:rPr>
              <a:t>是否存在特定行人</a:t>
            </a:r>
            <a:r>
              <a:rPr kumimoji="1" lang="zh-CN" altLang="en-US" sz="2000" b="1" dirty="0">
                <a:latin typeface="STKaiti" panose="02010600040101010101" charset="-122"/>
                <a:ea typeface="STKaiti" panose="02010600040101010101" charset="-122"/>
                <a:sym typeface="+mn-ea"/>
              </a:rPr>
              <a:t>的技术</a:t>
            </a:r>
          </a:p>
        </p:txBody>
      </p:sp>
      <p:pic>
        <p:nvPicPr>
          <p:cNvPr id="6" name="图片 5">
            <a:extLst>
              <a:ext uri="{FF2B5EF4-FFF2-40B4-BE49-F238E27FC236}">
                <a16:creationId xmlns:a16="http://schemas.microsoft.com/office/drawing/2014/main" id="{CDD7B507-B17F-414C-A2CF-6D76ED1040EC}"/>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2537142" y="2792250"/>
            <a:ext cx="333375" cy="342900"/>
          </a:xfrm>
          <a:prstGeom prst="rect">
            <a:avLst/>
          </a:prstGeom>
        </p:spPr>
      </p:pic>
      <p:pic>
        <p:nvPicPr>
          <p:cNvPr id="41" name="图片 40">
            <a:extLst>
              <a:ext uri="{FF2B5EF4-FFF2-40B4-BE49-F238E27FC236}">
                <a16:creationId xmlns:a16="http://schemas.microsoft.com/office/drawing/2014/main" id="{8D4217FD-2199-48F0-983C-9EE7E8BE39AF}"/>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2497137" y="4935220"/>
            <a:ext cx="333375" cy="342900"/>
          </a:xfrm>
          <a:prstGeom prst="rect">
            <a:avLst/>
          </a:prstGeom>
        </p:spPr>
      </p:pic>
      <p:pic>
        <p:nvPicPr>
          <p:cNvPr id="42" name="图片 41">
            <a:extLst>
              <a:ext uri="{FF2B5EF4-FFF2-40B4-BE49-F238E27FC236}">
                <a16:creationId xmlns:a16="http://schemas.microsoft.com/office/drawing/2014/main" id="{0B34DA9A-23CF-4079-8754-644BBFFA83D7}"/>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1604327" y="5031105"/>
            <a:ext cx="333375" cy="342900"/>
          </a:xfrm>
          <a:prstGeom prst="rect">
            <a:avLst/>
          </a:prstGeom>
        </p:spPr>
      </p:pic>
      <p:pic>
        <p:nvPicPr>
          <p:cNvPr id="43" name="图片 42">
            <a:extLst>
              <a:ext uri="{FF2B5EF4-FFF2-40B4-BE49-F238E27FC236}">
                <a16:creationId xmlns:a16="http://schemas.microsoft.com/office/drawing/2014/main" id="{0FDFAD38-A91F-4CCE-BDE6-52C99C0EA5FA}"/>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1203959" y="4799807"/>
            <a:ext cx="333375" cy="3429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44214"/>
    </mc:Choice>
    <mc:Fallback xmlns="">
      <p:transition spd="slow" advTm="44214"/>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3C2DA1-34B4-4546-B981-1C9E1FED92DF}"/>
            </a:ext>
          </a:extLst>
        </p:cNvPr>
        <p:cNvGrpSpPr/>
        <p:nvPr/>
      </p:nvGrpSpPr>
      <p:grpSpPr>
        <a:xfrm>
          <a:off x="0" y="0"/>
          <a:ext cx="0" cy="0"/>
          <a:chOff x="0" y="0"/>
          <a:chExt cx="0" cy="0"/>
        </a:xfrm>
      </p:grpSpPr>
      <p:pic>
        <p:nvPicPr>
          <p:cNvPr id="127" name="图片 126">
            <a:extLst>
              <a:ext uri="{FF2B5EF4-FFF2-40B4-BE49-F238E27FC236}">
                <a16:creationId xmlns:a16="http://schemas.microsoft.com/office/drawing/2014/main" id="{716283B1-28A6-7234-0D19-A042F4D187D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55929" y="3559239"/>
            <a:ext cx="700875" cy="1764000"/>
          </a:xfrm>
          <a:prstGeom prst="rect">
            <a:avLst/>
          </a:prstGeom>
        </p:spPr>
      </p:pic>
      <p:sp>
        <p:nvSpPr>
          <p:cNvPr id="18" name="文本框 17">
            <a:extLst>
              <a:ext uri="{FF2B5EF4-FFF2-40B4-BE49-F238E27FC236}">
                <a16:creationId xmlns:a16="http://schemas.microsoft.com/office/drawing/2014/main" id="{3A93A477-FC41-1A48-76A5-D6CAD40D5D5B}"/>
              </a:ext>
            </a:extLst>
          </p:cNvPr>
          <p:cNvSpPr txBox="1"/>
          <p:nvPr/>
        </p:nvSpPr>
        <p:spPr>
          <a:xfrm>
            <a:off x="311243" y="1436288"/>
            <a:ext cx="4655398" cy="2862322"/>
          </a:xfrm>
          <a:prstGeom prst="rect">
            <a:avLst/>
          </a:prstGeom>
          <a:noFill/>
        </p:spPr>
        <p:txBody>
          <a:bodyPr wrap="square" rtlCol="0" anchor="t">
            <a:spAutoFit/>
          </a:bodyPr>
          <a:lstStyle/>
          <a:p>
            <a:pPr marL="342900" indent="-342900">
              <a:buFont typeface="Wingdings" panose="05000000000000000000" pitchFamily="2" charset="2"/>
              <a:buChar char="p"/>
            </a:pPr>
            <a:r>
              <a:rPr kumimoji="1" lang="zh-CN" altLang="en-US" b="1" dirty="0">
                <a:latin typeface="STKaiti" panose="02010600040101010101" charset="-122"/>
                <a:ea typeface="STKaiti" panose="02010600040101010101" charset="-122"/>
                <a:sym typeface="+mn-ea"/>
              </a:rPr>
              <a:t>普通行人重识别：行人图片为完整的</a:t>
            </a:r>
            <a:endParaRPr kumimoji="1" lang="en-US" altLang="zh-CN" b="1" dirty="0">
              <a:latin typeface="STKaiti" panose="02010600040101010101" charset="-122"/>
              <a:ea typeface="STKaiti" panose="02010600040101010101" charset="-122"/>
              <a:sym typeface="+mn-ea"/>
            </a:endParaRPr>
          </a:p>
          <a:p>
            <a:pPr indent="0">
              <a:buFont typeface="Arial" panose="020B0604020202020204" pitchFamily="34" charset="0"/>
              <a:buNone/>
            </a:pPr>
            <a:endParaRPr kumimoji="1" lang="en-US" altLang="zh-CN" b="1" dirty="0">
              <a:latin typeface="STKaiti" panose="02010600040101010101" charset="-122"/>
              <a:ea typeface="STKaiti" panose="02010600040101010101" charset="-122"/>
              <a:sym typeface="+mn-ea"/>
            </a:endParaRPr>
          </a:p>
          <a:p>
            <a:pPr indent="0">
              <a:buFont typeface="Arial" panose="020B0604020202020204" pitchFamily="34" charset="0"/>
              <a:buNone/>
            </a:pPr>
            <a:endParaRPr kumimoji="1" lang="en-US" altLang="zh-CN" b="1" dirty="0">
              <a:latin typeface="STKaiti" panose="02010600040101010101" charset="-122"/>
              <a:ea typeface="STKaiti" panose="02010600040101010101" charset="-122"/>
              <a:sym typeface="+mn-ea"/>
            </a:endParaRPr>
          </a:p>
          <a:p>
            <a:pPr indent="0">
              <a:buFont typeface="Arial" panose="020B0604020202020204" pitchFamily="34" charset="0"/>
              <a:buNone/>
            </a:pPr>
            <a:endParaRPr kumimoji="1" lang="en-US" altLang="zh-CN" b="1" dirty="0">
              <a:latin typeface="STKaiti" panose="02010600040101010101" charset="-122"/>
              <a:ea typeface="STKaiti" panose="02010600040101010101" charset="-122"/>
              <a:sym typeface="+mn-ea"/>
            </a:endParaRPr>
          </a:p>
          <a:p>
            <a:pPr indent="0">
              <a:buFont typeface="Arial" panose="020B0604020202020204" pitchFamily="34" charset="0"/>
              <a:buNone/>
            </a:pPr>
            <a:endParaRPr kumimoji="1" lang="en-US" altLang="zh-CN" b="1" dirty="0">
              <a:latin typeface="STKaiti" panose="02010600040101010101" charset="-122"/>
              <a:ea typeface="STKaiti" panose="02010600040101010101" charset="-122"/>
              <a:sym typeface="+mn-ea"/>
            </a:endParaRPr>
          </a:p>
          <a:p>
            <a:pPr indent="0">
              <a:buFont typeface="Arial" panose="020B0604020202020204" pitchFamily="34" charset="0"/>
              <a:buNone/>
            </a:pPr>
            <a:endParaRPr kumimoji="1" lang="en-US" altLang="zh-CN" b="1" dirty="0">
              <a:latin typeface="STKaiti" panose="02010600040101010101" charset="-122"/>
              <a:ea typeface="STKaiti" panose="02010600040101010101" charset="-122"/>
              <a:sym typeface="+mn-ea"/>
            </a:endParaRPr>
          </a:p>
          <a:p>
            <a:pPr indent="0">
              <a:buFont typeface="Arial" panose="020B0604020202020204" pitchFamily="34" charset="0"/>
              <a:buNone/>
            </a:pPr>
            <a:endParaRPr kumimoji="1" lang="en-US" altLang="zh-CN" b="1" dirty="0">
              <a:latin typeface="STKaiti" panose="02010600040101010101" charset="-122"/>
              <a:ea typeface="STKaiti" panose="02010600040101010101" charset="-122"/>
              <a:sym typeface="+mn-ea"/>
            </a:endParaRPr>
          </a:p>
          <a:p>
            <a:pPr indent="0">
              <a:buFont typeface="Arial" panose="020B0604020202020204" pitchFamily="34" charset="0"/>
              <a:buNone/>
            </a:pPr>
            <a:endParaRPr kumimoji="1" lang="en-US" altLang="zh-CN" b="1" dirty="0">
              <a:latin typeface="STKaiti" panose="02010600040101010101" charset="-122"/>
              <a:ea typeface="STKaiti" panose="02010600040101010101" charset="-122"/>
              <a:sym typeface="+mn-ea"/>
            </a:endParaRPr>
          </a:p>
          <a:p>
            <a:pPr marL="342900" indent="-342900">
              <a:buFont typeface="Wingdings" panose="05000000000000000000" pitchFamily="2" charset="2"/>
              <a:buChar char="p"/>
            </a:pPr>
            <a:r>
              <a:rPr kumimoji="1" lang="zh-CN" altLang="en-US" b="1" dirty="0">
                <a:latin typeface="STKaiti" panose="02010600040101010101" charset="-122"/>
                <a:ea typeface="STKaiti" panose="02010600040101010101" charset="-122"/>
                <a:sym typeface="+mn-ea"/>
              </a:rPr>
              <a:t>遮挡行人重识别：行人被各种障碍物（如车、树、人群等）遮挡</a:t>
            </a:r>
          </a:p>
        </p:txBody>
      </p:sp>
      <p:sp>
        <p:nvSpPr>
          <p:cNvPr id="3" name="标题 2">
            <a:extLst>
              <a:ext uri="{FF2B5EF4-FFF2-40B4-BE49-F238E27FC236}">
                <a16:creationId xmlns:a16="http://schemas.microsoft.com/office/drawing/2014/main" id="{1454E117-B0D2-3074-5AF8-1DC4B8EB35D3}"/>
              </a:ext>
            </a:extLst>
          </p:cNvPr>
          <p:cNvSpPr>
            <a:spLocks noGrp="1"/>
          </p:cNvSpPr>
          <p:nvPr>
            <p:ph type="title"/>
          </p:nvPr>
        </p:nvSpPr>
        <p:spPr>
          <a:xfrm>
            <a:off x="603157" y="308766"/>
            <a:ext cx="8229600" cy="1143000"/>
          </a:xfrm>
        </p:spPr>
        <p:txBody>
          <a:bodyPr/>
          <a:lstStyle/>
          <a:p>
            <a:pPr algn="ctr"/>
            <a:r>
              <a:rPr kumimoji="1" lang="zh-CN" altLang="en-US" sz="3200" b="1" dirty="0"/>
              <a:t>什么是遮挡行人重识别</a:t>
            </a:r>
            <a:endParaRPr kumimoji="1" lang="zh-CN" altLang="en-US" sz="3200" b="1" dirty="0">
              <a:latin typeface="STKaiti" panose="02010600040101010101" charset="-122"/>
              <a:ea typeface="STKaiti" panose="02010600040101010101" charset="-122"/>
            </a:endParaRPr>
          </a:p>
        </p:txBody>
      </p:sp>
      <p:sp>
        <p:nvSpPr>
          <p:cNvPr id="53" name="Slide Number Placeholder 52">
            <a:extLst>
              <a:ext uri="{FF2B5EF4-FFF2-40B4-BE49-F238E27FC236}">
                <a16:creationId xmlns:a16="http://schemas.microsoft.com/office/drawing/2014/main" id="{C9E5E741-E44D-2ADE-3B3F-87950511AABA}"/>
              </a:ext>
            </a:extLst>
          </p:cNvPr>
          <p:cNvSpPr>
            <a:spLocks noGrp="1"/>
          </p:cNvSpPr>
          <p:nvPr>
            <p:ph type="sldNum" sz="quarter" idx="16"/>
          </p:nvPr>
        </p:nvSpPr>
        <p:spPr>
          <a:xfrm>
            <a:off x="6563064" y="6366671"/>
            <a:ext cx="2133600" cy="365125"/>
          </a:xfrm>
        </p:spPr>
        <p:txBody>
          <a:bodyPr/>
          <a:lstStyle/>
          <a:p>
            <a:pPr>
              <a:defRPr/>
            </a:pPr>
            <a:fld id="{D69E98CB-8E38-42BF-857B-65773CD3393B}" type="slidenum">
              <a:rPr lang="en-US" altLang="zh-CN" smtClean="0"/>
              <a:t>5</a:t>
            </a:fld>
            <a:endParaRPr lang="en-US" altLang="zh-CN" dirty="0"/>
          </a:p>
        </p:txBody>
      </p:sp>
      <p:sp>
        <p:nvSpPr>
          <p:cNvPr id="26" name="Rounded Rectangle 25">
            <a:extLst>
              <a:ext uri="{FF2B5EF4-FFF2-40B4-BE49-F238E27FC236}">
                <a16:creationId xmlns:a16="http://schemas.microsoft.com/office/drawing/2014/main" id="{1BCE5B36-E231-9537-C92A-80628F2FFDD4}"/>
              </a:ext>
            </a:extLst>
          </p:cNvPr>
          <p:cNvSpPr/>
          <p:nvPr/>
        </p:nvSpPr>
        <p:spPr>
          <a:xfrm>
            <a:off x="603157" y="1981200"/>
            <a:ext cx="3954780" cy="1403131"/>
          </a:xfrm>
          <a:prstGeom prst="roundRect">
            <a:avLst/>
          </a:prstGeom>
          <a:noFill/>
          <a:ln w="31750">
            <a:prstDash val="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p:sp>
        <p:nvSpPr>
          <p:cNvPr id="28" name="文本框 5">
            <a:extLst>
              <a:ext uri="{FF2B5EF4-FFF2-40B4-BE49-F238E27FC236}">
                <a16:creationId xmlns:a16="http://schemas.microsoft.com/office/drawing/2014/main" id="{9AC4CBAC-DAA3-CBA8-2992-6E11FAA33EAB}"/>
              </a:ext>
            </a:extLst>
          </p:cNvPr>
          <p:cNvSpPr txBox="1"/>
          <p:nvPr/>
        </p:nvSpPr>
        <p:spPr>
          <a:xfrm>
            <a:off x="5081615" y="1451766"/>
            <a:ext cx="3472481" cy="1785104"/>
          </a:xfrm>
          <a:prstGeom prst="rect">
            <a:avLst/>
          </a:prstGeom>
          <a:noFill/>
        </p:spPr>
        <p:txBody>
          <a:bodyPr wrap="square" rtlCol="0">
            <a:spAutoFit/>
          </a:bodyPr>
          <a:lstStyle/>
          <a:p>
            <a:r>
              <a:rPr kumimoji="1" lang="zh-CN" altLang="en-US" sz="2000" b="1" dirty="0">
                <a:solidFill>
                  <a:srgbClr val="C00000"/>
                </a:solidFill>
                <a:latin typeface="STKaiti" panose="02010600040101010101" charset="-122"/>
                <a:ea typeface="STKaiti" panose="02010600040101010101" charset="-122"/>
              </a:rPr>
              <a:t>关键问题</a:t>
            </a:r>
            <a:r>
              <a:rPr kumimoji="1" lang="zh-CN" altLang="en-US" sz="2000" b="1" dirty="0">
                <a:latin typeface="STKaiti" panose="02010600040101010101" charset="-122"/>
                <a:ea typeface="STKaiti" panose="02010600040101010101" charset="-122"/>
              </a:rPr>
              <a:t>：</a:t>
            </a:r>
            <a:r>
              <a:rPr kumimoji="1" lang="zh-CN" altLang="en-US" b="1" dirty="0">
                <a:latin typeface="STKaiti" panose="02010600040101010101" charset="-122"/>
                <a:ea typeface="STKaiti" panose="02010600040101010101" charset="-122"/>
              </a:rPr>
              <a:t>遮挡会使得遮挡区域噪声被学习成行人特征，从而影响识别精度。如果两个人都被同一个物体遮挡（比如一辆小轿车），那么他们很容易被匹配到一起。</a:t>
            </a:r>
          </a:p>
        </p:txBody>
      </p:sp>
      <p:grpSp>
        <p:nvGrpSpPr>
          <p:cNvPr id="113" name="组合 112">
            <a:extLst>
              <a:ext uri="{FF2B5EF4-FFF2-40B4-BE49-F238E27FC236}">
                <a16:creationId xmlns:a16="http://schemas.microsoft.com/office/drawing/2014/main" id="{9F544842-3D65-3201-48FB-11B05E37622E}"/>
              </a:ext>
            </a:extLst>
          </p:cNvPr>
          <p:cNvGrpSpPr/>
          <p:nvPr/>
        </p:nvGrpSpPr>
        <p:grpSpPr>
          <a:xfrm>
            <a:off x="876694" y="2088650"/>
            <a:ext cx="3407705" cy="1140830"/>
            <a:chOff x="876694" y="2088650"/>
            <a:chExt cx="3407705" cy="1140830"/>
          </a:xfrm>
        </p:grpSpPr>
        <p:pic>
          <p:nvPicPr>
            <p:cNvPr id="16" name="图片 15">
              <a:extLst>
                <a:ext uri="{FF2B5EF4-FFF2-40B4-BE49-F238E27FC236}">
                  <a16:creationId xmlns:a16="http://schemas.microsoft.com/office/drawing/2014/main" id="{4DE57EE4-4FF7-69DD-D066-61F92E7CF9D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76694" y="2088650"/>
              <a:ext cx="570415" cy="1140830"/>
            </a:xfrm>
            <a:prstGeom prst="rect">
              <a:avLst/>
            </a:prstGeom>
          </p:spPr>
        </p:pic>
        <p:pic>
          <p:nvPicPr>
            <p:cNvPr id="23" name="图片 22">
              <a:extLst>
                <a:ext uri="{FF2B5EF4-FFF2-40B4-BE49-F238E27FC236}">
                  <a16:creationId xmlns:a16="http://schemas.microsoft.com/office/drawing/2014/main" id="{68E7B714-8329-4C23-E5CF-12BF31F1579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447108" y="2088650"/>
              <a:ext cx="570415" cy="1140830"/>
            </a:xfrm>
            <a:prstGeom prst="rect">
              <a:avLst/>
            </a:prstGeom>
          </p:spPr>
        </p:pic>
        <p:pic>
          <p:nvPicPr>
            <p:cNvPr id="38" name="图片 37">
              <a:extLst>
                <a:ext uri="{FF2B5EF4-FFF2-40B4-BE49-F238E27FC236}">
                  <a16:creationId xmlns:a16="http://schemas.microsoft.com/office/drawing/2014/main" id="{2992919B-24D9-FEBA-1D3D-7DE791BDFD4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014199" y="2088650"/>
              <a:ext cx="570415" cy="1140830"/>
            </a:xfrm>
            <a:prstGeom prst="rect">
              <a:avLst/>
            </a:prstGeom>
          </p:spPr>
        </p:pic>
        <p:pic>
          <p:nvPicPr>
            <p:cNvPr id="46" name="图片 45">
              <a:extLst>
                <a:ext uri="{FF2B5EF4-FFF2-40B4-BE49-F238E27FC236}">
                  <a16:creationId xmlns:a16="http://schemas.microsoft.com/office/drawing/2014/main" id="{776E745F-62D0-F2C5-0DFB-8A397AAC026C}"/>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580546" y="2088650"/>
              <a:ext cx="570415" cy="1140830"/>
            </a:xfrm>
            <a:prstGeom prst="rect">
              <a:avLst/>
            </a:prstGeom>
          </p:spPr>
        </p:pic>
        <p:pic>
          <p:nvPicPr>
            <p:cNvPr id="62" name="图片 61">
              <a:extLst>
                <a:ext uri="{FF2B5EF4-FFF2-40B4-BE49-F238E27FC236}">
                  <a16:creationId xmlns:a16="http://schemas.microsoft.com/office/drawing/2014/main" id="{B83778A2-A25B-3CE6-41E7-69851CEEA486}"/>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147636" y="2088650"/>
              <a:ext cx="570415" cy="1140830"/>
            </a:xfrm>
            <a:prstGeom prst="rect">
              <a:avLst/>
            </a:prstGeom>
          </p:spPr>
        </p:pic>
        <p:pic>
          <p:nvPicPr>
            <p:cNvPr id="68" name="图片 67">
              <a:extLst>
                <a:ext uri="{FF2B5EF4-FFF2-40B4-BE49-F238E27FC236}">
                  <a16:creationId xmlns:a16="http://schemas.microsoft.com/office/drawing/2014/main" id="{56DF802C-8911-47D2-98EE-4ECCD736A558}"/>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3713984" y="2088650"/>
              <a:ext cx="570415" cy="1140830"/>
            </a:xfrm>
            <a:prstGeom prst="rect">
              <a:avLst/>
            </a:prstGeom>
          </p:spPr>
        </p:pic>
      </p:grpSp>
      <p:sp>
        <p:nvSpPr>
          <p:cNvPr id="70" name="Rounded Rectangle 25">
            <a:extLst>
              <a:ext uri="{FF2B5EF4-FFF2-40B4-BE49-F238E27FC236}">
                <a16:creationId xmlns:a16="http://schemas.microsoft.com/office/drawing/2014/main" id="{6D2E49EE-EB0B-67BC-7093-B3F6410CF20D}"/>
              </a:ext>
            </a:extLst>
          </p:cNvPr>
          <p:cNvSpPr/>
          <p:nvPr/>
        </p:nvSpPr>
        <p:spPr>
          <a:xfrm>
            <a:off x="603156" y="4474332"/>
            <a:ext cx="3954780" cy="1628076"/>
          </a:xfrm>
          <a:prstGeom prst="roundRect">
            <a:avLst/>
          </a:prstGeom>
          <a:noFill/>
          <a:ln w="31750">
            <a:prstDash val="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p:grpSp>
        <p:nvGrpSpPr>
          <p:cNvPr id="114" name="组合 113">
            <a:extLst>
              <a:ext uri="{FF2B5EF4-FFF2-40B4-BE49-F238E27FC236}">
                <a16:creationId xmlns:a16="http://schemas.microsoft.com/office/drawing/2014/main" id="{8895FE17-4BE7-1E8F-220B-E70D6D64409E}"/>
              </a:ext>
            </a:extLst>
          </p:cNvPr>
          <p:cNvGrpSpPr/>
          <p:nvPr/>
        </p:nvGrpSpPr>
        <p:grpSpPr>
          <a:xfrm>
            <a:off x="1093461" y="4621763"/>
            <a:ext cx="3090961" cy="1333213"/>
            <a:chOff x="1120754" y="4555872"/>
            <a:chExt cx="2645793" cy="1141200"/>
          </a:xfrm>
        </p:grpSpPr>
        <p:pic>
          <p:nvPicPr>
            <p:cNvPr id="76" name="图片 75">
              <a:extLst>
                <a:ext uri="{FF2B5EF4-FFF2-40B4-BE49-F238E27FC236}">
                  <a16:creationId xmlns:a16="http://schemas.microsoft.com/office/drawing/2014/main" id="{4B491146-28B4-2251-0B2D-63069908D826}"/>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988746" y="4555872"/>
              <a:ext cx="420696" cy="1141200"/>
            </a:xfrm>
            <a:prstGeom prst="rect">
              <a:avLst/>
            </a:prstGeom>
          </p:spPr>
        </p:pic>
        <p:pic>
          <p:nvPicPr>
            <p:cNvPr id="91" name="图片 90">
              <a:extLst>
                <a:ext uri="{FF2B5EF4-FFF2-40B4-BE49-F238E27FC236}">
                  <a16:creationId xmlns:a16="http://schemas.microsoft.com/office/drawing/2014/main" id="{5B6DC093-EF6E-9130-C797-A8BC284E3D74}"/>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2861172" y="4555872"/>
              <a:ext cx="453645" cy="1141200"/>
            </a:xfrm>
            <a:prstGeom prst="rect">
              <a:avLst/>
            </a:prstGeom>
          </p:spPr>
        </p:pic>
        <p:pic>
          <p:nvPicPr>
            <p:cNvPr id="103" name="图片 102">
              <a:extLst>
                <a:ext uri="{FF2B5EF4-FFF2-40B4-BE49-F238E27FC236}">
                  <a16:creationId xmlns:a16="http://schemas.microsoft.com/office/drawing/2014/main" id="{52B0D8B1-8065-A4C0-262F-7FAC6463E86A}"/>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2409442" y="4555872"/>
              <a:ext cx="452368" cy="1141200"/>
            </a:xfrm>
            <a:prstGeom prst="rect">
              <a:avLst/>
            </a:prstGeom>
          </p:spPr>
        </p:pic>
        <p:pic>
          <p:nvPicPr>
            <p:cNvPr id="106" name="图片 105">
              <a:extLst>
                <a:ext uri="{FF2B5EF4-FFF2-40B4-BE49-F238E27FC236}">
                  <a16:creationId xmlns:a16="http://schemas.microsoft.com/office/drawing/2014/main" id="{3085D51B-48BB-BDE0-76F0-43847CF993B6}"/>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3310067" y="4555872"/>
              <a:ext cx="456480" cy="1141200"/>
            </a:xfrm>
            <a:prstGeom prst="rect">
              <a:avLst/>
            </a:prstGeom>
          </p:spPr>
        </p:pic>
        <p:pic>
          <p:nvPicPr>
            <p:cNvPr id="109" name="图片 108">
              <a:extLst>
                <a:ext uri="{FF2B5EF4-FFF2-40B4-BE49-F238E27FC236}">
                  <a16:creationId xmlns:a16="http://schemas.microsoft.com/office/drawing/2014/main" id="{E4E6FDFE-FFA9-8DEB-B685-A866AB15E927}"/>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1572576" y="4555872"/>
              <a:ext cx="454090" cy="1141200"/>
            </a:xfrm>
            <a:prstGeom prst="rect">
              <a:avLst/>
            </a:prstGeom>
          </p:spPr>
        </p:pic>
        <p:pic>
          <p:nvPicPr>
            <p:cNvPr id="112" name="图片 111">
              <a:extLst>
                <a:ext uri="{FF2B5EF4-FFF2-40B4-BE49-F238E27FC236}">
                  <a16:creationId xmlns:a16="http://schemas.microsoft.com/office/drawing/2014/main" id="{2D586022-B19B-25B3-DD37-8D0EA3EDB542}"/>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1120754" y="4555872"/>
              <a:ext cx="451822" cy="1141200"/>
            </a:xfrm>
            <a:prstGeom prst="rect">
              <a:avLst/>
            </a:prstGeom>
          </p:spPr>
        </p:pic>
      </p:grpSp>
      <p:pic>
        <p:nvPicPr>
          <p:cNvPr id="120" name="图片 119">
            <a:extLst>
              <a:ext uri="{FF2B5EF4-FFF2-40B4-BE49-F238E27FC236}">
                <a16:creationId xmlns:a16="http://schemas.microsoft.com/office/drawing/2014/main" id="{DF197B3D-E3EE-96B3-3ED6-F0155CC47712}"/>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7025357" y="3559239"/>
            <a:ext cx="699383" cy="1764000"/>
          </a:xfrm>
          <a:prstGeom prst="rect">
            <a:avLst/>
          </a:prstGeom>
          <a:ln w="19050">
            <a:noFill/>
          </a:ln>
        </p:spPr>
      </p:pic>
      <p:sp>
        <p:nvSpPr>
          <p:cNvPr id="122" name="文本框 5">
            <a:extLst>
              <a:ext uri="{FF2B5EF4-FFF2-40B4-BE49-F238E27FC236}">
                <a16:creationId xmlns:a16="http://schemas.microsoft.com/office/drawing/2014/main" id="{35CD007D-2601-FCED-BC18-6A60986F91D3}"/>
              </a:ext>
            </a:extLst>
          </p:cNvPr>
          <p:cNvSpPr txBox="1"/>
          <p:nvPr/>
        </p:nvSpPr>
        <p:spPr>
          <a:xfrm>
            <a:off x="5707335" y="3237571"/>
            <a:ext cx="798064" cy="276999"/>
          </a:xfrm>
          <a:prstGeom prst="rect">
            <a:avLst/>
          </a:prstGeom>
          <a:noFill/>
        </p:spPr>
        <p:txBody>
          <a:bodyPr wrap="square" rtlCol="0">
            <a:spAutoFit/>
          </a:bodyPr>
          <a:lstStyle/>
          <a:p>
            <a:r>
              <a:rPr kumimoji="1" lang="zh-CN" altLang="en-US" sz="1200" b="1" dirty="0">
                <a:latin typeface="STKaiti" panose="02010600040101010101" charset="-122"/>
                <a:ea typeface="STKaiti" panose="02010600040101010101" charset="-122"/>
              </a:rPr>
              <a:t>遮挡图片</a:t>
            </a:r>
          </a:p>
        </p:txBody>
      </p:sp>
      <p:sp>
        <p:nvSpPr>
          <p:cNvPr id="123" name="文本框 5">
            <a:extLst>
              <a:ext uri="{FF2B5EF4-FFF2-40B4-BE49-F238E27FC236}">
                <a16:creationId xmlns:a16="http://schemas.microsoft.com/office/drawing/2014/main" id="{5448D7EC-8412-35E5-BBDB-162DBF9D19EC}"/>
              </a:ext>
            </a:extLst>
          </p:cNvPr>
          <p:cNvSpPr txBox="1"/>
          <p:nvPr/>
        </p:nvSpPr>
        <p:spPr>
          <a:xfrm>
            <a:off x="6938044" y="3237571"/>
            <a:ext cx="948434" cy="276999"/>
          </a:xfrm>
          <a:prstGeom prst="rect">
            <a:avLst/>
          </a:prstGeom>
          <a:noFill/>
        </p:spPr>
        <p:txBody>
          <a:bodyPr wrap="square" rtlCol="0">
            <a:spAutoFit/>
          </a:bodyPr>
          <a:lstStyle/>
          <a:p>
            <a:r>
              <a:rPr kumimoji="1" lang="zh-CN" altLang="en-US" sz="1200" b="1" dirty="0">
                <a:latin typeface="STKaiti" panose="02010600040101010101" charset="-122"/>
                <a:ea typeface="STKaiti" panose="02010600040101010101" charset="-122"/>
              </a:rPr>
              <a:t>完整图片</a:t>
            </a:r>
          </a:p>
        </p:txBody>
      </p:sp>
      <p:sp>
        <p:nvSpPr>
          <p:cNvPr id="124" name="矩形: 圆角 123">
            <a:extLst>
              <a:ext uri="{FF2B5EF4-FFF2-40B4-BE49-F238E27FC236}">
                <a16:creationId xmlns:a16="http://schemas.microsoft.com/office/drawing/2014/main" id="{93D7DC3A-9ACE-6452-EBF9-A55A351BF097}"/>
              </a:ext>
            </a:extLst>
          </p:cNvPr>
          <p:cNvSpPr/>
          <p:nvPr/>
        </p:nvSpPr>
        <p:spPr>
          <a:xfrm>
            <a:off x="5824247" y="4496852"/>
            <a:ext cx="361842" cy="329317"/>
          </a:xfrm>
          <a:prstGeom prst="round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1" name="文本框 5">
            <a:extLst>
              <a:ext uri="{FF2B5EF4-FFF2-40B4-BE49-F238E27FC236}">
                <a16:creationId xmlns:a16="http://schemas.microsoft.com/office/drawing/2014/main" id="{374E21D6-32F4-BD76-B97F-A9C147E2068A}"/>
              </a:ext>
            </a:extLst>
          </p:cNvPr>
          <p:cNvSpPr txBox="1"/>
          <p:nvPr/>
        </p:nvSpPr>
        <p:spPr>
          <a:xfrm>
            <a:off x="6459106" y="5772461"/>
            <a:ext cx="1275254" cy="400110"/>
          </a:xfrm>
          <a:prstGeom prst="rect">
            <a:avLst/>
          </a:prstGeom>
          <a:noFill/>
        </p:spPr>
        <p:txBody>
          <a:bodyPr wrap="square" rtlCol="0">
            <a:spAutoFit/>
          </a:bodyPr>
          <a:lstStyle/>
          <a:p>
            <a:r>
              <a:rPr kumimoji="1" lang="zh-CN" altLang="en-US" sz="2000" b="1" dirty="0">
                <a:solidFill>
                  <a:srgbClr val="C00000"/>
                </a:solidFill>
                <a:latin typeface="STKaiti" panose="02010600040101010101" charset="-122"/>
                <a:ea typeface="STKaiti" panose="02010600040101010101" charset="-122"/>
              </a:rPr>
              <a:t>噪声信息</a:t>
            </a:r>
            <a:endParaRPr kumimoji="1" lang="zh-CN" altLang="en-US" sz="2000" b="1" dirty="0">
              <a:latin typeface="STKaiti" panose="02010600040101010101" charset="-122"/>
              <a:ea typeface="STKaiti" panose="02010600040101010101" charset="-122"/>
            </a:endParaRPr>
          </a:p>
        </p:txBody>
      </p:sp>
      <p:cxnSp>
        <p:nvCxnSpPr>
          <p:cNvPr id="133" name="连接符: 曲线 132">
            <a:extLst>
              <a:ext uri="{FF2B5EF4-FFF2-40B4-BE49-F238E27FC236}">
                <a16:creationId xmlns:a16="http://schemas.microsoft.com/office/drawing/2014/main" id="{7BEFC892-7445-5173-1D3A-15FA59CE846B}"/>
              </a:ext>
            </a:extLst>
          </p:cNvPr>
          <p:cNvCxnSpPr>
            <a:stCxn id="124" idx="2"/>
            <a:endCxn id="131" idx="0"/>
          </p:cNvCxnSpPr>
          <p:nvPr/>
        </p:nvCxnSpPr>
        <p:spPr>
          <a:xfrm rot="16200000" flipH="1">
            <a:off x="6077804" y="4753532"/>
            <a:ext cx="946292" cy="1091565"/>
          </a:xfrm>
          <a:prstGeom prst="curvedConnector3">
            <a:avLst>
              <a:gd name="adj1" fmla="val 59996"/>
            </a:avLst>
          </a:prstGeom>
          <a:ln w="38100">
            <a:solidFill>
              <a:srgbClr val="C00000"/>
            </a:solidFill>
            <a:prstDash val="dash"/>
            <a:tailEnd type="stealth"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35665977"/>
      </p:ext>
    </p:extLst>
  </p:cSld>
  <p:clrMapOvr>
    <a:masterClrMapping/>
  </p:clrMapOvr>
  <mc:AlternateContent xmlns:mc="http://schemas.openxmlformats.org/markup-compatibility/2006" xmlns:p14="http://schemas.microsoft.com/office/powerpoint/2010/main">
    <mc:Choice Requires="p14">
      <p:transition spd="slow" p14:dur="2000" advTm="44214"/>
    </mc:Choice>
    <mc:Fallback xmlns="">
      <p:transition spd="slow" advTm="44214"/>
    </mc:Fallback>
  </mc:AlternateContent>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标题 2"/>
          <p:cNvSpPr>
            <a:spLocks noGrp="1"/>
          </p:cNvSpPr>
          <p:nvPr>
            <p:ph type="title"/>
          </p:nvPr>
        </p:nvSpPr>
        <p:spPr>
          <a:xfrm>
            <a:off x="603250" y="193981"/>
            <a:ext cx="8229600" cy="1143000"/>
          </a:xfrm>
        </p:spPr>
        <p:txBody>
          <a:bodyPr>
            <a:normAutofit/>
          </a:bodyPr>
          <a:lstStyle/>
          <a:p>
            <a:pPr indent="0" algn="ctr">
              <a:buFont typeface="Arial" panose="020B0604020202020204" pitchFamily="34" charset="0"/>
              <a:buNone/>
            </a:pPr>
            <a:r>
              <a:rPr lang="zh-CN" altLang="en-US" sz="2800" b="1" dirty="0">
                <a:latin typeface="华文楷体" panose="02010600040101010101" pitchFamily="2" charset="-122"/>
                <a:ea typeface="华文楷体" panose="02010600040101010101" pitchFamily="2" charset="-122"/>
              </a:rPr>
              <a:t>现有的针对遮挡行人重识别的方法</a:t>
            </a:r>
            <a:r>
              <a:rPr lang="zh-CN" altLang="en-US" sz="2800" b="1" dirty="0">
                <a:solidFill>
                  <a:srgbClr val="FF0000"/>
                </a:solidFill>
                <a:latin typeface="华文楷体" panose="02010600040101010101" pitchFamily="2" charset="-122"/>
                <a:ea typeface="华文楷体" panose="02010600040101010101" pitchFamily="2" charset="-122"/>
              </a:rPr>
              <a:t>只使用视觉信息</a:t>
            </a:r>
            <a:r>
              <a:rPr lang="zh-CN" altLang="en-US" sz="2800" b="1" dirty="0">
                <a:latin typeface="华文楷体" panose="02010600040101010101" pitchFamily="2" charset="-122"/>
                <a:ea typeface="华文楷体" panose="02010600040101010101" pitchFamily="2" charset="-122"/>
              </a:rPr>
              <a:t>来减轻由遮挡引起的噪声的影响</a:t>
            </a:r>
          </a:p>
        </p:txBody>
      </p:sp>
      <p:grpSp>
        <p:nvGrpSpPr>
          <p:cNvPr id="51" name="组合 50">
            <a:extLst>
              <a:ext uri="{FF2B5EF4-FFF2-40B4-BE49-F238E27FC236}">
                <a16:creationId xmlns:a16="http://schemas.microsoft.com/office/drawing/2014/main" id="{6F1C3493-3536-0BAE-2CAC-163E9937DB20}"/>
              </a:ext>
            </a:extLst>
          </p:cNvPr>
          <p:cNvGrpSpPr/>
          <p:nvPr/>
        </p:nvGrpSpPr>
        <p:grpSpPr>
          <a:xfrm>
            <a:off x="97218" y="3486021"/>
            <a:ext cx="1508126" cy="743901"/>
            <a:chOff x="303530" y="3747155"/>
            <a:chExt cx="1508126" cy="743901"/>
          </a:xfrm>
        </p:grpSpPr>
        <p:sp>
          <p:nvSpPr>
            <p:cNvPr id="20" name="矩形: 圆角 19">
              <a:extLst>
                <a:ext uri="{FF2B5EF4-FFF2-40B4-BE49-F238E27FC236}">
                  <a16:creationId xmlns:a16="http://schemas.microsoft.com/office/drawing/2014/main" id="{A228DC67-6300-46BD-8FA0-B1B413371CD8}"/>
                </a:ext>
              </a:extLst>
            </p:cNvPr>
            <p:cNvSpPr/>
            <p:nvPr/>
          </p:nvSpPr>
          <p:spPr>
            <a:xfrm>
              <a:off x="303530" y="3747155"/>
              <a:ext cx="1439545" cy="743901"/>
            </a:xfrm>
            <a:prstGeom prst="roundRect">
              <a:avLst/>
            </a:prstGeom>
            <a:solidFill>
              <a:schemeClr val="accent4">
                <a:lumMod val="40000"/>
                <a:lumOff val="60000"/>
              </a:schemeClr>
            </a:solidFill>
            <a:ln>
              <a:noFill/>
            </a:ln>
            <a:effectLst>
              <a:outerShdw blurRad="76200" dir="18900000" sy="23000" kx="-1200000" algn="bl" rotWithShape="0">
                <a:prstClr val="black">
                  <a:alpha val="20000"/>
                </a:prstClr>
              </a:outerShdw>
            </a:effectLst>
          </p:spPr>
          <p:style>
            <a:lnRef idx="1">
              <a:schemeClr val="accent3"/>
            </a:lnRef>
            <a:fillRef idx="2">
              <a:schemeClr val="accent3"/>
            </a:fillRef>
            <a:effectRef idx="1">
              <a:schemeClr val="accent3"/>
            </a:effectRef>
            <a:fontRef idx="minor">
              <a:schemeClr val="dk1"/>
            </a:fontRef>
          </p:style>
          <p:txBody>
            <a:bodyPr rtlCol="0" anchor="ctr"/>
            <a:lstStyle/>
            <a:p>
              <a:pPr algn="ctr"/>
              <a:endParaRPr lang="zh-CN" altLang="en-US"/>
            </a:p>
          </p:txBody>
        </p:sp>
        <p:sp>
          <p:nvSpPr>
            <p:cNvPr id="12" name="文本框 11"/>
            <p:cNvSpPr txBox="1"/>
            <p:nvPr/>
          </p:nvSpPr>
          <p:spPr>
            <a:xfrm>
              <a:off x="372110" y="3795941"/>
              <a:ext cx="1439546" cy="646331"/>
            </a:xfrm>
            <a:prstGeom prst="rect">
              <a:avLst/>
            </a:prstGeom>
            <a:noFill/>
          </p:spPr>
          <p:txBody>
            <a:bodyPr wrap="square" rtlCol="0" anchor="t">
              <a:spAutoFit/>
            </a:bodyPr>
            <a:lstStyle/>
            <a:p>
              <a:r>
                <a:rPr lang="zh-CN" altLang="en-US" dirty="0">
                  <a:latin typeface="华文楷体" panose="02010600040101010101" pitchFamily="2" charset="-122"/>
                  <a:ea typeface="华文楷体" panose="02010600040101010101" pitchFamily="2" charset="-122"/>
                  <a:sym typeface="+mn-ea"/>
                </a:rPr>
                <a:t>现有的解决噪声的方法</a:t>
              </a:r>
              <a:endParaRPr lang="zh-CN" altLang="en-US" dirty="0">
                <a:solidFill>
                  <a:schemeClr val="tx1"/>
                </a:solidFill>
                <a:latin typeface="华文楷体" panose="02010600040101010101" pitchFamily="2" charset="-122"/>
                <a:ea typeface="华文楷体" panose="02010600040101010101" pitchFamily="2" charset="-122"/>
              </a:endParaRPr>
            </a:p>
          </p:txBody>
        </p:sp>
      </p:grpSp>
      <p:sp>
        <p:nvSpPr>
          <p:cNvPr id="2" name="左大括号 1">
            <a:extLst>
              <a:ext uri="{FF2B5EF4-FFF2-40B4-BE49-F238E27FC236}">
                <a16:creationId xmlns:a16="http://schemas.microsoft.com/office/drawing/2014/main" id="{B09BE26F-93EE-7A87-31DC-A621E5B154B5}"/>
              </a:ext>
            </a:extLst>
          </p:cNvPr>
          <p:cNvSpPr/>
          <p:nvPr/>
        </p:nvSpPr>
        <p:spPr>
          <a:xfrm>
            <a:off x="1574498" y="1951635"/>
            <a:ext cx="305754" cy="3800381"/>
          </a:xfrm>
          <a:prstGeom prst="leftBrace">
            <a:avLst>
              <a:gd name="adj1" fmla="val 33087"/>
              <a:gd name="adj2" fmla="val 50000"/>
            </a:avLst>
          </a:prstGeom>
          <a:ln w="12700"/>
        </p:spPr>
        <p:style>
          <a:lnRef idx="1">
            <a:schemeClr val="dk1"/>
          </a:lnRef>
          <a:fillRef idx="0">
            <a:schemeClr val="dk1"/>
          </a:fillRef>
          <a:effectRef idx="0">
            <a:schemeClr val="dk1"/>
          </a:effectRef>
          <a:fontRef idx="minor">
            <a:schemeClr val="tx1"/>
          </a:fontRef>
        </p:style>
        <p:txBody>
          <a:bodyPr rtlCol="0" anchor="ctr"/>
          <a:lstStyle/>
          <a:p>
            <a:pPr algn="ctr"/>
            <a:endParaRPr lang="zh-CN" altLang="en-US"/>
          </a:p>
        </p:txBody>
      </p:sp>
      <p:sp>
        <p:nvSpPr>
          <p:cNvPr id="17" name="Slide Number Placeholder 52">
            <a:extLst>
              <a:ext uri="{FF2B5EF4-FFF2-40B4-BE49-F238E27FC236}">
                <a16:creationId xmlns:a16="http://schemas.microsoft.com/office/drawing/2014/main" id="{C9990BB0-837B-DC74-3492-6C92558FB394}"/>
              </a:ext>
            </a:extLst>
          </p:cNvPr>
          <p:cNvSpPr>
            <a:spLocks noGrp="1"/>
          </p:cNvSpPr>
          <p:nvPr>
            <p:ph type="sldNum" sz="quarter" idx="16"/>
          </p:nvPr>
        </p:nvSpPr>
        <p:spPr>
          <a:xfrm>
            <a:off x="6563064" y="6366671"/>
            <a:ext cx="2133600" cy="365125"/>
          </a:xfrm>
        </p:spPr>
        <p:txBody>
          <a:bodyPr/>
          <a:lstStyle/>
          <a:p>
            <a:pPr>
              <a:defRPr/>
            </a:pPr>
            <a:fld id="{D69E98CB-8E38-42BF-857B-65773CD3393B}" type="slidenum">
              <a:rPr lang="en-US" altLang="zh-CN" smtClean="0"/>
              <a:t>6</a:t>
            </a:fld>
            <a:endParaRPr lang="en-US" altLang="zh-CN" dirty="0"/>
          </a:p>
        </p:txBody>
      </p:sp>
      <p:grpSp>
        <p:nvGrpSpPr>
          <p:cNvPr id="53" name="组合 52">
            <a:extLst>
              <a:ext uri="{FF2B5EF4-FFF2-40B4-BE49-F238E27FC236}">
                <a16:creationId xmlns:a16="http://schemas.microsoft.com/office/drawing/2014/main" id="{72AA0064-FE95-6030-1305-D1E19ED58BEC}"/>
              </a:ext>
            </a:extLst>
          </p:cNvPr>
          <p:cNvGrpSpPr/>
          <p:nvPr/>
        </p:nvGrpSpPr>
        <p:grpSpPr>
          <a:xfrm>
            <a:off x="2025987" y="1521751"/>
            <a:ext cx="6505767" cy="2099224"/>
            <a:chOff x="2140269" y="1320475"/>
            <a:chExt cx="6505767" cy="2099224"/>
          </a:xfrm>
        </p:grpSpPr>
        <p:grpSp>
          <p:nvGrpSpPr>
            <p:cNvPr id="52" name="组合 51">
              <a:extLst>
                <a:ext uri="{FF2B5EF4-FFF2-40B4-BE49-F238E27FC236}">
                  <a16:creationId xmlns:a16="http://schemas.microsoft.com/office/drawing/2014/main" id="{4986C9BA-89EA-59F9-9CF0-EE974BFFC6F5}"/>
                </a:ext>
              </a:extLst>
            </p:cNvPr>
            <p:cNvGrpSpPr/>
            <p:nvPr/>
          </p:nvGrpSpPr>
          <p:grpSpPr>
            <a:xfrm>
              <a:off x="2140269" y="2365731"/>
              <a:ext cx="1684020" cy="499421"/>
              <a:chOff x="2140269" y="2365731"/>
              <a:chExt cx="1684020" cy="499421"/>
            </a:xfrm>
          </p:grpSpPr>
          <p:sp>
            <p:nvSpPr>
              <p:cNvPr id="18" name="矩形: 圆角 17">
                <a:extLst>
                  <a:ext uri="{FF2B5EF4-FFF2-40B4-BE49-F238E27FC236}">
                    <a16:creationId xmlns:a16="http://schemas.microsoft.com/office/drawing/2014/main" id="{7BE9A4B7-2EC3-F658-AAA2-B3C84465BDAC}"/>
                  </a:ext>
                </a:extLst>
              </p:cNvPr>
              <p:cNvSpPr/>
              <p:nvPr/>
            </p:nvSpPr>
            <p:spPr>
              <a:xfrm>
                <a:off x="2171144" y="2365731"/>
                <a:ext cx="1526857" cy="499421"/>
              </a:xfrm>
              <a:prstGeom prst="roundRect">
                <a:avLst/>
              </a:prstGeom>
              <a:solidFill>
                <a:schemeClr val="accent4">
                  <a:lumMod val="40000"/>
                  <a:lumOff val="60000"/>
                </a:schemeClr>
              </a:solidFill>
              <a:ln>
                <a:noFill/>
              </a:ln>
              <a:effectLst>
                <a:outerShdw blurRad="76200" dir="18900000" sy="23000" kx="-1200000" algn="bl" rotWithShape="0">
                  <a:prstClr val="black">
                    <a:alpha val="20000"/>
                  </a:prstClr>
                </a:outerShdw>
              </a:effectLst>
            </p:spPr>
            <p:style>
              <a:lnRef idx="1">
                <a:schemeClr val="accent3"/>
              </a:lnRef>
              <a:fillRef idx="2">
                <a:schemeClr val="accent3"/>
              </a:fillRef>
              <a:effectRef idx="1">
                <a:schemeClr val="accent3"/>
              </a:effectRef>
              <a:fontRef idx="minor">
                <a:schemeClr val="dk1"/>
              </a:fontRef>
            </p:style>
            <p:txBody>
              <a:bodyPr rtlCol="0" anchor="ctr"/>
              <a:lstStyle/>
              <a:p>
                <a:pPr algn="ctr"/>
                <a:endParaRPr lang="zh-CN" altLang="en-US"/>
              </a:p>
            </p:txBody>
          </p:sp>
          <p:sp>
            <p:nvSpPr>
              <p:cNvPr id="15" name="文本框 14">
                <a:extLst>
                  <a:ext uri="{FF2B5EF4-FFF2-40B4-BE49-F238E27FC236}">
                    <a16:creationId xmlns:a16="http://schemas.microsoft.com/office/drawing/2014/main" id="{C66863CC-9AE4-F715-F741-9633D69576ED}"/>
                  </a:ext>
                </a:extLst>
              </p:cNvPr>
              <p:cNvSpPr txBox="1"/>
              <p:nvPr/>
            </p:nvSpPr>
            <p:spPr>
              <a:xfrm>
                <a:off x="2140269" y="2430775"/>
                <a:ext cx="1684020" cy="369332"/>
              </a:xfrm>
              <a:prstGeom prst="rect">
                <a:avLst/>
              </a:prstGeom>
              <a:noFill/>
            </p:spPr>
            <p:txBody>
              <a:bodyPr wrap="square" rtlCol="0" anchor="t">
                <a:spAutoFit/>
              </a:bodyPr>
              <a:lstStyle/>
              <a:p>
                <a:r>
                  <a:rPr lang="zh-CN" altLang="en-US" dirty="0">
                    <a:latin typeface="华文楷体" panose="02010600040101010101" pitchFamily="2" charset="-122"/>
                    <a:ea typeface="华文楷体" panose="02010600040101010101" pitchFamily="2" charset="-122"/>
                  </a:rPr>
                  <a:t>使用辅助模型</a:t>
                </a:r>
                <a:endParaRPr lang="zh-CN" altLang="en-US" dirty="0">
                  <a:solidFill>
                    <a:schemeClr val="tx1"/>
                  </a:solidFill>
                  <a:latin typeface="华文楷体" panose="02010600040101010101" pitchFamily="2" charset="-122"/>
                  <a:ea typeface="华文楷体" panose="02010600040101010101" pitchFamily="2" charset="-122"/>
                </a:endParaRPr>
              </a:p>
            </p:txBody>
          </p:sp>
        </p:grpSp>
        <p:pic>
          <p:nvPicPr>
            <p:cNvPr id="27" name="图片 26">
              <a:extLst>
                <a:ext uri="{FF2B5EF4-FFF2-40B4-BE49-F238E27FC236}">
                  <a16:creationId xmlns:a16="http://schemas.microsoft.com/office/drawing/2014/main" id="{1F097985-48EB-498C-56BE-932314CBEF31}"/>
                </a:ext>
              </a:extLst>
            </p:cNvPr>
            <p:cNvPicPr>
              <a:picLocks noChangeAspect="1"/>
            </p:cNvPicPr>
            <p:nvPr/>
          </p:nvPicPr>
          <p:blipFill>
            <a:blip r:embed="rId3"/>
            <a:srcRect r="57432"/>
            <a:stretch/>
          </p:blipFill>
          <p:spPr>
            <a:xfrm>
              <a:off x="3810000" y="1320475"/>
              <a:ext cx="1956218" cy="1813757"/>
            </a:xfrm>
            <a:prstGeom prst="rect">
              <a:avLst/>
            </a:prstGeom>
          </p:spPr>
        </p:pic>
        <p:sp>
          <p:nvSpPr>
            <p:cNvPr id="30" name="文本框 29">
              <a:extLst>
                <a:ext uri="{FF2B5EF4-FFF2-40B4-BE49-F238E27FC236}">
                  <a16:creationId xmlns:a16="http://schemas.microsoft.com/office/drawing/2014/main" id="{74C38725-26D8-AB82-E5EB-98EA283C3CB5}"/>
                </a:ext>
              </a:extLst>
            </p:cNvPr>
            <p:cNvSpPr txBox="1"/>
            <p:nvPr/>
          </p:nvSpPr>
          <p:spPr>
            <a:xfrm>
              <a:off x="4529137" y="3142700"/>
              <a:ext cx="1328738" cy="276999"/>
            </a:xfrm>
            <a:prstGeom prst="rect">
              <a:avLst/>
            </a:prstGeom>
            <a:noFill/>
          </p:spPr>
          <p:txBody>
            <a:bodyPr wrap="square">
              <a:spAutoFit/>
            </a:bodyPr>
            <a:lstStyle/>
            <a:p>
              <a:r>
                <a:rPr lang="en-US" altLang="zh-CN" sz="1200" dirty="0">
                  <a:latin typeface="Times New Roman" panose="02020603050405020304" pitchFamily="18" charset="0"/>
                  <a:cs typeface="Times New Roman" panose="02020603050405020304" pitchFamily="18" charset="0"/>
                </a:rPr>
                <a:t>(a) </a:t>
              </a:r>
              <a:r>
                <a:rPr lang="zh-CN" altLang="en-US" sz="1200" dirty="0">
                  <a:latin typeface="Times New Roman" panose="02020603050405020304" pitchFamily="18" charset="0"/>
                  <a:cs typeface="Times New Roman" panose="02020603050405020304" pitchFamily="18" charset="0"/>
                </a:rPr>
                <a:t>pose-based</a:t>
              </a:r>
            </a:p>
          </p:txBody>
        </p:sp>
        <p:sp>
          <p:nvSpPr>
            <p:cNvPr id="31" name="文本框 30">
              <a:extLst>
                <a:ext uri="{FF2B5EF4-FFF2-40B4-BE49-F238E27FC236}">
                  <a16:creationId xmlns:a16="http://schemas.microsoft.com/office/drawing/2014/main" id="{6FCEEA03-3E76-2FD1-24F6-DD632711CFAC}"/>
                </a:ext>
              </a:extLst>
            </p:cNvPr>
            <p:cNvSpPr txBox="1"/>
            <p:nvPr/>
          </p:nvSpPr>
          <p:spPr>
            <a:xfrm>
              <a:off x="6208753" y="3142699"/>
              <a:ext cx="2133599" cy="276999"/>
            </a:xfrm>
            <a:prstGeom prst="rect">
              <a:avLst/>
            </a:prstGeom>
            <a:noFill/>
          </p:spPr>
          <p:txBody>
            <a:bodyPr wrap="square">
              <a:spAutoFit/>
            </a:bodyPr>
            <a:lstStyle/>
            <a:p>
              <a:r>
                <a:rPr lang="en-US" altLang="zh-CN" sz="1200" dirty="0">
                  <a:latin typeface="Times New Roman" panose="02020603050405020304" pitchFamily="18" charset="0"/>
                  <a:cs typeface="Times New Roman" panose="02020603050405020304" pitchFamily="18" charset="0"/>
                </a:rPr>
                <a:t>(b) segmentation-based</a:t>
              </a:r>
              <a:endParaRPr lang="zh-CN" altLang="en-US" sz="1200" dirty="0">
                <a:latin typeface="Times New Roman" panose="02020603050405020304" pitchFamily="18" charset="0"/>
                <a:cs typeface="Times New Roman" panose="02020603050405020304" pitchFamily="18" charset="0"/>
              </a:endParaRPr>
            </a:p>
          </p:txBody>
        </p:sp>
        <p:cxnSp>
          <p:nvCxnSpPr>
            <p:cNvPr id="43" name="直接连接符 42">
              <a:extLst>
                <a:ext uri="{FF2B5EF4-FFF2-40B4-BE49-F238E27FC236}">
                  <a16:creationId xmlns:a16="http://schemas.microsoft.com/office/drawing/2014/main" id="{86A09627-035B-F9DE-63C9-EB7DF3BFBC98}"/>
                </a:ext>
              </a:extLst>
            </p:cNvPr>
            <p:cNvCxnSpPr>
              <a:cxnSpLocks/>
            </p:cNvCxnSpPr>
            <p:nvPr/>
          </p:nvCxnSpPr>
          <p:spPr>
            <a:xfrm flipH="1">
              <a:off x="5807076" y="1381125"/>
              <a:ext cx="157616" cy="1922143"/>
            </a:xfrm>
            <a:prstGeom prst="line">
              <a:avLst/>
            </a:prstGeom>
            <a:ln w="12700"/>
          </p:spPr>
          <p:style>
            <a:lnRef idx="1">
              <a:schemeClr val="dk1"/>
            </a:lnRef>
            <a:fillRef idx="0">
              <a:schemeClr val="dk1"/>
            </a:fillRef>
            <a:effectRef idx="0">
              <a:schemeClr val="dk1"/>
            </a:effectRef>
            <a:fontRef idx="minor">
              <a:schemeClr val="tx1"/>
            </a:fontRef>
          </p:style>
        </p:cxnSp>
        <p:pic>
          <p:nvPicPr>
            <p:cNvPr id="45" name="图片 44">
              <a:extLst>
                <a:ext uri="{FF2B5EF4-FFF2-40B4-BE49-F238E27FC236}">
                  <a16:creationId xmlns:a16="http://schemas.microsoft.com/office/drawing/2014/main" id="{FC64180E-36EE-0CA8-4C29-5B37CAED50D0}"/>
                </a:ext>
              </a:extLst>
            </p:cNvPr>
            <p:cNvPicPr>
              <a:picLocks noChangeAspect="1"/>
            </p:cNvPicPr>
            <p:nvPr/>
          </p:nvPicPr>
          <p:blipFill>
            <a:blip r:embed="rId3"/>
            <a:srcRect l="43648"/>
            <a:stretch/>
          </p:blipFill>
          <p:spPr>
            <a:xfrm>
              <a:off x="6056349" y="1328942"/>
              <a:ext cx="2589687" cy="1813757"/>
            </a:xfrm>
            <a:prstGeom prst="rect">
              <a:avLst/>
            </a:prstGeom>
          </p:spPr>
        </p:pic>
      </p:grpSp>
      <p:grpSp>
        <p:nvGrpSpPr>
          <p:cNvPr id="55" name="组合 54">
            <a:extLst>
              <a:ext uri="{FF2B5EF4-FFF2-40B4-BE49-F238E27FC236}">
                <a16:creationId xmlns:a16="http://schemas.microsoft.com/office/drawing/2014/main" id="{C8C889D1-1603-94B3-A447-B2B5AF9E69B0}"/>
              </a:ext>
            </a:extLst>
          </p:cNvPr>
          <p:cNvGrpSpPr/>
          <p:nvPr/>
        </p:nvGrpSpPr>
        <p:grpSpPr>
          <a:xfrm>
            <a:off x="2054938" y="4582858"/>
            <a:ext cx="6372782" cy="1913702"/>
            <a:chOff x="2109231" y="4476773"/>
            <a:chExt cx="6372782" cy="1913702"/>
          </a:xfrm>
        </p:grpSpPr>
        <p:sp>
          <p:nvSpPr>
            <p:cNvPr id="21" name="矩形: 圆角 20">
              <a:extLst>
                <a:ext uri="{FF2B5EF4-FFF2-40B4-BE49-F238E27FC236}">
                  <a16:creationId xmlns:a16="http://schemas.microsoft.com/office/drawing/2014/main" id="{DBA97843-2166-94E4-B96A-6B3E195BA89A}"/>
                </a:ext>
              </a:extLst>
            </p:cNvPr>
            <p:cNvSpPr/>
            <p:nvPr/>
          </p:nvSpPr>
          <p:spPr>
            <a:xfrm>
              <a:off x="2132011" y="4992758"/>
              <a:ext cx="1784033" cy="538256"/>
            </a:xfrm>
            <a:prstGeom prst="roundRect">
              <a:avLst/>
            </a:prstGeom>
            <a:solidFill>
              <a:schemeClr val="accent4">
                <a:lumMod val="40000"/>
                <a:lumOff val="60000"/>
              </a:schemeClr>
            </a:solidFill>
            <a:ln>
              <a:noFill/>
            </a:ln>
            <a:effectLst>
              <a:outerShdw blurRad="76200" dir="18900000" sy="23000" kx="-1200000" algn="bl" rotWithShape="0">
                <a:prstClr val="black">
                  <a:alpha val="20000"/>
                </a:prstClr>
              </a:outerShdw>
            </a:effectLst>
          </p:spPr>
          <p:style>
            <a:lnRef idx="1">
              <a:schemeClr val="accent3"/>
            </a:lnRef>
            <a:fillRef idx="2">
              <a:schemeClr val="accent3"/>
            </a:fillRef>
            <a:effectRef idx="1">
              <a:schemeClr val="accent3"/>
            </a:effectRef>
            <a:fontRef idx="minor">
              <a:schemeClr val="dk1"/>
            </a:fontRef>
          </p:style>
          <p:txBody>
            <a:bodyPr rtlCol="0" anchor="ctr"/>
            <a:lstStyle/>
            <a:p>
              <a:pPr algn="ctr"/>
              <a:endParaRPr lang="zh-CN" altLang="en-US"/>
            </a:p>
          </p:txBody>
        </p:sp>
        <p:sp>
          <p:nvSpPr>
            <p:cNvPr id="16" name="文本框 15">
              <a:extLst>
                <a:ext uri="{FF2B5EF4-FFF2-40B4-BE49-F238E27FC236}">
                  <a16:creationId xmlns:a16="http://schemas.microsoft.com/office/drawing/2014/main" id="{FC432F12-72AD-6FEE-6472-0D04FC4455FF}"/>
                </a:ext>
              </a:extLst>
            </p:cNvPr>
            <p:cNvSpPr txBox="1"/>
            <p:nvPr/>
          </p:nvSpPr>
          <p:spPr>
            <a:xfrm>
              <a:off x="2109231" y="5085610"/>
              <a:ext cx="2042477" cy="369332"/>
            </a:xfrm>
            <a:prstGeom prst="rect">
              <a:avLst/>
            </a:prstGeom>
            <a:noFill/>
          </p:spPr>
          <p:txBody>
            <a:bodyPr wrap="square" rtlCol="0" anchor="t">
              <a:spAutoFit/>
            </a:bodyPr>
            <a:lstStyle/>
            <a:p>
              <a:r>
                <a:rPr lang="zh-CN" altLang="en-US" dirty="0">
                  <a:latin typeface="华文楷体" panose="02010600040101010101" pitchFamily="2" charset="-122"/>
                  <a:ea typeface="华文楷体" panose="02010600040101010101" pitchFamily="2" charset="-122"/>
                </a:rPr>
                <a:t>使用注意力机制</a:t>
              </a:r>
              <a:endParaRPr lang="zh-CN" altLang="en-US" dirty="0">
                <a:solidFill>
                  <a:schemeClr val="tx1"/>
                </a:solidFill>
                <a:latin typeface="华文楷体" panose="02010600040101010101" pitchFamily="2" charset="-122"/>
                <a:ea typeface="华文楷体" panose="02010600040101010101" pitchFamily="2" charset="-122"/>
              </a:endParaRPr>
            </a:p>
          </p:txBody>
        </p:sp>
        <p:pic>
          <p:nvPicPr>
            <p:cNvPr id="37" name="图片 36">
              <a:extLst>
                <a:ext uri="{FF2B5EF4-FFF2-40B4-BE49-F238E27FC236}">
                  <a16:creationId xmlns:a16="http://schemas.microsoft.com/office/drawing/2014/main" id="{5815EEA8-0E67-88C0-CF64-C0A5E5C159DC}"/>
                </a:ext>
              </a:extLst>
            </p:cNvPr>
            <p:cNvPicPr>
              <a:picLocks noChangeAspect="1"/>
            </p:cNvPicPr>
            <p:nvPr/>
          </p:nvPicPr>
          <p:blipFill>
            <a:blip r:embed="rId4"/>
            <a:stretch>
              <a:fillRect/>
            </a:stretch>
          </p:blipFill>
          <p:spPr>
            <a:xfrm>
              <a:off x="6656107" y="4599569"/>
              <a:ext cx="1564616" cy="1421614"/>
            </a:xfrm>
            <a:prstGeom prst="rect">
              <a:avLst/>
            </a:prstGeom>
          </p:spPr>
        </p:pic>
        <p:cxnSp>
          <p:nvCxnSpPr>
            <p:cNvPr id="39" name="直接连接符 38">
              <a:extLst>
                <a:ext uri="{FF2B5EF4-FFF2-40B4-BE49-F238E27FC236}">
                  <a16:creationId xmlns:a16="http://schemas.microsoft.com/office/drawing/2014/main" id="{ACDB917A-BD40-1F25-F042-00EA4D42E612}"/>
                </a:ext>
              </a:extLst>
            </p:cNvPr>
            <p:cNvCxnSpPr>
              <a:cxnSpLocks/>
            </p:cNvCxnSpPr>
            <p:nvPr/>
          </p:nvCxnSpPr>
          <p:spPr>
            <a:xfrm flipH="1">
              <a:off x="6378953" y="4476773"/>
              <a:ext cx="166924" cy="1717515"/>
            </a:xfrm>
            <a:prstGeom prst="line">
              <a:avLst/>
            </a:prstGeom>
            <a:ln w="12700"/>
          </p:spPr>
          <p:style>
            <a:lnRef idx="1">
              <a:schemeClr val="dk1"/>
            </a:lnRef>
            <a:fillRef idx="0">
              <a:schemeClr val="dk1"/>
            </a:fillRef>
            <a:effectRef idx="0">
              <a:schemeClr val="dk1"/>
            </a:effectRef>
            <a:fontRef idx="minor">
              <a:schemeClr val="tx1"/>
            </a:fontRef>
          </p:style>
        </p:cxnSp>
        <p:sp>
          <p:nvSpPr>
            <p:cNvPr id="42" name="文本框 41">
              <a:extLst>
                <a:ext uri="{FF2B5EF4-FFF2-40B4-BE49-F238E27FC236}">
                  <a16:creationId xmlns:a16="http://schemas.microsoft.com/office/drawing/2014/main" id="{3A987B04-35A6-02C5-9C95-BFDE70C1C668}"/>
                </a:ext>
              </a:extLst>
            </p:cNvPr>
            <p:cNvSpPr txBox="1"/>
            <p:nvPr/>
          </p:nvSpPr>
          <p:spPr>
            <a:xfrm>
              <a:off x="4386258" y="6113476"/>
              <a:ext cx="1529276" cy="276999"/>
            </a:xfrm>
            <a:prstGeom prst="rect">
              <a:avLst/>
            </a:prstGeom>
            <a:noFill/>
          </p:spPr>
          <p:txBody>
            <a:bodyPr wrap="square">
              <a:spAutoFit/>
            </a:bodyPr>
            <a:lstStyle/>
            <a:p>
              <a:r>
                <a:rPr lang="en-US" altLang="zh-CN" sz="1200" dirty="0">
                  <a:latin typeface="Times New Roman" panose="02020603050405020304" pitchFamily="18" charset="0"/>
                  <a:cs typeface="Times New Roman" panose="02020603050405020304" pitchFamily="18" charset="0"/>
                </a:rPr>
                <a:t>(a) transformer-based</a:t>
              </a:r>
              <a:endParaRPr lang="zh-CN" altLang="en-US" sz="1200" dirty="0">
                <a:latin typeface="Times New Roman" panose="02020603050405020304" pitchFamily="18" charset="0"/>
                <a:cs typeface="Times New Roman" panose="02020603050405020304" pitchFamily="18" charset="0"/>
              </a:endParaRPr>
            </a:p>
          </p:txBody>
        </p:sp>
        <p:grpSp>
          <p:nvGrpSpPr>
            <p:cNvPr id="47" name="组合 46">
              <a:extLst>
                <a:ext uri="{FF2B5EF4-FFF2-40B4-BE49-F238E27FC236}">
                  <a16:creationId xmlns:a16="http://schemas.microsoft.com/office/drawing/2014/main" id="{0120F525-920C-F934-94BE-EC946EB3F3FA}"/>
                </a:ext>
              </a:extLst>
            </p:cNvPr>
            <p:cNvGrpSpPr/>
            <p:nvPr/>
          </p:nvGrpSpPr>
          <p:grpSpPr>
            <a:xfrm>
              <a:off x="3938824" y="4523354"/>
              <a:ext cx="2360675" cy="1590122"/>
              <a:chOff x="3938824" y="4161395"/>
              <a:chExt cx="2360675" cy="1590122"/>
            </a:xfrm>
          </p:grpSpPr>
          <p:pic>
            <p:nvPicPr>
              <p:cNvPr id="35" name="图片 34">
                <a:extLst>
                  <a:ext uri="{FF2B5EF4-FFF2-40B4-BE49-F238E27FC236}">
                    <a16:creationId xmlns:a16="http://schemas.microsoft.com/office/drawing/2014/main" id="{374D5314-731D-7ED2-39BC-44A87F0D7F8E}"/>
                  </a:ext>
                </a:extLst>
              </p:cNvPr>
              <p:cNvPicPr>
                <a:picLocks noChangeAspect="1"/>
              </p:cNvPicPr>
              <p:nvPr/>
            </p:nvPicPr>
            <p:blipFill>
              <a:blip r:embed="rId5"/>
              <a:stretch>
                <a:fillRect/>
              </a:stretch>
            </p:blipFill>
            <p:spPr>
              <a:xfrm>
                <a:off x="3938824" y="4304080"/>
                <a:ext cx="808619" cy="1304754"/>
              </a:xfrm>
              <a:prstGeom prst="rect">
                <a:avLst/>
              </a:prstGeom>
            </p:spPr>
          </p:pic>
          <p:pic>
            <p:nvPicPr>
              <p:cNvPr id="36" name="图片 35">
                <a:extLst>
                  <a:ext uri="{FF2B5EF4-FFF2-40B4-BE49-F238E27FC236}">
                    <a16:creationId xmlns:a16="http://schemas.microsoft.com/office/drawing/2014/main" id="{E7E06B4D-773E-5B24-5011-D9BE8A64F85D}"/>
                  </a:ext>
                </a:extLst>
              </p:cNvPr>
              <p:cNvPicPr>
                <a:picLocks noChangeAspect="1"/>
              </p:cNvPicPr>
              <p:nvPr/>
            </p:nvPicPr>
            <p:blipFill>
              <a:blip r:embed="rId6"/>
              <a:srcRect l="1161" r="1"/>
              <a:stretch/>
            </p:blipFill>
            <p:spPr>
              <a:xfrm>
                <a:off x="4770223" y="4161395"/>
                <a:ext cx="1529276" cy="1590122"/>
              </a:xfrm>
              <a:prstGeom prst="rect">
                <a:avLst/>
              </a:prstGeom>
            </p:spPr>
          </p:pic>
          <p:pic>
            <p:nvPicPr>
              <p:cNvPr id="46" name="图片 45">
                <a:extLst>
                  <a:ext uri="{FF2B5EF4-FFF2-40B4-BE49-F238E27FC236}">
                    <a16:creationId xmlns:a16="http://schemas.microsoft.com/office/drawing/2014/main" id="{22895186-3C59-F7B1-6516-762BEBC3BB8D}"/>
                  </a:ext>
                </a:extLst>
              </p:cNvPr>
              <p:cNvPicPr>
                <a:picLocks noChangeAspect="1"/>
              </p:cNvPicPr>
              <p:nvPr/>
            </p:nvPicPr>
            <p:blipFill>
              <a:blip r:embed="rId5"/>
              <a:srcRect l="66989"/>
              <a:stretch/>
            </p:blipFill>
            <p:spPr>
              <a:xfrm>
                <a:off x="5126831" y="4321194"/>
                <a:ext cx="266930" cy="1304754"/>
              </a:xfrm>
              <a:prstGeom prst="rect">
                <a:avLst/>
              </a:prstGeom>
            </p:spPr>
          </p:pic>
        </p:grpSp>
        <p:sp>
          <p:nvSpPr>
            <p:cNvPr id="49" name="文本框 48">
              <a:extLst>
                <a:ext uri="{FF2B5EF4-FFF2-40B4-BE49-F238E27FC236}">
                  <a16:creationId xmlns:a16="http://schemas.microsoft.com/office/drawing/2014/main" id="{99A8CEAE-3487-8819-B284-5E5B793ED700}"/>
                </a:ext>
              </a:extLst>
            </p:cNvPr>
            <p:cNvSpPr txBox="1"/>
            <p:nvPr/>
          </p:nvSpPr>
          <p:spPr>
            <a:xfrm>
              <a:off x="6625331" y="6113475"/>
              <a:ext cx="1856682" cy="276999"/>
            </a:xfrm>
            <a:prstGeom prst="rect">
              <a:avLst/>
            </a:prstGeom>
            <a:noFill/>
          </p:spPr>
          <p:txBody>
            <a:bodyPr wrap="square">
              <a:spAutoFit/>
            </a:bodyPr>
            <a:lstStyle/>
            <a:p>
              <a:r>
                <a:rPr lang="en-US" altLang="zh-CN" sz="1200" dirty="0">
                  <a:latin typeface="Times New Roman" panose="02020603050405020304" pitchFamily="18" charset="0"/>
                  <a:cs typeface="Times New Roman" panose="02020603050405020304" pitchFamily="18" charset="0"/>
                </a:rPr>
                <a:t>(b) data augmentation</a:t>
              </a:r>
              <a:endParaRPr lang="zh-CN" altLang="en-US" sz="1200" dirty="0">
                <a:latin typeface="Times New Roman" panose="02020603050405020304" pitchFamily="18" charset="0"/>
                <a:cs typeface="Times New Roman" panose="02020603050405020304" pitchFamily="18" charset="0"/>
              </a:endParaRPr>
            </a:p>
          </p:txBody>
        </p:sp>
      </p:grpSp>
      <p:sp>
        <p:nvSpPr>
          <p:cNvPr id="50" name="Rounded Rectangle 25">
            <a:extLst>
              <a:ext uri="{FF2B5EF4-FFF2-40B4-BE49-F238E27FC236}">
                <a16:creationId xmlns:a16="http://schemas.microsoft.com/office/drawing/2014/main" id="{D4029191-823F-29B1-76B6-C32B88F8B116}"/>
              </a:ext>
            </a:extLst>
          </p:cNvPr>
          <p:cNvSpPr/>
          <p:nvPr/>
        </p:nvSpPr>
        <p:spPr>
          <a:xfrm>
            <a:off x="1950951" y="1450329"/>
            <a:ext cx="6510104" cy="2251659"/>
          </a:xfrm>
          <a:prstGeom prst="roundRect">
            <a:avLst/>
          </a:prstGeom>
          <a:noFill/>
          <a:ln w="19050">
            <a:solidFill>
              <a:schemeClr val="bg1">
                <a:lumMod val="65000"/>
              </a:schemeClr>
            </a:solidFill>
            <a:prstDash val="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p:sp>
        <p:nvSpPr>
          <p:cNvPr id="56" name="Rounded Rectangle 25">
            <a:extLst>
              <a:ext uri="{FF2B5EF4-FFF2-40B4-BE49-F238E27FC236}">
                <a16:creationId xmlns:a16="http://schemas.microsoft.com/office/drawing/2014/main" id="{C0760E5C-FD9E-5135-9EE1-BEBA226264AC}"/>
              </a:ext>
            </a:extLst>
          </p:cNvPr>
          <p:cNvSpPr/>
          <p:nvPr/>
        </p:nvSpPr>
        <p:spPr>
          <a:xfrm>
            <a:off x="1971909" y="4444200"/>
            <a:ext cx="6510104" cy="2117165"/>
          </a:xfrm>
          <a:prstGeom prst="roundRect">
            <a:avLst/>
          </a:prstGeom>
          <a:noFill/>
          <a:ln w="19050">
            <a:solidFill>
              <a:schemeClr val="bg1">
                <a:lumMod val="65000"/>
              </a:schemeClr>
            </a:solidFill>
            <a:prstDash val="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p:sp>
        <p:nvSpPr>
          <p:cNvPr id="57" name="文本框 56">
            <a:extLst>
              <a:ext uri="{FF2B5EF4-FFF2-40B4-BE49-F238E27FC236}">
                <a16:creationId xmlns:a16="http://schemas.microsoft.com/office/drawing/2014/main" id="{B70A639B-64F4-4AED-6FA0-A8B7E8794F2E}"/>
              </a:ext>
            </a:extLst>
          </p:cNvPr>
          <p:cNvSpPr txBox="1"/>
          <p:nvPr/>
        </p:nvSpPr>
        <p:spPr>
          <a:xfrm>
            <a:off x="4027589" y="3841633"/>
            <a:ext cx="2623758" cy="461665"/>
          </a:xfrm>
          <a:prstGeom prst="rect">
            <a:avLst/>
          </a:prstGeom>
          <a:noFill/>
        </p:spPr>
        <p:txBody>
          <a:bodyPr wrap="square" rtlCol="0">
            <a:spAutoFit/>
          </a:bodyPr>
          <a:lstStyle/>
          <a:p>
            <a:r>
              <a:rPr lang="zh-CN" altLang="en-US" sz="2400" b="1" dirty="0">
                <a:solidFill>
                  <a:srgbClr val="FF0000"/>
                </a:solidFill>
                <a:latin typeface="华文楷体" panose="02010600040101010101" pitchFamily="2" charset="-122"/>
                <a:ea typeface="华文楷体" panose="02010600040101010101" pitchFamily="2" charset="-122"/>
              </a:rPr>
              <a:t>只使用视觉信息</a:t>
            </a:r>
          </a:p>
        </p:txBody>
      </p:sp>
      <p:sp>
        <p:nvSpPr>
          <p:cNvPr id="65" name="箭头: 下 64">
            <a:extLst>
              <a:ext uri="{FF2B5EF4-FFF2-40B4-BE49-F238E27FC236}">
                <a16:creationId xmlns:a16="http://schemas.microsoft.com/office/drawing/2014/main" id="{DAB18FFA-A056-D1BC-A0B8-69AB7D167CE1}"/>
              </a:ext>
            </a:extLst>
          </p:cNvPr>
          <p:cNvSpPr/>
          <p:nvPr/>
        </p:nvSpPr>
        <p:spPr>
          <a:xfrm>
            <a:off x="5038843" y="3742741"/>
            <a:ext cx="188118" cy="144486"/>
          </a:xfrm>
          <a:prstGeom prst="downArrow">
            <a:avLst/>
          </a:prstGeom>
          <a:solidFill>
            <a:schemeClr val="bg1">
              <a:lumMod val="6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箭头: 下 65">
            <a:extLst>
              <a:ext uri="{FF2B5EF4-FFF2-40B4-BE49-F238E27FC236}">
                <a16:creationId xmlns:a16="http://schemas.microsoft.com/office/drawing/2014/main" id="{7799EA0E-5169-5A8C-571C-4C99CF99B101}"/>
              </a:ext>
            </a:extLst>
          </p:cNvPr>
          <p:cNvSpPr/>
          <p:nvPr/>
        </p:nvSpPr>
        <p:spPr>
          <a:xfrm flipV="1">
            <a:off x="5038843" y="4250217"/>
            <a:ext cx="188118" cy="144486"/>
          </a:xfrm>
          <a:prstGeom prst="downArrow">
            <a:avLst/>
          </a:prstGeom>
          <a:solidFill>
            <a:schemeClr val="bg1">
              <a:lumMod val="6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44214"/>
    </mc:Choice>
    <mc:Fallback xmlns="">
      <p:transition spd="slow" advTm="44214"/>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B0441C-CF66-CCC8-D60D-02BEA7D03CBA}"/>
            </a:ext>
          </a:extLst>
        </p:cNvPr>
        <p:cNvGrpSpPr/>
        <p:nvPr/>
      </p:nvGrpSpPr>
      <p:grpSpPr>
        <a:xfrm>
          <a:off x="0" y="0"/>
          <a:ext cx="0" cy="0"/>
          <a:chOff x="0" y="0"/>
          <a:chExt cx="0" cy="0"/>
        </a:xfrm>
      </p:grpSpPr>
      <p:sp>
        <p:nvSpPr>
          <p:cNvPr id="12" name="文本框 11">
            <a:extLst>
              <a:ext uri="{FF2B5EF4-FFF2-40B4-BE49-F238E27FC236}">
                <a16:creationId xmlns:a16="http://schemas.microsoft.com/office/drawing/2014/main" id="{B6FC0EE6-B23D-D1B2-E198-43496205389D}"/>
              </a:ext>
            </a:extLst>
          </p:cNvPr>
          <p:cNvSpPr txBox="1"/>
          <p:nvPr/>
        </p:nvSpPr>
        <p:spPr>
          <a:xfrm>
            <a:off x="648826" y="1575872"/>
            <a:ext cx="4049298" cy="2308324"/>
          </a:xfrm>
          <a:prstGeom prst="rect">
            <a:avLst/>
          </a:prstGeom>
          <a:noFill/>
        </p:spPr>
        <p:txBody>
          <a:bodyPr wrap="square" rtlCol="0" anchor="t">
            <a:spAutoFit/>
          </a:bodyPr>
          <a:lstStyle/>
          <a:p>
            <a:pPr marL="342900" indent="-342900">
              <a:buFont typeface="Wingdings" panose="05000000000000000000" pitchFamily="2" charset="2"/>
              <a:buChar char="Ø"/>
            </a:pPr>
            <a:r>
              <a:rPr lang="en-US" altLang="zh-CN" sz="1600" b="1" dirty="0">
                <a:solidFill>
                  <a:schemeClr val="tx1"/>
                </a:solidFill>
                <a:latin typeface="华文楷体" panose="02010600040101010101" pitchFamily="2" charset="-122"/>
                <a:ea typeface="华文楷体" panose="02010600040101010101" pitchFamily="2" charset="-122"/>
              </a:rPr>
              <a:t>CLIP</a:t>
            </a:r>
            <a:r>
              <a:rPr lang="zh-CN" altLang="en-US" sz="1600" b="1" dirty="0">
                <a:solidFill>
                  <a:schemeClr val="tx1"/>
                </a:solidFill>
                <a:latin typeface="华文楷体" panose="02010600040101010101" pitchFamily="2" charset="-122"/>
                <a:ea typeface="华文楷体" panose="02010600040101010101" pitchFamily="2" charset="-122"/>
              </a:rPr>
              <a:t>将视觉表示与其语言描述联系起来</a:t>
            </a:r>
            <a:endParaRPr lang="en-US" altLang="zh-CN" sz="1600" b="1" dirty="0">
              <a:solidFill>
                <a:schemeClr val="tx1"/>
              </a:solidFill>
              <a:latin typeface="华文楷体" panose="02010600040101010101" pitchFamily="2" charset="-122"/>
              <a:ea typeface="华文楷体" panose="02010600040101010101" pitchFamily="2" charset="-122"/>
            </a:endParaRPr>
          </a:p>
          <a:p>
            <a:pPr marL="342900" indent="-342900">
              <a:buFont typeface="Wingdings" panose="05000000000000000000" pitchFamily="2" charset="2"/>
              <a:buChar char="Ø"/>
            </a:pPr>
            <a:endParaRPr lang="en-US" altLang="zh-CN" sz="1600" b="1" dirty="0">
              <a:latin typeface="华文楷体" panose="02010600040101010101" pitchFamily="2" charset="-122"/>
              <a:ea typeface="华文楷体" panose="02010600040101010101" pitchFamily="2" charset="-122"/>
            </a:endParaRPr>
          </a:p>
          <a:p>
            <a:pPr marL="342900" indent="-342900">
              <a:buFont typeface="Wingdings" panose="05000000000000000000" pitchFamily="2" charset="2"/>
              <a:buChar char="Ø"/>
            </a:pPr>
            <a:endParaRPr lang="en-US" altLang="zh-CN" sz="1600" b="1" dirty="0">
              <a:solidFill>
                <a:schemeClr val="tx1"/>
              </a:solidFill>
              <a:latin typeface="华文楷体" panose="02010600040101010101" pitchFamily="2" charset="-122"/>
              <a:ea typeface="华文楷体" panose="02010600040101010101" pitchFamily="2" charset="-122"/>
            </a:endParaRPr>
          </a:p>
          <a:p>
            <a:pPr marL="342900" indent="-342900">
              <a:buFont typeface="Wingdings" panose="05000000000000000000" pitchFamily="2" charset="2"/>
              <a:buChar char="Ø"/>
            </a:pPr>
            <a:endParaRPr lang="en-US" altLang="zh-CN" sz="1600" b="1" dirty="0">
              <a:latin typeface="华文楷体" panose="02010600040101010101" pitchFamily="2" charset="-122"/>
              <a:ea typeface="华文楷体" panose="02010600040101010101" pitchFamily="2" charset="-122"/>
            </a:endParaRPr>
          </a:p>
          <a:p>
            <a:pPr marL="342900" indent="-342900">
              <a:buFont typeface="Wingdings" panose="05000000000000000000" pitchFamily="2" charset="2"/>
              <a:buChar char="Ø"/>
            </a:pPr>
            <a:endParaRPr lang="en-US" altLang="zh-CN" sz="1600" b="1" dirty="0">
              <a:solidFill>
                <a:schemeClr val="tx1"/>
              </a:solidFill>
              <a:latin typeface="华文楷体" panose="02010600040101010101" pitchFamily="2" charset="-122"/>
              <a:ea typeface="华文楷体" panose="02010600040101010101" pitchFamily="2" charset="-122"/>
            </a:endParaRPr>
          </a:p>
          <a:p>
            <a:pPr marL="342900" indent="-342900">
              <a:buFont typeface="Wingdings" panose="05000000000000000000" pitchFamily="2" charset="2"/>
              <a:buChar char="Ø"/>
            </a:pPr>
            <a:endParaRPr lang="en-US" altLang="zh-CN" sz="1600" b="1" dirty="0">
              <a:latin typeface="华文楷体" panose="02010600040101010101" pitchFamily="2" charset="-122"/>
              <a:ea typeface="华文楷体" panose="02010600040101010101" pitchFamily="2" charset="-122"/>
            </a:endParaRPr>
          </a:p>
          <a:p>
            <a:pPr marL="342900" indent="-342900">
              <a:buFont typeface="Wingdings" panose="05000000000000000000" pitchFamily="2" charset="2"/>
              <a:buChar char="Ø"/>
            </a:pPr>
            <a:endParaRPr lang="en-US" altLang="zh-CN" sz="1600" b="1" dirty="0">
              <a:solidFill>
                <a:schemeClr val="tx1"/>
              </a:solidFill>
              <a:latin typeface="华文楷体" panose="02010600040101010101" pitchFamily="2" charset="-122"/>
              <a:ea typeface="华文楷体" panose="02010600040101010101" pitchFamily="2" charset="-122"/>
            </a:endParaRPr>
          </a:p>
          <a:p>
            <a:endParaRPr lang="en-US" altLang="zh-CN" sz="1600" b="1" dirty="0">
              <a:latin typeface="华文楷体" panose="02010600040101010101" pitchFamily="2" charset="-122"/>
              <a:ea typeface="华文楷体" panose="02010600040101010101" pitchFamily="2" charset="-122"/>
            </a:endParaRPr>
          </a:p>
          <a:p>
            <a:pPr marL="342900" indent="-342900">
              <a:buFont typeface="Wingdings" panose="05000000000000000000" pitchFamily="2" charset="2"/>
              <a:buChar char="Ø"/>
            </a:pPr>
            <a:r>
              <a:rPr lang="en-US" altLang="zh-CN" sz="1600" b="1" dirty="0" err="1">
                <a:solidFill>
                  <a:schemeClr val="tx1"/>
                </a:solidFill>
                <a:latin typeface="华文楷体" panose="02010600040101010101" pitchFamily="2" charset="-122"/>
                <a:ea typeface="华文楷体" panose="02010600040101010101" pitchFamily="2" charset="-122"/>
              </a:rPr>
              <a:t>CoOp</a:t>
            </a:r>
            <a:r>
              <a:rPr lang="zh-CN" altLang="en-US" sz="1600" b="1" dirty="0">
                <a:latin typeface="华文楷体" panose="02010600040101010101" pitchFamily="2" charset="-122"/>
                <a:ea typeface="华文楷体" panose="02010600040101010101" pitchFamily="2" charset="-122"/>
              </a:rPr>
              <a:t>根据</a:t>
            </a:r>
            <a:r>
              <a:rPr lang="zh-CN" altLang="en-US" sz="1600" b="1" dirty="0">
                <a:solidFill>
                  <a:schemeClr val="tx1"/>
                </a:solidFill>
                <a:latin typeface="华文楷体" panose="02010600040101010101" pitchFamily="2" charset="-122"/>
                <a:ea typeface="华文楷体" panose="02010600040101010101" pitchFamily="2" charset="-122"/>
              </a:rPr>
              <a:t>不同的任务学习</a:t>
            </a:r>
            <a:r>
              <a:rPr lang="en-US" altLang="zh-CN" sz="1600" b="1" dirty="0">
                <a:solidFill>
                  <a:schemeClr val="tx1"/>
                </a:solidFill>
                <a:latin typeface="华文楷体" panose="02010600040101010101" pitchFamily="2" charset="-122"/>
                <a:ea typeface="华文楷体" panose="02010600040101010101" pitchFamily="2" charset="-122"/>
              </a:rPr>
              <a:t>Prompt</a:t>
            </a:r>
            <a:endParaRPr lang="zh-CN" altLang="en-US" sz="1600" b="1" dirty="0">
              <a:solidFill>
                <a:schemeClr val="tx1"/>
              </a:solidFill>
              <a:latin typeface="华文楷体" panose="02010600040101010101" pitchFamily="2" charset="-122"/>
              <a:ea typeface="华文楷体" panose="02010600040101010101" pitchFamily="2" charset="-122"/>
            </a:endParaRPr>
          </a:p>
        </p:txBody>
      </p:sp>
      <p:sp>
        <p:nvSpPr>
          <p:cNvPr id="2" name="标题 2">
            <a:extLst>
              <a:ext uri="{FF2B5EF4-FFF2-40B4-BE49-F238E27FC236}">
                <a16:creationId xmlns:a16="http://schemas.microsoft.com/office/drawing/2014/main" id="{CECD8093-1CA1-2B66-BF4A-1F5A64C3A8FF}"/>
              </a:ext>
            </a:extLst>
          </p:cNvPr>
          <p:cNvSpPr txBox="1">
            <a:spLocks/>
          </p:cNvSpPr>
          <p:nvPr/>
        </p:nvSpPr>
        <p:spPr>
          <a:xfrm>
            <a:off x="603157" y="356391"/>
            <a:ext cx="8229600" cy="11430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a:solidFill>
                  <a:schemeClr val="accent5">
                    <a:lumMod val="75000"/>
                  </a:schemeClr>
                </a:solidFill>
                <a:latin typeface="STKaiti" panose="02010600040101010101" charset="-122"/>
                <a:ea typeface="STKaiti" panose="02010600040101010101" charset="-122"/>
                <a:cs typeface="STKaiti" panose="02010600040101010101" charset="-122"/>
              </a:defRPr>
            </a:lvl1pPr>
          </a:lstStyle>
          <a:p>
            <a:pPr algn="ctr"/>
            <a:r>
              <a:rPr lang="en-US" altLang="zh-CN" sz="2800" b="1" dirty="0">
                <a:latin typeface="华文楷体" panose="02010600040101010101" pitchFamily="2" charset="-122"/>
                <a:ea typeface="华文楷体" panose="02010600040101010101" pitchFamily="2" charset="-122"/>
              </a:rPr>
              <a:t>CLIP-</a:t>
            </a:r>
            <a:r>
              <a:rPr lang="en-US" altLang="zh-CN" sz="2800" b="1" dirty="0" err="1">
                <a:latin typeface="华文楷体" panose="02010600040101010101" pitchFamily="2" charset="-122"/>
                <a:ea typeface="华文楷体" panose="02010600040101010101" pitchFamily="2" charset="-122"/>
              </a:rPr>
              <a:t>ReID</a:t>
            </a:r>
            <a:r>
              <a:rPr lang="zh-CN" altLang="en-US" sz="2800" b="1" dirty="0">
                <a:latin typeface="华文楷体" panose="02010600040101010101" pitchFamily="2" charset="-122"/>
                <a:ea typeface="华文楷体" panose="02010600040101010101" pitchFamily="2" charset="-122"/>
              </a:rPr>
              <a:t>首次在</a:t>
            </a:r>
            <a:r>
              <a:rPr lang="en-US" altLang="zh-CN" sz="2800" b="1" dirty="0" err="1">
                <a:latin typeface="华文楷体" panose="02010600040101010101" pitchFamily="2" charset="-122"/>
                <a:ea typeface="华文楷体" panose="02010600040101010101" pitchFamily="2" charset="-122"/>
              </a:rPr>
              <a:t>ReID</a:t>
            </a:r>
            <a:r>
              <a:rPr lang="zh-CN" altLang="en-US" sz="2800" b="1" dirty="0">
                <a:latin typeface="华文楷体" panose="02010600040101010101" pitchFamily="2" charset="-122"/>
                <a:ea typeface="华文楷体" panose="02010600040101010101" pitchFamily="2" charset="-122"/>
              </a:rPr>
              <a:t>任务中使用</a:t>
            </a:r>
            <a:r>
              <a:rPr lang="zh-CN" altLang="en-US" sz="2800" b="1" dirty="0">
                <a:solidFill>
                  <a:srgbClr val="FF0000"/>
                </a:solidFill>
                <a:latin typeface="华文楷体" panose="02010600040101010101" pitchFamily="2" charset="-122"/>
                <a:ea typeface="华文楷体" panose="02010600040101010101" pitchFamily="2" charset="-122"/>
              </a:rPr>
              <a:t>语言引导</a:t>
            </a:r>
            <a:endParaRPr kumimoji="1" lang="zh-CN" altLang="en-US" sz="2800" b="1" dirty="0">
              <a:solidFill>
                <a:srgbClr val="FF0000"/>
              </a:solidFill>
              <a:latin typeface="华文楷体" panose="02010600040101010101" pitchFamily="2" charset="-122"/>
              <a:ea typeface="华文楷体" panose="02010600040101010101" pitchFamily="2" charset="-122"/>
            </a:endParaRPr>
          </a:p>
        </p:txBody>
      </p:sp>
      <p:sp>
        <p:nvSpPr>
          <p:cNvPr id="11" name="Slide Number Placeholder 52">
            <a:extLst>
              <a:ext uri="{FF2B5EF4-FFF2-40B4-BE49-F238E27FC236}">
                <a16:creationId xmlns:a16="http://schemas.microsoft.com/office/drawing/2014/main" id="{9CDD3045-1D95-1FA9-AE26-7DEE132F10FE}"/>
              </a:ext>
            </a:extLst>
          </p:cNvPr>
          <p:cNvSpPr>
            <a:spLocks noGrp="1"/>
          </p:cNvSpPr>
          <p:nvPr>
            <p:ph type="sldNum" sz="quarter" idx="16"/>
          </p:nvPr>
        </p:nvSpPr>
        <p:spPr>
          <a:xfrm>
            <a:off x="6563064" y="6380959"/>
            <a:ext cx="2133600" cy="365125"/>
          </a:xfrm>
        </p:spPr>
        <p:txBody>
          <a:bodyPr/>
          <a:lstStyle/>
          <a:p>
            <a:pPr>
              <a:defRPr/>
            </a:pPr>
            <a:fld id="{D69E98CB-8E38-42BF-857B-65773CD3393B}" type="slidenum">
              <a:rPr lang="en-US" altLang="zh-CN" smtClean="0"/>
              <a:t>7</a:t>
            </a:fld>
            <a:endParaRPr lang="en-US" altLang="zh-CN" dirty="0"/>
          </a:p>
        </p:txBody>
      </p:sp>
      <p:pic>
        <p:nvPicPr>
          <p:cNvPr id="18" name="图片 17">
            <a:extLst>
              <a:ext uri="{FF2B5EF4-FFF2-40B4-BE49-F238E27FC236}">
                <a16:creationId xmlns:a16="http://schemas.microsoft.com/office/drawing/2014/main" id="{BDC814EB-E31D-C4DF-99E9-7F0102192143}"/>
              </a:ext>
            </a:extLst>
          </p:cNvPr>
          <p:cNvPicPr>
            <a:picLocks noChangeAspect="1"/>
          </p:cNvPicPr>
          <p:nvPr/>
        </p:nvPicPr>
        <p:blipFill>
          <a:blip r:embed="rId3"/>
          <a:srcRect t="3738"/>
          <a:stretch/>
        </p:blipFill>
        <p:spPr>
          <a:xfrm>
            <a:off x="1153012" y="1954680"/>
            <a:ext cx="2884169" cy="1555776"/>
          </a:xfrm>
          <a:prstGeom prst="rect">
            <a:avLst/>
          </a:prstGeom>
        </p:spPr>
      </p:pic>
      <p:pic>
        <p:nvPicPr>
          <p:cNvPr id="21" name="图片 20">
            <a:extLst>
              <a:ext uri="{FF2B5EF4-FFF2-40B4-BE49-F238E27FC236}">
                <a16:creationId xmlns:a16="http://schemas.microsoft.com/office/drawing/2014/main" id="{47668A86-5D08-F779-2B07-FB4826A223F1}"/>
              </a:ext>
            </a:extLst>
          </p:cNvPr>
          <p:cNvPicPr>
            <a:picLocks noChangeAspect="1"/>
          </p:cNvPicPr>
          <p:nvPr/>
        </p:nvPicPr>
        <p:blipFill>
          <a:blip r:embed="rId4"/>
          <a:stretch>
            <a:fillRect/>
          </a:stretch>
        </p:blipFill>
        <p:spPr>
          <a:xfrm>
            <a:off x="1329228" y="3884196"/>
            <a:ext cx="2850764" cy="1582465"/>
          </a:xfrm>
          <a:prstGeom prst="rect">
            <a:avLst/>
          </a:prstGeom>
        </p:spPr>
      </p:pic>
      <p:sp>
        <p:nvSpPr>
          <p:cNvPr id="28" name="右箭头 38">
            <a:extLst>
              <a:ext uri="{FF2B5EF4-FFF2-40B4-BE49-F238E27FC236}">
                <a16:creationId xmlns:a16="http://schemas.microsoft.com/office/drawing/2014/main" id="{C8110EFA-F8D9-D64A-1152-44EBE8F063E1}"/>
              </a:ext>
            </a:extLst>
          </p:cNvPr>
          <p:cNvSpPr/>
          <p:nvPr/>
        </p:nvSpPr>
        <p:spPr>
          <a:xfrm>
            <a:off x="4221566" y="3356953"/>
            <a:ext cx="375920" cy="224155"/>
          </a:xfrm>
          <a:prstGeom prst="rightArrow">
            <a:avLst/>
          </a:prstGeom>
          <a:solidFill>
            <a:schemeClr val="accent1">
              <a:lumMod val="60000"/>
              <a:lumOff val="40000"/>
            </a:schemeClr>
          </a:solidFill>
          <a:ln>
            <a:solidFill>
              <a:schemeClr val="accent1"/>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30" name="文本框 29">
            <a:extLst>
              <a:ext uri="{FF2B5EF4-FFF2-40B4-BE49-F238E27FC236}">
                <a16:creationId xmlns:a16="http://schemas.microsoft.com/office/drawing/2014/main" id="{C6AA44FA-12A6-4463-6969-CD862B82D140}"/>
              </a:ext>
            </a:extLst>
          </p:cNvPr>
          <p:cNvSpPr txBox="1"/>
          <p:nvPr/>
        </p:nvSpPr>
        <p:spPr>
          <a:xfrm>
            <a:off x="4739066" y="1575872"/>
            <a:ext cx="4049298" cy="2062103"/>
          </a:xfrm>
          <a:prstGeom prst="rect">
            <a:avLst/>
          </a:prstGeom>
          <a:noFill/>
        </p:spPr>
        <p:txBody>
          <a:bodyPr wrap="square" rtlCol="0" anchor="t">
            <a:spAutoFit/>
          </a:bodyPr>
          <a:lstStyle/>
          <a:p>
            <a:pPr marL="342900" indent="-342900">
              <a:buFont typeface="Wingdings" panose="05000000000000000000" pitchFamily="2" charset="2"/>
              <a:buChar char="Ø"/>
            </a:pPr>
            <a:r>
              <a:rPr lang="en-US" altLang="zh-CN" sz="1600" b="1" dirty="0">
                <a:solidFill>
                  <a:schemeClr val="tx1"/>
                </a:solidFill>
                <a:latin typeface="华文楷体" panose="02010600040101010101" pitchFamily="2" charset="-122"/>
                <a:ea typeface="华文楷体" panose="02010600040101010101" pitchFamily="2" charset="-122"/>
              </a:rPr>
              <a:t>CLIP-</a:t>
            </a:r>
            <a:r>
              <a:rPr lang="en-US" altLang="zh-CN" sz="1600" b="1" dirty="0" err="1">
                <a:solidFill>
                  <a:schemeClr val="tx1"/>
                </a:solidFill>
                <a:latin typeface="华文楷体" panose="02010600040101010101" pitchFamily="2" charset="-122"/>
                <a:ea typeface="华文楷体" panose="02010600040101010101" pitchFamily="2" charset="-122"/>
              </a:rPr>
              <a:t>ReID</a:t>
            </a:r>
            <a:endParaRPr lang="en-US" altLang="zh-CN" sz="1600" b="1" dirty="0">
              <a:solidFill>
                <a:schemeClr val="tx1"/>
              </a:solidFill>
              <a:latin typeface="华文楷体" panose="02010600040101010101" pitchFamily="2" charset="-122"/>
              <a:ea typeface="华文楷体" panose="02010600040101010101" pitchFamily="2" charset="-122"/>
            </a:endParaRPr>
          </a:p>
          <a:p>
            <a:pPr marL="342900" indent="-342900">
              <a:buFont typeface="Wingdings" panose="05000000000000000000" pitchFamily="2" charset="2"/>
              <a:buChar char="Ø"/>
            </a:pPr>
            <a:endParaRPr lang="en-US" altLang="zh-CN" sz="1600" b="1" dirty="0">
              <a:latin typeface="华文楷体" panose="02010600040101010101" pitchFamily="2" charset="-122"/>
              <a:ea typeface="华文楷体" panose="02010600040101010101" pitchFamily="2" charset="-122"/>
            </a:endParaRPr>
          </a:p>
          <a:p>
            <a:pPr marL="342900" indent="-342900">
              <a:buFont typeface="Wingdings" panose="05000000000000000000" pitchFamily="2" charset="2"/>
              <a:buChar char="Ø"/>
            </a:pPr>
            <a:endParaRPr lang="en-US" altLang="zh-CN" sz="1600" b="1" dirty="0">
              <a:solidFill>
                <a:schemeClr val="tx1"/>
              </a:solidFill>
              <a:latin typeface="华文楷体" panose="02010600040101010101" pitchFamily="2" charset="-122"/>
              <a:ea typeface="华文楷体" panose="02010600040101010101" pitchFamily="2" charset="-122"/>
            </a:endParaRPr>
          </a:p>
          <a:p>
            <a:pPr marL="342900" indent="-342900">
              <a:buFont typeface="Wingdings" panose="05000000000000000000" pitchFamily="2" charset="2"/>
              <a:buChar char="Ø"/>
            </a:pPr>
            <a:endParaRPr lang="en-US" altLang="zh-CN" sz="1600" b="1" dirty="0">
              <a:latin typeface="华文楷体" panose="02010600040101010101" pitchFamily="2" charset="-122"/>
              <a:ea typeface="华文楷体" panose="02010600040101010101" pitchFamily="2" charset="-122"/>
            </a:endParaRPr>
          </a:p>
          <a:p>
            <a:pPr marL="342900" indent="-342900">
              <a:buFont typeface="Wingdings" panose="05000000000000000000" pitchFamily="2" charset="2"/>
              <a:buChar char="Ø"/>
            </a:pPr>
            <a:endParaRPr lang="en-US" altLang="zh-CN" sz="1600" b="1" dirty="0">
              <a:solidFill>
                <a:schemeClr val="tx1"/>
              </a:solidFill>
              <a:latin typeface="华文楷体" panose="02010600040101010101" pitchFamily="2" charset="-122"/>
              <a:ea typeface="华文楷体" panose="02010600040101010101" pitchFamily="2" charset="-122"/>
            </a:endParaRPr>
          </a:p>
          <a:p>
            <a:pPr marL="342900" indent="-342900">
              <a:buFont typeface="Wingdings" panose="05000000000000000000" pitchFamily="2" charset="2"/>
              <a:buChar char="Ø"/>
            </a:pPr>
            <a:endParaRPr lang="en-US" altLang="zh-CN" sz="1600" b="1" dirty="0">
              <a:latin typeface="华文楷体" panose="02010600040101010101" pitchFamily="2" charset="-122"/>
              <a:ea typeface="华文楷体" panose="02010600040101010101" pitchFamily="2" charset="-122"/>
            </a:endParaRPr>
          </a:p>
          <a:p>
            <a:pPr marL="342900" indent="-342900">
              <a:buFont typeface="Wingdings" panose="05000000000000000000" pitchFamily="2" charset="2"/>
              <a:buChar char="Ø"/>
            </a:pPr>
            <a:endParaRPr lang="en-US" altLang="zh-CN" sz="1600" b="1" dirty="0">
              <a:solidFill>
                <a:schemeClr val="tx1"/>
              </a:solidFill>
              <a:latin typeface="华文楷体" panose="02010600040101010101" pitchFamily="2" charset="-122"/>
              <a:ea typeface="华文楷体" panose="02010600040101010101" pitchFamily="2" charset="-122"/>
            </a:endParaRPr>
          </a:p>
          <a:p>
            <a:pPr marL="342900" indent="-342900">
              <a:buFont typeface="Wingdings" panose="05000000000000000000" pitchFamily="2" charset="2"/>
              <a:buChar char="Ø"/>
            </a:pPr>
            <a:endParaRPr lang="en-US" altLang="zh-CN" sz="1600" b="1" dirty="0">
              <a:latin typeface="华文楷体" panose="02010600040101010101" pitchFamily="2" charset="-122"/>
              <a:ea typeface="华文楷体" panose="02010600040101010101" pitchFamily="2" charset="-122"/>
            </a:endParaRPr>
          </a:p>
        </p:txBody>
      </p:sp>
      <p:pic>
        <p:nvPicPr>
          <p:cNvPr id="31" name="图片 30">
            <a:extLst>
              <a:ext uri="{FF2B5EF4-FFF2-40B4-BE49-F238E27FC236}">
                <a16:creationId xmlns:a16="http://schemas.microsoft.com/office/drawing/2014/main" id="{86EFE314-65CE-43A2-0188-FD719837B0E8}"/>
              </a:ext>
            </a:extLst>
          </p:cNvPr>
          <p:cNvPicPr>
            <a:picLocks noChangeAspect="1"/>
          </p:cNvPicPr>
          <p:nvPr/>
        </p:nvPicPr>
        <p:blipFill>
          <a:blip r:embed="rId5"/>
          <a:srcRect r="2801"/>
          <a:stretch/>
        </p:blipFill>
        <p:spPr>
          <a:xfrm>
            <a:off x="4739066" y="1876886"/>
            <a:ext cx="3703492" cy="3522177"/>
          </a:xfrm>
          <a:prstGeom prst="rect">
            <a:avLst/>
          </a:prstGeom>
        </p:spPr>
      </p:pic>
      <p:sp>
        <p:nvSpPr>
          <p:cNvPr id="32" name="矩形 31">
            <a:extLst>
              <a:ext uri="{FF2B5EF4-FFF2-40B4-BE49-F238E27FC236}">
                <a16:creationId xmlns:a16="http://schemas.microsoft.com/office/drawing/2014/main" id="{1FA4C065-98F6-AA28-781F-15EFE32C6D57}"/>
              </a:ext>
            </a:extLst>
          </p:cNvPr>
          <p:cNvSpPr/>
          <p:nvPr/>
        </p:nvSpPr>
        <p:spPr>
          <a:xfrm>
            <a:off x="648826" y="1477774"/>
            <a:ext cx="7793732" cy="4055325"/>
          </a:xfrm>
          <a:prstGeom prst="rect">
            <a:avLst/>
          </a:prstGeom>
          <a:noFill/>
          <a:ln w="19050">
            <a:solidFill>
              <a:schemeClr val="accent1"/>
            </a:solidFill>
            <a:prstDash val="lg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文本框 32">
            <a:extLst>
              <a:ext uri="{FF2B5EF4-FFF2-40B4-BE49-F238E27FC236}">
                <a16:creationId xmlns:a16="http://schemas.microsoft.com/office/drawing/2014/main" id="{23AFA2A5-E784-4A2C-EDE5-E5AB8D2882E5}"/>
              </a:ext>
            </a:extLst>
          </p:cNvPr>
          <p:cNvSpPr txBox="1"/>
          <p:nvPr/>
        </p:nvSpPr>
        <p:spPr>
          <a:xfrm>
            <a:off x="603157" y="5609580"/>
            <a:ext cx="5671745" cy="1366528"/>
          </a:xfrm>
          <a:prstGeom prst="rect">
            <a:avLst/>
          </a:prstGeom>
          <a:noFill/>
        </p:spPr>
        <p:txBody>
          <a:bodyPr wrap="none" rtlCol="0" anchor="t">
            <a:spAutoFit/>
          </a:bodyPr>
          <a:lstStyle/>
          <a:p>
            <a:pPr>
              <a:lnSpc>
                <a:spcPct val="130000"/>
              </a:lnSpc>
            </a:pPr>
            <a:r>
              <a:rPr lang="en-US" altLang="zh-CN" b="1" dirty="0">
                <a:solidFill>
                  <a:srgbClr val="FF0000"/>
                </a:solidFill>
                <a:latin typeface="STKaiti" panose="02010600040101010101" charset="-122"/>
                <a:ea typeface="STKaiti" panose="02010600040101010101" charset="-122"/>
                <a:sym typeface="+mn-ea"/>
              </a:rPr>
              <a:t>Stage 1</a:t>
            </a:r>
            <a:r>
              <a:rPr lang="zh-CN" altLang="en-US" b="1" dirty="0">
                <a:solidFill>
                  <a:srgbClr val="FF0000"/>
                </a:solidFill>
                <a:latin typeface="STKaiti" panose="02010600040101010101" charset="-122"/>
                <a:ea typeface="STKaiti" panose="02010600040101010101" charset="-122"/>
                <a:sym typeface="+mn-ea"/>
              </a:rPr>
              <a:t>：</a:t>
            </a:r>
            <a:r>
              <a:rPr lang="zh-CN" altLang="en-US" b="1" dirty="0">
                <a:latin typeface="STKaiti" panose="02010600040101010101" charset="-122"/>
                <a:ea typeface="STKaiti" panose="02010600040101010101" charset="-122"/>
                <a:sym typeface="+mn-ea"/>
              </a:rPr>
              <a:t>通过冻结的</a:t>
            </a:r>
            <a:r>
              <a:rPr lang="en-US" altLang="zh-CN" b="1" dirty="0">
                <a:latin typeface="STKaiti" panose="02010600040101010101" charset="-122"/>
                <a:ea typeface="STKaiti" panose="02010600040101010101" charset="-122"/>
                <a:sym typeface="+mn-ea"/>
              </a:rPr>
              <a:t>CLIP</a:t>
            </a:r>
            <a:r>
              <a:rPr lang="zh-CN" altLang="en-US" b="1" dirty="0">
                <a:latin typeface="STKaiti" panose="02010600040101010101" charset="-122"/>
                <a:ea typeface="STKaiti" panose="02010600040101010101" charset="-122"/>
                <a:sym typeface="+mn-ea"/>
              </a:rPr>
              <a:t>模型来优化可学习的</a:t>
            </a:r>
            <a:r>
              <a:rPr lang="en-US" altLang="zh-CN" b="1" dirty="0">
                <a:latin typeface="STKaiti" panose="02010600040101010101" charset="-122"/>
                <a:ea typeface="STKaiti" panose="02010600040101010101" charset="-122"/>
                <a:sym typeface="+mn-ea"/>
              </a:rPr>
              <a:t>prompt</a:t>
            </a:r>
          </a:p>
          <a:p>
            <a:pPr>
              <a:lnSpc>
                <a:spcPct val="130000"/>
              </a:lnSpc>
            </a:pPr>
            <a:r>
              <a:rPr lang="en-US" altLang="zh-CN" b="1" dirty="0">
                <a:solidFill>
                  <a:srgbClr val="FF0000"/>
                </a:solidFill>
                <a:latin typeface="STKaiti" panose="02010600040101010101" charset="-122"/>
                <a:ea typeface="STKaiti" panose="02010600040101010101" charset="-122"/>
                <a:sym typeface="+mn-ea"/>
              </a:rPr>
              <a:t>Stage 2</a:t>
            </a:r>
            <a:r>
              <a:rPr lang="zh-CN" altLang="en-US" b="1" dirty="0">
                <a:solidFill>
                  <a:srgbClr val="FF0000"/>
                </a:solidFill>
                <a:latin typeface="STKaiti" panose="02010600040101010101" charset="-122"/>
                <a:ea typeface="STKaiti" panose="02010600040101010101" charset="-122"/>
                <a:sym typeface="+mn-ea"/>
              </a:rPr>
              <a:t>：</a:t>
            </a:r>
            <a:r>
              <a:rPr lang="zh-CN" altLang="en-US" b="1" dirty="0">
                <a:latin typeface="STKaiti" panose="02010600040101010101" charset="-122"/>
                <a:ea typeface="STKaiti" panose="02010600040101010101" charset="-122"/>
                <a:sym typeface="+mn-ea"/>
              </a:rPr>
              <a:t>固定学习到的文本描述来限制训练图像编码器</a:t>
            </a:r>
            <a:endParaRPr lang="en-US" altLang="zh-CN" b="1" dirty="0">
              <a:latin typeface="STKaiti" panose="02010600040101010101" charset="-122"/>
              <a:ea typeface="STKaiti" panose="02010600040101010101" charset="-122"/>
              <a:sym typeface="+mn-ea"/>
            </a:endParaRPr>
          </a:p>
          <a:p>
            <a:pPr marL="285750" indent="-285750">
              <a:buFont typeface="Wingdings" panose="05000000000000000000" pitchFamily="2" charset="2"/>
              <a:buChar char="p"/>
            </a:pPr>
            <a:endParaRPr lang="en-US" altLang="zh-CN" b="1" dirty="0">
              <a:solidFill>
                <a:srgbClr val="FF0000"/>
              </a:solidFill>
              <a:latin typeface="STKaiti" panose="02010600040101010101" charset="-122"/>
              <a:ea typeface="STKaiti" panose="02010600040101010101" charset="-122"/>
              <a:sym typeface="+mn-ea"/>
            </a:endParaRPr>
          </a:p>
          <a:p>
            <a:pPr marL="285750" indent="-285750">
              <a:buFont typeface="Wingdings" panose="05000000000000000000" pitchFamily="2" charset="2"/>
              <a:buChar char="p"/>
            </a:pPr>
            <a:endParaRPr lang="zh-CN" altLang="en-US" b="1" dirty="0">
              <a:solidFill>
                <a:srgbClr val="FF0000"/>
              </a:solidFill>
              <a:latin typeface="STKaiti" panose="02010600040101010101" charset="-122"/>
              <a:ea typeface="STKaiti" panose="02010600040101010101" charset="-122"/>
              <a:sym typeface="+mn-ea"/>
            </a:endParaRPr>
          </a:p>
        </p:txBody>
      </p:sp>
    </p:spTree>
    <p:extLst>
      <p:ext uri="{BB962C8B-B14F-4D97-AF65-F5344CB8AC3E}">
        <p14:creationId xmlns:p14="http://schemas.microsoft.com/office/powerpoint/2010/main" val="2867582704"/>
      </p:ext>
    </p:extLst>
  </p:cSld>
  <p:clrMapOvr>
    <a:masterClrMapping/>
  </p:clrMapOvr>
  <mc:AlternateContent xmlns:mc="http://schemas.openxmlformats.org/markup-compatibility/2006" xmlns:p14="http://schemas.microsoft.com/office/powerpoint/2010/main">
    <mc:Choice Requires="p14">
      <p:transition spd="slow" p14:dur="2000" advTm="44214"/>
    </mc:Choice>
    <mc:Fallback xmlns="">
      <p:transition spd="slow" advTm="44214"/>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EBFC0B-2982-A27E-3B1C-32FD35B07558}"/>
            </a:ext>
          </a:extLst>
        </p:cNvPr>
        <p:cNvGrpSpPr/>
        <p:nvPr/>
      </p:nvGrpSpPr>
      <p:grpSpPr>
        <a:xfrm>
          <a:off x="0" y="0"/>
          <a:ext cx="0" cy="0"/>
          <a:chOff x="0" y="0"/>
          <a:chExt cx="0" cy="0"/>
        </a:xfrm>
      </p:grpSpPr>
      <p:sp>
        <p:nvSpPr>
          <p:cNvPr id="12" name="文本框 11">
            <a:extLst>
              <a:ext uri="{FF2B5EF4-FFF2-40B4-BE49-F238E27FC236}">
                <a16:creationId xmlns:a16="http://schemas.microsoft.com/office/drawing/2014/main" id="{0E9016B6-0AA1-64FD-CCE3-C4496A283F6F}"/>
              </a:ext>
            </a:extLst>
          </p:cNvPr>
          <p:cNvSpPr txBox="1"/>
          <p:nvPr/>
        </p:nvSpPr>
        <p:spPr>
          <a:xfrm>
            <a:off x="406464" y="2658431"/>
            <a:ext cx="2091911" cy="3046988"/>
          </a:xfrm>
          <a:prstGeom prst="rect">
            <a:avLst/>
          </a:prstGeom>
          <a:noFill/>
        </p:spPr>
        <p:txBody>
          <a:bodyPr wrap="square" rtlCol="0" anchor="t">
            <a:spAutoFit/>
          </a:bodyPr>
          <a:lstStyle/>
          <a:p>
            <a:pPr marL="342900" indent="-342900">
              <a:buFont typeface="Wingdings" panose="05000000000000000000" pitchFamily="2" charset="2"/>
              <a:buChar char="Ø"/>
            </a:pPr>
            <a:r>
              <a:rPr lang="zh-CN" altLang="en-US" sz="1600" b="1" dirty="0">
                <a:solidFill>
                  <a:schemeClr val="tx1"/>
                </a:solidFill>
                <a:latin typeface="华文楷体" panose="02010600040101010101" pitchFamily="2" charset="-122"/>
                <a:ea typeface="华文楷体" panose="02010600040101010101" pitchFamily="2" charset="-122"/>
              </a:rPr>
              <a:t>域可泛化性</a:t>
            </a:r>
            <a:r>
              <a:rPr lang="en-US" altLang="zh-CN" sz="1600" b="1" dirty="0" err="1">
                <a:latin typeface="华文楷体" panose="02010600040101010101" pitchFamily="2" charset="-122"/>
                <a:ea typeface="华文楷体" panose="02010600040101010101" pitchFamily="2" charset="-122"/>
              </a:rPr>
              <a:t>ReID</a:t>
            </a:r>
            <a:endParaRPr lang="en-US" altLang="zh-CN" sz="1600" b="1" dirty="0">
              <a:latin typeface="华文楷体" panose="02010600040101010101" pitchFamily="2" charset="-122"/>
              <a:ea typeface="华文楷体" panose="02010600040101010101" pitchFamily="2" charset="-122"/>
            </a:endParaRPr>
          </a:p>
          <a:p>
            <a:pPr marL="342900" indent="-342900">
              <a:buFont typeface="Wingdings" panose="05000000000000000000" pitchFamily="2" charset="2"/>
              <a:buChar char="Ø"/>
            </a:pPr>
            <a:endParaRPr lang="en-US" altLang="zh-CN" sz="1600" b="1" dirty="0">
              <a:solidFill>
                <a:schemeClr val="tx1"/>
              </a:solidFill>
              <a:latin typeface="华文楷体" panose="02010600040101010101" pitchFamily="2" charset="-122"/>
              <a:ea typeface="华文楷体" panose="02010600040101010101" pitchFamily="2" charset="-122"/>
            </a:endParaRPr>
          </a:p>
          <a:p>
            <a:endParaRPr lang="en-US" altLang="zh-CN" sz="1600" b="1" dirty="0">
              <a:latin typeface="华文楷体" panose="02010600040101010101" pitchFamily="2" charset="-122"/>
              <a:ea typeface="华文楷体" panose="02010600040101010101" pitchFamily="2" charset="-122"/>
            </a:endParaRPr>
          </a:p>
          <a:p>
            <a:endParaRPr lang="en-US" altLang="zh-CN" sz="1600" b="1" dirty="0">
              <a:latin typeface="华文楷体" panose="02010600040101010101" pitchFamily="2" charset="-122"/>
              <a:ea typeface="华文楷体" panose="02010600040101010101" pitchFamily="2" charset="-122"/>
            </a:endParaRPr>
          </a:p>
          <a:p>
            <a:endParaRPr lang="en-US" altLang="zh-CN" sz="1600" b="1" dirty="0">
              <a:latin typeface="华文楷体" panose="02010600040101010101" pitchFamily="2" charset="-122"/>
              <a:ea typeface="华文楷体" panose="02010600040101010101" pitchFamily="2" charset="-122"/>
            </a:endParaRPr>
          </a:p>
          <a:p>
            <a:endParaRPr lang="en-US" altLang="zh-CN" sz="1600" b="1" dirty="0">
              <a:latin typeface="华文楷体" panose="02010600040101010101" pitchFamily="2" charset="-122"/>
              <a:ea typeface="华文楷体" panose="02010600040101010101" pitchFamily="2" charset="-122"/>
            </a:endParaRPr>
          </a:p>
          <a:p>
            <a:pPr marL="342900" indent="-342900">
              <a:buFont typeface="Wingdings" panose="05000000000000000000" pitchFamily="2" charset="2"/>
              <a:buChar char="Ø"/>
            </a:pPr>
            <a:r>
              <a:rPr lang="zh-CN" altLang="en-US" sz="1600" b="1" dirty="0">
                <a:latin typeface="华文楷体" panose="02010600040101010101" pitchFamily="2" charset="-122"/>
                <a:ea typeface="华文楷体" panose="02010600040101010101" pitchFamily="2" charset="-122"/>
              </a:rPr>
              <a:t>换装</a:t>
            </a:r>
            <a:r>
              <a:rPr lang="en-US" altLang="zh-CN" sz="1600" b="1" dirty="0" err="1">
                <a:latin typeface="华文楷体" panose="02010600040101010101" pitchFamily="2" charset="-122"/>
                <a:ea typeface="华文楷体" panose="02010600040101010101" pitchFamily="2" charset="-122"/>
              </a:rPr>
              <a:t>ReID</a:t>
            </a:r>
            <a:endParaRPr lang="en-US" altLang="zh-CN" sz="1600" b="1" dirty="0">
              <a:latin typeface="华文楷体" panose="02010600040101010101" pitchFamily="2" charset="-122"/>
              <a:ea typeface="华文楷体" panose="02010600040101010101" pitchFamily="2" charset="-122"/>
            </a:endParaRPr>
          </a:p>
          <a:p>
            <a:pPr marL="342900" indent="-342900">
              <a:buFont typeface="Wingdings" panose="05000000000000000000" pitchFamily="2" charset="2"/>
              <a:buChar char="Ø"/>
            </a:pPr>
            <a:endParaRPr lang="en-US" altLang="zh-CN" sz="1600" b="1" dirty="0">
              <a:solidFill>
                <a:schemeClr val="tx1"/>
              </a:solidFill>
              <a:latin typeface="华文楷体" panose="02010600040101010101" pitchFamily="2" charset="-122"/>
              <a:ea typeface="华文楷体" panose="02010600040101010101" pitchFamily="2" charset="-122"/>
            </a:endParaRPr>
          </a:p>
          <a:p>
            <a:pPr marL="342900" indent="-342900">
              <a:buFont typeface="Wingdings" panose="05000000000000000000" pitchFamily="2" charset="2"/>
              <a:buChar char="Ø"/>
            </a:pPr>
            <a:endParaRPr lang="en-US" altLang="zh-CN" sz="1600" b="1" dirty="0">
              <a:latin typeface="华文楷体" panose="02010600040101010101" pitchFamily="2" charset="-122"/>
              <a:ea typeface="华文楷体" panose="02010600040101010101" pitchFamily="2" charset="-122"/>
            </a:endParaRPr>
          </a:p>
          <a:p>
            <a:endParaRPr lang="en-US" altLang="zh-CN" sz="1600" b="1" dirty="0">
              <a:latin typeface="华文楷体" panose="02010600040101010101" pitchFamily="2" charset="-122"/>
              <a:ea typeface="华文楷体" panose="02010600040101010101" pitchFamily="2" charset="-122"/>
            </a:endParaRPr>
          </a:p>
          <a:p>
            <a:pPr marL="342900" indent="-342900">
              <a:buFont typeface="Wingdings" panose="05000000000000000000" pitchFamily="2" charset="2"/>
              <a:buChar char="Ø"/>
            </a:pPr>
            <a:endParaRPr lang="en-US" altLang="zh-CN" sz="1600" b="1" dirty="0">
              <a:latin typeface="华文楷体" panose="02010600040101010101" pitchFamily="2" charset="-122"/>
              <a:ea typeface="华文楷体" panose="02010600040101010101" pitchFamily="2" charset="-122"/>
            </a:endParaRPr>
          </a:p>
          <a:p>
            <a:pPr marL="342900" indent="-342900">
              <a:buFont typeface="Wingdings" panose="05000000000000000000" pitchFamily="2" charset="2"/>
              <a:buChar char="Ø"/>
            </a:pPr>
            <a:r>
              <a:rPr lang="zh-CN" altLang="en-US" sz="1600" b="1" dirty="0">
                <a:latin typeface="华文楷体" panose="02010600040101010101" pitchFamily="2" charset="-122"/>
                <a:ea typeface="华文楷体" panose="02010600040101010101" pitchFamily="2" charset="-122"/>
              </a:rPr>
              <a:t>可见光</a:t>
            </a:r>
            <a:r>
              <a:rPr lang="en-US" altLang="zh-CN" sz="1600" b="1" dirty="0">
                <a:latin typeface="华文楷体" panose="02010600040101010101" pitchFamily="2" charset="-122"/>
                <a:ea typeface="华文楷体" panose="02010600040101010101" pitchFamily="2" charset="-122"/>
              </a:rPr>
              <a:t>-</a:t>
            </a:r>
            <a:r>
              <a:rPr lang="zh-CN" altLang="en-US" sz="1600" b="1" dirty="0">
                <a:latin typeface="华文楷体" panose="02010600040101010101" pitchFamily="2" charset="-122"/>
                <a:ea typeface="华文楷体" panose="02010600040101010101" pitchFamily="2" charset="-122"/>
              </a:rPr>
              <a:t>红外</a:t>
            </a:r>
            <a:r>
              <a:rPr lang="en-US" altLang="zh-CN" sz="1600" b="1" dirty="0" err="1">
                <a:latin typeface="华文楷体" panose="02010600040101010101" pitchFamily="2" charset="-122"/>
                <a:ea typeface="华文楷体" panose="02010600040101010101" pitchFamily="2" charset="-122"/>
              </a:rPr>
              <a:t>ReID</a:t>
            </a:r>
            <a:endParaRPr lang="en-US" altLang="zh-CN" sz="1600" b="1" dirty="0">
              <a:latin typeface="华文楷体" panose="02010600040101010101" pitchFamily="2" charset="-122"/>
              <a:ea typeface="华文楷体" panose="02010600040101010101" pitchFamily="2" charset="-122"/>
            </a:endParaRPr>
          </a:p>
        </p:txBody>
      </p:sp>
      <p:sp>
        <p:nvSpPr>
          <p:cNvPr id="2" name="标题 2">
            <a:extLst>
              <a:ext uri="{FF2B5EF4-FFF2-40B4-BE49-F238E27FC236}">
                <a16:creationId xmlns:a16="http://schemas.microsoft.com/office/drawing/2014/main" id="{FD7FBB09-C3B3-4ADB-6DDC-E94578E825A3}"/>
              </a:ext>
            </a:extLst>
          </p:cNvPr>
          <p:cNvSpPr txBox="1">
            <a:spLocks/>
          </p:cNvSpPr>
          <p:nvPr/>
        </p:nvSpPr>
        <p:spPr>
          <a:xfrm>
            <a:off x="603157" y="356391"/>
            <a:ext cx="8229600" cy="11430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a:solidFill>
                  <a:schemeClr val="accent5">
                    <a:lumMod val="75000"/>
                  </a:schemeClr>
                </a:solidFill>
                <a:latin typeface="STKaiti" panose="02010600040101010101" charset="-122"/>
                <a:ea typeface="STKaiti" panose="02010600040101010101" charset="-122"/>
                <a:cs typeface="STKaiti" panose="02010600040101010101" charset="-122"/>
              </a:defRPr>
            </a:lvl1pPr>
          </a:lstStyle>
          <a:p>
            <a:pPr algn="ctr"/>
            <a:r>
              <a:rPr lang="zh-CN" altLang="en-US" sz="2800" b="1" dirty="0">
                <a:latin typeface="华文楷体" panose="02010600040101010101" pitchFamily="2" charset="-122"/>
                <a:ea typeface="华文楷体" panose="02010600040101010101" pitchFamily="2" charset="-122"/>
              </a:rPr>
              <a:t>语言引导方法应用在</a:t>
            </a:r>
            <a:r>
              <a:rPr lang="en-US" altLang="zh-CN" sz="2800" b="1" dirty="0" err="1">
                <a:latin typeface="华文楷体" panose="02010600040101010101" pitchFamily="2" charset="-122"/>
                <a:ea typeface="华文楷体" panose="02010600040101010101" pitchFamily="2" charset="-122"/>
              </a:rPr>
              <a:t>ReID</a:t>
            </a:r>
            <a:r>
              <a:rPr lang="zh-CN" altLang="en-US" sz="2800" b="1" dirty="0">
                <a:latin typeface="华文楷体" panose="02010600040101010101" pitchFamily="2" charset="-122"/>
                <a:ea typeface="华文楷体" panose="02010600040101010101" pitchFamily="2" charset="-122"/>
              </a:rPr>
              <a:t>任务上的相关工作</a:t>
            </a:r>
            <a:endParaRPr kumimoji="1" lang="zh-CN" altLang="en-US" sz="2800" b="1" dirty="0">
              <a:latin typeface="华文楷体" panose="02010600040101010101" pitchFamily="2" charset="-122"/>
              <a:ea typeface="华文楷体" panose="02010600040101010101" pitchFamily="2" charset="-122"/>
            </a:endParaRPr>
          </a:p>
        </p:txBody>
      </p:sp>
      <p:sp>
        <p:nvSpPr>
          <p:cNvPr id="11" name="Slide Number Placeholder 52">
            <a:extLst>
              <a:ext uri="{FF2B5EF4-FFF2-40B4-BE49-F238E27FC236}">
                <a16:creationId xmlns:a16="http://schemas.microsoft.com/office/drawing/2014/main" id="{9E793AFC-AA6A-FDEA-D0B5-5D10F3BDDB25}"/>
              </a:ext>
            </a:extLst>
          </p:cNvPr>
          <p:cNvSpPr>
            <a:spLocks noGrp="1"/>
          </p:cNvSpPr>
          <p:nvPr>
            <p:ph type="sldNum" sz="quarter" idx="16"/>
          </p:nvPr>
        </p:nvSpPr>
        <p:spPr>
          <a:xfrm>
            <a:off x="6563064" y="6380959"/>
            <a:ext cx="2133600" cy="365125"/>
          </a:xfrm>
        </p:spPr>
        <p:txBody>
          <a:bodyPr/>
          <a:lstStyle/>
          <a:p>
            <a:pPr>
              <a:defRPr/>
            </a:pPr>
            <a:fld id="{D69E98CB-8E38-42BF-857B-65773CD3393B}" type="slidenum">
              <a:rPr lang="en-US" altLang="zh-CN" smtClean="0"/>
              <a:t>8</a:t>
            </a:fld>
            <a:endParaRPr lang="en-US" altLang="zh-CN" dirty="0"/>
          </a:p>
        </p:txBody>
      </p:sp>
      <p:grpSp>
        <p:nvGrpSpPr>
          <p:cNvPr id="43" name="组合 42">
            <a:extLst>
              <a:ext uri="{FF2B5EF4-FFF2-40B4-BE49-F238E27FC236}">
                <a16:creationId xmlns:a16="http://schemas.microsoft.com/office/drawing/2014/main" id="{EFAF2D66-1B8F-145B-5544-1508B7F597DB}"/>
              </a:ext>
            </a:extLst>
          </p:cNvPr>
          <p:cNvGrpSpPr/>
          <p:nvPr/>
        </p:nvGrpSpPr>
        <p:grpSpPr>
          <a:xfrm>
            <a:off x="2507342" y="1921782"/>
            <a:ext cx="3091060" cy="1354819"/>
            <a:chOff x="2869945" y="1950041"/>
            <a:chExt cx="3222100" cy="1412254"/>
          </a:xfrm>
        </p:grpSpPr>
        <p:pic>
          <p:nvPicPr>
            <p:cNvPr id="5" name="图片 4">
              <a:extLst>
                <a:ext uri="{FF2B5EF4-FFF2-40B4-BE49-F238E27FC236}">
                  <a16:creationId xmlns:a16="http://schemas.microsoft.com/office/drawing/2014/main" id="{9B3B879F-7CE8-B390-7F87-7951C6C6418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26487" y="2468635"/>
              <a:ext cx="445970" cy="891940"/>
            </a:xfrm>
            <a:prstGeom prst="rect">
              <a:avLst/>
            </a:prstGeom>
          </p:spPr>
        </p:pic>
        <p:pic>
          <p:nvPicPr>
            <p:cNvPr id="13" name="图片 12">
              <a:extLst>
                <a:ext uri="{FF2B5EF4-FFF2-40B4-BE49-F238E27FC236}">
                  <a16:creationId xmlns:a16="http://schemas.microsoft.com/office/drawing/2014/main" id="{9FA7E021-1080-9A43-EF34-829C32919A2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656758" y="2469495"/>
              <a:ext cx="355200" cy="892800"/>
            </a:xfrm>
            <a:prstGeom prst="rect">
              <a:avLst/>
            </a:prstGeom>
          </p:spPr>
        </p:pic>
        <p:sp>
          <p:nvSpPr>
            <p:cNvPr id="15" name="文本框 14">
              <a:extLst>
                <a:ext uri="{FF2B5EF4-FFF2-40B4-BE49-F238E27FC236}">
                  <a16:creationId xmlns:a16="http://schemas.microsoft.com/office/drawing/2014/main" id="{C5AE6D1B-8D98-944D-BCD8-44B6A9BCA32B}"/>
                </a:ext>
              </a:extLst>
            </p:cNvPr>
            <p:cNvSpPr txBox="1"/>
            <p:nvPr/>
          </p:nvSpPr>
          <p:spPr>
            <a:xfrm>
              <a:off x="2929745" y="1988142"/>
              <a:ext cx="1428750" cy="320825"/>
            </a:xfrm>
            <a:prstGeom prst="rect">
              <a:avLst/>
            </a:prstGeom>
            <a:noFill/>
          </p:spPr>
          <p:txBody>
            <a:bodyPr wrap="square" rtlCol="0">
              <a:spAutoFit/>
            </a:bodyPr>
            <a:lstStyle/>
            <a:p>
              <a:r>
                <a:rPr lang="en-US" altLang="zh-CN" sz="1400" b="1" dirty="0"/>
                <a:t>Train: Dataset1</a:t>
              </a:r>
              <a:endParaRPr lang="zh-CN" altLang="en-US" sz="1400" b="1" dirty="0"/>
            </a:p>
          </p:txBody>
        </p:sp>
        <p:sp>
          <p:nvSpPr>
            <p:cNvPr id="19" name="对话气泡: 椭圆形 18">
              <a:extLst>
                <a:ext uri="{FF2B5EF4-FFF2-40B4-BE49-F238E27FC236}">
                  <a16:creationId xmlns:a16="http://schemas.microsoft.com/office/drawing/2014/main" id="{6AC7595A-CDB5-F711-BA30-805B47806AB7}"/>
                </a:ext>
              </a:extLst>
            </p:cNvPr>
            <p:cNvSpPr/>
            <p:nvPr/>
          </p:nvSpPr>
          <p:spPr>
            <a:xfrm flipH="1">
              <a:off x="2869945" y="1954803"/>
              <a:ext cx="1428752" cy="392857"/>
            </a:xfrm>
            <a:prstGeom prst="wedgeEllipseCallou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文本框 22">
              <a:extLst>
                <a:ext uri="{FF2B5EF4-FFF2-40B4-BE49-F238E27FC236}">
                  <a16:creationId xmlns:a16="http://schemas.microsoft.com/office/drawing/2014/main" id="{59669CED-F952-F894-7FAB-2475A87E7ED1}"/>
                </a:ext>
              </a:extLst>
            </p:cNvPr>
            <p:cNvSpPr txBox="1"/>
            <p:nvPr/>
          </p:nvSpPr>
          <p:spPr>
            <a:xfrm>
              <a:off x="4663295" y="1988142"/>
              <a:ext cx="1428750" cy="320825"/>
            </a:xfrm>
            <a:prstGeom prst="rect">
              <a:avLst/>
            </a:prstGeom>
            <a:noFill/>
          </p:spPr>
          <p:txBody>
            <a:bodyPr wrap="square" rtlCol="0">
              <a:spAutoFit/>
            </a:bodyPr>
            <a:lstStyle/>
            <a:p>
              <a:r>
                <a:rPr lang="en-US" altLang="zh-CN" sz="1400" b="1" dirty="0"/>
                <a:t>Test: Dataset2</a:t>
              </a:r>
              <a:endParaRPr lang="zh-CN" altLang="en-US" sz="1400" b="1" dirty="0"/>
            </a:p>
          </p:txBody>
        </p:sp>
        <p:sp>
          <p:nvSpPr>
            <p:cNvPr id="24" name="对话气泡: 椭圆形 23">
              <a:extLst>
                <a:ext uri="{FF2B5EF4-FFF2-40B4-BE49-F238E27FC236}">
                  <a16:creationId xmlns:a16="http://schemas.microsoft.com/office/drawing/2014/main" id="{A089F9E8-20BA-3AD1-DB4D-D1AAAB409EC2}"/>
                </a:ext>
              </a:extLst>
            </p:cNvPr>
            <p:cNvSpPr/>
            <p:nvPr/>
          </p:nvSpPr>
          <p:spPr>
            <a:xfrm>
              <a:off x="4517770" y="1950041"/>
              <a:ext cx="1428752" cy="392857"/>
            </a:xfrm>
            <a:prstGeom prst="wedgeEllipseCallou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27" name="图片 26">
              <a:extLst>
                <a:ext uri="{FF2B5EF4-FFF2-40B4-BE49-F238E27FC236}">
                  <a16:creationId xmlns:a16="http://schemas.microsoft.com/office/drawing/2014/main" id="{2D29E881-2BB1-3AB2-FCD7-D4022E6CFC91}"/>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011958" y="2468635"/>
              <a:ext cx="354106" cy="892800"/>
            </a:xfrm>
            <a:prstGeom prst="rect">
              <a:avLst/>
            </a:prstGeom>
          </p:spPr>
        </p:pic>
        <p:pic>
          <p:nvPicPr>
            <p:cNvPr id="35" name="图片 34">
              <a:extLst>
                <a:ext uri="{FF2B5EF4-FFF2-40B4-BE49-F238E27FC236}">
                  <a16:creationId xmlns:a16="http://schemas.microsoft.com/office/drawing/2014/main" id="{8E8548B1-114B-20B4-2FAD-5A8E9CED4AA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366064" y="2468635"/>
              <a:ext cx="359172" cy="892800"/>
            </a:xfrm>
            <a:prstGeom prst="rect">
              <a:avLst/>
            </a:prstGeom>
          </p:spPr>
        </p:pic>
        <p:pic>
          <p:nvPicPr>
            <p:cNvPr id="38" name="图片 37">
              <a:extLst>
                <a:ext uri="{FF2B5EF4-FFF2-40B4-BE49-F238E27FC236}">
                  <a16:creationId xmlns:a16="http://schemas.microsoft.com/office/drawing/2014/main" id="{8551FB21-AA3A-2238-F951-ECF63EF6715A}"/>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996956" y="2468635"/>
              <a:ext cx="446400" cy="892800"/>
            </a:xfrm>
            <a:prstGeom prst="rect">
              <a:avLst/>
            </a:prstGeom>
          </p:spPr>
        </p:pic>
        <p:pic>
          <p:nvPicPr>
            <p:cNvPr id="41" name="图片 40">
              <a:extLst>
                <a:ext uri="{FF2B5EF4-FFF2-40B4-BE49-F238E27FC236}">
                  <a16:creationId xmlns:a16="http://schemas.microsoft.com/office/drawing/2014/main" id="{C690F647-7DAF-1995-744E-C9A3185E1923}"/>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872457" y="2468635"/>
              <a:ext cx="446400" cy="892800"/>
            </a:xfrm>
            <a:prstGeom prst="rect">
              <a:avLst/>
            </a:prstGeom>
          </p:spPr>
        </p:pic>
      </p:grpSp>
      <mc:AlternateContent xmlns:mc="http://schemas.openxmlformats.org/markup-compatibility/2006" xmlns:a14="http://schemas.microsoft.com/office/drawing/2010/main">
        <mc:Choice Requires="a14">
          <p:sp>
            <p:nvSpPr>
              <p:cNvPr id="42" name="文本框 41">
                <a:extLst>
                  <a:ext uri="{FF2B5EF4-FFF2-40B4-BE49-F238E27FC236}">
                    <a16:creationId xmlns:a16="http://schemas.microsoft.com/office/drawing/2014/main" id="{9F9053BA-16A3-1EDC-86CD-B17DAFC4268A}"/>
                  </a:ext>
                </a:extLst>
              </p:cNvPr>
              <p:cNvSpPr txBox="1"/>
              <p:nvPr/>
            </p:nvSpPr>
            <p:spPr>
              <a:xfrm>
                <a:off x="5774359" y="2414335"/>
                <a:ext cx="2996526" cy="523220"/>
              </a:xfrm>
              <a:prstGeom prst="rect">
                <a:avLst/>
              </a:prstGeom>
              <a:noFill/>
            </p:spPr>
            <p:txBody>
              <a:bodyPr wrap="square" rtlCol="0">
                <a:spAutoFit/>
              </a:bodyPr>
              <a:lstStyle/>
              <a:p>
                <a:r>
                  <a:rPr lang="en-US" altLang="zh-CN" sz="1400" dirty="0"/>
                  <a:t>A photo of a </a:t>
                </a:r>
                <a14:m>
                  <m:oMath xmlns:m="http://schemas.openxmlformats.org/officeDocument/2006/math">
                    <m:sSub>
                      <m:sSubPr>
                        <m:ctrlPr>
                          <a:rPr lang="en-US" altLang="zh-CN" sz="1400" b="0" i="1" smtClean="0">
                            <a:latin typeface="Cambria Math" panose="02040503050406030204" pitchFamily="18" charset="0"/>
                          </a:rPr>
                        </m:ctrlPr>
                      </m:sSubPr>
                      <m:e>
                        <m:r>
                          <a:rPr lang="en-US" altLang="zh-CN" sz="1400" b="0" i="1" smtClean="0">
                            <a:latin typeface="Cambria Math" panose="02040503050406030204" pitchFamily="18" charset="0"/>
                          </a:rPr>
                          <m:t>[</m:t>
                        </m:r>
                        <m:r>
                          <a:rPr lang="en-US" altLang="zh-CN" sz="1400" b="0" i="1" smtClean="0">
                            <a:latin typeface="Cambria Math" panose="02040503050406030204" pitchFamily="18" charset="0"/>
                          </a:rPr>
                          <m:t>𝑋</m:t>
                        </m:r>
                        <m:r>
                          <a:rPr lang="en-US" altLang="zh-CN" sz="1400" b="0" i="1" smtClean="0">
                            <a:latin typeface="Cambria Math" panose="02040503050406030204" pitchFamily="18" charset="0"/>
                          </a:rPr>
                          <m:t>]</m:t>
                        </m:r>
                      </m:e>
                      <m:sub>
                        <m:r>
                          <a:rPr lang="en-US" altLang="zh-CN" sz="1400" b="0" i="1" smtClean="0">
                            <a:latin typeface="Cambria Math" panose="02040503050406030204" pitchFamily="18" charset="0"/>
                          </a:rPr>
                          <m:t>1</m:t>
                        </m:r>
                      </m:sub>
                    </m:sSub>
                    <m:sSub>
                      <m:sSubPr>
                        <m:ctrlPr>
                          <a:rPr lang="en-US" altLang="zh-CN" sz="1400" i="1">
                            <a:latin typeface="Cambria Math" panose="02040503050406030204" pitchFamily="18" charset="0"/>
                          </a:rPr>
                        </m:ctrlPr>
                      </m:sSubPr>
                      <m:e>
                        <m:r>
                          <a:rPr lang="en-US" altLang="zh-CN" sz="1400" i="1">
                            <a:latin typeface="Cambria Math" panose="02040503050406030204" pitchFamily="18" charset="0"/>
                          </a:rPr>
                          <m:t>[</m:t>
                        </m:r>
                        <m:r>
                          <a:rPr lang="en-US" altLang="zh-CN" sz="1400" i="1">
                            <a:latin typeface="Cambria Math" panose="02040503050406030204" pitchFamily="18" charset="0"/>
                          </a:rPr>
                          <m:t>𝑋</m:t>
                        </m:r>
                        <m:r>
                          <a:rPr lang="en-US" altLang="zh-CN" sz="1400" i="1">
                            <a:latin typeface="Cambria Math" panose="02040503050406030204" pitchFamily="18" charset="0"/>
                          </a:rPr>
                          <m:t>]</m:t>
                        </m:r>
                      </m:e>
                      <m:sub>
                        <m:r>
                          <a:rPr lang="en-US" altLang="zh-CN" sz="1400" b="0" i="1" smtClean="0">
                            <a:latin typeface="Cambria Math" panose="02040503050406030204" pitchFamily="18" charset="0"/>
                          </a:rPr>
                          <m:t>2</m:t>
                        </m:r>
                      </m:sub>
                    </m:sSub>
                    <m:r>
                      <a:rPr lang="en-US" altLang="zh-CN" sz="1400" b="0" i="1" smtClean="0">
                        <a:latin typeface="Cambria Math" panose="02040503050406030204" pitchFamily="18" charset="0"/>
                      </a:rPr>
                      <m:t>…</m:t>
                    </m:r>
                    <m:sSub>
                      <m:sSubPr>
                        <m:ctrlPr>
                          <a:rPr lang="en-US" altLang="zh-CN" sz="1400" i="1">
                            <a:latin typeface="Cambria Math" panose="02040503050406030204" pitchFamily="18" charset="0"/>
                          </a:rPr>
                        </m:ctrlPr>
                      </m:sSubPr>
                      <m:e>
                        <m:d>
                          <m:dPr>
                            <m:begChr m:val="["/>
                            <m:endChr m:val="]"/>
                            <m:ctrlPr>
                              <a:rPr lang="en-US" altLang="zh-CN" sz="1400" i="1">
                                <a:latin typeface="Cambria Math" panose="02040503050406030204" pitchFamily="18" charset="0"/>
                              </a:rPr>
                            </m:ctrlPr>
                          </m:dPr>
                          <m:e>
                            <m:r>
                              <a:rPr lang="en-US" altLang="zh-CN" sz="1400" i="1">
                                <a:latin typeface="Cambria Math" panose="02040503050406030204" pitchFamily="18" charset="0"/>
                              </a:rPr>
                              <m:t>𝑋</m:t>
                            </m:r>
                          </m:e>
                        </m:d>
                      </m:e>
                      <m:sub>
                        <m:r>
                          <a:rPr lang="en-US" altLang="zh-CN" sz="1400" b="0" i="1" smtClean="0">
                            <a:latin typeface="Cambria Math" panose="02040503050406030204" pitchFamily="18" charset="0"/>
                          </a:rPr>
                          <m:t>𝑀</m:t>
                        </m:r>
                      </m:sub>
                    </m:sSub>
                    <m:r>
                      <a:rPr lang="en-US" altLang="zh-CN" sz="1400" b="0" i="1" smtClean="0">
                        <a:latin typeface="Cambria Math" panose="02040503050406030204" pitchFamily="18" charset="0"/>
                      </a:rPr>
                      <m:t> </m:t>
                    </m:r>
                  </m:oMath>
                </a14:m>
                <a:r>
                  <a:rPr lang="en-US" altLang="zh-CN" sz="1400" dirty="0"/>
                  <a:t>person </a:t>
                </a:r>
                <a:r>
                  <a:rPr lang="en-US" altLang="zh-CN" sz="1400" dirty="0">
                    <a:solidFill>
                      <a:srgbClr val="FF0000"/>
                    </a:solidFill>
                  </a:rPr>
                  <a:t>from </a:t>
                </a:r>
                <a14:m>
                  <m:oMath xmlns:m="http://schemas.openxmlformats.org/officeDocument/2006/math">
                    <m:sSub>
                      <m:sSubPr>
                        <m:ctrlPr>
                          <a:rPr lang="en-US" altLang="zh-CN" sz="1400" i="1">
                            <a:solidFill>
                              <a:srgbClr val="FF0000"/>
                            </a:solidFill>
                            <a:latin typeface="Cambria Math" panose="02040503050406030204" pitchFamily="18" charset="0"/>
                          </a:rPr>
                        </m:ctrlPr>
                      </m:sSubPr>
                      <m:e>
                        <m:r>
                          <a:rPr lang="en-US" altLang="zh-CN" sz="1400" i="1">
                            <a:solidFill>
                              <a:srgbClr val="FF0000"/>
                            </a:solidFill>
                            <a:latin typeface="Cambria Math" panose="02040503050406030204" pitchFamily="18" charset="0"/>
                          </a:rPr>
                          <m:t>[</m:t>
                        </m:r>
                        <m:r>
                          <a:rPr lang="en-US" altLang="zh-CN" sz="1400" b="0" i="1" smtClean="0">
                            <a:solidFill>
                              <a:srgbClr val="FF0000"/>
                            </a:solidFill>
                            <a:latin typeface="Cambria Math" panose="02040503050406030204" pitchFamily="18" charset="0"/>
                          </a:rPr>
                          <m:t>𝐷</m:t>
                        </m:r>
                        <m:r>
                          <a:rPr lang="en-US" altLang="zh-CN" sz="1400" i="1">
                            <a:solidFill>
                              <a:srgbClr val="FF0000"/>
                            </a:solidFill>
                            <a:latin typeface="Cambria Math" panose="02040503050406030204" pitchFamily="18" charset="0"/>
                          </a:rPr>
                          <m:t>]</m:t>
                        </m:r>
                      </m:e>
                      <m:sub>
                        <m:r>
                          <a:rPr lang="en-US" altLang="zh-CN" sz="1400" i="1">
                            <a:solidFill>
                              <a:srgbClr val="FF0000"/>
                            </a:solidFill>
                            <a:latin typeface="Cambria Math" panose="02040503050406030204" pitchFamily="18" charset="0"/>
                          </a:rPr>
                          <m:t>1</m:t>
                        </m:r>
                      </m:sub>
                    </m:sSub>
                    <m:sSub>
                      <m:sSubPr>
                        <m:ctrlPr>
                          <a:rPr lang="en-US" altLang="zh-CN" sz="1400" i="1">
                            <a:solidFill>
                              <a:srgbClr val="FF0000"/>
                            </a:solidFill>
                            <a:latin typeface="Cambria Math" panose="02040503050406030204" pitchFamily="18" charset="0"/>
                          </a:rPr>
                        </m:ctrlPr>
                      </m:sSubPr>
                      <m:e>
                        <m:r>
                          <a:rPr lang="en-US" altLang="zh-CN" sz="1400" i="1">
                            <a:solidFill>
                              <a:srgbClr val="FF0000"/>
                            </a:solidFill>
                            <a:latin typeface="Cambria Math" panose="02040503050406030204" pitchFamily="18" charset="0"/>
                          </a:rPr>
                          <m:t>[</m:t>
                        </m:r>
                        <m:r>
                          <a:rPr lang="en-US" altLang="zh-CN" sz="1400" b="0" i="1" smtClean="0">
                            <a:solidFill>
                              <a:srgbClr val="FF0000"/>
                            </a:solidFill>
                            <a:latin typeface="Cambria Math" panose="02040503050406030204" pitchFamily="18" charset="0"/>
                          </a:rPr>
                          <m:t>𝐷</m:t>
                        </m:r>
                        <m:r>
                          <a:rPr lang="en-US" altLang="zh-CN" sz="1400" i="1">
                            <a:solidFill>
                              <a:srgbClr val="FF0000"/>
                            </a:solidFill>
                            <a:latin typeface="Cambria Math" panose="02040503050406030204" pitchFamily="18" charset="0"/>
                          </a:rPr>
                          <m:t>]</m:t>
                        </m:r>
                      </m:e>
                      <m:sub>
                        <m:r>
                          <a:rPr lang="en-US" altLang="zh-CN" sz="1400" i="1">
                            <a:solidFill>
                              <a:srgbClr val="FF0000"/>
                            </a:solidFill>
                            <a:latin typeface="Cambria Math" panose="02040503050406030204" pitchFamily="18" charset="0"/>
                          </a:rPr>
                          <m:t>2</m:t>
                        </m:r>
                      </m:sub>
                    </m:sSub>
                    <m:r>
                      <a:rPr lang="en-US" altLang="zh-CN" sz="1400" i="1">
                        <a:solidFill>
                          <a:srgbClr val="FF0000"/>
                        </a:solidFill>
                        <a:latin typeface="Cambria Math" panose="02040503050406030204" pitchFamily="18" charset="0"/>
                      </a:rPr>
                      <m:t>…</m:t>
                    </m:r>
                    <m:sSub>
                      <m:sSubPr>
                        <m:ctrlPr>
                          <a:rPr lang="en-US" altLang="zh-CN" sz="1400" i="1">
                            <a:solidFill>
                              <a:srgbClr val="FF0000"/>
                            </a:solidFill>
                            <a:latin typeface="Cambria Math" panose="02040503050406030204" pitchFamily="18" charset="0"/>
                          </a:rPr>
                        </m:ctrlPr>
                      </m:sSubPr>
                      <m:e>
                        <m:d>
                          <m:dPr>
                            <m:begChr m:val="["/>
                            <m:endChr m:val="]"/>
                            <m:ctrlPr>
                              <a:rPr lang="en-US" altLang="zh-CN" sz="1400" i="1">
                                <a:solidFill>
                                  <a:srgbClr val="FF0000"/>
                                </a:solidFill>
                                <a:latin typeface="Cambria Math" panose="02040503050406030204" pitchFamily="18" charset="0"/>
                              </a:rPr>
                            </m:ctrlPr>
                          </m:dPr>
                          <m:e>
                            <m:r>
                              <a:rPr lang="en-US" altLang="zh-CN" sz="1400" b="0" i="1" smtClean="0">
                                <a:solidFill>
                                  <a:srgbClr val="FF0000"/>
                                </a:solidFill>
                                <a:latin typeface="Cambria Math" panose="02040503050406030204" pitchFamily="18" charset="0"/>
                              </a:rPr>
                              <m:t>𝐷</m:t>
                            </m:r>
                          </m:e>
                        </m:d>
                      </m:e>
                      <m:sub>
                        <m:r>
                          <a:rPr lang="en-US" altLang="zh-CN" sz="1400" b="0" i="1" smtClean="0">
                            <a:solidFill>
                              <a:srgbClr val="FF0000"/>
                            </a:solidFill>
                            <a:latin typeface="Cambria Math" panose="02040503050406030204" pitchFamily="18" charset="0"/>
                          </a:rPr>
                          <m:t>𝑁</m:t>
                        </m:r>
                      </m:sub>
                    </m:sSub>
                  </m:oMath>
                </a14:m>
                <a:r>
                  <a:rPr lang="zh-CN" altLang="en-US" sz="1400" dirty="0">
                    <a:solidFill>
                      <a:srgbClr val="FF0000"/>
                    </a:solidFill>
                  </a:rPr>
                  <a:t> </a:t>
                </a:r>
                <a:r>
                  <a:rPr lang="en-US" altLang="zh-CN" sz="1400" dirty="0">
                    <a:solidFill>
                      <a:srgbClr val="FF0000"/>
                    </a:solidFill>
                  </a:rPr>
                  <a:t>dataset.</a:t>
                </a:r>
                <a:endParaRPr lang="zh-CN" altLang="en-US" sz="1400" dirty="0"/>
              </a:p>
            </p:txBody>
          </p:sp>
        </mc:Choice>
        <mc:Fallback xmlns="">
          <p:sp>
            <p:nvSpPr>
              <p:cNvPr id="42" name="文本框 41">
                <a:extLst>
                  <a:ext uri="{FF2B5EF4-FFF2-40B4-BE49-F238E27FC236}">
                    <a16:creationId xmlns:a16="http://schemas.microsoft.com/office/drawing/2014/main" id="{9F9053BA-16A3-1EDC-86CD-B17DAFC4268A}"/>
                  </a:ext>
                </a:extLst>
              </p:cNvPr>
              <p:cNvSpPr txBox="1">
                <a:spLocks noRot="1" noChangeAspect="1" noMove="1" noResize="1" noEditPoints="1" noAdjustHandles="1" noChangeArrowheads="1" noChangeShapeType="1" noTextEdit="1"/>
              </p:cNvSpPr>
              <p:nvPr/>
            </p:nvSpPr>
            <p:spPr>
              <a:xfrm>
                <a:off x="5774359" y="2414335"/>
                <a:ext cx="2996526" cy="523220"/>
              </a:xfrm>
              <a:prstGeom prst="rect">
                <a:avLst/>
              </a:prstGeom>
              <a:blipFill>
                <a:blip r:embed="rId9"/>
                <a:stretch>
                  <a:fillRect l="-610" t="-2326" b="-11628"/>
                </a:stretch>
              </a:blipFill>
            </p:spPr>
            <p:txBody>
              <a:bodyPr/>
              <a:lstStyle/>
              <a:p>
                <a:r>
                  <a:rPr lang="zh-CN" altLang="en-US">
                    <a:noFill/>
                  </a:rPr>
                  <a:t> </a:t>
                </a:r>
              </a:p>
            </p:txBody>
          </p:sp>
        </mc:Fallback>
      </mc:AlternateContent>
      <p:sp>
        <p:nvSpPr>
          <p:cNvPr id="44" name="矩形: 圆角 43">
            <a:extLst>
              <a:ext uri="{FF2B5EF4-FFF2-40B4-BE49-F238E27FC236}">
                <a16:creationId xmlns:a16="http://schemas.microsoft.com/office/drawing/2014/main" id="{71222674-3A21-4DFB-D33D-01FF6CFFF440}"/>
              </a:ext>
            </a:extLst>
          </p:cNvPr>
          <p:cNvSpPr/>
          <p:nvPr/>
        </p:nvSpPr>
        <p:spPr>
          <a:xfrm>
            <a:off x="5690276" y="2355576"/>
            <a:ext cx="2996527" cy="639231"/>
          </a:xfrm>
          <a:prstGeom prst="round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5" name="图片 44">
            <a:extLst>
              <a:ext uri="{FF2B5EF4-FFF2-40B4-BE49-F238E27FC236}">
                <a16:creationId xmlns:a16="http://schemas.microsoft.com/office/drawing/2014/main" id="{99B1268A-105D-76F7-6FBA-B47F92D67F47}"/>
              </a:ext>
            </a:extLst>
          </p:cNvPr>
          <p:cNvPicPr>
            <a:picLocks noChangeAspect="1"/>
          </p:cNvPicPr>
          <p:nvPr/>
        </p:nvPicPr>
        <p:blipFill>
          <a:blip r:embed="rId10"/>
          <a:stretch>
            <a:fillRect/>
          </a:stretch>
        </p:blipFill>
        <p:spPr>
          <a:xfrm>
            <a:off x="2699363" y="3755770"/>
            <a:ext cx="527828" cy="856800"/>
          </a:xfrm>
          <a:prstGeom prst="rect">
            <a:avLst/>
          </a:prstGeom>
        </p:spPr>
      </p:pic>
      <p:pic>
        <p:nvPicPr>
          <p:cNvPr id="46" name="图片 45">
            <a:extLst>
              <a:ext uri="{FF2B5EF4-FFF2-40B4-BE49-F238E27FC236}">
                <a16:creationId xmlns:a16="http://schemas.microsoft.com/office/drawing/2014/main" id="{57D703C8-DD60-70AA-3246-CF1DFF2B7666}"/>
              </a:ext>
            </a:extLst>
          </p:cNvPr>
          <p:cNvPicPr>
            <a:picLocks noChangeAspect="1"/>
          </p:cNvPicPr>
          <p:nvPr/>
        </p:nvPicPr>
        <p:blipFill>
          <a:blip r:embed="rId11"/>
          <a:stretch>
            <a:fillRect/>
          </a:stretch>
        </p:blipFill>
        <p:spPr>
          <a:xfrm>
            <a:off x="4748951" y="3755770"/>
            <a:ext cx="548546" cy="856800"/>
          </a:xfrm>
          <a:prstGeom prst="rect">
            <a:avLst/>
          </a:prstGeom>
        </p:spPr>
      </p:pic>
      <p:pic>
        <p:nvPicPr>
          <p:cNvPr id="47" name="图片 46">
            <a:extLst>
              <a:ext uri="{FF2B5EF4-FFF2-40B4-BE49-F238E27FC236}">
                <a16:creationId xmlns:a16="http://schemas.microsoft.com/office/drawing/2014/main" id="{D96083B8-EF44-A0F7-6F04-70AC3FE2305F}"/>
              </a:ext>
            </a:extLst>
          </p:cNvPr>
          <p:cNvPicPr>
            <a:picLocks noChangeAspect="1"/>
          </p:cNvPicPr>
          <p:nvPr/>
        </p:nvPicPr>
        <p:blipFill>
          <a:blip r:embed="rId12"/>
          <a:stretch>
            <a:fillRect/>
          </a:stretch>
        </p:blipFill>
        <p:spPr>
          <a:xfrm>
            <a:off x="3558322" y="3755770"/>
            <a:ext cx="524820" cy="856800"/>
          </a:xfrm>
          <a:prstGeom prst="rect">
            <a:avLst/>
          </a:prstGeom>
        </p:spPr>
      </p:pic>
      <p:pic>
        <p:nvPicPr>
          <p:cNvPr id="48" name="图片 47">
            <a:extLst>
              <a:ext uri="{FF2B5EF4-FFF2-40B4-BE49-F238E27FC236}">
                <a16:creationId xmlns:a16="http://schemas.microsoft.com/office/drawing/2014/main" id="{E9AC223A-313F-B783-AB5B-B050D1C68B9A}"/>
              </a:ext>
            </a:extLst>
          </p:cNvPr>
          <p:cNvPicPr>
            <a:picLocks noChangeAspect="1"/>
          </p:cNvPicPr>
          <p:nvPr/>
        </p:nvPicPr>
        <p:blipFill>
          <a:blip r:embed="rId13"/>
          <a:stretch>
            <a:fillRect/>
          </a:stretch>
        </p:blipFill>
        <p:spPr>
          <a:xfrm>
            <a:off x="4083142" y="3755770"/>
            <a:ext cx="665809" cy="856800"/>
          </a:xfrm>
          <a:prstGeom prst="rect">
            <a:avLst/>
          </a:prstGeom>
        </p:spPr>
      </p:pic>
      <p:sp>
        <p:nvSpPr>
          <p:cNvPr id="49" name="文本框 48">
            <a:extLst>
              <a:ext uri="{FF2B5EF4-FFF2-40B4-BE49-F238E27FC236}">
                <a16:creationId xmlns:a16="http://schemas.microsoft.com/office/drawing/2014/main" id="{7B167FFA-4ACF-9EF2-CFEC-6089645798F8}"/>
              </a:ext>
            </a:extLst>
          </p:cNvPr>
          <p:cNvSpPr txBox="1"/>
          <p:nvPr/>
        </p:nvSpPr>
        <p:spPr>
          <a:xfrm>
            <a:off x="2628707" y="3405128"/>
            <a:ext cx="669139" cy="307777"/>
          </a:xfrm>
          <a:prstGeom prst="rect">
            <a:avLst/>
          </a:prstGeom>
          <a:noFill/>
        </p:spPr>
        <p:txBody>
          <a:bodyPr wrap="square" rtlCol="0">
            <a:spAutoFit/>
          </a:bodyPr>
          <a:lstStyle/>
          <a:p>
            <a:r>
              <a:rPr lang="en-US" altLang="zh-CN" sz="1400" b="1" dirty="0"/>
              <a:t>Query</a:t>
            </a:r>
            <a:endParaRPr lang="zh-CN" altLang="en-US" sz="1400" dirty="0"/>
          </a:p>
        </p:txBody>
      </p:sp>
      <p:sp>
        <p:nvSpPr>
          <p:cNvPr id="51" name="文本框 50">
            <a:extLst>
              <a:ext uri="{FF2B5EF4-FFF2-40B4-BE49-F238E27FC236}">
                <a16:creationId xmlns:a16="http://schemas.microsoft.com/office/drawing/2014/main" id="{74151F9D-BA0D-87AB-71A7-1C5C23CEE09E}"/>
              </a:ext>
            </a:extLst>
          </p:cNvPr>
          <p:cNvSpPr txBox="1"/>
          <p:nvPr/>
        </p:nvSpPr>
        <p:spPr>
          <a:xfrm>
            <a:off x="3519406" y="3405128"/>
            <a:ext cx="2091911" cy="307777"/>
          </a:xfrm>
          <a:prstGeom prst="rect">
            <a:avLst/>
          </a:prstGeom>
          <a:noFill/>
        </p:spPr>
        <p:txBody>
          <a:bodyPr wrap="square" rtlCol="0">
            <a:spAutoFit/>
          </a:bodyPr>
          <a:lstStyle/>
          <a:p>
            <a:r>
              <a:rPr lang="en-US" altLang="zh-CN" sz="1400" b="1" dirty="0"/>
              <a:t>Cloth-Changing Gallery</a:t>
            </a:r>
            <a:endParaRPr lang="zh-CN" altLang="en-US" sz="1400" dirty="0"/>
          </a:p>
        </p:txBody>
      </p:sp>
      <p:sp>
        <p:nvSpPr>
          <p:cNvPr id="52" name="矩形: 圆角 51">
            <a:extLst>
              <a:ext uri="{FF2B5EF4-FFF2-40B4-BE49-F238E27FC236}">
                <a16:creationId xmlns:a16="http://schemas.microsoft.com/office/drawing/2014/main" id="{AA1352F2-EFCD-7C84-EACE-0C36A6F925C6}"/>
              </a:ext>
            </a:extLst>
          </p:cNvPr>
          <p:cNvSpPr/>
          <p:nvPr/>
        </p:nvSpPr>
        <p:spPr>
          <a:xfrm>
            <a:off x="3475370" y="3710152"/>
            <a:ext cx="1881352" cy="972207"/>
          </a:xfrm>
          <a:prstGeom prst="roundRect">
            <a:avLst>
              <a:gd name="adj" fmla="val 9100"/>
            </a:avLst>
          </a:prstGeom>
          <a:noFill/>
          <a:ln w="19050">
            <a:solidFill>
              <a:srgbClr val="92D05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矩形: 圆角 52">
            <a:extLst>
              <a:ext uri="{FF2B5EF4-FFF2-40B4-BE49-F238E27FC236}">
                <a16:creationId xmlns:a16="http://schemas.microsoft.com/office/drawing/2014/main" id="{97EEE32F-AA41-CF8D-170C-2621E31A74F3}"/>
              </a:ext>
            </a:extLst>
          </p:cNvPr>
          <p:cNvSpPr/>
          <p:nvPr/>
        </p:nvSpPr>
        <p:spPr>
          <a:xfrm>
            <a:off x="2602767" y="3710151"/>
            <a:ext cx="695079" cy="972207"/>
          </a:xfrm>
          <a:prstGeom prst="roundRect">
            <a:avLst>
              <a:gd name="adj" fmla="val 9100"/>
            </a:avLst>
          </a:prstGeom>
          <a:noFill/>
          <a:ln w="19050">
            <a:solidFill>
              <a:schemeClr val="accent5">
                <a:lumMod val="60000"/>
                <a:lumOff val="4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56" name="文本框 55">
                <a:extLst>
                  <a:ext uri="{FF2B5EF4-FFF2-40B4-BE49-F238E27FC236}">
                    <a16:creationId xmlns:a16="http://schemas.microsoft.com/office/drawing/2014/main" id="{F96B642C-9304-25A0-7EE2-6463E782E3C7}"/>
                  </a:ext>
                </a:extLst>
              </p:cNvPr>
              <p:cNvSpPr txBox="1"/>
              <p:nvPr/>
            </p:nvSpPr>
            <p:spPr>
              <a:xfrm>
                <a:off x="5763847" y="3831244"/>
                <a:ext cx="2948043" cy="523220"/>
              </a:xfrm>
              <a:prstGeom prst="rect">
                <a:avLst/>
              </a:prstGeom>
              <a:noFill/>
            </p:spPr>
            <p:txBody>
              <a:bodyPr wrap="square" rtlCol="0">
                <a:spAutoFit/>
              </a:bodyPr>
              <a:lstStyle/>
              <a:p>
                <a:r>
                  <a:rPr lang="en-US" altLang="zh-CN" sz="1400" dirty="0"/>
                  <a:t>A photo of a </a:t>
                </a:r>
                <a14:m>
                  <m:oMath xmlns:m="http://schemas.openxmlformats.org/officeDocument/2006/math">
                    <m:sSub>
                      <m:sSubPr>
                        <m:ctrlPr>
                          <a:rPr lang="en-US" altLang="zh-CN" sz="1400" b="0" i="1" smtClean="0">
                            <a:latin typeface="Cambria Math" panose="02040503050406030204" pitchFamily="18" charset="0"/>
                          </a:rPr>
                        </m:ctrlPr>
                      </m:sSubPr>
                      <m:e>
                        <m:r>
                          <a:rPr lang="en-US" altLang="zh-CN" sz="1400" b="0" i="1" smtClean="0">
                            <a:latin typeface="Cambria Math" panose="02040503050406030204" pitchFamily="18" charset="0"/>
                          </a:rPr>
                          <m:t>[</m:t>
                        </m:r>
                        <m:r>
                          <a:rPr lang="en-US" altLang="zh-CN" sz="1400" b="0" i="1" smtClean="0">
                            <a:latin typeface="Cambria Math" panose="02040503050406030204" pitchFamily="18" charset="0"/>
                          </a:rPr>
                          <m:t>𝑋</m:t>
                        </m:r>
                        <m:r>
                          <a:rPr lang="en-US" altLang="zh-CN" sz="1400" b="0" i="1" smtClean="0">
                            <a:latin typeface="Cambria Math" panose="02040503050406030204" pitchFamily="18" charset="0"/>
                          </a:rPr>
                          <m:t>]</m:t>
                        </m:r>
                      </m:e>
                      <m:sub>
                        <m:r>
                          <a:rPr lang="en-US" altLang="zh-CN" sz="1400" b="0" i="1" smtClean="0">
                            <a:latin typeface="Cambria Math" panose="02040503050406030204" pitchFamily="18" charset="0"/>
                          </a:rPr>
                          <m:t>1</m:t>
                        </m:r>
                      </m:sub>
                    </m:sSub>
                    <m:sSub>
                      <m:sSubPr>
                        <m:ctrlPr>
                          <a:rPr lang="en-US" altLang="zh-CN" sz="1400" i="1">
                            <a:latin typeface="Cambria Math" panose="02040503050406030204" pitchFamily="18" charset="0"/>
                          </a:rPr>
                        </m:ctrlPr>
                      </m:sSubPr>
                      <m:e>
                        <m:r>
                          <a:rPr lang="en-US" altLang="zh-CN" sz="1400" i="1">
                            <a:latin typeface="Cambria Math" panose="02040503050406030204" pitchFamily="18" charset="0"/>
                          </a:rPr>
                          <m:t>[</m:t>
                        </m:r>
                        <m:r>
                          <a:rPr lang="en-US" altLang="zh-CN" sz="1400" i="1">
                            <a:latin typeface="Cambria Math" panose="02040503050406030204" pitchFamily="18" charset="0"/>
                          </a:rPr>
                          <m:t>𝑋</m:t>
                        </m:r>
                        <m:r>
                          <a:rPr lang="en-US" altLang="zh-CN" sz="1400" i="1">
                            <a:latin typeface="Cambria Math" panose="02040503050406030204" pitchFamily="18" charset="0"/>
                          </a:rPr>
                          <m:t>]</m:t>
                        </m:r>
                      </m:e>
                      <m:sub>
                        <m:r>
                          <a:rPr lang="en-US" altLang="zh-CN" sz="1400" b="0" i="1" smtClean="0">
                            <a:latin typeface="Cambria Math" panose="02040503050406030204" pitchFamily="18" charset="0"/>
                          </a:rPr>
                          <m:t>2</m:t>
                        </m:r>
                      </m:sub>
                    </m:sSub>
                    <m:r>
                      <a:rPr lang="en-US" altLang="zh-CN" sz="1400" b="0" i="1" smtClean="0">
                        <a:latin typeface="Cambria Math" panose="02040503050406030204" pitchFamily="18" charset="0"/>
                      </a:rPr>
                      <m:t>…</m:t>
                    </m:r>
                    <m:sSub>
                      <m:sSubPr>
                        <m:ctrlPr>
                          <a:rPr lang="en-US" altLang="zh-CN" sz="1400" i="1">
                            <a:latin typeface="Cambria Math" panose="02040503050406030204" pitchFamily="18" charset="0"/>
                          </a:rPr>
                        </m:ctrlPr>
                      </m:sSubPr>
                      <m:e>
                        <m:d>
                          <m:dPr>
                            <m:begChr m:val="["/>
                            <m:endChr m:val="]"/>
                            <m:ctrlPr>
                              <a:rPr lang="en-US" altLang="zh-CN" sz="1400" i="1">
                                <a:latin typeface="Cambria Math" panose="02040503050406030204" pitchFamily="18" charset="0"/>
                              </a:rPr>
                            </m:ctrlPr>
                          </m:dPr>
                          <m:e>
                            <m:r>
                              <a:rPr lang="en-US" altLang="zh-CN" sz="1400" i="1">
                                <a:latin typeface="Cambria Math" panose="02040503050406030204" pitchFamily="18" charset="0"/>
                              </a:rPr>
                              <m:t>𝑋</m:t>
                            </m:r>
                          </m:e>
                        </m:d>
                      </m:e>
                      <m:sub>
                        <m:r>
                          <a:rPr lang="en-US" altLang="zh-CN" sz="1400" b="0" i="1" smtClean="0">
                            <a:latin typeface="Cambria Math" panose="02040503050406030204" pitchFamily="18" charset="0"/>
                          </a:rPr>
                          <m:t>𝑀</m:t>
                        </m:r>
                      </m:sub>
                    </m:sSub>
                    <m:r>
                      <a:rPr lang="en-US" altLang="zh-CN" sz="1400" b="0" i="1" smtClean="0">
                        <a:latin typeface="Cambria Math" panose="02040503050406030204" pitchFamily="18" charset="0"/>
                      </a:rPr>
                      <m:t> </m:t>
                    </m:r>
                  </m:oMath>
                </a14:m>
                <a:r>
                  <a:rPr lang="en-US" altLang="zh-CN" sz="1400" dirty="0"/>
                  <a:t>person</a:t>
                </a:r>
              </a:p>
              <a:p>
                <a:r>
                  <a:rPr lang="en-US" altLang="zh-CN" sz="1400" dirty="0">
                    <a:solidFill>
                      <a:srgbClr val="FF0000"/>
                    </a:solidFill>
                  </a:rPr>
                  <a:t>A photo of a </a:t>
                </a:r>
                <a14:m>
                  <m:oMath xmlns:m="http://schemas.openxmlformats.org/officeDocument/2006/math">
                    <m:sSub>
                      <m:sSubPr>
                        <m:ctrlPr>
                          <a:rPr lang="en-US" altLang="zh-CN" sz="1400" b="0" i="1" smtClean="0">
                            <a:solidFill>
                              <a:srgbClr val="FF0000"/>
                            </a:solidFill>
                            <a:latin typeface="Cambria Math" panose="02040503050406030204" pitchFamily="18" charset="0"/>
                          </a:rPr>
                        </m:ctrlPr>
                      </m:sSubPr>
                      <m:e>
                        <m:r>
                          <a:rPr lang="en-US" altLang="zh-CN" sz="1400" b="0" i="1" smtClean="0">
                            <a:solidFill>
                              <a:srgbClr val="FF0000"/>
                            </a:solidFill>
                            <a:latin typeface="Cambria Math" panose="02040503050406030204" pitchFamily="18" charset="0"/>
                          </a:rPr>
                          <m:t>[</m:t>
                        </m:r>
                        <m:r>
                          <a:rPr lang="en-US" altLang="zh-CN" sz="1400" b="0" i="1" smtClean="0">
                            <a:solidFill>
                              <a:srgbClr val="FF0000"/>
                            </a:solidFill>
                            <a:latin typeface="Cambria Math" panose="02040503050406030204" pitchFamily="18" charset="0"/>
                          </a:rPr>
                          <m:t>𝑋</m:t>
                        </m:r>
                        <m:r>
                          <a:rPr lang="en-US" altLang="zh-CN" sz="1400" b="0" i="1" smtClean="0">
                            <a:solidFill>
                              <a:srgbClr val="FF0000"/>
                            </a:solidFill>
                            <a:latin typeface="Cambria Math" panose="02040503050406030204" pitchFamily="18" charset="0"/>
                          </a:rPr>
                          <m:t>]</m:t>
                        </m:r>
                      </m:e>
                      <m:sub>
                        <m:r>
                          <a:rPr lang="en-US" altLang="zh-CN" sz="1400" b="0" i="1" smtClean="0">
                            <a:solidFill>
                              <a:srgbClr val="FF0000"/>
                            </a:solidFill>
                            <a:latin typeface="Cambria Math" panose="02040503050406030204" pitchFamily="18" charset="0"/>
                          </a:rPr>
                          <m:t>1</m:t>
                        </m:r>
                      </m:sub>
                    </m:sSub>
                    <m:sSub>
                      <m:sSubPr>
                        <m:ctrlPr>
                          <a:rPr lang="en-US" altLang="zh-CN" sz="1400" i="1">
                            <a:solidFill>
                              <a:srgbClr val="FF0000"/>
                            </a:solidFill>
                            <a:latin typeface="Cambria Math" panose="02040503050406030204" pitchFamily="18" charset="0"/>
                          </a:rPr>
                        </m:ctrlPr>
                      </m:sSubPr>
                      <m:e>
                        <m:r>
                          <a:rPr lang="en-US" altLang="zh-CN" sz="1400" i="1">
                            <a:solidFill>
                              <a:srgbClr val="FF0000"/>
                            </a:solidFill>
                            <a:latin typeface="Cambria Math" panose="02040503050406030204" pitchFamily="18" charset="0"/>
                          </a:rPr>
                          <m:t>[</m:t>
                        </m:r>
                        <m:r>
                          <a:rPr lang="en-US" altLang="zh-CN" sz="1400" i="1">
                            <a:solidFill>
                              <a:srgbClr val="FF0000"/>
                            </a:solidFill>
                            <a:latin typeface="Cambria Math" panose="02040503050406030204" pitchFamily="18" charset="0"/>
                          </a:rPr>
                          <m:t>𝑋</m:t>
                        </m:r>
                        <m:r>
                          <a:rPr lang="en-US" altLang="zh-CN" sz="1400" i="1">
                            <a:solidFill>
                              <a:srgbClr val="FF0000"/>
                            </a:solidFill>
                            <a:latin typeface="Cambria Math" panose="02040503050406030204" pitchFamily="18" charset="0"/>
                          </a:rPr>
                          <m:t>]</m:t>
                        </m:r>
                      </m:e>
                      <m:sub>
                        <m:r>
                          <a:rPr lang="en-US" altLang="zh-CN" sz="1400" b="0" i="1" smtClean="0">
                            <a:solidFill>
                              <a:srgbClr val="FF0000"/>
                            </a:solidFill>
                            <a:latin typeface="Cambria Math" panose="02040503050406030204" pitchFamily="18" charset="0"/>
                          </a:rPr>
                          <m:t>2</m:t>
                        </m:r>
                      </m:sub>
                    </m:sSub>
                    <m:r>
                      <a:rPr lang="en-US" altLang="zh-CN" sz="1400" b="0" i="1" smtClean="0">
                        <a:solidFill>
                          <a:srgbClr val="FF0000"/>
                        </a:solidFill>
                        <a:latin typeface="Cambria Math" panose="02040503050406030204" pitchFamily="18" charset="0"/>
                      </a:rPr>
                      <m:t>…</m:t>
                    </m:r>
                    <m:sSub>
                      <m:sSubPr>
                        <m:ctrlPr>
                          <a:rPr lang="en-US" altLang="zh-CN" sz="1400" i="1">
                            <a:solidFill>
                              <a:srgbClr val="FF0000"/>
                            </a:solidFill>
                            <a:latin typeface="Cambria Math" panose="02040503050406030204" pitchFamily="18" charset="0"/>
                          </a:rPr>
                        </m:ctrlPr>
                      </m:sSubPr>
                      <m:e>
                        <m:d>
                          <m:dPr>
                            <m:begChr m:val="["/>
                            <m:endChr m:val="]"/>
                            <m:ctrlPr>
                              <a:rPr lang="en-US" altLang="zh-CN" sz="1400" i="1">
                                <a:solidFill>
                                  <a:srgbClr val="FF0000"/>
                                </a:solidFill>
                                <a:latin typeface="Cambria Math" panose="02040503050406030204" pitchFamily="18" charset="0"/>
                              </a:rPr>
                            </m:ctrlPr>
                          </m:dPr>
                          <m:e>
                            <m:r>
                              <a:rPr lang="en-US" altLang="zh-CN" sz="1400" i="1">
                                <a:solidFill>
                                  <a:srgbClr val="FF0000"/>
                                </a:solidFill>
                                <a:latin typeface="Cambria Math" panose="02040503050406030204" pitchFamily="18" charset="0"/>
                              </a:rPr>
                              <m:t>𝑋</m:t>
                            </m:r>
                          </m:e>
                        </m:d>
                      </m:e>
                      <m:sub>
                        <m:r>
                          <a:rPr lang="en-US" altLang="zh-CN" sz="1400" b="0" i="1" smtClean="0">
                            <a:solidFill>
                              <a:srgbClr val="FF0000"/>
                            </a:solidFill>
                            <a:latin typeface="Cambria Math" panose="02040503050406030204" pitchFamily="18" charset="0"/>
                          </a:rPr>
                          <m:t>𝑀</m:t>
                        </m:r>
                      </m:sub>
                    </m:sSub>
                    <m:r>
                      <a:rPr lang="en-US" altLang="zh-CN" sz="1400" b="0" i="1" smtClean="0">
                        <a:solidFill>
                          <a:srgbClr val="FF0000"/>
                        </a:solidFill>
                        <a:latin typeface="Cambria Math" panose="02040503050406030204" pitchFamily="18" charset="0"/>
                      </a:rPr>
                      <m:t> </m:t>
                    </m:r>
                    <m:r>
                      <m:rPr>
                        <m:sty m:val="p"/>
                      </m:rPr>
                      <a:rPr lang="en-US" altLang="zh-CN" sz="1400" b="0" i="0" smtClean="0">
                        <a:solidFill>
                          <a:srgbClr val="FF0000"/>
                        </a:solidFill>
                        <a:latin typeface="Cambria Math" panose="02040503050406030204" pitchFamily="18" charset="0"/>
                      </a:rPr>
                      <m:t>clothes</m:t>
                    </m:r>
                    <m:r>
                      <a:rPr lang="en-US" altLang="zh-CN" sz="1400" b="0" i="0" smtClean="0">
                        <a:solidFill>
                          <a:srgbClr val="FF0000"/>
                        </a:solidFill>
                        <a:latin typeface="Cambria Math" panose="02040503050406030204" pitchFamily="18" charset="0"/>
                      </a:rPr>
                      <m:t>.</m:t>
                    </m:r>
                  </m:oMath>
                </a14:m>
                <a:endParaRPr lang="zh-CN" altLang="en-US" sz="1400" dirty="0">
                  <a:solidFill>
                    <a:srgbClr val="FF0000"/>
                  </a:solidFill>
                </a:endParaRPr>
              </a:p>
            </p:txBody>
          </p:sp>
        </mc:Choice>
        <mc:Fallback xmlns="">
          <p:sp>
            <p:nvSpPr>
              <p:cNvPr id="56" name="文本框 55">
                <a:extLst>
                  <a:ext uri="{FF2B5EF4-FFF2-40B4-BE49-F238E27FC236}">
                    <a16:creationId xmlns:a16="http://schemas.microsoft.com/office/drawing/2014/main" id="{F96B642C-9304-25A0-7EE2-6463E782E3C7}"/>
                  </a:ext>
                </a:extLst>
              </p:cNvPr>
              <p:cNvSpPr txBox="1">
                <a:spLocks noRot="1" noChangeAspect="1" noMove="1" noResize="1" noEditPoints="1" noAdjustHandles="1" noChangeArrowheads="1" noChangeShapeType="1" noTextEdit="1"/>
              </p:cNvSpPr>
              <p:nvPr/>
            </p:nvSpPr>
            <p:spPr>
              <a:xfrm>
                <a:off x="5763847" y="3831244"/>
                <a:ext cx="2948043" cy="523220"/>
              </a:xfrm>
              <a:prstGeom prst="rect">
                <a:avLst/>
              </a:prstGeom>
              <a:blipFill>
                <a:blip r:embed="rId14"/>
                <a:stretch>
                  <a:fillRect l="-621" t="-1163" b="-11628"/>
                </a:stretch>
              </a:blipFill>
            </p:spPr>
            <p:txBody>
              <a:bodyPr/>
              <a:lstStyle/>
              <a:p>
                <a:r>
                  <a:rPr lang="zh-CN" altLang="en-US">
                    <a:noFill/>
                  </a:rPr>
                  <a:t> </a:t>
                </a:r>
              </a:p>
            </p:txBody>
          </p:sp>
        </mc:Fallback>
      </mc:AlternateContent>
      <p:pic>
        <p:nvPicPr>
          <p:cNvPr id="57" name="图片 56">
            <a:extLst>
              <a:ext uri="{FF2B5EF4-FFF2-40B4-BE49-F238E27FC236}">
                <a16:creationId xmlns:a16="http://schemas.microsoft.com/office/drawing/2014/main" id="{00FA9C4E-1B2A-07A7-50E7-03B32B1B63E5}"/>
              </a:ext>
            </a:extLst>
          </p:cNvPr>
          <p:cNvPicPr>
            <a:picLocks noChangeAspect="1"/>
          </p:cNvPicPr>
          <p:nvPr/>
        </p:nvPicPr>
        <p:blipFill>
          <a:blip r:embed="rId15"/>
          <a:stretch>
            <a:fillRect/>
          </a:stretch>
        </p:blipFill>
        <p:spPr>
          <a:xfrm>
            <a:off x="2605356" y="5065217"/>
            <a:ext cx="1321919" cy="856800"/>
          </a:xfrm>
          <a:prstGeom prst="rect">
            <a:avLst/>
          </a:prstGeom>
        </p:spPr>
      </p:pic>
      <p:pic>
        <p:nvPicPr>
          <p:cNvPr id="58" name="图片 57">
            <a:extLst>
              <a:ext uri="{FF2B5EF4-FFF2-40B4-BE49-F238E27FC236}">
                <a16:creationId xmlns:a16="http://schemas.microsoft.com/office/drawing/2014/main" id="{B1BDFE4C-A9C7-F0B8-704A-A9F77BD0768C}"/>
              </a:ext>
            </a:extLst>
          </p:cNvPr>
          <p:cNvPicPr>
            <a:picLocks noChangeAspect="1"/>
          </p:cNvPicPr>
          <p:nvPr/>
        </p:nvPicPr>
        <p:blipFill>
          <a:blip r:embed="rId16"/>
          <a:stretch>
            <a:fillRect/>
          </a:stretch>
        </p:blipFill>
        <p:spPr>
          <a:xfrm>
            <a:off x="4153171" y="5065217"/>
            <a:ext cx="1315800" cy="856800"/>
          </a:xfrm>
          <a:prstGeom prst="rect">
            <a:avLst/>
          </a:prstGeom>
        </p:spPr>
      </p:pic>
      <p:sp>
        <p:nvSpPr>
          <p:cNvPr id="59" name="文本框 58">
            <a:extLst>
              <a:ext uri="{FF2B5EF4-FFF2-40B4-BE49-F238E27FC236}">
                <a16:creationId xmlns:a16="http://schemas.microsoft.com/office/drawing/2014/main" id="{6219EE7B-A0B5-BEBA-C651-B00ECED32B40}"/>
              </a:ext>
            </a:extLst>
          </p:cNvPr>
          <p:cNvSpPr txBox="1"/>
          <p:nvPr/>
        </p:nvSpPr>
        <p:spPr>
          <a:xfrm>
            <a:off x="2688037" y="4757878"/>
            <a:ext cx="1279290" cy="307777"/>
          </a:xfrm>
          <a:prstGeom prst="rect">
            <a:avLst/>
          </a:prstGeom>
          <a:noFill/>
        </p:spPr>
        <p:txBody>
          <a:bodyPr wrap="square" rtlCol="0">
            <a:spAutoFit/>
          </a:bodyPr>
          <a:lstStyle/>
          <a:p>
            <a:r>
              <a:rPr lang="en-US" altLang="zh-CN" sz="1400" b="1" dirty="0"/>
              <a:t>Query-Visible</a:t>
            </a:r>
            <a:endParaRPr lang="zh-CN" altLang="en-US" sz="1400" dirty="0"/>
          </a:p>
        </p:txBody>
      </p:sp>
      <p:sp>
        <p:nvSpPr>
          <p:cNvPr id="60" name="文本框 59">
            <a:extLst>
              <a:ext uri="{FF2B5EF4-FFF2-40B4-BE49-F238E27FC236}">
                <a16:creationId xmlns:a16="http://schemas.microsoft.com/office/drawing/2014/main" id="{A02F32FB-5B5D-884A-6FA9-9EB776FBD5F4}"/>
              </a:ext>
            </a:extLst>
          </p:cNvPr>
          <p:cNvSpPr txBox="1"/>
          <p:nvPr/>
        </p:nvSpPr>
        <p:spPr>
          <a:xfrm>
            <a:off x="4121335" y="4757878"/>
            <a:ext cx="1453326" cy="307777"/>
          </a:xfrm>
          <a:prstGeom prst="rect">
            <a:avLst/>
          </a:prstGeom>
          <a:noFill/>
        </p:spPr>
        <p:txBody>
          <a:bodyPr wrap="square" rtlCol="0">
            <a:spAutoFit/>
          </a:bodyPr>
          <a:lstStyle/>
          <a:p>
            <a:r>
              <a:rPr lang="en-US" altLang="zh-CN" sz="1400" b="1" dirty="0"/>
              <a:t>Gallery-Infrared</a:t>
            </a:r>
            <a:endParaRPr lang="zh-CN" altLang="en-US" sz="1400" dirty="0"/>
          </a:p>
        </p:txBody>
      </p:sp>
      <p:sp>
        <p:nvSpPr>
          <p:cNvPr id="61" name="矩形: 圆角 60">
            <a:extLst>
              <a:ext uri="{FF2B5EF4-FFF2-40B4-BE49-F238E27FC236}">
                <a16:creationId xmlns:a16="http://schemas.microsoft.com/office/drawing/2014/main" id="{5AB3117B-D461-CAEB-580E-8CA93BC8D652}"/>
              </a:ext>
            </a:extLst>
          </p:cNvPr>
          <p:cNvSpPr/>
          <p:nvPr/>
        </p:nvSpPr>
        <p:spPr>
          <a:xfrm>
            <a:off x="2539799" y="2378749"/>
            <a:ext cx="1459058" cy="947071"/>
          </a:xfrm>
          <a:prstGeom prst="roundRect">
            <a:avLst>
              <a:gd name="adj" fmla="val 9100"/>
            </a:avLst>
          </a:prstGeom>
          <a:noFill/>
          <a:ln w="19050">
            <a:solidFill>
              <a:schemeClr val="accent5">
                <a:lumMod val="60000"/>
                <a:lumOff val="4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矩形: 圆角 61">
            <a:extLst>
              <a:ext uri="{FF2B5EF4-FFF2-40B4-BE49-F238E27FC236}">
                <a16:creationId xmlns:a16="http://schemas.microsoft.com/office/drawing/2014/main" id="{B50551F3-7B0E-0BAC-FD08-4D81663D8FAC}"/>
              </a:ext>
            </a:extLst>
          </p:cNvPr>
          <p:cNvSpPr/>
          <p:nvPr/>
        </p:nvSpPr>
        <p:spPr>
          <a:xfrm>
            <a:off x="4136543" y="2382538"/>
            <a:ext cx="1220179" cy="947071"/>
          </a:xfrm>
          <a:prstGeom prst="roundRect">
            <a:avLst>
              <a:gd name="adj" fmla="val 9100"/>
            </a:avLst>
          </a:prstGeom>
          <a:noFill/>
          <a:ln w="19050">
            <a:solidFill>
              <a:schemeClr val="accent5">
                <a:lumMod val="60000"/>
                <a:lumOff val="4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矩形: 圆角 63">
            <a:extLst>
              <a:ext uri="{FF2B5EF4-FFF2-40B4-BE49-F238E27FC236}">
                <a16:creationId xmlns:a16="http://schemas.microsoft.com/office/drawing/2014/main" id="{4DF597BC-9F92-46B7-10FF-52A2601A56B1}"/>
              </a:ext>
            </a:extLst>
          </p:cNvPr>
          <p:cNvSpPr/>
          <p:nvPr/>
        </p:nvSpPr>
        <p:spPr>
          <a:xfrm>
            <a:off x="2541527" y="5020081"/>
            <a:ext cx="1459058" cy="972207"/>
          </a:xfrm>
          <a:prstGeom prst="roundRect">
            <a:avLst>
              <a:gd name="adj" fmla="val 9100"/>
            </a:avLst>
          </a:prstGeom>
          <a:noFill/>
          <a:ln w="19050">
            <a:solidFill>
              <a:schemeClr val="accent5">
                <a:lumMod val="60000"/>
                <a:lumOff val="4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矩形: 圆角 64">
            <a:extLst>
              <a:ext uri="{FF2B5EF4-FFF2-40B4-BE49-F238E27FC236}">
                <a16:creationId xmlns:a16="http://schemas.microsoft.com/office/drawing/2014/main" id="{F6B594BA-7B85-A9FB-5FBE-5761AB2B946C}"/>
              </a:ext>
            </a:extLst>
          </p:cNvPr>
          <p:cNvSpPr/>
          <p:nvPr/>
        </p:nvSpPr>
        <p:spPr>
          <a:xfrm>
            <a:off x="4085895" y="5030709"/>
            <a:ext cx="1453326" cy="961580"/>
          </a:xfrm>
          <a:prstGeom prst="roundRect">
            <a:avLst>
              <a:gd name="adj" fmla="val 9100"/>
            </a:avLst>
          </a:prstGeom>
          <a:noFill/>
          <a:ln w="19050">
            <a:solidFill>
              <a:srgbClr val="92D05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矩形: 圆角 65">
            <a:extLst>
              <a:ext uri="{FF2B5EF4-FFF2-40B4-BE49-F238E27FC236}">
                <a16:creationId xmlns:a16="http://schemas.microsoft.com/office/drawing/2014/main" id="{70CA8044-FFBF-29CE-E4DF-151528537C36}"/>
              </a:ext>
            </a:extLst>
          </p:cNvPr>
          <p:cNvSpPr/>
          <p:nvPr/>
        </p:nvSpPr>
        <p:spPr>
          <a:xfrm>
            <a:off x="5690275" y="3773238"/>
            <a:ext cx="2996527" cy="639231"/>
          </a:xfrm>
          <a:prstGeom prst="round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67" name="文本框 66">
                <a:extLst>
                  <a:ext uri="{FF2B5EF4-FFF2-40B4-BE49-F238E27FC236}">
                    <a16:creationId xmlns:a16="http://schemas.microsoft.com/office/drawing/2014/main" id="{7AD4F87B-B7F0-B784-EABA-D8035E1FC633}"/>
                  </a:ext>
                </a:extLst>
              </p:cNvPr>
              <p:cNvSpPr txBox="1"/>
              <p:nvPr/>
            </p:nvSpPr>
            <p:spPr>
              <a:xfrm>
                <a:off x="5763847" y="5197588"/>
                <a:ext cx="3296071" cy="523220"/>
              </a:xfrm>
              <a:prstGeom prst="rect">
                <a:avLst/>
              </a:prstGeom>
              <a:noFill/>
            </p:spPr>
            <p:txBody>
              <a:bodyPr wrap="square" rtlCol="0">
                <a:spAutoFit/>
              </a:bodyPr>
              <a:lstStyle/>
              <a:p>
                <a:r>
                  <a:rPr lang="en-US" altLang="zh-CN" sz="1400" dirty="0"/>
                  <a:t>An </a:t>
                </a:r>
                <a:r>
                  <a:rPr lang="en-US" altLang="zh-CN" sz="1400" dirty="0">
                    <a:solidFill>
                      <a:srgbClr val="FF0000"/>
                    </a:solidFill>
                  </a:rPr>
                  <a:t>infrared</a:t>
                </a:r>
                <a:r>
                  <a:rPr lang="en-US" altLang="zh-CN" sz="1400" dirty="0"/>
                  <a:t> photo of a </a:t>
                </a:r>
                <a14:m>
                  <m:oMath xmlns:m="http://schemas.openxmlformats.org/officeDocument/2006/math">
                    <m:sSub>
                      <m:sSubPr>
                        <m:ctrlPr>
                          <a:rPr lang="en-US" altLang="zh-CN" sz="1400" b="0" i="1" smtClean="0">
                            <a:latin typeface="Cambria Math" panose="02040503050406030204" pitchFamily="18" charset="0"/>
                          </a:rPr>
                        </m:ctrlPr>
                      </m:sSubPr>
                      <m:e>
                        <m:r>
                          <a:rPr lang="en-US" altLang="zh-CN" sz="1400" b="0" i="1" smtClean="0">
                            <a:latin typeface="Cambria Math" panose="02040503050406030204" pitchFamily="18" charset="0"/>
                          </a:rPr>
                          <m:t>[</m:t>
                        </m:r>
                        <m:r>
                          <a:rPr lang="en-US" altLang="zh-CN" sz="1400" b="0" i="1" smtClean="0">
                            <a:latin typeface="Cambria Math" panose="02040503050406030204" pitchFamily="18" charset="0"/>
                          </a:rPr>
                          <m:t>𝑋</m:t>
                        </m:r>
                        <m:r>
                          <a:rPr lang="en-US" altLang="zh-CN" sz="1400" b="0" i="1" smtClean="0">
                            <a:latin typeface="Cambria Math" panose="02040503050406030204" pitchFamily="18" charset="0"/>
                          </a:rPr>
                          <m:t>]</m:t>
                        </m:r>
                      </m:e>
                      <m:sub>
                        <m:r>
                          <a:rPr lang="en-US" altLang="zh-CN" sz="1400" b="0" i="1" smtClean="0">
                            <a:latin typeface="Cambria Math" panose="02040503050406030204" pitchFamily="18" charset="0"/>
                          </a:rPr>
                          <m:t>1</m:t>
                        </m:r>
                      </m:sub>
                    </m:sSub>
                    <m:r>
                      <a:rPr lang="en-US" altLang="zh-CN" sz="1400" b="0" i="1" smtClean="0">
                        <a:latin typeface="Cambria Math" panose="02040503050406030204" pitchFamily="18" charset="0"/>
                      </a:rPr>
                      <m:t>…</m:t>
                    </m:r>
                    <m:sSub>
                      <m:sSubPr>
                        <m:ctrlPr>
                          <a:rPr lang="en-US" altLang="zh-CN" sz="1400" i="1">
                            <a:latin typeface="Cambria Math" panose="02040503050406030204" pitchFamily="18" charset="0"/>
                          </a:rPr>
                        </m:ctrlPr>
                      </m:sSubPr>
                      <m:e>
                        <m:d>
                          <m:dPr>
                            <m:begChr m:val="["/>
                            <m:endChr m:val="]"/>
                            <m:ctrlPr>
                              <a:rPr lang="en-US" altLang="zh-CN" sz="1400" i="1">
                                <a:latin typeface="Cambria Math" panose="02040503050406030204" pitchFamily="18" charset="0"/>
                              </a:rPr>
                            </m:ctrlPr>
                          </m:dPr>
                          <m:e>
                            <m:r>
                              <a:rPr lang="en-US" altLang="zh-CN" sz="1400" i="1">
                                <a:latin typeface="Cambria Math" panose="02040503050406030204" pitchFamily="18" charset="0"/>
                              </a:rPr>
                              <m:t>𝑋</m:t>
                            </m:r>
                          </m:e>
                        </m:d>
                      </m:e>
                      <m:sub>
                        <m:r>
                          <a:rPr lang="en-US" altLang="zh-CN" sz="1400" b="0" i="1" smtClean="0">
                            <a:latin typeface="Cambria Math" panose="02040503050406030204" pitchFamily="18" charset="0"/>
                          </a:rPr>
                          <m:t>𝑀</m:t>
                        </m:r>
                      </m:sub>
                    </m:sSub>
                    <m:r>
                      <a:rPr lang="en-US" altLang="zh-CN" sz="1400" b="0" i="1" smtClean="0">
                        <a:latin typeface="Cambria Math" panose="02040503050406030204" pitchFamily="18" charset="0"/>
                      </a:rPr>
                      <m:t> </m:t>
                    </m:r>
                  </m:oMath>
                </a14:m>
                <a:r>
                  <a:rPr lang="en-US" altLang="zh-CN" sz="1400" dirty="0"/>
                  <a:t>person</a:t>
                </a:r>
              </a:p>
              <a:p>
                <a:r>
                  <a:rPr lang="en-US" altLang="zh-CN" sz="1400" dirty="0"/>
                  <a:t>A </a:t>
                </a:r>
                <a:r>
                  <a:rPr lang="en-US" altLang="zh-CN" sz="1400" dirty="0">
                    <a:solidFill>
                      <a:srgbClr val="FF0000"/>
                    </a:solidFill>
                  </a:rPr>
                  <a:t>visible</a:t>
                </a:r>
                <a:r>
                  <a:rPr lang="en-US" altLang="zh-CN" sz="1400" dirty="0"/>
                  <a:t> photo of a </a:t>
                </a:r>
                <a14:m>
                  <m:oMath xmlns:m="http://schemas.openxmlformats.org/officeDocument/2006/math">
                    <m:sSub>
                      <m:sSubPr>
                        <m:ctrlPr>
                          <a:rPr lang="en-US" altLang="zh-CN" sz="1400" b="0" i="1" smtClean="0">
                            <a:latin typeface="Cambria Math" panose="02040503050406030204" pitchFamily="18" charset="0"/>
                          </a:rPr>
                        </m:ctrlPr>
                      </m:sSubPr>
                      <m:e>
                        <m:r>
                          <a:rPr lang="en-US" altLang="zh-CN" sz="1400" b="0" i="1" smtClean="0">
                            <a:latin typeface="Cambria Math" panose="02040503050406030204" pitchFamily="18" charset="0"/>
                          </a:rPr>
                          <m:t>[</m:t>
                        </m:r>
                        <m:r>
                          <a:rPr lang="en-US" altLang="zh-CN" sz="1400" b="0" i="1" smtClean="0">
                            <a:latin typeface="Cambria Math" panose="02040503050406030204" pitchFamily="18" charset="0"/>
                          </a:rPr>
                          <m:t>𝑋</m:t>
                        </m:r>
                        <m:r>
                          <a:rPr lang="en-US" altLang="zh-CN" sz="1400" b="0" i="1" smtClean="0">
                            <a:latin typeface="Cambria Math" panose="02040503050406030204" pitchFamily="18" charset="0"/>
                          </a:rPr>
                          <m:t>]</m:t>
                        </m:r>
                      </m:e>
                      <m:sub>
                        <m:r>
                          <a:rPr lang="en-US" altLang="zh-CN" sz="1400" b="0" i="1" smtClean="0">
                            <a:latin typeface="Cambria Math" panose="02040503050406030204" pitchFamily="18" charset="0"/>
                          </a:rPr>
                          <m:t>1</m:t>
                        </m:r>
                      </m:sub>
                    </m:sSub>
                    <m:r>
                      <a:rPr lang="en-US" altLang="zh-CN" sz="1400" b="0" i="1" smtClean="0">
                        <a:latin typeface="Cambria Math" panose="02040503050406030204" pitchFamily="18" charset="0"/>
                      </a:rPr>
                      <m:t>…</m:t>
                    </m:r>
                    <m:sSub>
                      <m:sSubPr>
                        <m:ctrlPr>
                          <a:rPr lang="en-US" altLang="zh-CN" sz="1400" i="1">
                            <a:latin typeface="Cambria Math" panose="02040503050406030204" pitchFamily="18" charset="0"/>
                          </a:rPr>
                        </m:ctrlPr>
                      </m:sSubPr>
                      <m:e>
                        <m:d>
                          <m:dPr>
                            <m:begChr m:val="["/>
                            <m:endChr m:val="]"/>
                            <m:ctrlPr>
                              <a:rPr lang="en-US" altLang="zh-CN" sz="1400" i="1">
                                <a:latin typeface="Cambria Math" panose="02040503050406030204" pitchFamily="18" charset="0"/>
                              </a:rPr>
                            </m:ctrlPr>
                          </m:dPr>
                          <m:e>
                            <m:r>
                              <a:rPr lang="en-US" altLang="zh-CN" sz="1400" i="1">
                                <a:latin typeface="Cambria Math" panose="02040503050406030204" pitchFamily="18" charset="0"/>
                              </a:rPr>
                              <m:t>𝑋</m:t>
                            </m:r>
                          </m:e>
                        </m:d>
                      </m:e>
                      <m:sub>
                        <m:r>
                          <a:rPr lang="en-US" altLang="zh-CN" sz="1400" b="0" i="1" smtClean="0">
                            <a:latin typeface="Cambria Math" panose="02040503050406030204" pitchFamily="18" charset="0"/>
                          </a:rPr>
                          <m:t>𝑀</m:t>
                        </m:r>
                      </m:sub>
                    </m:sSub>
                    <m:r>
                      <a:rPr lang="en-US" altLang="zh-CN" sz="1400" b="0" i="1" smtClean="0">
                        <a:latin typeface="Cambria Math" panose="02040503050406030204" pitchFamily="18" charset="0"/>
                      </a:rPr>
                      <m:t> </m:t>
                    </m:r>
                    <m:r>
                      <m:rPr>
                        <m:sty m:val="p"/>
                      </m:rPr>
                      <a:rPr lang="en-US" altLang="zh-CN" sz="1400" b="0" i="0" smtClean="0">
                        <a:latin typeface="Cambria Math" panose="02040503050406030204" pitchFamily="18" charset="0"/>
                      </a:rPr>
                      <m:t>person</m:t>
                    </m:r>
                    <m:r>
                      <a:rPr lang="en-US" altLang="zh-CN" sz="1400" b="0" i="0" smtClean="0">
                        <a:latin typeface="Cambria Math" panose="02040503050406030204" pitchFamily="18" charset="0"/>
                      </a:rPr>
                      <m:t>.</m:t>
                    </m:r>
                  </m:oMath>
                </a14:m>
                <a:endParaRPr lang="zh-CN" altLang="en-US" sz="1400" dirty="0"/>
              </a:p>
            </p:txBody>
          </p:sp>
        </mc:Choice>
        <mc:Fallback xmlns="">
          <p:sp>
            <p:nvSpPr>
              <p:cNvPr id="67" name="文本框 66">
                <a:extLst>
                  <a:ext uri="{FF2B5EF4-FFF2-40B4-BE49-F238E27FC236}">
                    <a16:creationId xmlns:a16="http://schemas.microsoft.com/office/drawing/2014/main" id="{7AD4F87B-B7F0-B784-EABA-D8035E1FC633}"/>
                  </a:ext>
                </a:extLst>
              </p:cNvPr>
              <p:cNvSpPr txBox="1">
                <a:spLocks noRot="1" noChangeAspect="1" noMove="1" noResize="1" noEditPoints="1" noAdjustHandles="1" noChangeArrowheads="1" noChangeShapeType="1" noTextEdit="1"/>
              </p:cNvSpPr>
              <p:nvPr/>
            </p:nvSpPr>
            <p:spPr>
              <a:xfrm>
                <a:off x="5763847" y="5197588"/>
                <a:ext cx="3296071" cy="523220"/>
              </a:xfrm>
              <a:prstGeom prst="rect">
                <a:avLst/>
              </a:prstGeom>
              <a:blipFill>
                <a:blip r:embed="rId17"/>
                <a:stretch>
                  <a:fillRect l="-556" t="-2353" b="-11765"/>
                </a:stretch>
              </a:blipFill>
            </p:spPr>
            <p:txBody>
              <a:bodyPr/>
              <a:lstStyle/>
              <a:p>
                <a:r>
                  <a:rPr lang="zh-CN" altLang="en-US">
                    <a:noFill/>
                  </a:rPr>
                  <a:t> </a:t>
                </a:r>
              </a:p>
            </p:txBody>
          </p:sp>
        </mc:Fallback>
      </mc:AlternateContent>
      <p:sp>
        <p:nvSpPr>
          <p:cNvPr id="68" name="矩形: 圆角 67">
            <a:extLst>
              <a:ext uri="{FF2B5EF4-FFF2-40B4-BE49-F238E27FC236}">
                <a16:creationId xmlns:a16="http://schemas.microsoft.com/office/drawing/2014/main" id="{351610FA-E6B9-49FD-F90A-E163B0F048B5}"/>
              </a:ext>
            </a:extLst>
          </p:cNvPr>
          <p:cNvSpPr/>
          <p:nvPr/>
        </p:nvSpPr>
        <p:spPr>
          <a:xfrm>
            <a:off x="5690275" y="5139583"/>
            <a:ext cx="3296071" cy="639231"/>
          </a:xfrm>
          <a:prstGeom prst="round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 name="矩形 68">
            <a:extLst>
              <a:ext uri="{FF2B5EF4-FFF2-40B4-BE49-F238E27FC236}">
                <a16:creationId xmlns:a16="http://schemas.microsoft.com/office/drawing/2014/main" id="{60C720CB-D941-04CC-033E-938B97BC7BD0}"/>
              </a:ext>
            </a:extLst>
          </p:cNvPr>
          <p:cNvSpPr/>
          <p:nvPr/>
        </p:nvSpPr>
        <p:spPr>
          <a:xfrm>
            <a:off x="373114" y="1346993"/>
            <a:ext cx="8686803" cy="4796306"/>
          </a:xfrm>
          <a:prstGeom prst="rect">
            <a:avLst/>
          </a:prstGeom>
          <a:noFill/>
          <a:ln w="19050">
            <a:solidFill>
              <a:schemeClr val="accent1"/>
            </a:solidFill>
            <a:prstDash val="lg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0" name="直接连接符 69">
            <a:extLst>
              <a:ext uri="{FF2B5EF4-FFF2-40B4-BE49-F238E27FC236}">
                <a16:creationId xmlns:a16="http://schemas.microsoft.com/office/drawing/2014/main" id="{5A2F5A2E-2D59-E46E-E20A-5D1DBB82E7A6}"/>
              </a:ext>
            </a:extLst>
          </p:cNvPr>
          <p:cNvCxnSpPr>
            <a:cxnSpLocks/>
          </p:cNvCxnSpPr>
          <p:nvPr/>
        </p:nvCxnSpPr>
        <p:spPr>
          <a:xfrm>
            <a:off x="373114" y="1849034"/>
            <a:ext cx="8686803" cy="0"/>
          </a:xfrm>
          <a:prstGeom prst="line">
            <a:avLst/>
          </a:prstGeom>
          <a:ln w="12700">
            <a:solidFill>
              <a:schemeClr val="accent5">
                <a:lumMod val="40000"/>
                <a:lumOff val="60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72" name="直接连接符 71">
            <a:extLst>
              <a:ext uri="{FF2B5EF4-FFF2-40B4-BE49-F238E27FC236}">
                <a16:creationId xmlns:a16="http://schemas.microsoft.com/office/drawing/2014/main" id="{BDE4F181-0C70-F718-52B0-C771D5BAE78F}"/>
              </a:ext>
            </a:extLst>
          </p:cNvPr>
          <p:cNvCxnSpPr>
            <a:cxnSpLocks/>
          </p:cNvCxnSpPr>
          <p:nvPr/>
        </p:nvCxnSpPr>
        <p:spPr>
          <a:xfrm flipV="1">
            <a:off x="2413932" y="1336296"/>
            <a:ext cx="0" cy="4807003"/>
          </a:xfrm>
          <a:prstGeom prst="line">
            <a:avLst/>
          </a:prstGeom>
          <a:ln w="12700">
            <a:solidFill>
              <a:schemeClr val="accent5">
                <a:lumMod val="40000"/>
                <a:lumOff val="60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75" name="直接连接符 74">
            <a:extLst>
              <a:ext uri="{FF2B5EF4-FFF2-40B4-BE49-F238E27FC236}">
                <a16:creationId xmlns:a16="http://schemas.microsoft.com/office/drawing/2014/main" id="{F3BF7E64-F439-2884-6887-684E0284B28D}"/>
              </a:ext>
            </a:extLst>
          </p:cNvPr>
          <p:cNvCxnSpPr>
            <a:cxnSpLocks/>
          </p:cNvCxnSpPr>
          <p:nvPr/>
        </p:nvCxnSpPr>
        <p:spPr>
          <a:xfrm>
            <a:off x="373113" y="3451637"/>
            <a:ext cx="8686803" cy="0"/>
          </a:xfrm>
          <a:prstGeom prst="line">
            <a:avLst/>
          </a:prstGeom>
          <a:ln w="12700">
            <a:solidFill>
              <a:schemeClr val="accent5">
                <a:lumMod val="40000"/>
                <a:lumOff val="60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76" name="直接连接符 75">
            <a:extLst>
              <a:ext uri="{FF2B5EF4-FFF2-40B4-BE49-F238E27FC236}">
                <a16:creationId xmlns:a16="http://schemas.microsoft.com/office/drawing/2014/main" id="{417AF83E-018F-A77F-7DDD-FC639F2AA54B}"/>
              </a:ext>
            </a:extLst>
          </p:cNvPr>
          <p:cNvCxnSpPr>
            <a:cxnSpLocks/>
          </p:cNvCxnSpPr>
          <p:nvPr/>
        </p:nvCxnSpPr>
        <p:spPr>
          <a:xfrm>
            <a:off x="373112" y="4812952"/>
            <a:ext cx="8686803" cy="0"/>
          </a:xfrm>
          <a:prstGeom prst="line">
            <a:avLst/>
          </a:prstGeom>
          <a:ln w="12700">
            <a:solidFill>
              <a:schemeClr val="accent5">
                <a:lumMod val="40000"/>
                <a:lumOff val="60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77" name="直接连接符 76">
            <a:extLst>
              <a:ext uri="{FF2B5EF4-FFF2-40B4-BE49-F238E27FC236}">
                <a16:creationId xmlns:a16="http://schemas.microsoft.com/office/drawing/2014/main" id="{03CBD1A9-DEDF-E400-7899-CADDD967764A}"/>
              </a:ext>
            </a:extLst>
          </p:cNvPr>
          <p:cNvCxnSpPr>
            <a:cxnSpLocks/>
          </p:cNvCxnSpPr>
          <p:nvPr/>
        </p:nvCxnSpPr>
        <p:spPr>
          <a:xfrm flipV="1">
            <a:off x="5611317" y="1336296"/>
            <a:ext cx="0" cy="4807003"/>
          </a:xfrm>
          <a:prstGeom prst="line">
            <a:avLst/>
          </a:prstGeom>
          <a:ln w="12700">
            <a:solidFill>
              <a:schemeClr val="accent5">
                <a:lumMod val="40000"/>
                <a:lumOff val="60000"/>
              </a:schemeClr>
            </a:solidFill>
            <a:prstDash val="lgDash"/>
          </a:ln>
        </p:spPr>
        <p:style>
          <a:lnRef idx="1">
            <a:schemeClr val="accent1"/>
          </a:lnRef>
          <a:fillRef idx="0">
            <a:schemeClr val="accent1"/>
          </a:fillRef>
          <a:effectRef idx="0">
            <a:schemeClr val="accent1"/>
          </a:effectRef>
          <a:fontRef idx="minor">
            <a:schemeClr val="tx1"/>
          </a:fontRef>
        </p:style>
      </p:cxnSp>
      <p:sp>
        <p:nvSpPr>
          <p:cNvPr id="78" name="文本框 77">
            <a:extLst>
              <a:ext uri="{FF2B5EF4-FFF2-40B4-BE49-F238E27FC236}">
                <a16:creationId xmlns:a16="http://schemas.microsoft.com/office/drawing/2014/main" id="{B3013915-FE5C-206F-962D-76FF3D5F30DE}"/>
              </a:ext>
            </a:extLst>
          </p:cNvPr>
          <p:cNvSpPr txBox="1"/>
          <p:nvPr/>
        </p:nvSpPr>
        <p:spPr>
          <a:xfrm>
            <a:off x="3411027" y="1431716"/>
            <a:ext cx="1112599" cy="338554"/>
          </a:xfrm>
          <a:prstGeom prst="rect">
            <a:avLst/>
          </a:prstGeom>
          <a:noFill/>
        </p:spPr>
        <p:txBody>
          <a:bodyPr wrap="square" rtlCol="0" anchor="t">
            <a:spAutoFit/>
          </a:bodyPr>
          <a:lstStyle/>
          <a:p>
            <a:r>
              <a:rPr lang="zh-CN" altLang="en-US" sz="1600" b="1" dirty="0">
                <a:latin typeface="华文楷体" panose="02010600040101010101" pitchFamily="2" charset="-122"/>
                <a:ea typeface="华文楷体" panose="02010600040101010101" pitchFamily="2" charset="-122"/>
              </a:rPr>
              <a:t>任务挑战</a:t>
            </a:r>
            <a:endParaRPr lang="en-US" altLang="zh-CN" sz="1600" b="1" dirty="0">
              <a:latin typeface="华文楷体" panose="02010600040101010101" pitchFamily="2" charset="-122"/>
              <a:ea typeface="华文楷体" panose="02010600040101010101" pitchFamily="2" charset="-122"/>
            </a:endParaRPr>
          </a:p>
        </p:txBody>
      </p:sp>
      <p:sp>
        <p:nvSpPr>
          <p:cNvPr id="79" name="文本框 78">
            <a:extLst>
              <a:ext uri="{FF2B5EF4-FFF2-40B4-BE49-F238E27FC236}">
                <a16:creationId xmlns:a16="http://schemas.microsoft.com/office/drawing/2014/main" id="{6BB921FA-1D5F-46D6-A549-EDF1A749820B}"/>
              </a:ext>
            </a:extLst>
          </p:cNvPr>
          <p:cNvSpPr txBox="1"/>
          <p:nvPr/>
        </p:nvSpPr>
        <p:spPr>
          <a:xfrm>
            <a:off x="6419577" y="1436566"/>
            <a:ext cx="1786546" cy="338554"/>
          </a:xfrm>
          <a:prstGeom prst="rect">
            <a:avLst/>
          </a:prstGeom>
          <a:noFill/>
        </p:spPr>
        <p:txBody>
          <a:bodyPr wrap="square" rtlCol="0" anchor="t">
            <a:spAutoFit/>
          </a:bodyPr>
          <a:lstStyle/>
          <a:p>
            <a:r>
              <a:rPr lang="zh-CN" altLang="en-US" sz="1600" b="1" dirty="0">
                <a:latin typeface="华文楷体" panose="02010600040101010101" pitchFamily="2" charset="-122"/>
                <a:ea typeface="华文楷体" panose="02010600040101010101" pitchFamily="2" charset="-122"/>
              </a:rPr>
              <a:t>相关</a:t>
            </a:r>
            <a:r>
              <a:rPr lang="en-US" altLang="zh-CN" sz="1600" b="1" dirty="0">
                <a:latin typeface="华文楷体" panose="02010600040101010101" pitchFamily="2" charset="-122"/>
                <a:ea typeface="华文楷体" panose="02010600040101010101" pitchFamily="2" charset="-122"/>
              </a:rPr>
              <a:t>prompt</a:t>
            </a:r>
            <a:r>
              <a:rPr lang="zh-CN" altLang="en-US" sz="1600" b="1" dirty="0">
                <a:latin typeface="华文楷体" panose="02010600040101010101" pitchFamily="2" charset="-122"/>
                <a:ea typeface="华文楷体" panose="02010600040101010101" pitchFamily="2" charset="-122"/>
              </a:rPr>
              <a:t>修改</a:t>
            </a:r>
            <a:endParaRPr lang="en-US" altLang="zh-CN" sz="1600" b="1" dirty="0">
              <a:latin typeface="华文楷体" panose="02010600040101010101" pitchFamily="2" charset="-122"/>
              <a:ea typeface="华文楷体" panose="02010600040101010101" pitchFamily="2" charset="-122"/>
            </a:endParaRPr>
          </a:p>
        </p:txBody>
      </p:sp>
      <p:sp>
        <p:nvSpPr>
          <p:cNvPr id="80" name="文本框 79">
            <a:extLst>
              <a:ext uri="{FF2B5EF4-FFF2-40B4-BE49-F238E27FC236}">
                <a16:creationId xmlns:a16="http://schemas.microsoft.com/office/drawing/2014/main" id="{43E14AA0-8C73-D7DD-5F35-01704385B45E}"/>
              </a:ext>
            </a:extLst>
          </p:cNvPr>
          <p:cNvSpPr txBox="1"/>
          <p:nvPr/>
        </p:nvSpPr>
        <p:spPr>
          <a:xfrm>
            <a:off x="283755" y="6191915"/>
            <a:ext cx="6370655" cy="729430"/>
          </a:xfrm>
          <a:prstGeom prst="rect">
            <a:avLst/>
          </a:prstGeom>
          <a:noFill/>
        </p:spPr>
        <p:txBody>
          <a:bodyPr wrap="none" rtlCol="0" anchor="t">
            <a:spAutoFit/>
          </a:bodyPr>
          <a:lstStyle/>
          <a:p>
            <a:pPr marL="285750" indent="-285750">
              <a:lnSpc>
                <a:spcPct val="130000"/>
              </a:lnSpc>
              <a:buFont typeface="STKaiti" panose="02010600040101010101" pitchFamily="2" charset="-122"/>
              <a:buChar char="★"/>
            </a:pPr>
            <a:r>
              <a:rPr lang="zh-CN" altLang="en-US" b="1" dirty="0">
                <a:solidFill>
                  <a:srgbClr val="FF0000"/>
                </a:solidFill>
                <a:latin typeface="STKaiti" panose="02010600040101010101" charset="-122"/>
                <a:ea typeface="STKaiti" panose="02010600040101010101" charset="-122"/>
                <a:sym typeface="+mn-ea"/>
              </a:rPr>
              <a:t>都根据其任务特性在</a:t>
            </a:r>
            <a:r>
              <a:rPr lang="en-US" altLang="zh-CN" b="1" dirty="0">
                <a:solidFill>
                  <a:srgbClr val="FF0000"/>
                </a:solidFill>
                <a:latin typeface="STKaiti" panose="02010600040101010101" charset="-122"/>
                <a:ea typeface="STKaiti" panose="02010600040101010101" charset="-122"/>
                <a:sym typeface="+mn-ea"/>
              </a:rPr>
              <a:t>CLIP-</a:t>
            </a:r>
            <a:r>
              <a:rPr lang="en-US" altLang="zh-CN" b="1" dirty="0" err="1">
                <a:solidFill>
                  <a:srgbClr val="FF0000"/>
                </a:solidFill>
                <a:latin typeface="STKaiti" panose="02010600040101010101" charset="-122"/>
                <a:ea typeface="STKaiti" panose="02010600040101010101" charset="-122"/>
                <a:sym typeface="+mn-ea"/>
              </a:rPr>
              <a:t>ReID</a:t>
            </a:r>
            <a:r>
              <a:rPr lang="zh-CN" altLang="en-US" b="1" dirty="0">
                <a:solidFill>
                  <a:srgbClr val="FF0000"/>
                </a:solidFill>
                <a:latin typeface="STKaiti" panose="02010600040101010101" charset="-122"/>
                <a:ea typeface="STKaiti" panose="02010600040101010101" charset="-122"/>
                <a:sym typeface="+mn-ea"/>
              </a:rPr>
              <a:t>的基础上对</a:t>
            </a:r>
            <a:r>
              <a:rPr lang="en-US" altLang="zh-CN" b="1" dirty="0">
                <a:solidFill>
                  <a:srgbClr val="FF0000"/>
                </a:solidFill>
                <a:latin typeface="STKaiti" panose="02010600040101010101" charset="-122"/>
                <a:ea typeface="STKaiti" panose="02010600040101010101" charset="-122"/>
                <a:sym typeface="+mn-ea"/>
              </a:rPr>
              <a:t>prompt</a:t>
            </a:r>
            <a:r>
              <a:rPr lang="zh-CN" altLang="en-US" b="1" dirty="0">
                <a:solidFill>
                  <a:srgbClr val="FF0000"/>
                </a:solidFill>
                <a:latin typeface="STKaiti" panose="02010600040101010101" charset="-122"/>
                <a:ea typeface="STKaiti" panose="02010600040101010101" charset="-122"/>
                <a:sym typeface="+mn-ea"/>
              </a:rPr>
              <a:t>进行调整</a:t>
            </a:r>
            <a:endParaRPr lang="en-US" altLang="zh-CN" b="1" dirty="0">
              <a:solidFill>
                <a:srgbClr val="FF0000"/>
              </a:solidFill>
              <a:latin typeface="STKaiti" panose="02010600040101010101" charset="-122"/>
              <a:ea typeface="STKaiti" panose="02010600040101010101" charset="-122"/>
              <a:sym typeface="+mn-ea"/>
            </a:endParaRPr>
          </a:p>
          <a:p>
            <a:pPr marL="285750" indent="-285750">
              <a:buFont typeface="Wingdings" panose="05000000000000000000" pitchFamily="2" charset="2"/>
              <a:buChar char="p"/>
            </a:pPr>
            <a:endParaRPr lang="zh-CN" altLang="en-US" b="1" dirty="0">
              <a:solidFill>
                <a:srgbClr val="FF0000"/>
              </a:solidFill>
              <a:latin typeface="STKaiti" panose="02010600040101010101" charset="-122"/>
              <a:ea typeface="STKaiti" panose="02010600040101010101" charset="-122"/>
              <a:sym typeface="+mn-ea"/>
            </a:endParaRPr>
          </a:p>
        </p:txBody>
      </p:sp>
    </p:spTree>
    <p:extLst>
      <p:ext uri="{BB962C8B-B14F-4D97-AF65-F5344CB8AC3E}">
        <p14:creationId xmlns:p14="http://schemas.microsoft.com/office/powerpoint/2010/main" val="1295710291"/>
      </p:ext>
    </p:extLst>
  </p:cSld>
  <p:clrMapOvr>
    <a:masterClrMapping/>
  </p:clrMapOvr>
  <mc:AlternateContent xmlns:mc="http://schemas.openxmlformats.org/markup-compatibility/2006" xmlns:p14="http://schemas.microsoft.com/office/powerpoint/2010/main">
    <mc:Choice Requires="p14">
      <p:transition spd="slow" p14:dur="2000" advTm="44214"/>
    </mc:Choice>
    <mc:Fallback xmlns="">
      <p:transition spd="slow" advTm="44214"/>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blipFill>
        <a:effectLst/>
      </p:bgPr>
    </p:bg>
    <p:spTree>
      <p:nvGrpSpPr>
        <p:cNvPr id="1" name=""/>
        <p:cNvGrpSpPr/>
        <p:nvPr/>
      </p:nvGrpSpPr>
      <p:grpSpPr>
        <a:xfrm>
          <a:off x="0" y="0"/>
          <a:ext cx="0" cy="0"/>
          <a:chOff x="0" y="0"/>
          <a:chExt cx="0" cy="0"/>
        </a:xfrm>
      </p:grpSpPr>
      <p:pic>
        <p:nvPicPr>
          <p:cNvPr id="83" name="图片 82">
            <a:extLst>
              <a:ext uri="{FF2B5EF4-FFF2-40B4-BE49-F238E27FC236}">
                <a16:creationId xmlns:a16="http://schemas.microsoft.com/office/drawing/2014/main" id="{D82A9D86-893C-E751-4745-6EA9BA5A8A7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717127" y="4402256"/>
            <a:ext cx="502660" cy="1260000"/>
          </a:xfrm>
          <a:prstGeom prst="rect">
            <a:avLst/>
          </a:prstGeom>
        </p:spPr>
      </p:pic>
      <p:grpSp>
        <p:nvGrpSpPr>
          <p:cNvPr id="48" name="组合 47"/>
          <p:cNvGrpSpPr/>
          <p:nvPr/>
        </p:nvGrpSpPr>
        <p:grpSpPr>
          <a:xfrm>
            <a:off x="720725" y="2480299"/>
            <a:ext cx="3234690" cy="1155700"/>
            <a:chOff x="1502" y="6255"/>
            <a:chExt cx="5094" cy="1820"/>
          </a:xfrm>
        </p:grpSpPr>
        <p:sp>
          <p:nvSpPr>
            <p:cNvPr id="17" name="圆角矩形 16"/>
            <p:cNvSpPr/>
            <p:nvPr/>
          </p:nvSpPr>
          <p:spPr>
            <a:xfrm>
              <a:off x="1502" y="6255"/>
              <a:ext cx="4598" cy="1800"/>
            </a:xfrm>
            <a:prstGeom prst="roundRect">
              <a:avLst/>
            </a:prstGeom>
            <a:solidFill>
              <a:srgbClr val="DBF3FD"/>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文本框 17"/>
            <p:cNvSpPr txBox="1"/>
            <p:nvPr/>
          </p:nvSpPr>
          <p:spPr>
            <a:xfrm>
              <a:off x="2115" y="6335"/>
              <a:ext cx="4481" cy="628"/>
            </a:xfrm>
            <a:prstGeom prst="rect">
              <a:avLst/>
            </a:prstGeom>
            <a:noFill/>
          </p:spPr>
          <p:txBody>
            <a:bodyPr wrap="square" rtlCol="0" anchor="t">
              <a:spAutoFit/>
            </a:bodyPr>
            <a:lstStyle/>
            <a:p>
              <a:pPr indent="0">
                <a:buFont typeface="Arial" panose="020B0604020202020204" pitchFamily="34" charset="0"/>
                <a:buNone/>
              </a:pPr>
              <a:r>
                <a:rPr lang="en-US" altLang="zh-CN" sz="2000" b="1" dirty="0">
                  <a:latin typeface="华文楷体" panose="02010600040101010101" pitchFamily="2" charset="-122"/>
                  <a:ea typeface="华文楷体" panose="02010600040101010101" pitchFamily="2" charset="-122"/>
                </a:rPr>
                <a:t>1.</a:t>
              </a:r>
              <a:r>
                <a:rPr lang="zh-CN" altLang="en-US" sz="2000" b="1" dirty="0">
                  <a:latin typeface="华文楷体" panose="02010600040101010101" pitchFamily="2" charset="-122"/>
                  <a:ea typeface="华文楷体" panose="02010600040101010101" pitchFamily="2" charset="-122"/>
                </a:rPr>
                <a:t>文本信息粗粒度</a:t>
              </a:r>
            </a:p>
          </p:txBody>
        </p:sp>
        <p:sp>
          <p:nvSpPr>
            <p:cNvPr id="20" name="同侧圆角矩形 19"/>
            <p:cNvSpPr/>
            <p:nvPr/>
          </p:nvSpPr>
          <p:spPr>
            <a:xfrm rot="10800000">
              <a:off x="1502" y="7045"/>
              <a:ext cx="4598" cy="1030"/>
            </a:xfrm>
            <a:prstGeom prst="round2SameRect">
              <a:avLst/>
            </a:prstGeom>
            <a:solidFill>
              <a:schemeClr val="bg1"/>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chemeClr val="tx1"/>
                </a:solidFill>
                <a:latin typeface="STKaiti" panose="02010600040101010101" charset="-122"/>
                <a:ea typeface="STKaiti" panose="02010600040101010101" charset="-122"/>
                <a:sym typeface="+mn-ea"/>
              </a:endParaRPr>
            </a:p>
          </p:txBody>
        </p:sp>
        <p:sp>
          <p:nvSpPr>
            <p:cNvPr id="19" name="文本框 18"/>
            <p:cNvSpPr txBox="1"/>
            <p:nvPr/>
          </p:nvSpPr>
          <p:spPr>
            <a:xfrm>
              <a:off x="1699" y="7050"/>
              <a:ext cx="4259" cy="1018"/>
            </a:xfrm>
            <a:prstGeom prst="rect">
              <a:avLst/>
            </a:prstGeom>
            <a:noFill/>
          </p:spPr>
          <p:txBody>
            <a:bodyPr wrap="none" rtlCol="0" anchor="t">
              <a:spAutoFit/>
            </a:bodyPr>
            <a:lstStyle/>
            <a:p>
              <a:pPr indent="0" algn="ctr">
                <a:buFont typeface="Wingdings" panose="05000000000000000000" pitchFamily="2" charset="2"/>
                <a:buNone/>
              </a:pPr>
              <a:r>
                <a:rPr kumimoji="1" lang="zh-CN" altLang="en-US" dirty="0">
                  <a:latin typeface="STKaiti" panose="02010600040101010101" charset="-122"/>
                  <a:ea typeface="STKaiti" panose="02010600040101010101" charset="-122"/>
                  <a:sym typeface="+mn-ea"/>
                </a:rPr>
                <a:t>现有方法的</a:t>
              </a:r>
              <a:r>
                <a:rPr kumimoji="1" lang="en-US" altLang="zh-CN" dirty="0">
                  <a:latin typeface="STKaiti" panose="02010600040101010101" charset="-122"/>
                  <a:ea typeface="STKaiti" panose="02010600040101010101" charset="-122"/>
                  <a:sym typeface="+mn-ea"/>
                </a:rPr>
                <a:t>prompt</a:t>
              </a:r>
              <a:r>
                <a:rPr kumimoji="1" lang="zh-CN" altLang="en-US" dirty="0">
                  <a:latin typeface="STKaiti" panose="02010600040101010101" charset="-122"/>
                  <a:ea typeface="STKaiti" panose="02010600040101010101" charset="-122"/>
                  <a:sym typeface="+mn-ea"/>
                </a:rPr>
                <a:t>倾向于</a:t>
              </a:r>
            </a:p>
            <a:p>
              <a:pPr indent="0" algn="ctr">
                <a:buFont typeface="Wingdings" panose="05000000000000000000" pitchFamily="2" charset="2"/>
                <a:buNone/>
              </a:pPr>
              <a:r>
                <a:rPr kumimoji="1" lang="zh-CN" altLang="en-US" dirty="0">
                  <a:latin typeface="STKaiti" panose="02010600040101010101" charset="-122"/>
                  <a:ea typeface="STKaiti" panose="02010600040101010101" charset="-122"/>
                  <a:sym typeface="+mn-ea"/>
                </a:rPr>
                <a:t>捕获图中的全局信息</a:t>
              </a:r>
              <a:endParaRPr lang="zh-CN" altLang="en-US" dirty="0"/>
            </a:p>
          </p:txBody>
        </p:sp>
      </p:grpSp>
      <p:sp>
        <p:nvSpPr>
          <p:cNvPr id="52" name="圆角矩形 51"/>
          <p:cNvSpPr/>
          <p:nvPr/>
        </p:nvSpPr>
        <p:spPr>
          <a:xfrm>
            <a:off x="5433060" y="2475219"/>
            <a:ext cx="2919730" cy="1143000"/>
          </a:xfrm>
          <a:prstGeom prst="roundRect">
            <a:avLst/>
          </a:prstGeom>
          <a:solidFill>
            <a:srgbClr val="DBF3FD"/>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文本框 53"/>
          <p:cNvSpPr txBox="1"/>
          <p:nvPr/>
        </p:nvSpPr>
        <p:spPr>
          <a:xfrm>
            <a:off x="5469255" y="2536814"/>
            <a:ext cx="2845435" cy="400110"/>
          </a:xfrm>
          <a:prstGeom prst="rect">
            <a:avLst/>
          </a:prstGeom>
          <a:noFill/>
        </p:spPr>
        <p:txBody>
          <a:bodyPr wrap="square" rtlCol="0" anchor="t">
            <a:spAutoFit/>
          </a:bodyPr>
          <a:lstStyle/>
          <a:p>
            <a:pPr indent="0" algn="ctr">
              <a:buFont typeface="Arial" panose="020B0604020202020204" pitchFamily="34" charset="0"/>
              <a:buNone/>
            </a:pPr>
            <a:r>
              <a:rPr lang="en-US" altLang="zh-CN" sz="2000" b="1" dirty="0">
                <a:latin typeface="华文楷体" panose="02010600040101010101" pitchFamily="2" charset="-122"/>
                <a:ea typeface="华文楷体" panose="02010600040101010101" pitchFamily="2" charset="-122"/>
              </a:rPr>
              <a:t>2.</a:t>
            </a:r>
            <a:r>
              <a:rPr lang="zh-CN" altLang="en-US" sz="2000" b="1" dirty="0">
                <a:latin typeface="华文楷体" panose="02010600040101010101" pitchFamily="2" charset="-122"/>
                <a:ea typeface="华文楷体" panose="02010600040101010101" pitchFamily="2" charset="-122"/>
              </a:rPr>
              <a:t>缺少针对遮挡的设计</a:t>
            </a:r>
          </a:p>
        </p:txBody>
      </p:sp>
      <p:sp>
        <p:nvSpPr>
          <p:cNvPr id="56" name="同侧圆角矩形 55"/>
          <p:cNvSpPr/>
          <p:nvPr/>
        </p:nvSpPr>
        <p:spPr>
          <a:xfrm rot="10800000">
            <a:off x="5433060" y="2976869"/>
            <a:ext cx="2919730" cy="654050"/>
          </a:xfrm>
          <a:prstGeom prst="round2SameRect">
            <a:avLst/>
          </a:prstGeom>
          <a:solidFill>
            <a:schemeClr val="bg1"/>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chemeClr val="tx1"/>
              </a:solidFill>
              <a:latin typeface="STKaiti" panose="02010600040101010101" charset="-122"/>
              <a:ea typeface="STKaiti" panose="02010600040101010101" charset="-122"/>
              <a:sym typeface="+mn-ea"/>
            </a:endParaRPr>
          </a:p>
        </p:txBody>
      </p:sp>
      <p:sp>
        <p:nvSpPr>
          <p:cNvPr id="58" name="文本框 57"/>
          <p:cNvSpPr txBox="1"/>
          <p:nvPr/>
        </p:nvSpPr>
        <p:spPr>
          <a:xfrm>
            <a:off x="5548157" y="2980044"/>
            <a:ext cx="2723823" cy="646331"/>
          </a:xfrm>
          <a:prstGeom prst="rect">
            <a:avLst/>
          </a:prstGeom>
          <a:noFill/>
        </p:spPr>
        <p:txBody>
          <a:bodyPr wrap="none" rtlCol="0" anchor="t">
            <a:spAutoFit/>
          </a:bodyPr>
          <a:lstStyle/>
          <a:p>
            <a:pPr indent="0" algn="ctr">
              <a:buFont typeface="Wingdings" panose="05000000000000000000" pitchFamily="2" charset="2"/>
              <a:buNone/>
            </a:pPr>
            <a:r>
              <a:rPr kumimoji="1" lang="zh-CN" altLang="en-US" dirty="0">
                <a:latin typeface="STKaiti" panose="02010600040101010101" charset="-122"/>
                <a:ea typeface="STKaiti" panose="02010600040101010101" charset="-122"/>
                <a:sym typeface="+mn-ea"/>
              </a:rPr>
              <a:t>现有方法没有提供遮挡</a:t>
            </a:r>
            <a:endParaRPr kumimoji="1" lang="en-US" altLang="zh-CN" dirty="0">
              <a:latin typeface="STKaiti" panose="02010600040101010101" charset="-122"/>
              <a:ea typeface="STKaiti" panose="02010600040101010101" charset="-122"/>
              <a:sym typeface="+mn-ea"/>
            </a:endParaRPr>
          </a:p>
          <a:p>
            <a:pPr indent="0" algn="ctr">
              <a:buFont typeface="Wingdings" panose="05000000000000000000" pitchFamily="2" charset="2"/>
              <a:buNone/>
            </a:pPr>
            <a:r>
              <a:rPr kumimoji="1" lang="zh-CN" altLang="en-US" dirty="0">
                <a:latin typeface="STKaiti" panose="02010600040101010101" charset="-122"/>
                <a:ea typeface="STKaiti" panose="02010600040101010101" charset="-122"/>
                <a:sym typeface="+mn-ea"/>
              </a:rPr>
              <a:t>场景中必要的上下文信息</a:t>
            </a:r>
          </a:p>
        </p:txBody>
      </p:sp>
      <p:cxnSp>
        <p:nvCxnSpPr>
          <p:cNvPr id="76" name="肘形连接符 75"/>
          <p:cNvCxnSpPr/>
          <p:nvPr/>
        </p:nvCxnSpPr>
        <p:spPr>
          <a:xfrm rot="5400000">
            <a:off x="3514090" y="2181214"/>
            <a:ext cx="1111250" cy="858520"/>
          </a:xfrm>
          <a:prstGeom prst="bentConnector3">
            <a:avLst>
              <a:gd name="adj1" fmla="val 99257"/>
            </a:avLst>
          </a:prstGeom>
        </p:spPr>
        <p:style>
          <a:lnRef idx="1">
            <a:schemeClr val="accent1"/>
          </a:lnRef>
          <a:fillRef idx="0">
            <a:schemeClr val="accent1"/>
          </a:fillRef>
          <a:effectRef idx="0">
            <a:schemeClr val="accent1"/>
          </a:effectRef>
          <a:fontRef idx="minor">
            <a:schemeClr val="tx1"/>
          </a:fontRef>
        </p:style>
      </p:cxnSp>
      <p:cxnSp>
        <p:nvCxnSpPr>
          <p:cNvPr id="77" name="肘形连接符 76"/>
          <p:cNvCxnSpPr>
            <a:cxnSpLocks/>
          </p:cNvCxnSpPr>
          <p:nvPr/>
        </p:nvCxnSpPr>
        <p:spPr>
          <a:xfrm rot="16200000" flipV="1">
            <a:off x="4401820" y="2164704"/>
            <a:ext cx="1100455" cy="907415"/>
          </a:xfrm>
          <a:prstGeom prst="bentConnector3">
            <a:avLst>
              <a:gd name="adj1" fmla="val 1211"/>
            </a:avLst>
          </a:prstGeom>
        </p:spPr>
        <p:style>
          <a:lnRef idx="1">
            <a:schemeClr val="accent1"/>
          </a:lnRef>
          <a:fillRef idx="0">
            <a:schemeClr val="accent1"/>
          </a:fillRef>
          <a:effectRef idx="0">
            <a:schemeClr val="accent1"/>
          </a:effectRef>
          <a:fontRef idx="minor">
            <a:schemeClr val="tx1"/>
          </a:fontRef>
        </p:style>
      </p:cxnSp>
      <p:sp>
        <p:nvSpPr>
          <p:cNvPr id="7" name="标题 2">
            <a:extLst>
              <a:ext uri="{FF2B5EF4-FFF2-40B4-BE49-F238E27FC236}">
                <a16:creationId xmlns:a16="http://schemas.microsoft.com/office/drawing/2014/main" id="{6A6D55D4-FC40-F269-64FC-849CD2E3EDC2}"/>
              </a:ext>
            </a:extLst>
          </p:cNvPr>
          <p:cNvSpPr txBox="1">
            <a:spLocks/>
          </p:cNvSpPr>
          <p:nvPr/>
        </p:nvSpPr>
        <p:spPr>
          <a:xfrm>
            <a:off x="603157" y="356391"/>
            <a:ext cx="8229600" cy="11430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a:solidFill>
                  <a:schemeClr val="accent5">
                    <a:lumMod val="75000"/>
                  </a:schemeClr>
                </a:solidFill>
                <a:latin typeface="STKaiti" panose="02010600040101010101" charset="-122"/>
                <a:ea typeface="STKaiti" panose="02010600040101010101" charset="-122"/>
                <a:cs typeface="STKaiti" panose="02010600040101010101" charset="-122"/>
              </a:defRPr>
            </a:lvl1pPr>
          </a:lstStyle>
          <a:p>
            <a:pPr algn="ctr"/>
            <a:r>
              <a:rPr lang="zh-CN" altLang="en-US" sz="2800" b="1" dirty="0">
                <a:latin typeface="华文楷体" panose="02010600040101010101" pitchFamily="2" charset="-122"/>
                <a:ea typeface="华文楷体" panose="02010600040101010101" pitchFamily="2" charset="-122"/>
              </a:rPr>
              <a:t>探究语言引导的方法在</a:t>
            </a:r>
            <a:r>
              <a:rPr lang="zh-CN" altLang="en-US" sz="2800" b="1" dirty="0">
                <a:solidFill>
                  <a:srgbClr val="FF0000"/>
                </a:solidFill>
                <a:latin typeface="华文楷体" panose="02010600040101010101" pitchFamily="2" charset="-122"/>
                <a:ea typeface="华文楷体" panose="02010600040101010101" pitchFamily="2" charset="-122"/>
              </a:rPr>
              <a:t>遮挡</a:t>
            </a:r>
            <a:r>
              <a:rPr lang="en-US" altLang="zh-CN" sz="2800" b="1" dirty="0" err="1">
                <a:solidFill>
                  <a:srgbClr val="FF0000"/>
                </a:solidFill>
                <a:latin typeface="华文楷体" panose="02010600040101010101" pitchFamily="2" charset="-122"/>
                <a:ea typeface="华文楷体" panose="02010600040101010101" pitchFamily="2" charset="-122"/>
              </a:rPr>
              <a:t>ReID</a:t>
            </a:r>
            <a:r>
              <a:rPr lang="zh-CN" altLang="en-US" sz="2800" b="1" dirty="0">
                <a:solidFill>
                  <a:srgbClr val="FF0000"/>
                </a:solidFill>
                <a:latin typeface="华文楷体" panose="02010600040101010101" pitchFamily="2" charset="-122"/>
                <a:ea typeface="华文楷体" panose="02010600040101010101" pitchFamily="2" charset="-122"/>
              </a:rPr>
              <a:t>任务</a:t>
            </a:r>
            <a:r>
              <a:rPr lang="zh-CN" altLang="en-US" sz="2800" b="1" dirty="0">
                <a:latin typeface="华文楷体" panose="02010600040101010101" pitchFamily="2" charset="-122"/>
                <a:ea typeface="华文楷体" panose="02010600040101010101" pitchFamily="2" charset="-122"/>
              </a:rPr>
              <a:t>上的应用</a:t>
            </a:r>
            <a:endParaRPr kumimoji="1" lang="zh-CN" altLang="en-US" sz="2800" b="1" dirty="0">
              <a:latin typeface="华文楷体" panose="02010600040101010101" pitchFamily="2" charset="-122"/>
              <a:ea typeface="华文楷体" panose="02010600040101010101" pitchFamily="2" charset="-122"/>
            </a:endParaRPr>
          </a:p>
        </p:txBody>
      </p:sp>
      <p:sp>
        <p:nvSpPr>
          <p:cNvPr id="44" name="矩形: 圆角 43">
            <a:extLst>
              <a:ext uri="{FF2B5EF4-FFF2-40B4-BE49-F238E27FC236}">
                <a16:creationId xmlns:a16="http://schemas.microsoft.com/office/drawing/2014/main" id="{FF3F7041-49E4-0530-4A3A-1A67BA5CAC2C}"/>
              </a:ext>
            </a:extLst>
          </p:cNvPr>
          <p:cNvSpPr/>
          <p:nvPr/>
        </p:nvSpPr>
        <p:spPr>
          <a:xfrm>
            <a:off x="2638325" y="1597454"/>
            <a:ext cx="3643413" cy="452207"/>
          </a:xfrm>
          <a:prstGeom prst="roundRect">
            <a:avLst/>
          </a:prstGeom>
          <a:solidFill>
            <a:srgbClr val="DBF3FD"/>
          </a:solidFill>
          <a:ln w="127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5" name="文本框 44">
            <a:extLst>
              <a:ext uri="{FF2B5EF4-FFF2-40B4-BE49-F238E27FC236}">
                <a16:creationId xmlns:a16="http://schemas.microsoft.com/office/drawing/2014/main" id="{A86FC80E-075F-72C3-F046-581DDF9996E4}"/>
              </a:ext>
            </a:extLst>
          </p:cNvPr>
          <p:cNvSpPr txBox="1"/>
          <p:nvPr/>
        </p:nvSpPr>
        <p:spPr>
          <a:xfrm>
            <a:off x="2712323" y="1679162"/>
            <a:ext cx="3719354" cy="338554"/>
          </a:xfrm>
          <a:prstGeom prst="rect">
            <a:avLst/>
          </a:prstGeom>
          <a:noFill/>
        </p:spPr>
        <p:txBody>
          <a:bodyPr wrap="square" rtlCol="0" anchor="t">
            <a:spAutoFit/>
          </a:bodyPr>
          <a:lstStyle/>
          <a:p>
            <a:pPr indent="0">
              <a:buFont typeface="Arial" panose="020B0604020202020204" pitchFamily="34" charset="0"/>
              <a:buNone/>
            </a:pPr>
            <a:r>
              <a:rPr lang="zh-CN" altLang="en-US" sz="1600" b="1" dirty="0">
                <a:latin typeface="华文楷体" panose="02010600040101010101" pitchFamily="2" charset="-122"/>
                <a:ea typeface="华文楷体" panose="02010600040101010101" pitchFamily="2" charset="-122"/>
              </a:rPr>
              <a:t>语言引导方法应用在遮挡</a:t>
            </a:r>
            <a:r>
              <a:rPr lang="en-US" altLang="zh-CN" sz="1600" b="1" dirty="0" err="1">
                <a:latin typeface="华文楷体" panose="02010600040101010101" pitchFamily="2" charset="-122"/>
                <a:ea typeface="华文楷体" panose="02010600040101010101" pitchFamily="2" charset="-122"/>
              </a:rPr>
              <a:t>ReID</a:t>
            </a:r>
            <a:r>
              <a:rPr lang="zh-CN" altLang="en-US" sz="1600" b="1" dirty="0">
                <a:latin typeface="华文楷体" panose="02010600040101010101" pitchFamily="2" charset="-122"/>
                <a:ea typeface="华文楷体" panose="02010600040101010101" pitchFamily="2" charset="-122"/>
              </a:rPr>
              <a:t>的问题</a:t>
            </a:r>
          </a:p>
        </p:txBody>
      </p:sp>
      <p:pic>
        <p:nvPicPr>
          <p:cNvPr id="46" name="图片 45">
            <a:extLst>
              <a:ext uri="{FF2B5EF4-FFF2-40B4-BE49-F238E27FC236}">
                <a16:creationId xmlns:a16="http://schemas.microsoft.com/office/drawing/2014/main" id="{6B18F9CA-5E76-EE34-C8EE-7712D9F16CBE}"/>
              </a:ext>
            </a:extLst>
          </p:cNvPr>
          <p:cNvPicPr>
            <a:picLocks noChangeAspect="1"/>
          </p:cNvPicPr>
          <p:nvPr/>
        </p:nvPicPr>
        <p:blipFill>
          <a:blip r:embed="rId5"/>
          <a:stretch>
            <a:fillRect/>
          </a:stretch>
        </p:blipFill>
        <p:spPr>
          <a:xfrm>
            <a:off x="1109980" y="4583893"/>
            <a:ext cx="2393030" cy="876499"/>
          </a:xfrm>
          <a:prstGeom prst="rect">
            <a:avLst/>
          </a:prstGeom>
        </p:spPr>
      </p:pic>
      <p:pic>
        <p:nvPicPr>
          <p:cNvPr id="50" name="图片 49">
            <a:extLst>
              <a:ext uri="{FF2B5EF4-FFF2-40B4-BE49-F238E27FC236}">
                <a16:creationId xmlns:a16="http://schemas.microsoft.com/office/drawing/2014/main" id="{F95323EA-B7D0-3880-9912-3F63BD4CC02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132737" y="4402256"/>
            <a:ext cx="450407" cy="1260000"/>
          </a:xfrm>
          <a:prstGeom prst="rect">
            <a:avLst/>
          </a:prstGeom>
        </p:spPr>
      </p:pic>
      <p:pic>
        <p:nvPicPr>
          <p:cNvPr id="63" name="图片 62">
            <a:extLst>
              <a:ext uri="{FF2B5EF4-FFF2-40B4-BE49-F238E27FC236}">
                <a16:creationId xmlns:a16="http://schemas.microsoft.com/office/drawing/2014/main" id="{D76DE331-5357-1FE2-0D02-D661DE649A0D}"/>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353771" y="4402256"/>
            <a:ext cx="505217" cy="1260000"/>
          </a:xfrm>
          <a:prstGeom prst="rect">
            <a:avLst/>
          </a:prstGeom>
        </p:spPr>
      </p:pic>
      <p:sp>
        <p:nvSpPr>
          <p:cNvPr id="64" name="箭头: 右弧形 63">
            <a:extLst>
              <a:ext uri="{FF2B5EF4-FFF2-40B4-BE49-F238E27FC236}">
                <a16:creationId xmlns:a16="http://schemas.microsoft.com/office/drawing/2014/main" id="{D17F4D7E-93DD-15AC-512E-2093EC41D6AB}"/>
              </a:ext>
            </a:extLst>
          </p:cNvPr>
          <p:cNvSpPr/>
          <p:nvPr/>
        </p:nvSpPr>
        <p:spPr>
          <a:xfrm rot="16374399">
            <a:off x="4590597" y="3463823"/>
            <a:ext cx="536220" cy="2424288"/>
          </a:xfrm>
          <a:prstGeom prst="curvedLeftArrow">
            <a:avLst>
              <a:gd name="adj1" fmla="val 22240"/>
              <a:gd name="adj2" fmla="val 54903"/>
              <a:gd name="adj3" fmla="val 25000"/>
            </a:avLst>
          </a:prstGeom>
          <a:solidFill>
            <a:schemeClr val="accent4">
              <a:lumMod val="60000"/>
              <a:lumOff val="40000"/>
            </a:schemeClr>
          </a:solidFill>
          <a:ln>
            <a:solidFill>
              <a:schemeClr val="accent4">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65" name="箭头: 右弧形 64">
            <a:extLst>
              <a:ext uri="{FF2B5EF4-FFF2-40B4-BE49-F238E27FC236}">
                <a16:creationId xmlns:a16="http://schemas.microsoft.com/office/drawing/2014/main" id="{B872125B-3C38-CD55-A692-EF5BA0689695}"/>
              </a:ext>
            </a:extLst>
          </p:cNvPr>
          <p:cNvSpPr/>
          <p:nvPr/>
        </p:nvSpPr>
        <p:spPr>
          <a:xfrm rot="5225601" flipV="1">
            <a:off x="4585222" y="4242868"/>
            <a:ext cx="536220" cy="2435049"/>
          </a:xfrm>
          <a:prstGeom prst="curvedLeftArrow">
            <a:avLst>
              <a:gd name="adj1" fmla="val 22240"/>
              <a:gd name="adj2" fmla="val 54903"/>
              <a:gd name="adj3" fmla="val 25000"/>
            </a:avLst>
          </a:prstGeom>
          <a:solidFill>
            <a:schemeClr val="accent6">
              <a:lumMod val="60000"/>
              <a:lumOff val="40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74" name="椭圆 73">
            <a:extLst>
              <a:ext uri="{FF2B5EF4-FFF2-40B4-BE49-F238E27FC236}">
                <a16:creationId xmlns:a16="http://schemas.microsoft.com/office/drawing/2014/main" id="{0DB923AE-B70C-829D-8D70-EE96F6496D90}"/>
              </a:ext>
            </a:extLst>
          </p:cNvPr>
          <p:cNvSpPr/>
          <p:nvPr/>
        </p:nvSpPr>
        <p:spPr>
          <a:xfrm>
            <a:off x="6176963" y="4583893"/>
            <a:ext cx="309562" cy="459602"/>
          </a:xfrm>
          <a:prstGeom prst="ellipse">
            <a:avLst/>
          </a:prstGeom>
          <a:noFill/>
          <a:ln w="190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 name="椭圆 77">
            <a:extLst>
              <a:ext uri="{FF2B5EF4-FFF2-40B4-BE49-F238E27FC236}">
                <a16:creationId xmlns:a16="http://schemas.microsoft.com/office/drawing/2014/main" id="{8D7CA0CC-16C0-062A-9ED1-FAA5D081455D}"/>
              </a:ext>
            </a:extLst>
          </p:cNvPr>
          <p:cNvSpPr/>
          <p:nvPr/>
        </p:nvSpPr>
        <p:spPr>
          <a:xfrm rot="4121842">
            <a:off x="6779627" y="5376236"/>
            <a:ext cx="260883" cy="308403"/>
          </a:xfrm>
          <a:prstGeom prst="ellipse">
            <a:avLst/>
          </a:prstGeom>
          <a:noFill/>
          <a:ln w="190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9" name="椭圆 78">
            <a:extLst>
              <a:ext uri="{FF2B5EF4-FFF2-40B4-BE49-F238E27FC236}">
                <a16:creationId xmlns:a16="http://schemas.microsoft.com/office/drawing/2014/main" id="{A0E9FF0F-447E-D98B-B953-92E912544B83}"/>
              </a:ext>
            </a:extLst>
          </p:cNvPr>
          <p:cNvSpPr/>
          <p:nvPr/>
        </p:nvSpPr>
        <p:spPr>
          <a:xfrm>
            <a:off x="7396922" y="4615464"/>
            <a:ext cx="309562" cy="351831"/>
          </a:xfrm>
          <a:prstGeom prst="ellipse">
            <a:avLst/>
          </a:prstGeom>
          <a:noFill/>
          <a:ln w="190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4" name="椭圆 83">
            <a:extLst>
              <a:ext uri="{FF2B5EF4-FFF2-40B4-BE49-F238E27FC236}">
                <a16:creationId xmlns:a16="http://schemas.microsoft.com/office/drawing/2014/main" id="{A0D1287C-2A76-2B43-EAB8-59D059977B23}"/>
              </a:ext>
            </a:extLst>
          </p:cNvPr>
          <p:cNvSpPr/>
          <p:nvPr/>
        </p:nvSpPr>
        <p:spPr>
          <a:xfrm>
            <a:off x="6132737" y="5130888"/>
            <a:ext cx="465726" cy="531368"/>
          </a:xfrm>
          <a:prstGeom prst="ellipse">
            <a:avLst/>
          </a:prstGeom>
          <a:noFill/>
          <a:ln w="19050">
            <a:solidFill>
              <a:schemeClr val="accent6">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5" name="椭圆 84">
            <a:extLst>
              <a:ext uri="{FF2B5EF4-FFF2-40B4-BE49-F238E27FC236}">
                <a16:creationId xmlns:a16="http://schemas.microsoft.com/office/drawing/2014/main" id="{52802880-1EB9-EDC2-F1CF-12A087131191}"/>
              </a:ext>
            </a:extLst>
          </p:cNvPr>
          <p:cNvSpPr/>
          <p:nvPr/>
        </p:nvSpPr>
        <p:spPr>
          <a:xfrm>
            <a:off x="7373516" y="4967294"/>
            <a:ext cx="446509" cy="694961"/>
          </a:xfrm>
          <a:prstGeom prst="ellipse">
            <a:avLst/>
          </a:prstGeom>
          <a:noFill/>
          <a:ln w="19050">
            <a:solidFill>
              <a:schemeClr val="accent6">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6" name="椭圆 85">
            <a:extLst>
              <a:ext uri="{FF2B5EF4-FFF2-40B4-BE49-F238E27FC236}">
                <a16:creationId xmlns:a16="http://schemas.microsoft.com/office/drawing/2014/main" id="{4D3DDD4C-2CD7-5AE0-6F32-1E1E3427E834}"/>
              </a:ext>
            </a:extLst>
          </p:cNvPr>
          <p:cNvSpPr/>
          <p:nvPr/>
        </p:nvSpPr>
        <p:spPr>
          <a:xfrm rot="648467">
            <a:off x="6609386" y="4485910"/>
            <a:ext cx="502660" cy="339325"/>
          </a:xfrm>
          <a:prstGeom prst="ellipse">
            <a:avLst/>
          </a:prstGeom>
          <a:noFill/>
          <a:ln w="19050">
            <a:solidFill>
              <a:schemeClr val="accent6">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8" name="文本框 87">
            <a:extLst>
              <a:ext uri="{FF2B5EF4-FFF2-40B4-BE49-F238E27FC236}">
                <a16:creationId xmlns:a16="http://schemas.microsoft.com/office/drawing/2014/main" id="{DDE595F7-4802-B83B-EC01-40EA992E61DF}"/>
              </a:ext>
            </a:extLst>
          </p:cNvPr>
          <p:cNvSpPr txBox="1"/>
          <p:nvPr/>
        </p:nvSpPr>
        <p:spPr>
          <a:xfrm>
            <a:off x="3489575" y="3858258"/>
            <a:ext cx="2448362" cy="523220"/>
          </a:xfrm>
          <a:prstGeom prst="rect">
            <a:avLst/>
          </a:prstGeom>
          <a:noFill/>
        </p:spPr>
        <p:txBody>
          <a:bodyPr wrap="square" rtlCol="0" anchor="t">
            <a:spAutoFit/>
          </a:bodyPr>
          <a:lstStyle/>
          <a:p>
            <a:pPr indent="0">
              <a:buFont typeface="Arial" panose="020B0604020202020204" pitchFamily="34" charset="0"/>
              <a:buNone/>
            </a:pPr>
            <a:r>
              <a:rPr lang="en-US" altLang="zh-CN" sz="1400" b="1" dirty="0">
                <a:latin typeface="华文楷体" panose="02010600040101010101" pitchFamily="2" charset="-122"/>
                <a:ea typeface="华文楷体" panose="02010600040101010101" pitchFamily="2" charset="-122"/>
              </a:rPr>
              <a:t>Prompt</a:t>
            </a:r>
            <a:r>
              <a:rPr lang="zh-CN" altLang="en-US" sz="1400" b="1" dirty="0">
                <a:latin typeface="华文楷体" panose="02010600040101010101" pitchFamily="2" charset="-122"/>
                <a:ea typeface="华文楷体" panose="02010600040101010101" pitchFamily="2" charset="-122"/>
              </a:rPr>
              <a:t>缺少细粒度信息，如发型、配饰，衣服颜色等</a:t>
            </a:r>
          </a:p>
        </p:txBody>
      </p:sp>
      <p:sp>
        <p:nvSpPr>
          <p:cNvPr id="89" name="文本框 88">
            <a:extLst>
              <a:ext uri="{FF2B5EF4-FFF2-40B4-BE49-F238E27FC236}">
                <a16:creationId xmlns:a16="http://schemas.microsoft.com/office/drawing/2014/main" id="{43333C21-4D64-5967-3F37-3ABAED973B35}"/>
              </a:ext>
            </a:extLst>
          </p:cNvPr>
          <p:cNvSpPr txBox="1"/>
          <p:nvPr/>
        </p:nvSpPr>
        <p:spPr>
          <a:xfrm>
            <a:off x="3624915" y="5810504"/>
            <a:ext cx="2145328" cy="523220"/>
          </a:xfrm>
          <a:prstGeom prst="rect">
            <a:avLst/>
          </a:prstGeom>
          <a:noFill/>
        </p:spPr>
        <p:txBody>
          <a:bodyPr wrap="square" rtlCol="0" anchor="t">
            <a:spAutoFit/>
          </a:bodyPr>
          <a:lstStyle/>
          <a:p>
            <a:pPr indent="0">
              <a:buFont typeface="Arial" panose="020B0604020202020204" pitchFamily="34" charset="0"/>
              <a:buNone/>
            </a:pPr>
            <a:r>
              <a:rPr lang="en-US" altLang="zh-CN" sz="1400" b="1" dirty="0">
                <a:latin typeface="华文楷体" panose="02010600040101010101" pitchFamily="2" charset="-122"/>
                <a:ea typeface="华文楷体" panose="02010600040101010101" pitchFamily="2" charset="-122"/>
              </a:rPr>
              <a:t>Prompt</a:t>
            </a:r>
            <a:r>
              <a:rPr lang="zh-CN" altLang="en-US" sz="1400" b="1" dirty="0">
                <a:latin typeface="华文楷体" panose="02010600040101010101" pitchFamily="2" charset="-122"/>
                <a:ea typeface="华文楷体" panose="02010600040101010101" pitchFamily="2" charset="-122"/>
              </a:rPr>
              <a:t>缺少遮挡信息，如遮挡物的类型、特征等</a:t>
            </a:r>
          </a:p>
        </p:txBody>
      </p:sp>
      <p:sp>
        <p:nvSpPr>
          <p:cNvPr id="90" name="矩形: 圆角 89">
            <a:extLst>
              <a:ext uri="{FF2B5EF4-FFF2-40B4-BE49-F238E27FC236}">
                <a16:creationId xmlns:a16="http://schemas.microsoft.com/office/drawing/2014/main" id="{177B5A48-08A1-B8A5-8C2E-65D7C6D2FADB}"/>
              </a:ext>
            </a:extLst>
          </p:cNvPr>
          <p:cNvSpPr/>
          <p:nvPr/>
        </p:nvSpPr>
        <p:spPr>
          <a:xfrm>
            <a:off x="3439726" y="3833669"/>
            <a:ext cx="2459108" cy="531183"/>
          </a:xfrm>
          <a:prstGeom prst="roundRect">
            <a:avLst/>
          </a:prstGeom>
          <a:noFill/>
          <a:ln>
            <a:solidFill>
              <a:schemeClr val="accent4">
                <a:lumMod val="60000"/>
                <a:lumOff val="4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1" name="矩形: 圆角 90">
            <a:extLst>
              <a:ext uri="{FF2B5EF4-FFF2-40B4-BE49-F238E27FC236}">
                <a16:creationId xmlns:a16="http://schemas.microsoft.com/office/drawing/2014/main" id="{4BC225CE-EB77-6F53-3485-EA16D3016049}"/>
              </a:ext>
            </a:extLst>
          </p:cNvPr>
          <p:cNvSpPr/>
          <p:nvPr/>
        </p:nvSpPr>
        <p:spPr>
          <a:xfrm>
            <a:off x="3439874" y="5789897"/>
            <a:ext cx="2459108" cy="531183"/>
          </a:xfrm>
          <a:prstGeom prst="roundRect">
            <a:avLst/>
          </a:prstGeom>
          <a:noFill/>
          <a:ln>
            <a:solidFill>
              <a:schemeClr val="accent6">
                <a:lumMod val="60000"/>
                <a:lumOff val="4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Slide Number Placeholder 52">
            <a:extLst>
              <a:ext uri="{FF2B5EF4-FFF2-40B4-BE49-F238E27FC236}">
                <a16:creationId xmlns:a16="http://schemas.microsoft.com/office/drawing/2014/main" id="{D9B95F11-A2CD-7028-5D54-D60AAAE58851}"/>
              </a:ext>
            </a:extLst>
          </p:cNvPr>
          <p:cNvSpPr>
            <a:spLocks noGrp="1"/>
          </p:cNvSpPr>
          <p:nvPr>
            <p:ph type="sldNum" sz="quarter" idx="16"/>
          </p:nvPr>
        </p:nvSpPr>
        <p:spPr>
          <a:xfrm>
            <a:off x="6563064" y="6380959"/>
            <a:ext cx="2133600" cy="365125"/>
          </a:xfrm>
        </p:spPr>
        <p:txBody>
          <a:bodyPr/>
          <a:lstStyle/>
          <a:p>
            <a:pPr>
              <a:defRPr/>
            </a:pPr>
            <a:fld id="{D69E98CB-8E38-42BF-857B-65773CD3393B}" type="slidenum">
              <a:rPr lang="en-US" altLang="zh-CN" smtClean="0"/>
              <a:t>9</a:t>
            </a:fld>
            <a:endParaRPr lang="en-US" altLang="zh-CN" dirty="0"/>
          </a:p>
        </p:txBody>
      </p:sp>
    </p:spTree>
  </p:cSld>
  <p:clrMapOvr>
    <a:masterClrMapping/>
  </p:clrMapOvr>
  <mc:AlternateContent xmlns:mc="http://schemas.openxmlformats.org/markup-compatibility/2006" xmlns:p14="http://schemas.microsoft.com/office/powerpoint/2010/main">
    <mc:Choice Requires="p14">
      <p:transition spd="slow" p14:dur="2000" advTm="44214"/>
    </mc:Choice>
    <mc:Fallback xmlns="">
      <p:transition spd="slow" advTm="44214"/>
    </mc:Fallback>
  </mc:AlternateContent>
</p:sld>
</file>

<file path=ppt/slides/slide10.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16" name="Rectangle 15"/>
          <p:cNvSpPr/>
          <p:nvPr/>
        </p:nvSpPr>
        <p:spPr>
          <a:xfrm>
            <a:off x="0" y="2628900"/>
            <a:ext cx="9144000" cy="1409700"/>
          </a:xfrm>
          <a:prstGeom prst="rect">
            <a:avLst/>
          </a:prstGeom>
          <a:solidFill>
            <a:srgbClr val="2E75B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标题 2"/>
          <p:cNvSpPr>
            <a:spLocks noGrp="1"/>
          </p:cNvSpPr>
          <p:nvPr>
            <p:ph type="title"/>
          </p:nvPr>
        </p:nvSpPr>
        <p:spPr>
          <a:xfrm>
            <a:off x="457200" y="2762250"/>
            <a:ext cx="8229600" cy="1143000"/>
          </a:xfrm>
        </p:spPr>
        <p:txBody>
          <a:bodyPr/>
          <a:lstStyle/>
          <a:p>
            <a:pPr algn="ctr"/>
            <a:r>
              <a:rPr kumimoji="1" lang="zh-CN" altLang="en-US" dirty="0">
                <a:solidFill>
                  <a:schemeClr val="bg1"/>
                </a:solidFill>
                <a:latin typeface="STKaiti" panose="02010600040101010101" charset="-122"/>
                <a:ea typeface="STKaiti" panose="02010600040101010101" charset="-122"/>
              </a:rPr>
              <a:t>研究现状</a:t>
            </a:r>
          </a:p>
        </p:txBody>
      </p:sp>
      <p:sp>
        <p:nvSpPr>
          <p:cNvPr id="2" name="Slide Number Placeholder 52">
            <a:extLst>
              <a:ext uri="{FF2B5EF4-FFF2-40B4-BE49-F238E27FC236}">
                <a16:creationId xmlns:a16="http://schemas.microsoft.com/office/drawing/2014/main" id="{86DA2EF0-F96E-6286-B334-0E2DAAAF717E}"/>
              </a:ext>
            </a:extLst>
          </p:cNvPr>
          <p:cNvSpPr>
            <a:spLocks noGrp="1"/>
          </p:cNvSpPr>
          <p:nvPr>
            <p:ph type="sldNum" sz="quarter" idx="16"/>
          </p:nvPr>
        </p:nvSpPr>
        <p:spPr>
          <a:xfrm>
            <a:off x="6563064" y="6380959"/>
            <a:ext cx="2133600" cy="365125"/>
          </a:xfrm>
        </p:spPr>
        <p:txBody>
          <a:bodyPr/>
          <a:lstStyle/>
          <a:p>
            <a:pPr>
              <a:defRPr/>
            </a:pPr>
            <a:fld id="{D69E98CB-8E38-42BF-857B-65773CD3393B}" type="slidenum">
              <a:rPr lang="en-US" altLang="zh-CN" smtClean="0"/>
              <a:t>10</a:t>
            </a:fld>
            <a:endParaRPr lang="en-US" altLang="zh-CN" dirty="0"/>
          </a:p>
        </p:txBody>
      </p:sp>
    </p:spTree>
  </p:cSld>
  <p:clrMapOvr>
    <a:masterClrMapping/>
  </p:clrMapOvr>
  <mc:AlternateContent xmlns:mc="http://schemas.openxmlformats.org/markup-compatibility/2006" xmlns:p14="http://schemas.microsoft.com/office/powerpoint/2010/main">
    <mc:Choice Requires="p14">
      <p:transition spd="slow" p14:dur="2000" advTm="6155"/>
    </mc:Choice>
    <mc:Fallback xmlns="">
      <p:transition spd="slow" advTm="6155"/>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标题 2"/>
          <p:cNvSpPr>
            <a:spLocks noGrp="1"/>
          </p:cNvSpPr>
          <p:nvPr>
            <p:ph type="title"/>
          </p:nvPr>
        </p:nvSpPr>
        <p:spPr>
          <a:xfrm>
            <a:off x="603157" y="308766"/>
            <a:ext cx="8229600" cy="1143000"/>
          </a:xfrm>
        </p:spPr>
        <p:txBody>
          <a:bodyPr>
            <a:normAutofit/>
          </a:bodyPr>
          <a:lstStyle/>
          <a:p>
            <a:pPr algn="ctr"/>
            <a:r>
              <a:rPr lang="zh-CN" altLang="en-US" sz="2800" b="1" dirty="0">
                <a:latin typeface="华文楷体" panose="02010600040101010101" pitchFamily="2" charset="-122"/>
                <a:ea typeface="华文楷体" panose="02010600040101010101" pitchFamily="2" charset="-122"/>
              </a:rPr>
              <a:t>遮挡行人重识别和语言引导方法研究现状</a:t>
            </a:r>
          </a:p>
        </p:txBody>
      </p:sp>
      <p:sp>
        <p:nvSpPr>
          <p:cNvPr id="53" name="Slide Number Placeholder 52"/>
          <p:cNvSpPr>
            <a:spLocks noGrp="1"/>
          </p:cNvSpPr>
          <p:nvPr>
            <p:ph type="sldNum" sz="quarter" idx="16"/>
          </p:nvPr>
        </p:nvSpPr>
        <p:spPr>
          <a:xfrm>
            <a:off x="6553200" y="6282694"/>
            <a:ext cx="2133600" cy="365125"/>
          </a:xfrm>
        </p:spPr>
        <p:txBody>
          <a:bodyPr/>
          <a:lstStyle/>
          <a:p>
            <a:pPr>
              <a:defRPr/>
            </a:pPr>
            <a:fld id="{D69E98CB-8E38-42BF-857B-65773CD3393B}" type="slidenum">
              <a:rPr lang="en-US" altLang="zh-CN" smtClean="0"/>
              <a:t>11</a:t>
            </a:fld>
            <a:endParaRPr lang="en-US" altLang="zh-CN" dirty="0"/>
          </a:p>
        </p:txBody>
      </p:sp>
      <p:graphicFrame>
        <p:nvGraphicFramePr>
          <p:cNvPr id="4" name="表格 3"/>
          <p:cNvGraphicFramePr/>
          <p:nvPr>
            <p:custDataLst>
              <p:tags r:id="rId1"/>
            </p:custDataLst>
            <p:extLst>
              <p:ext uri="{D42A27DB-BD31-4B8C-83A1-F6EECF244321}">
                <p14:modId xmlns:p14="http://schemas.microsoft.com/office/powerpoint/2010/main" val="2144177678"/>
              </p:ext>
            </p:extLst>
          </p:nvPr>
        </p:nvGraphicFramePr>
        <p:xfrm>
          <a:off x="1971675" y="1451610"/>
          <a:ext cx="6688455" cy="4909433"/>
        </p:xfrm>
        <a:graphic>
          <a:graphicData uri="http://schemas.openxmlformats.org/drawingml/2006/table">
            <a:tbl>
              <a:tblPr firstRow="1" bandRow="1">
                <a:tableStyleId>{69CF1AB2-1976-4502-BF36-3FF5EA218861}</a:tableStyleId>
              </a:tblPr>
              <a:tblGrid>
                <a:gridCol w="1175598">
                  <a:extLst>
                    <a:ext uri="{9D8B030D-6E8A-4147-A177-3AD203B41FA5}">
                      <a16:colId xmlns:a16="http://schemas.microsoft.com/office/drawing/2014/main" val="20000"/>
                    </a:ext>
                  </a:extLst>
                </a:gridCol>
                <a:gridCol w="1572047">
                  <a:extLst>
                    <a:ext uri="{9D8B030D-6E8A-4147-A177-3AD203B41FA5}">
                      <a16:colId xmlns:a16="http://schemas.microsoft.com/office/drawing/2014/main" val="20001"/>
                    </a:ext>
                  </a:extLst>
                </a:gridCol>
                <a:gridCol w="2123440">
                  <a:extLst>
                    <a:ext uri="{9D8B030D-6E8A-4147-A177-3AD203B41FA5}">
                      <a16:colId xmlns:a16="http://schemas.microsoft.com/office/drawing/2014/main" val="20002"/>
                    </a:ext>
                  </a:extLst>
                </a:gridCol>
                <a:gridCol w="1817370">
                  <a:extLst>
                    <a:ext uri="{9D8B030D-6E8A-4147-A177-3AD203B41FA5}">
                      <a16:colId xmlns:a16="http://schemas.microsoft.com/office/drawing/2014/main" val="20003"/>
                    </a:ext>
                  </a:extLst>
                </a:gridCol>
              </a:tblGrid>
              <a:tr h="440810">
                <a:tc>
                  <a:txBody>
                    <a:bodyPr/>
                    <a:lstStyle/>
                    <a:p>
                      <a:pPr algn="ctr">
                        <a:buNone/>
                      </a:pPr>
                      <a:r>
                        <a:rPr lang="zh-CN" altLang="en-US">
                          <a:solidFill>
                            <a:schemeClr val="bg1"/>
                          </a:solidFill>
                          <a:latin typeface="华文楷体" panose="02010600040101010101" pitchFamily="2" charset="-122"/>
                          <a:ea typeface="华文楷体" panose="02010600040101010101" pitchFamily="2" charset="-122"/>
                        </a:rPr>
                        <a:t>类别</a:t>
                      </a:r>
                    </a:p>
                  </a:txBody>
                  <a:tcPr>
                    <a:lnL w="12700">
                      <a:solidFill>
                        <a:schemeClr val="bg1">
                          <a:lumMod val="75000"/>
                        </a:schemeClr>
                      </a:solidFill>
                      <a:prstDash val="solid"/>
                    </a:lnL>
                    <a:lnR>
                      <a:noFill/>
                    </a:lnR>
                    <a:lnT w="12700">
                      <a:solidFill>
                        <a:schemeClr val="bg1">
                          <a:lumMod val="75000"/>
                        </a:schemeClr>
                      </a:solidFill>
                      <a:prstDash val="solid"/>
                    </a:lnT>
                    <a:lnB w="12700">
                      <a:solidFill>
                        <a:schemeClr val="bg1">
                          <a:lumMod val="75000"/>
                        </a:schemeClr>
                      </a:solidFill>
                      <a:prstDash val="solid"/>
                    </a:lnB>
                    <a:lnTlToBr>
                      <a:noFill/>
                    </a:lnTlToBr>
                    <a:lnBlToTr>
                      <a:noFill/>
                    </a:lnBlToTr>
                    <a:solidFill>
                      <a:srgbClr val="37BDB8"/>
                    </a:solidFill>
                  </a:tcPr>
                </a:tc>
                <a:tc>
                  <a:txBody>
                    <a:bodyPr/>
                    <a:lstStyle/>
                    <a:p>
                      <a:pPr algn="ctr">
                        <a:buNone/>
                      </a:pPr>
                      <a:r>
                        <a:rPr lang="zh-CN" altLang="en-US">
                          <a:solidFill>
                            <a:schemeClr val="bg1"/>
                          </a:solidFill>
                          <a:latin typeface="华文楷体" panose="02010600040101010101" pitchFamily="2" charset="-122"/>
                          <a:ea typeface="华文楷体" panose="02010600040101010101" pitchFamily="2" charset="-122"/>
                        </a:rPr>
                        <a:t>代表性工作</a:t>
                      </a:r>
                    </a:p>
                  </a:txBody>
                  <a:tcPr>
                    <a:lnL>
                      <a:noFill/>
                    </a:lnL>
                    <a:lnR>
                      <a:noFill/>
                    </a:lnR>
                    <a:lnT w="12700">
                      <a:solidFill>
                        <a:schemeClr val="bg1">
                          <a:lumMod val="75000"/>
                        </a:schemeClr>
                      </a:solidFill>
                      <a:prstDash val="solid"/>
                    </a:lnT>
                    <a:lnB w="12700">
                      <a:solidFill>
                        <a:schemeClr val="bg1">
                          <a:lumMod val="75000"/>
                        </a:schemeClr>
                      </a:solidFill>
                      <a:prstDash val="solid"/>
                    </a:lnB>
                    <a:lnTlToBr>
                      <a:noFill/>
                    </a:lnTlToBr>
                    <a:lnBlToTr>
                      <a:noFill/>
                    </a:lnBlToTr>
                    <a:solidFill>
                      <a:srgbClr val="1062F6"/>
                    </a:solidFill>
                  </a:tcPr>
                </a:tc>
                <a:tc>
                  <a:txBody>
                    <a:bodyPr/>
                    <a:lstStyle/>
                    <a:p>
                      <a:pPr algn="ctr">
                        <a:buNone/>
                      </a:pPr>
                      <a:r>
                        <a:rPr lang="zh-CN" altLang="en-US">
                          <a:solidFill>
                            <a:schemeClr val="bg1"/>
                          </a:solidFill>
                          <a:latin typeface="华文楷体" panose="02010600040101010101" pitchFamily="2" charset="-122"/>
                          <a:ea typeface="华文楷体" panose="02010600040101010101" pitchFamily="2" charset="-122"/>
                        </a:rPr>
                        <a:t>主要贡献</a:t>
                      </a:r>
                    </a:p>
                  </a:txBody>
                  <a:tcPr>
                    <a:lnL>
                      <a:noFill/>
                    </a:lnL>
                    <a:lnR>
                      <a:noFill/>
                    </a:lnR>
                    <a:lnT w="12700">
                      <a:solidFill>
                        <a:schemeClr val="bg1">
                          <a:lumMod val="75000"/>
                        </a:schemeClr>
                      </a:solidFill>
                      <a:prstDash val="solid"/>
                    </a:lnT>
                    <a:lnB w="12700">
                      <a:solidFill>
                        <a:schemeClr val="bg1">
                          <a:lumMod val="75000"/>
                        </a:schemeClr>
                      </a:solidFill>
                      <a:prstDash val="solid"/>
                    </a:lnB>
                    <a:lnTlToBr>
                      <a:noFill/>
                    </a:lnTlToBr>
                    <a:lnBlToTr>
                      <a:noFill/>
                    </a:lnBlToTr>
                    <a:solidFill>
                      <a:srgbClr val="FA7B68"/>
                    </a:solidFill>
                  </a:tcPr>
                </a:tc>
                <a:tc>
                  <a:txBody>
                    <a:bodyPr/>
                    <a:lstStyle/>
                    <a:p>
                      <a:pPr algn="ctr">
                        <a:buNone/>
                      </a:pPr>
                      <a:r>
                        <a:rPr lang="zh-CN" altLang="en-US">
                          <a:solidFill>
                            <a:schemeClr val="bg1"/>
                          </a:solidFill>
                          <a:latin typeface="华文楷体" panose="02010600040101010101" pitchFamily="2" charset="-122"/>
                          <a:ea typeface="华文楷体" panose="02010600040101010101" pitchFamily="2" charset="-122"/>
                        </a:rPr>
                        <a:t>存在的问题</a:t>
                      </a:r>
                    </a:p>
                  </a:txBody>
                  <a:tcPr>
                    <a:lnL>
                      <a:noFill/>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lnTlToBr>
                      <a:noFill/>
                    </a:lnTlToBr>
                    <a:lnBlToTr>
                      <a:noFill/>
                    </a:lnBlToTr>
                    <a:solidFill>
                      <a:srgbClr val="F7B335"/>
                    </a:solidFill>
                  </a:tcPr>
                </a:tc>
                <a:extLst>
                  <a:ext uri="{0D108BD9-81ED-4DB2-BD59-A6C34878D82A}">
                    <a16:rowId xmlns:a16="http://schemas.microsoft.com/office/drawing/2014/main" val="10000"/>
                  </a:ext>
                </a:extLst>
              </a:tr>
              <a:tr h="2162745">
                <a:tc>
                  <a:txBody>
                    <a:bodyPr/>
                    <a:lstStyle/>
                    <a:p>
                      <a:pPr>
                        <a:buNone/>
                      </a:pPr>
                      <a:endParaRPr lang="zh-CN" altLang="en-US" dirty="0">
                        <a:latin typeface="华文楷体" panose="02010600040101010101" pitchFamily="2" charset="-122"/>
                        <a:ea typeface="华文楷体" panose="02010600040101010101" pitchFamily="2" charset="-122"/>
                      </a:endParaRPr>
                    </a:p>
                    <a:p>
                      <a:pPr>
                        <a:buNone/>
                      </a:pPr>
                      <a:endParaRPr lang="zh-CN" altLang="en-US" sz="1800" dirty="0">
                        <a:latin typeface="华文楷体" panose="02010600040101010101" pitchFamily="2" charset="-122"/>
                        <a:ea typeface="华文楷体" panose="02010600040101010101" pitchFamily="2" charset="-122"/>
                        <a:sym typeface="+mn-ea"/>
                      </a:endParaRPr>
                    </a:p>
                    <a:p>
                      <a:pPr>
                        <a:buNone/>
                      </a:pPr>
                      <a:endParaRPr lang="zh-CN" altLang="en-US" dirty="0">
                        <a:latin typeface="华文楷体" panose="02010600040101010101" pitchFamily="2" charset="-122"/>
                        <a:ea typeface="华文楷体" panose="02010600040101010101" pitchFamily="2" charset="-122"/>
                      </a:endParaRPr>
                    </a:p>
                  </a:txBody>
                  <a:tcPr>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solidFill>
                      <a:schemeClr val="bg1"/>
                    </a:solidFill>
                  </a:tcPr>
                </a:tc>
                <a:tc>
                  <a:txBody>
                    <a:bodyPr/>
                    <a:lstStyle/>
                    <a:p>
                      <a:pPr>
                        <a:buNone/>
                      </a:pPr>
                      <a:endParaRPr lang="zh-CN" altLang="en-US" dirty="0"/>
                    </a:p>
                  </a:txBody>
                  <a:tcPr>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solidFill>
                      <a:schemeClr val="bg1"/>
                    </a:solidFill>
                  </a:tcPr>
                </a:tc>
                <a:tc>
                  <a:txBody>
                    <a:bodyPr/>
                    <a:lstStyle/>
                    <a:p>
                      <a:pPr>
                        <a:buNone/>
                      </a:pPr>
                      <a:endParaRPr lang="zh-CN" altLang="en-US" dirty="0"/>
                    </a:p>
                  </a:txBody>
                  <a:tcPr>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solidFill>
                      <a:schemeClr val="bg1"/>
                    </a:solidFill>
                  </a:tcPr>
                </a:tc>
                <a:tc>
                  <a:txBody>
                    <a:bodyPr/>
                    <a:lstStyle/>
                    <a:p>
                      <a:pPr>
                        <a:buNone/>
                      </a:pPr>
                      <a:endParaRPr lang="zh-CN" altLang="en-US" dirty="0"/>
                    </a:p>
                  </a:txBody>
                  <a:tcPr>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solidFill>
                      <a:schemeClr val="bg1"/>
                    </a:solidFill>
                  </a:tcPr>
                </a:tc>
                <a:extLst>
                  <a:ext uri="{0D108BD9-81ED-4DB2-BD59-A6C34878D82A}">
                    <a16:rowId xmlns:a16="http://schemas.microsoft.com/office/drawing/2014/main" val="10001"/>
                  </a:ext>
                </a:extLst>
              </a:tr>
              <a:tr h="2305878">
                <a:tc>
                  <a:txBody>
                    <a:bodyPr/>
                    <a:lstStyle/>
                    <a:p>
                      <a:pPr>
                        <a:buNone/>
                      </a:pPr>
                      <a:endParaRPr lang="zh-CN" altLang="en-US" dirty="0">
                        <a:latin typeface="华文楷体" panose="02010600040101010101" pitchFamily="2" charset="-122"/>
                        <a:ea typeface="华文楷体" panose="02010600040101010101" pitchFamily="2" charset="-122"/>
                      </a:endParaRPr>
                    </a:p>
                    <a:p>
                      <a:pPr>
                        <a:buNone/>
                      </a:pPr>
                      <a:endParaRPr lang="zh-CN" altLang="en-US" dirty="0">
                        <a:latin typeface="华文楷体" panose="02010600040101010101" pitchFamily="2" charset="-122"/>
                        <a:ea typeface="华文楷体" panose="02010600040101010101" pitchFamily="2" charset="-122"/>
                      </a:endParaRPr>
                    </a:p>
                    <a:p>
                      <a:pPr>
                        <a:buNone/>
                      </a:pPr>
                      <a:endParaRPr lang="zh-CN" altLang="en-US" dirty="0">
                        <a:latin typeface="华文楷体" panose="02010600040101010101" pitchFamily="2" charset="-122"/>
                        <a:ea typeface="华文楷体" panose="02010600040101010101" pitchFamily="2" charset="-122"/>
                      </a:endParaRPr>
                    </a:p>
                    <a:p>
                      <a:pPr>
                        <a:buNone/>
                      </a:pPr>
                      <a:endParaRPr lang="zh-CN" altLang="en-US" dirty="0">
                        <a:latin typeface="华文楷体" panose="02010600040101010101" pitchFamily="2" charset="-122"/>
                        <a:ea typeface="华文楷体" panose="02010600040101010101" pitchFamily="2" charset="-122"/>
                      </a:endParaRPr>
                    </a:p>
                  </a:txBody>
                  <a:tcPr>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solidFill>
                      <a:schemeClr val="bg1"/>
                    </a:solidFill>
                  </a:tcPr>
                </a:tc>
                <a:tc>
                  <a:txBody>
                    <a:bodyPr/>
                    <a:lstStyle/>
                    <a:p>
                      <a:pPr>
                        <a:buNone/>
                      </a:pPr>
                      <a:endParaRPr lang="zh-CN" altLang="en-US" dirty="0"/>
                    </a:p>
                  </a:txBody>
                  <a:tcPr>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solidFill>
                      <a:schemeClr val="bg1"/>
                    </a:solidFill>
                  </a:tcPr>
                </a:tc>
                <a:tc>
                  <a:txBody>
                    <a:bodyPr/>
                    <a:lstStyle/>
                    <a:p>
                      <a:pPr>
                        <a:buNone/>
                      </a:pPr>
                      <a:endParaRPr lang="zh-CN" altLang="en-US" dirty="0"/>
                    </a:p>
                  </a:txBody>
                  <a:tcPr>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solidFill>
                      <a:schemeClr val="bg1"/>
                    </a:solidFill>
                  </a:tcPr>
                </a:tc>
                <a:tc>
                  <a:txBody>
                    <a:bodyPr/>
                    <a:lstStyle/>
                    <a:p>
                      <a:pPr>
                        <a:buNone/>
                      </a:pPr>
                      <a:endParaRPr lang="zh-CN" altLang="en-US" dirty="0"/>
                    </a:p>
                  </a:txBody>
                  <a:tcPr>
                    <a:lnL w="12700">
                      <a:solidFill>
                        <a:schemeClr val="bg1">
                          <a:lumMod val="75000"/>
                        </a:schemeClr>
                      </a:solidFill>
                      <a:prstDash val="solid"/>
                    </a:lnL>
                    <a:lnR w="12700">
                      <a:solidFill>
                        <a:schemeClr val="bg1">
                          <a:lumMod val="75000"/>
                        </a:schemeClr>
                      </a:solidFill>
                      <a:prstDash val="solid"/>
                    </a:lnR>
                    <a:lnT w="12700">
                      <a:solidFill>
                        <a:schemeClr val="bg1">
                          <a:lumMod val="75000"/>
                        </a:schemeClr>
                      </a:solidFill>
                      <a:prstDash val="solid"/>
                    </a:lnT>
                    <a:lnB w="12700">
                      <a:solidFill>
                        <a:schemeClr val="bg1">
                          <a:lumMod val="75000"/>
                        </a:schemeClr>
                      </a:solidFill>
                      <a:prstDash val="solid"/>
                    </a:lnB>
                    <a:solidFill>
                      <a:schemeClr val="bg1"/>
                    </a:solidFill>
                  </a:tcPr>
                </a:tc>
                <a:extLst>
                  <a:ext uri="{0D108BD9-81ED-4DB2-BD59-A6C34878D82A}">
                    <a16:rowId xmlns:a16="http://schemas.microsoft.com/office/drawing/2014/main" val="10002"/>
                  </a:ext>
                </a:extLst>
              </a:tr>
            </a:tbl>
          </a:graphicData>
        </a:graphic>
      </p:graphicFrame>
      <p:sp>
        <p:nvSpPr>
          <p:cNvPr id="6" name="圆角矩形 5"/>
          <p:cNvSpPr/>
          <p:nvPr/>
        </p:nvSpPr>
        <p:spPr>
          <a:xfrm>
            <a:off x="445770" y="2633980"/>
            <a:ext cx="1325880" cy="645795"/>
          </a:xfrm>
          <a:prstGeom prst="roundRect">
            <a:avLst/>
          </a:prstGeom>
          <a:solidFill>
            <a:schemeClr val="bg1"/>
          </a:solidFill>
          <a:ln>
            <a:solidFill>
              <a:schemeClr val="bg1">
                <a:lumMod val="95000"/>
              </a:schemeClr>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534842" y="2647315"/>
            <a:ext cx="1146468" cy="646331"/>
          </a:xfrm>
          <a:prstGeom prst="rect">
            <a:avLst/>
          </a:prstGeom>
          <a:noFill/>
        </p:spPr>
        <p:txBody>
          <a:bodyPr wrap="none" rtlCol="0" anchor="t">
            <a:spAutoFit/>
          </a:bodyPr>
          <a:lstStyle/>
          <a:p>
            <a:pPr algn="ctr">
              <a:buNone/>
            </a:pPr>
            <a:r>
              <a:rPr lang="zh-CN" altLang="en-US" b="1" dirty="0">
                <a:latin typeface="华文楷体" panose="02010600040101010101" pitchFamily="2" charset="-122"/>
                <a:ea typeface="华文楷体" panose="02010600040101010101" pitchFamily="2" charset="-122"/>
                <a:sym typeface="+mn-ea"/>
              </a:rPr>
              <a:t>遮挡</a:t>
            </a:r>
            <a:r>
              <a:rPr lang="en-US" altLang="zh-CN" b="1" dirty="0" err="1">
                <a:latin typeface="华文楷体" panose="02010600040101010101" pitchFamily="2" charset="-122"/>
                <a:ea typeface="华文楷体" panose="02010600040101010101" pitchFamily="2" charset="-122"/>
                <a:sym typeface="+mn-ea"/>
              </a:rPr>
              <a:t>ReID</a:t>
            </a:r>
            <a:endParaRPr lang="en-US" altLang="zh-CN" b="1" dirty="0">
              <a:latin typeface="华文楷体" panose="02010600040101010101" pitchFamily="2" charset="-122"/>
              <a:ea typeface="华文楷体" panose="02010600040101010101" pitchFamily="2" charset="-122"/>
              <a:sym typeface="+mn-ea"/>
            </a:endParaRPr>
          </a:p>
          <a:p>
            <a:pPr algn="ctr">
              <a:buNone/>
            </a:pPr>
            <a:r>
              <a:rPr lang="zh-CN" altLang="en-US" b="1" dirty="0">
                <a:latin typeface="华文楷体" panose="02010600040101010101" pitchFamily="2" charset="-122"/>
                <a:ea typeface="华文楷体" panose="02010600040101010101" pitchFamily="2" charset="-122"/>
                <a:sym typeface="+mn-ea"/>
              </a:rPr>
              <a:t>方法</a:t>
            </a:r>
          </a:p>
        </p:txBody>
      </p:sp>
      <p:sp>
        <p:nvSpPr>
          <p:cNvPr id="12" name="圆角矩形 11"/>
          <p:cNvSpPr/>
          <p:nvPr/>
        </p:nvSpPr>
        <p:spPr>
          <a:xfrm>
            <a:off x="447040" y="4551045"/>
            <a:ext cx="1325880" cy="645795"/>
          </a:xfrm>
          <a:prstGeom prst="roundRect">
            <a:avLst/>
          </a:prstGeom>
          <a:solidFill>
            <a:schemeClr val="bg1"/>
          </a:solidFill>
          <a:ln>
            <a:solidFill>
              <a:schemeClr val="bg1">
                <a:lumMod val="95000"/>
              </a:schemeClr>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p:cNvSpPr txBox="1"/>
          <p:nvPr/>
        </p:nvSpPr>
        <p:spPr>
          <a:xfrm>
            <a:off x="555983" y="4551680"/>
            <a:ext cx="1107996" cy="646331"/>
          </a:xfrm>
          <a:prstGeom prst="rect">
            <a:avLst/>
          </a:prstGeom>
          <a:noFill/>
        </p:spPr>
        <p:txBody>
          <a:bodyPr wrap="none" rtlCol="0" anchor="t">
            <a:spAutoFit/>
          </a:bodyPr>
          <a:lstStyle/>
          <a:p>
            <a:pPr algn="ctr">
              <a:buNone/>
            </a:pPr>
            <a:r>
              <a:rPr lang="zh-CN" altLang="en-US" b="1" dirty="0">
                <a:latin typeface="华文楷体" panose="02010600040101010101" pitchFamily="2" charset="-122"/>
                <a:ea typeface="华文楷体" panose="02010600040101010101" pitchFamily="2" charset="-122"/>
                <a:sym typeface="+mn-ea"/>
              </a:rPr>
              <a:t>语言引导</a:t>
            </a:r>
          </a:p>
          <a:p>
            <a:pPr algn="ctr">
              <a:buNone/>
            </a:pPr>
            <a:r>
              <a:rPr lang="zh-CN" altLang="en-US" b="1" dirty="0">
                <a:latin typeface="华文楷体" panose="02010600040101010101" pitchFamily="2" charset="-122"/>
                <a:ea typeface="华文楷体" panose="02010600040101010101" pitchFamily="2" charset="-122"/>
                <a:sym typeface="+mn-ea"/>
              </a:rPr>
              <a:t>方法</a:t>
            </a:r>
          </a:p>
        </p:txBody>
      </p:sp>
      <p:sp>
        <p:nvSpPr>
          <p:cNvPr id="15" name="圆角矩形 14"/>
          <p:cNvSpPr/>
          <p:nvPr/>
        </p:nvSpPr>
        <p:spPr>
          <a:xfrm>
            <a:off x="3228340" y="1965806"/>
            <a:ext cx="1471294" cy="899950"/>
          </a:xfrm>
          <a:prstGeom prst="roundRect">
            <a:avLst/>
          </a:prstGeom>
          <a:solidFill>
            <a:srgbClr val="E2EC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1200" dirty="0">
              <a:solidFill>
                <a:srgbClr val="000000"/>
              </a:solidFill>
              <a:latin typeface="Times New Roman Regular" panose="02020603050405020304" charset="0"/>
              <a:cs typeface="Times New Roman Regular" panose="02020603050405020304" charset="0"/>
            </a:endParaRPr>
          </a:p>
          <a:p>
            <a:pPr algn="ctr"/>
            <a:endParaRPr lang="en-US" altLang="zh-CN" sz="1200" dirty="0">
              <a:solidFill>
                <a:srgbClr val="000000"/>
              </a:solidFill>
              <a:latin typeface="Times New Roman Regular" panose="02020603050405020304" charset="0"/>
              <a:cs typeface="Times New Roman Regular" panose="02020603050405020304" charset="0"/>
            </a:endParaRPr>
          </a:p>
          <a:p>
            <a:pPr algn="ctr"/>
            <a:endParaRPr lang="en-US" altLang="zh-CN" sz="1200" dirty="0">
              <a:solidFill>
                <a:srgbClr val="000000"/>
              </a:solidFill>
              <a:latin typeface="Times New Roman Regular" panose="02020603050405020304" charset="0"/>
              <a:cs typeface="Times New Roman Regular" panose="02020603050405020304" charset="0"/>
            </a:endParaRPr>
          </a:p>
          <a:p>
            <a:pPr algn="ctr"/>
            <a:r>
              <a:rPr lang="en-US" altLang="zh-CN" sz="1200" dirty="0">
                <a:solidFill>
                  <a:srgbClr val="000000"/>
                </a:solidFill>
                <a:latin typeface="Times New Roman Regular" panose="02020603050405020304" charset="0"/>
                <a:cs typeface="Times New Roman Regular" panose="02020603050405020304" charset="0"/>
              </a:rPr>
              <a:t>PVPM (CVPR’20)</a:t>
            </a:r>
          </a:p>
          <a:p>
            <a:pPr algn="ctr"/>
            <a:r>
              <a:rPr lang="en-US" altLang="zh-CN" sz="1100" dirty="0" err="1">
                <a:solidFill>
                  <a:srgbClr val="000000"/>
                </a:solidFill>
                <a:latin typeface="Times New Roman Regular" panose="02020603050405020304" charset="0"/>
                <a:cs typeface="Times New Roman Regular" panose="02020603050405020304" charset="0"/>
              </a:rPr>
              <a:t>HOReID</a:t>
            </a:r>
            <a:r>
              <a:rPr lang="en-US" altLang="zh-CN" sz="1200" dirty="0">
                <a:solidFill>
                  <a:srgbClr val="000000"/>
                </a:solidFill>
                <a:latin typeface="Times New Roman Regular" panose="02020603050405020304" charset="0"/>
                <a:cs typeface="Times New Roman Regular" panose="02020603050405020304" charset="0"/>
              </a:rPr>
              <a:t> (CVPR’20)</a:t>
            </a:r>
          </a:p>
          <a:p>
            <a:pPr algn="ctr"/>
            <a:r>
              <a:rPr lang="en-US" altLang="zh-CN" sz="1100" dirty="0" err="1">
                <a:solidFill>
                  <a:srgbClr val="000000"/>
                </a:solidFill>
                <a:latin typeface="Times New Roman Regular" panose="02020603050405020304" charset="0"/>
                <a:cs typeface="Times New Roman Regular" panose="02020603050405020304" charset="0"/>
              </a:rPr>
              <a:t>RFCnet</a:t>
            </a:r>
            <a:r>
              <a:rPr lang="en-US" altLang="zh-CN" sz="1100" dirty="0">
                <a:solidFill>
                  <a:srgbClr val="000000"/>
                </a:solidFill>
                <a:latin typeface="Times New Roman Regular" panose="02020603050405020304" charset="0"/>
                <a:cs typeface="Times New Roman Regular" panose="02020603050405020304" charset="0"/>
              </a:rPr>
              <a:t> </a:t>
            </a:r>
            <a:r>
              <a:rPr lang="en-US" altLang="zh-CN" sz="1200" dirty="0">
                <a:solidFill>
                  <a:srgbClr val="000000"/>
                </a:solidFill>
                <a:latin typeface="Times New Roman Regular" panose="02020603050405020304" charset="0"/>
                <a:cs typeface="Times New Roman Regular" panose="02020603050405020304" charset="0"/>
              </a:rPr>
              <a:t>(TPAMI’21)</a:t>
            </a:r>
          </a:p>
          <a:p>
            <a:pPr algn="ctr"/>
            <a:r>
              <a:rPr lang="en-US" altLang="zh-CN" sz="1100" dirty="0">
                <a:solidFill>
                  <a:srgbClr val="121212"/>
                </a:solidFill>
                <a:latin typeface="Times New Roman" panose="02020603050405020304" pitchFamily="18" charset="0"/>
                <a:cs typeface="Times New Roman" panose="02020603050405020304" pitchFamily="18" charset="0"/>
              </a:rPr>
              <a:t>HCGA</a:t>
            </a:r>
            <a:r>
              <a:rPr lang="en-US" altLang="zh-CN" sz="1100" i="0" dirty="0">
                <a:solidFill>
                  <a:srgbClr val="121212"/>
                </a:solidFill>
                <a:effectLst/>
                <a:latin typeface="Times New Roman" panose="02020603050405020304" pitchFamily="18" charset="0"/>
                <a:cs typeface="Times New Roman" panose="02020603050405020304" pitchFamily="18" charset="0"/>
              </a:rPr>
              <a:t> </a:t>
            </a:r>
            <a:r>
              <a:rPr lang="en-US" altLang="zh-CN" sz="1100" dirty="0">
                <a:solidFill>
                  <a:srgbClr val="121212"/>
                </a:solidFill>
                <a:latin typeface="Times New Roman" panose="02020603050405020304" pitchFamily="18" charset="0"/>
                <a:cs typeface="Times New Roman" panose="02020603050405020304" pitchFamily="18" charset="0"/>
              </a:rPr>
              <a:t>(TIP’23</a:t>
            </a:r>
            <a:r>
              <a:rPr lang="en-US" altLang="zh-CN" sz="1050" b="1" dirty="0">
                <a:solidFill>
                  <a:srgbClr val="121212"/>
                </a:solidFill>
                <a:latin typeface="Times New Roman" panose="02020603050405020304" pitchFamily="18" charset="0"/>
                <a:cs typeface="Times New Roman" panose="02020603050405020304" pitchFamily="18" charset="0"/>
              </a:rPr>
              <a:t>)</a:t>
            </a:r>
            <a:endParaRPr lang="en-US" altLang="zh-CN" sz="1050" b="1" i="0" dirty="0">
              <a:solidFill>
                <a:srgbClr val="121212"/>
              </a:solidFill>
              <a:effectLst/>
              <a:latin typeface="Times New Roman" panose="02020603050405020304" pitchFamily="18" charset="0"/>
              <a:cs typeface="Times New Roman" panose="02020603050405020304" pitchFamily="18" charset="0"/>
            </a:endParaRPr>
          </a:p>
          <a:p>
            <a:pPr algn="ctr"/>
            <a:endParaRPr lang="en-US" altLang="zh-CN" sz="1200" dirty="0">
              <a:solidFill>
                <a:srgbClr val="000000"/>
              </a:solidFill>
              <a:latin typeface="Times New Roman Regular" panose="02020603050405020304" charset="0"/>
              <a:cs typeface="Times New Roman Regular" panose="02020603050405020304" charset="0"/>
            </a:endParaRPr>
          </a:p>
          <a:p>
            <a:pPr algn="ctr"/>
            <a:endParaRPr lang="en-US" altLang="zh-CN" sz="1200" dirty="0">
              <a:solidFill>
                <a:srgbClr val="000000"/>
              </a:solidFill>
              <a:latin typeface="Times New Roman Regular" panose="02020603050405020304" charset="0"/>
              <a:cs typeface="Times New Roman Regular" panose="02020603050405020304" charset="0"/>
            </a:endParaRPr>
          </a:p>
          <a:p>
            <a:pPr algn="ctr"/>
            <a:endParaRPr lang="en-US" altLang="zh-CN" sz="1200" dirty="0">
              <a:solidFill>
                <a:srgbClr val="000000"/>
              </a:solidFill>
              <a:latin typeface="Times New Roman Regular" panose="02020603050405020304" charset="0"/>
              <a:cs typeface="Times New Roman Regular" panose="02020603050405020304" charset="0"/>
            </a:endParaRPr>
          </a:p>
        </p:txBody>
      </p:sp>
      <p:sp>
        <p:nvSpPr>
          <p:cNvPr id="16" name="圆角矩形 15"/>
          <p:cNvSpPr/>
          <p:nvPr/>
        </p:nvSpPr>
        <p:spPr>
          <a:xfrm>
            <a:off x="3228340" y="2983180"/>
            <a:ext cx="1442718" cy="899950"/>
          </a:xfrm>
          <a:prstGeom prst="roundRect">
            <a:avLst/>
          </a:prstGeom>
          <a:solidFill>
            <a:srgbClr val="E2EC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1200" dirty="0">
              <a:solidFill>
                <a:schemeClr val="tx1"/>
              </a:solidFill>
              <a:latin typeface="Times New Roman" panose="02020603050405020304" pitchFamily="18" charset="0"/>
              <a:cs typeface="Times New Roman" panose="02020603050405020304" pitchFamily="18" charset="0"/>
              <a:sym typeface="+mn-ea"/>
            </a:endParaRPr>
          </a:p>
          <a:p>
            <a:pPr algn="ctr"/>
            <a:r>
              <a:rPr lang="en-US" altLang="zh-CN" sz="1200" dirty="0">
                <a:solidFill>
                  <a:schemeClr val="tx1"/>
                </a:solidFill>
                <a:latin typeface="Times New Roman" panose="02020603050405020304" pitchFamily="18" charset="0"/>
                <a:cs typeface="Times New Roman" panose="02020603050405020304" pitchFamily="18" charset="0"/>
                <a:sym typeface="+mn-ea"/>
              </a:rPr>
              <a:t>PAT(CVPR’21)</a:t>
            </a:r>
            <a:endParaRPr lang="en-US" altLang="zh-CN" sz="1200" dirty="0">
              <a:solidFill>
                <a:schemeClr val="tx1"/>
              </a:solidFill>
              <a:latin typeface="Times New Roman" panose="02020603050405020304" pitchFamily="18" charset="0"/>
              <a:cs typeface="Times New Roman" panose="02020603050405020304" pitchFamily="18" charset="0"/>
            </a:endParaRPr>
          </a:p>
          <a:p>
            <a:pPr algn="ctr"/>
            <a:r>
              <a:rPr lang="en-US" altLang="zh-CN" sz="1200" dirty="0">
                <a:solidFill>
                  <a:schemeClr val="tx1"/>
                </a:solidFill>
                <a:latin typeface="Times New Roman" panose="02020603050405020304" pitchFamily="18" charset="0"/>
                <a:cs typeface="Times New Roman" panose="02020603050405020304" pitchFamily="18" charset="0"/>
              </a:rPr>
              <a:t>PFD(AAAI’22)</a:t>
            </a:r>
          </a:p>
          <a:p>
            <a:pPr algn="ctr"/>
            <a:r>
              <a:rPr lang="en-US" altLang="zh-CN" sz="1200" dirty="0">
                <a:solidFill>
                  <a:schemeClr val="tx1"/>
                </a:solidFill>
                <a:latin typeface="Times New Roman" panose="02020603050405020304" pitchFamily="18" charset="0"/>
                <a:cs typeface="Times New Roman" panose="02020603050405020304" pitchFamily="18" charset="0"/>
              </a:rPr>
              <a:t>FED(CVPR’22)</a:t>
            </a:r>
          </a:p>
          <a:p>
            <a:pPr algn="ctr"/>
            <a:r>
              <a:rPr lang="en-US" altLang="zh-CN" sz="1200" dirty="0">
                <a:solidFill>
                  <a:schemeClr val="tx1"/>
                </a:solidFill>
                <a:latin typeface="Times New Roman" panose="02020603050405020304" pitchFamily="18" charset="0"/>
                <a:cs typeface="Times New Roman" panose="02020603050405020304" pitchFamily="18" charset="0"/>
              </a:rPr>
              <a:t>ADP(AAAI’24)</a:t>
            </a:r>
          </a:p>
          <a:p>
            <a:pPr algn="ctr"/>
            <a:endParaRPr lang="en-US" altLang="zh-CN" sz="1200" dirty="0">
              <a:solidFill>
                <a:schemeClr val="tx1"/>
              </a:solidFill>
              <a:latin typeface="Times New Roman" panose="02020603050405020304" pitchFamily="18" charset="0"/>
              <a:cs typeface="Times New Roman" panose="02020603050405020304" pitchFamily="18" charset="0"/>
            </a:endParaRPr>
          </a:p>
        </p:txBody>
      </p:sp>
      <p:sp>
        <p:nvSpPr>
          <p:cNvPr id="17" name="圆角矩形 16"/>
          <p:cNvSpPr/>
          <p:nvPr/>
        </p:nvSpPr>
        <p:spPr>
          <a:xfrm>
            <a:off x="4862195" y="2079625"/>
            <a:ext cx="1866900" cy="644525"/>
          </a:xfrm>
          <a:prstGeom prst="roundRect">
            <a:avLst/>
          </a:prstGeom>
          <a:solidFill>
            <a:srgbClr val="FFE0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chemeClr val="tx1"/>
                </a:solidFill>
                <a:latin typeface="华文楷体" panose="02010600040101010101" pitchFamily="2" charset="-122"/>
                <a:ea typeface="华文楷体" panose="02010600040101010101" pitchFamily="2" charset="-122"/>
                <a:cs typeface="华文楷体" panose="02010600040101010101" pitchFamily="2" charset="-122"/>
              </a:rPr>
              <a:t>使用辅助模型提供的外部知识来帮助识别和抑制噪声</a:t>
            </a:r>
          </a:p>
        </p:txBody>
      </p:sp>
      <p:sp>
        <p:nvSpPr>
          <p:cNvPr id="18" name="圆角矩形 17"/>
          <p:cNvSpPr/>
          <p:nvPr/>
        </p:nvSpPr>
        <p:spPr>
          <a:xfrm>
            <a:off x="4860564" y="3003065"/>
            <a:ext cx="1866900" cy="814069"/>
          </a:xfrm>
          <a:prstGeom prst="roundRect">
            <a:avLst/>
          </a:prstGeom>
          <a:solidFill>
            <a:srgbClr val="FFE0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chemeClr val="tx1"/>
                </a:solidFill>
                <a:latin typeface="华文楷体" panose="02010600040101010101" pitchFamily="2" charset="-122"/>
                <a:ea typeface="华文楷体" panose="02010600040101010101" pitchFamily="2" charset="-122"/>
                <a:cs typeface="华文楷体" panose="02010600040101010101" pitchFamily="2" charset="-122"/>
                <a:sym typeface="+mn-ea"/>
              </a:rPr>
              <a:t>通过学习生成注意力图为被遮挡区域分配较小的权重，从而解决噪声问题</a:t>
            </a:r>
          </a:p>
        </p:txBody>
      </p:sp>
      <p:sp>
        <p:nvSpPr>
          <p:cNvPr id="19" name="圆角矩形 18"/>
          <p:cNvSpPr/>
          <p:nvPr/>
        </p:nvSpPr>
        <p:spPr>
          <a:xfrm>
            <a:off x="6915956" y="2116463"/>
            <a:ext cx="1637493" cy="1617637"/>
          </a:xfrm>
          <a:prstGeom prst="roundRect">
            <a:avLst/>
          </a:prstGeom>
          <a:solidFill>
            <a:srgbClr val="FFEC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tx1"/>
                </a:solidFill>
                <a:latin typeface="STKaiti" panose="02010600040101010101" charset="-122"/>
                <a:ea typeface="STKaiti" panose="02010600040101010101" charset="-122"/>
                <a:sym typeface="+mn-ea"/>
              </a:rPr>
              <a:t>这些方法</a:t>
            </a:r>
            <a:r>
              <a:rPr lang="zh-CN" altLang="en-US" sz="1400" b="1" dirty="0">
                <a:solidFill>
                  <a:srgbClr val="FF0000"/>
                </a:solidFill>
                <a:latin typeface="STKaiti" panose="02010600040101010101" charset="-122"/>
                <a:ea typeface="STKaiti" panose="02010600040101010101" charset="-122"/>
                <a:sym typeface="+mn-ea"/>
              </a:rPr>
              <a:t>只使用了视觉信息</a:t>
            </a:r>
            <a:r>
              <a:rPr lang="zh-CN" altLang="en-US" sz="1400" b="1" dirty="0">
                <a:solidFill>
                  <a:schemeClr val="tx1"/>
                </a:solidFill>
                <a:latin typeface="STKaiti" panose="02010600040101010101" charset="-122"/>
                <a:ea typeface="STKaiti" panose="02010600040101010101" charset="-122"/>
                <a:sym typeface="+mn-ea"/>
              </a:rPr>
              <a:t>，不能完全过滤噪声，使得遮挡物特征仍然被识别为身份相关的特征</a:t>
            </a:r>
            <a:endParaRPr lang="zh-CN" altLang="en-US" sz="1400" b="1" dirty="0">
              <a:solidFill>
                <a:schemeClr val="tx1"/>
              </a:solidFill>
              <a:latin typeface="STKaiti" panose="02010600040101010101" charset="-122"/>
              <a:ea typeface="STKaiti" panose="02010600040101010101" charset="-122"/>
            </a:endParaRPr>
          </a:p>
        </p:txBody>
      </p:sp>
      <p:sp>
        <p:nvSpPr>
          <p:cNvPr id="20" name="圆角矩形 19"/>
          <p:cNvSpPr/>
          <p:nvPr/>
        </p:nvSpPr>
        <p:spPr>
          <a:xfrm>
            <a:off x="2044700" y="2115185"/>
            <a:ext cx="1043940" cy="648000"/>
          </a:xfrm>
          <a:prstGeom prst="roundRect">
            <a:avLst/>
          </a:prstGeom>
          <a:solidFill>
            <a:srgbClr val="DDFA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tx1"/>
                </a:solidFill>
                <a:latin typeface="华文楷体" panose="02010600040101010101" pitchFamily="2" charset="-122"/>
                <a:ea typeface="华文楷体" panose="02010600040101010101" pitchFamily="2" charset="-122"/>
              </a:rPr>
              <a:t>基于</a:t>
            </a:r>
          </a:p>
          <a:p>
            <a:pPr algn="ctr"/>
            <a:r>
              <a:rPr lang="zh-CN" altLang="en-US" sz="1400" b="1" dirty="0">
                <a:solidFill>
                  <a:schemeClr val="tx1"/>
                </a:solidFill>
                <a:latin typeface="华文楷体" panose="02010600040101010101" pitchFamily="2" charset="-122"/>
                <a:ea typeface="华文楷体" panose="02010600040101010101" pitchFamily="2" charset="-122"/>
              </a:rPr>
              <a:t>辅助模型</a:t>
            </a:r>
          </a:p>
        </p:txBody>
      </p:sp>
      <p:sp>
        <p:nvSpPr>
          <p:cNvPr id="21" name="圆角矩形 20"/>
          <p:cNvSpPr/>
          <p:nvPr/>
        </p:nvSpPr>
        <p:spPr>
          <a:xfrm>
            <a:off x="2052955" y="3086100"/>
            <a:ext cx="1043940" cy="648000"/>
          </a:xfrm>
          <a:prstGeom prst="roundRect">
            <a:avLst/>
          </a:prstGeom>
          <a:solidFill>
            <a:srgbClr val="DDFA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tx1"/>
                </a:solidFill>
                <a:latin typeface="华文楷体" panose="02010600040101010101" pitchFamily="2" charset="-122"/>
                <a:ea typeface="华文楷体" panose="02010600040101010101" pitchFamily="2" charset="-122"/>
              </a:rPr>
              <a:t>基于</a:t>
            </a:r>
          </a:p>
          <a:p>
            <a:pPr algn="ctr"/>
            <a:r>
              <a:rPr lang="zh-CN" altLang="en-US" sz="1400" b="1" dirty="0">
                <a:solidFill>
                  <a:schemeClr val="tx1"/>
                </a:solidFill>
                <a:latin typeface="华文楷体" panose="02010600040101010101" pitchFamily="2" charset="-122"/>
                <a:ea typeface="华文楷体" panose="02010600040101010101" pitchFamily="2" charset="-122"/>
              </a:rPr>
              <a:t>注意力</a:t>
            </a:r>
            <a:endParaRPr lang="en-US" altLang="zh-CN" sz="1400" b="1" dirty="0">
              <a:solidFill>
                <a:schemeClr val="tx1"/>
              </a:solidFill>
              <a:latin typeface="华文楷体" panose="02010600040101010101" pitchFamily="2" charset="-122"/>
              <a:ea typeface="华文楷体" panose="02010600040101010101" pitchFamily="2" charset="-122"/>
            </a:endParaRPr>
          </a:p>
          <a:p>
            <a:pPr algn="ctr"/>
            <a:r>
              <a:rPr lang="zh-CN" altLang="en-US" sz="1400" b="1" dirty="0">
                <a:solidFill>
                  <a:schemeClr val="tx1"/>
                </a:solidFill>
                <a:latin typeface="华文楷体" panose="02010600040101010101" pitchFamily="2" charset="-122"/>
                <a:ea typeface="华文楷体" panose="02010600040101010101" pitchFamily="2" charset="-122"/>
              </a:rPr>
              <a:t>机制</a:t>
            </a:r>
          </a:p>
        </p:txBody>
      </p:sp>
      <p:sp>
        <p:nvSpPr>
          <p:cNvPr id="24" name="圆角矩形 23"/>
          <p:cNvSpPr/>
          <p:nvPr/>
        </p:nvSpPr>
        <p:spPr>
          <a:xfrm>
            <a:off x="6909828" y="4192827"/>
            <a:ext cx="1637493" cy="1901345"/>
          </a:xfrm>
          <a:prstGeom prst="roundRect">
            <a:avLst/>
          </a:prstGeom>
          <a:solidFill>
            <a:srgbClr val="FFEC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tx1"/>
              </a:solidFill>
              <a:latin typeface="STKaiti" panose="02010600040101010101" charset="-122"/>
              <a:ea typeface="STKaiti" panose="02010600040101010101" charset="-122"/>
              <a:sym typeface="+mn-ea"/>
            </a:endParaRPr>
          </a:p>
          <a:p>
            <a:pPr algn="ctr"/>
            <a:r>
              <a:rPr lang="zh-CN" altLang="en-US" sz="1400" b="1" dirty="0">
                <a:solidFill>
                  <a:schemeClr val="tx1"/>
                </a:solidFill>
                <a:latin typeface="STKaiti" panose="02010600040101010101" charset="-122"/>
                <a:ea typeface="STKaiti" panose="02010600040101010101" charset="-122"/>
                <a:sym typeface="+mn-ea"/>
              </a:rPr>
              <a:t>现有方法的不足：</a:t>
            </a:r>
            <a:r>
              <a:rPr lang="en-US" altLang="zh-CN" sz="1400" b="1" dirty="0">
                <a:solidFill>
                  <a:schemeClr val="tx1"/>
                </a:solidFill>
                <a:latin typeface="STKaiti" panose="02010600040101010101" charset="-122"/>
                <a:ea typeface="STKaiti" panose="02010600040101010101" charset="-122"/>
                <a:sym typeface="+mn-ea"/>
              </a:rPr>
              <a:t>(1) </a:t>
            </a:r>
            <a:r>
              <a:rPr lang="zh-CN" altLang="en-US" sz="1400" b="1" dirty="0">
                <a:solidFill>
                  <a:schemeClr val="tx1"/>
                </a:solidFill>
                <a:latin typeface="STKaiti" panose="02010600040101010101" charset="-122"/>
                <a:ea typeface="STKaiti" panose="02010600040101010101" charset="-122"/>
                <a:sym typeface="+mn-ea"/>
              </a:rPr>
              <a:t>生成的文本信息较为</a:t>
            </a:r>
            <a:r>
              <a:rPr lang="zh-CN" altLang="en-US" sz="1400" b="1" dirty="0">
                <a:solidFill>
                  <a:srgbClr val="FF0000"/>
                </a:solidFill>
                <a:latin typeface="STKaiti" panose="02010600040101010101" charset="-122"/>
                <a:ea typeface="STKaiti" panose="02010600040101010101" charset="-122"/>
                <a:sym typeface="+mn-ea"/>
              </a:rPr>
              <a:t>粗粒度</a:t>
            </a:r>
            <a:r>
              <a:rPr lang="zh-CN" altLang="en-US" sz="1400" b="1" dirty="0">
                <a:solidFill>
                  <a:schemeClr val="tx1"/>
                </a:solidFill>
                <a:latin typeface="STKaiti" panose="02010600040101010101" charset="-122"/>
                <a:ea typeface="STKaiti" panose="02010600040101010101" charset="-122"/>
                <a:sym typeface="+mn-ea"/>
              </a:rPr>
              <a:t> </a:t>
            </a:r>
            <a:r>
              <a:rPr lang="en-US" altLang="zh-CN" sz="1400" b="1" dirty="0">
                <a:solidFill>
                  <a:schemeClr val="tx1"/>
                </a:solidFill>
                <a:latin typeface="STKaiti" panose="02010600040101010101" charset="-122"/>
                <a:ea typeface="STKaiti" panose="02010600040101010101" charset="-122"/>
                <a:sym typeface="+mn-ea"/>
              </a:rPr>
              <a:t>(2) </a:t>
            </a:r>
            <a:r>
              <a:rPr lang="zh-CN" altLang="en-US" sz="1400" b="1" dirty="0">
                <a:solidFill>
                  <a:schemeClr val="tx1"/>
                </a:solidFill>
                <a:latin typeface="STKaiti" panose="02010600040101010101" charset="-122"/>
                <a:ea typeface="STKaiti" panose="02010600040101010101" charset="-122"/>
                <a:sym typeface="+mn-ea"/>
              </a:rPr>
              <a:t>目前还没有语言引导方法在遮挡</a:t>
            </a:r>
            <a:r>
              <a:rPr lang="en-US" altLang="zh-CN" sz="1400" b="1" dirty="0" err="1">
                <a:solidFill>
                  <a:schemeClr val="tx1"/>
                </a:solidFill>
                <a:latin typeface="STKaiti" panose="02010600040101010101" charset="-122"/>
                <a:ea typeface="STKaiti" panose="02010600040101010101" charset="-122"/>
                <a:sym typeface="+mn-ea"/>
              </a:rPr>
              <a:t>ReID</a:t>
            </a:r>
            <a:r>
              <a:rPr lang="zh-CN" altLang="en-US" sz="1400" b="1" dirty="0">
                <a:solidFill>
                  <a:schemeClr val="tx1"/>
                </a:solidFill>
                <a:latin typeface="STKaiti" panose="02010600040101010101" charset="-122"/>
                <a:ea typeface="STKaiti" panose="02010600040101010101" charset="-122"/>
                <a:sym typeface="+mn-ea"/>
              </a:rPr>
              <a:t>任务上的探索</a:t>
            </a:r>
            <a:endParaRPr lang="zh-CN" altLang="en-US" sz="1400" b="1" dirty="0">
              <a:solidFill>
                <a:schemeClr val="tx1"/>
              </a:solidFill>
              <a:latin typeface="STKaiti" panose="02010600040101010101" charset="-122"/>
              <a:ea typeface="STKaiti" panose="02010600040101010101" charset="-122"/>
            </a:endParaRPr>
          </a:p>
        </p:txBody>
      </p:sp>
      <p:sp>
        <p:nvSpPr>
          <p:cNvPr id="25" name="圆角矩形 24"/>
          <p:cNvSpPr/>
          <p:nvPr/>
        </p:nvSpPr>
        <p:spPr>
          <a:xfrm>
            <a:off x="2022110" y="4675288"/>
            <a:ext cx="1043940" cy="511810"/>
          </a:xfrm>
          <a:prstGeom prst="roundRect">
            <a:avLst/>
          </a:prstGeom>
          <a:solidFill>
            <a:srgbClr val="DDFA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tx1"/>
                </a:solidFill>
                <a:latin typeface="华文楷体" panose="02010600040101010101" pitchFamily="2" charset="-122"/>
                <a:ea typeface="华文楷体" panose="02010600040101010101" pitchFamily="2" charset="-122"/>
              </a:rPr>
              <a:t>可泛化性</a:t>
            </a:r>
            <a:r>
              <a:rPr lang="en-US" altLang="zh-CN" sz="1400" b="1" dirty="0" err="1">
                <a:solidFill>
                  <a:schemeClr val="tx1"/>
                </a:solidFill>
                <a:latin typeface="华文楷体" panose="02010600040101010101" pitchFamily="2" charset="-122"/>
                <a:ea typeface="华文楷体" panose="02010600040101010101" pitchFamily="2" charset="-122"/>
              </a:rPr>
              <a:t>ReID</a:t>
            </a:r>
            <a:endParaRPr lang="en-US" altLang="zh-CN" sz="1400" b="1" dirty="0">
              <a:solidFill>
                <a:schemeClr val="tx1"/>
              </a:solidFill>
              <a:latin typeface="华文楷体" panose="02010600040101010101" pitchFamily="2" charset="-122"/>
              <a:ea typeface="华文楷体" panose="02010600040101010101" pitchFamily="2" charset="-122"/>
            </a:endParaRPr>
          </a:p>
        </p:txBody>
      </p:sp>
      <p:sp>
        <p:nvSpPr>
          <p:cNvPr id="26" name="圆角矩形 25"/>
          <p:cNvSpPr/>
          <p:nvPr/>
        </p:nvSpPr>
        <p:spPr>
          <a:xfrm>
            <a:off x="2044700" y="5240905"/>
            <a:ext cx="1043940" cy="511200"/>
          </a:xfrm>
          <a:prstGeom prst="roundRect">
            <a:avLst/>
          </a:prstGeom>
          <a:solidFill>
            <a:srgbClr val="DDFA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rgbClr val="000000"/>
                </a:solidFill>
                <a:latin typeface="华文楷体" panose="02010600040101010101" pitchFamily="2" charset="-122"/>
                <a:ea typeface="华文楷体" panose="02010600040101010101" pitchFamily="2" charset="-122"/>
              </a:rPr>
              <a:t>换装</a:t>
            </a:r>
            <a:r>
              <a:rPr lang="en-US" altLang="zh-CN" sz="1400" b="1" dirty="0" err="1">
                <a:solidFill>
                  <a:srgbClr val="000000"/>
                </a:solidFill>
                <a:latin typeface="华文楷体" panose="02010600040101010101" pitchFamily="2" charset="-122"/>
                <a:ea typeface="华文楷体" panose="02010600040101010101" pitchFamily="2" charset="-122"/>
              </a:rPr>
              <a:t>ReID</a:t>
            </a:r>
            <a:endParaRPr lang="en-US" altLang="zh-CN" sz="1400" b="1" dirty="0">
              <a:solidFill>
                <a:srgbClr val="000000"/>
              </a:solidFill>
              <a:latin typeface="华文楷体" panose="02010600040101010101" pitchFamily="2" charset="-122"/>
              <a:ea typeface="华文楷体" panose="02010600040101010101" pitchFamily="2" charset="-122"/>
            </a:endParaRPr>
          </a:p>
        </p:txBody>
      </p:sp>
      <p:sp>
        <p:nvSpPr>
          <p:cNvPr id="27" name="圆角矩形 26"/>
          <p:cNvSpPr/>
          <p:nvPr/>
        </p:nvSpPr>
        <p:spPr>
          <a:xfrm>
            <a:off x="3235483" y="4675288"/>
            <a:ext cx="1442717" cy="511811"/>
          </a:xfrm>
          <a:prstGeom prst="roundRect">
            <a:avLst/>
          </a:prstGeom>
          <a:solidFill>
            <a:srgbClr val="E2EC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1200" dirty="0">
              <a:solidFill>
                <a:schemeClr val="tx1"/>
              </a:solidFill>
              <a:latin typeface="Times New Roman" panose="02020603050405020304" pitchFamily="18" charset="0"/>
              <a:cs typeface="Times New Roman" panose="02020603050405020304" pitchFamily="18" charset="0"/>
            </a:endParaRPr>
          </a:p>
          <a:p>
            <a:pPr algn="ctr"/>
            <a:endParaRPr lang="en-US" altLang="zh-CN" sz="1200" dirty="0">
              <a:solidFill>
                <a:srgbClr val="000000"/>
              </a:solidFill>
              <a:latin typeface="Times New Roman Regular" panose="02020603050405020304" charset="0"/>
              <a:cs typeface="Times New Roman Regular" panose="02020603050405020304" charset="0"/>
            </a:endParaRPr>
          </a:p>
          <a:p>
            <a:pPr algn="ctr"/>
            <a:r>
              <a:rPr lang="en-US" altLang="zh-CN" sz="1200" dirty="0">
                <a:solidFill>
                  <a:srgbClr val="000000"/>
                </a:solidFill>
                <a:latin typeface="Times New Roman Regular" panose="02020603050405020304" charset="0"/>
                <a:cs typeface="Times New Roman Regular" panose="02020603050405020304" charset="0"/>
              </a:rPr>
              <a:t> DFGS (TOMM</a:t>
            </a:r>
            <a:r>
              <a:rPr lang="zh-CN" altLang="en-US" sz="1200" dirty="0">
                <a:solidFill>
                  <a:srgbClr val="000000"/>
                </a:solidFill>
                <a:latin typeface="Times New Roman Regular" panose="02020603050405020304" charset="0"/>
                <a:cs typeface="Times New Roman Regular" panose="02020603050405020304" charset="0"/>
              </a:rPr>
              <a:t>’</a:t>
            </a:r>
            <a:r>
              <a:rPr lang="en-US" altLang="zh-CN" sz="1200" dirty="0">
                <a:solidFill>
                  <a:srgbClr val="000000"/>
                </a:solidFill>
                <a:latin typeface="Times New Roman Regular" panose="02020603050405020304" charset="0"/>
                <a:cs typeface="Times New Roman Regular" panose="02020603050405020304" charset="0"/>
              </a:rPr>
              <a:t>24</a:t>
            </a:r>
            <a:r>
              <a:rPr lang="zh-CN" altLang="en-US" sz="1200" dirty="0">
                <a:solidFill>
                  <a:srgbClr val="000000"/>
                </a:solidFill>
                <a:latin typeface="Times New Roman Regular" panose="02020603050405020304" charset="0"/>
                <a:cs typeface="Times New Roman Regular" panose="02020603050405020304" charset="0"/>
              </a:rPr>
              <a:t>）</a:t>
            </a:r>
          </a:p>
          <a:p>
            <a:pPr algn="ctr"/>
            <a:r>
              <a:rPr lang="en-US" altLang="zh-CN" sz="1200" dirty="0">
                <a:solidFill>
                  <a:srgbClr val="000000"/>
                </a:solidFill>
                <a:latin typeface="Times New Roman Regular" panose="02020603050405020304" charset="0"/>
                <a:cs typeface="Times New Roman Regular" panose="02020603050405020304" charset="0"/>
              </a:rPr>
              <a:t>FGDI (TIFS’24)</a:t>
            </a:r>
          </a:p>
          <a:p>
            <a:pPr algn="ctr"/>
            <a:endParaRPr lang="en-US" altLang="zh-CN" sz="1200" dirty="0">
              <a:solidFill>
                <a:srgbClr val="000000"/>
              </a:solidFill>
              <a:latin typeface="Times New Roman Regular" panose="02020603050405020304" charset="0"/>
              <a:cs typeface="Times New Roman Regular" panose="02020603050405020304" charset="0"/>
            </a:endParaRPr>
          </a:p>
          <a:p>
            <a:pPr algn="ctr"/>
            <a:endParaRPr lang="en-US" altLang="zh-CN" sz="1200" dirty="0">
              <a:solidFill>
                <a:srgbClr val="000000"/>
              </a:solidFill>
              <a:latin typeface="Times New Roman Regular" panose="02020603050405020304" charset="0"/>
              <a:cs typeface="Times New Roman Regular" panose="02020603050405020304" charset="0"/>
            </a:endParaRPr>
          </a:p>
        </p:txBody>
      </p:sp>
      <p:sp>
        <p:nvSpPr>
          <p:cNvPr id="28" name="圆角矩形 27"/>
          <p:cNvSpPr/>
          <p:nvPr/>
        </p:nvSpPr>
        <p:spPr>
          <a:xfrm>
            <a:off x="4860564" y="4128253"/>
            <a:ext cx="1866900" cy="1015247"/>
          </a:xfrm>
          <a:prstGeom prst="roundRect">
            <a:avLst/>
          </a:prstGeom>
          <a:solidFill>
            <a:srgbClr val="FFE0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chemeClr val="tx1"/>
                </a:solidFill>
                <a:latin typeface="华文楷体" panose="02010600040101010101" pitchFamily="2" charset="-122"/>
                <a:ea typeface="华文楷体" panose="02010600040101010101" pitchFamily="2" charset="-122"/>
                <a:cs typeface="华文楷体" panose="02010600040101010101" pitchFamily="2" charset="-122"/>
                <a:sym typeface="+mn-ea"/>
              </a:rPr>
              <a:t>使用预训练视觉</a:t>
            </a:r>
            <a:r>
              <a:rPr lang="en-US" altLang="zh-CN" sz="1200" b="1" dirty="0">
                <a:solidFill>
                  <a:schemeClr val="tx1"/>
                </a:solidFill>
                <a:latin typeface="华文楷体" panose="02010600040101010101" pitchFamily="2" charset="-122"/>
                <a:ea typeface="华文楷体" panose="02010600040101010101" pitchFamily="2" charset="-122"/>
                <a:cs typeface="华文楷体" panose="02010600040101010101" pitchFamily="2" charset="-122"/>
                <a:sym typeface="+mn-ea"/>
              </a:rPr>
              <a:t>-</a:t>
            </a:r>
            <a:r>
              <a:rPr lang="zh-CN" altLang="en-US" sz="1200" b="1" dirty="0">
                <a:solidFill>
                  <a:schemeClr val="tx1"/>
                </a:solidFill>
                <a:latin typeface="华文楷体" panose="02010600040101010101" pitchFamily="2" charset="-122"/>
                <a:ea typeface="华文楷体" panose="02010600040101010101" pitchFamily="2" charset="-122"/>
                <a:cs typeface="华文楷体" panose="02010600040101010101" pitchFamily="2" charset="-122"/>
                <a:sym typeface="+mn-ea"/>
              </a:rPr>
              <a:t>语言模型</a:t>
            </a:r>
            <a:r>
              <a:rPr lang="en-US" altLang="zh-CN" sz="1200" b="1" dirty="0">
                <a:solidFill>
                  <a:schemeClr val="tx1"/>
                </a:solidFill>
                <a:latin typeface="华文楷体" panose="02010600040101010101" pitchFamily="2" charset="-122"/>
                <a:ea typeface="华文楷体" panose="02010600040101010101" pitchFamily="2" charset="-122"/>
                <a:cs typeface="华文楷体" panose="02010600040101010101" pitchFamily="2" charset="-122"/>
                <a:sym typeface="+mn-ea"/>
              </a:rPr>
              <a:t>CLIP</a:t>
            </a:r>
            <a:r>
              <a:rPr lang="zh-CN" altLang="en-US" sz="1200" b="1" dirty="0">
                <a:solidFill>
                  <a:schemeClr val="tx1"/>
                </a:solidFill>
                <a:latin typeface="华文楷体" panose="02010600040101010101" pitchFamily="2" charset="-122"/>
                <a:ea typeface="华文楷体" panose="02010600040101010101" pitchFamily="2" charset="-122"/>
                <a:cs typeface="华文楷体" panose="02010600040101010101" pitchFamily="2" charset="-122"/>
                <a:sym typeface="+mn-ea"/>
              </a:rPr>
              <a:t>来为每个行人生成可学习的</a:t>
            </a:r>
            <a:r>
              <a:rPr lang="en-US" altLang="zh-CN" sz="1200" b="1" dirty="0">
                <a:solidFill>
                  <a:schemeClr val="tx1"/>
                </a:solidFill>
                <a:latin typeface="华文楷体" panose="02010600040101010101" pitchFamily="2" charset="-122"/>
                <a:ea typeface="华文楷体" panose="02010600040101010101" pitchFamily="2" charset="-122"/>
                <a:cs typeface="华文楷体" panose="02010600040101010101" pitchFamily="2" charset="-122"/>
                <a:sym typeface="+mn-ea"/>
              </a:rPr>
              <a:t>token</a:t>
            </a:r>
            <a:r>
              <a:rPr lang="zh-CN" altLang="en-US" sz="1200" b="1" dirty="0">
                <a:solidFill>
                  <a:schemeClr val="tx1"/>
                </a:solidFill>
                <a:latin typeface="华文楷体" panose="02010600040101010101" pitchFamily="2" charset="-122"/>
                <a:ea typeface="华文楷体" panose="02010600040101010101" pitchFamily="2" charset="-122"/>
                <a:cs typeface="华文楷体" panose="02010600040101010101" pitchFamily="2" charset="-122"/>
                <a:sym typeface="+mn-ea"/>
              </a:rPr>
              <a:t>，进而用文本信息来增强视觉特征的学习</a:t>
            </a:r>
          </a:p>
        </p:txBody>
      </p:sp>
      <p:sp>
        <p:nvSpPr>
          <p:cNvPr id="29" name="圆角矩形 28"/>
          <p:cNvSpPr/>
          <p:nvPr/>
        </p:nvSpPr>
        <p:spPr>
          <a:xfrm>
            <a:off x="3242628" y="5240905"/>
            <a:ext cx="1442717" cy="511200"/>
          </a:xfrm>
          <a:prstGeom prst="roundRect">
            <a:avLst/>
          </a:prstGeom>
          <a:solidFill>
            <a:srgbClr val="E2EC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1200" dirty="0">
              <a:solidFill>
                <a:srgbClr val="000000"/>
              </a:solidFill>
              <a:latin typeface="Times New Roman Regular" panose="02020603050405020304" charset="0"/>
              <a:cs typeface="Times New Roman Regular" panose="02020603050405020304" charset="0"/>
            </a:endParaRPr>
          </a:p>
          <a:p>
            <a:pPr algn="ctr"/>
            <a:r>
              <a:rPr lang="en-US" altLang="zh-CN" sz="1200" dirty="0">
                <a:solidFill>
                  <a:srgbClr val="000000"/>
                </a:solidFill>
                <a:latin typeface="Times New Roman Regular" panose="02020603050405020304" charset="0"/>
                <a:cs typeface="Times New Roman Regular" panose="02020603050405020304" charset="0"/>
              </a:rPr>
              <a:t>SCI (TNNLS</a:t>
            </a:r>
            <a:r>
              <a:rPr lang="zh-CN" altLang="en-US" sz="1200" dirty="0">
                <a:solidFill>
                  <a:srgbClr val="000000"/>
                </a:solidFill>
                <a:latin typeface="Times New Roman Regular" panose="02020603050405020304" charset="0"/>
                <a:cs typeface="Times New Roman Regular" panose="02020603050405020304" charset="0"/>
              </a:rPr>
              <a:t>’</a:t>
            </a:r>
            <a:r>
              <a:rPr lang="en-US" altLang="zh-CN" sz="1200" dirty="0">
                <a:solidFill>
                  <a:srgbClr val="000000"/>
                </a:solidFill>
                <a:latin typeface="Times New Roman Regular" panose="02020603050405020304" charset="0"/>
                <a:cs typeface="Times New Roman Regular" panose="02020603050405020304" charset="0"/>
              </a:rPr>
              <a:t>24)</a:t>
            </a:r>
            <a:endParaRPr lang="zh-CN" altLang="en-US" sz="1200" dirty="0">
              <a:solidFill>
                <a:srgbClr val="000000"/>
              </a:solidFill>
              <a:latin typeface="Times New Roman Regular" panose="02020603050405020304" charset="0"/>
              <a:cs typeface="Times New Roman Regular" panose="02020603050405020304" charset="0"/>
            </a:endParaRPr>
          </a:p>
          <a:p>
            <a:pPr algn="ctr"/>
            <a:r>
              <a:rPr lang="en-US" altLang="zh-CN" sz="1200" dirty="0">
                <a:solidFill>
                  <a:srgbClr val="000000"/>
                </a:solidFill>
                <a:latin typeface="Times New Roman Regular" panose="02020603050405020304" charset="0"/>
                <a:cs typeface="Times New Roman Regular" panose="02020603050405020304" charset="0"/>
              </a:rPr>
              <a:t>CCAF (arxiv’24)</a:t>
            </a:r>
          </a:p>
          <a:p>
            <a:pPr algn="ctr"/>
            <a:endParaRPr lang="en-US" altLang="zh-CN" sz="1200" dirty="0">
              <a:solidFill>
                <a:srgbClr val="000000"/>
              </a:solidFill>
              <a:latin typeface="Times New Roman Regular" panose="02020603050405020304" charset="0"/>
              <a:cs typeface="Times New Roman Regular" panose="02020603050405020304" charset="0"/>
            </a:endParaRPr>
          </a:p>
        </p:txBody>
      </p:sp>
      <p:sp>
        <p:nvSpPr>
          <p:cNvPr id="2" name="圆角矩形 25">
            <a:extLst>
              <a:ext uri="{FF2B5EF4-FFF2-40B4-BE49-F238E27FC236}">
                <a16:creationId xmlns:a16="http://schemas.microsoft.com/office/drawing/2014/main" id="{622FCC43-CC48-C654-EB6C-7B1BDDA1CB31}"/>
              </a:ext>
            </a:extLst>
          </p:cNvPr>
          <p:cNvSpPr/>
          <p:nvPr/>
        </p:nvSpPr>
        <p:spPr>
          <a:xfrm>
            <a:off x="2044700" y="5808583"/>
            <a:ext cx="1043940" cy="511200"/>
          </a:xfrm>
          <a:prstGeom prst="roundRect">
            <a:avLst/>
          </a:prstGeom>
          <a:solidFill>
            <a:srgbClr val="DDFA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rgbClr val="000000"/>
                </a:solidFill>
                <a:latin typeface="华文楷体" panose="02010600040101010101" pitchFamily="2" charset="-122"/>
                <a:ea typeface="华文楷体" panose="02010600040101010101" pitchFamily="2" charset="-122"/>
              </a:rPr>
              <a:t>可见光</a:t>
            </a:r>
            <a:r>
              <a:rPr lang="en-US" altLang="zh-CN" sz="1400" b="1" dirty="0">
                <a:solidFill>
                  <a:srgbClr val="000000"/>
                </a:solidFill>
                <a:latin typeface="华文楷体" panose="02010600040101010101" pitchFamily="2" charset="-122"/>
                <a:ea typeface="华文楷体" panose="02010600040101010101" pitchFamily="2" charset="-122"/>
              </a:rPr>
              <a:t>-</a:t>
            </a:r>
            <a:r>
              <a:rPr lang="zh-CN" altLang="en-US" sz="1400" b="1" dirty="0">
                <a:solidFill>
                  <a:srgbClr val="000000"/>
                </a:solidFill>
                <a:latin typeface="华文楷体" panose="02010600040101010101" pitchFamily="2" charset="-122"/>
                <a:ea typeface="华文楷体" panose="02010600040101010101" pitchFamily="2" charset="-122"/>
              </a:rPr>
              <a:t>红外</a:t>
            </a:r>
            <a:r>
              <a:rPr lang="en-US" altLang="zh-CN" sz="1400" b="1" dirty="0" err="1">
                <a:solidFill>
                  <a:srgbClr val="000000"/>
                </a:solidFill>
                <a:latin typeface="华文楷体" panose="02010600040101010101" pitchFamily="2" charset="-122"/>
                <a:ea typeface="华文楷体" panose="02010600040101010101" pitchFamily="2" charset="-122"/>
              </a:rPr>
              <a:t>ReID</a:t>
            </a:r>
            <a:endParaRPr lang="en-US" altLang="zh-CN" sz="1400" b="1" dirty="0">
              <a:solidFill>
                <a:srgbClr val="000000"/>
              </a:solidFill>
              <a:latin typeface="华文楷体" panose="02010600040101010101" pitchFamily="2" charset="-122"/>
              <a:ea typeface="华文楷体" panose="02010600040101010101" pitchFamily="2" charset="-122"/>
            </a:endParaRPr>
          </a:p>
        </p:txBody>
      </p:sp>
      <p:sp>
        <p:nvSpPr>
          <p:cNvPr id="5" name="圆角矩形 28">
            <a:extLst>
              <a:ext uri="{FF2B5EF4-FFF2-40B4-BE49-F238E27FC236}">
                <a16:creationId xmlns:a16="http://schemas.microsoft.com/office/drawing/2014/main" id="{407A901F-CCF0-9711-D8CC-A266BF186135}"/>
              </a:ext>
            </a:extLst>
          </p:cNvPr>
          <p:cNvSpPr/>
          <p:nvPr/>
        </p:nvSpPr>
        <p:spPr>
          <a:xfrm>
            <a:off x="3235483" y="5808583"/>
            <a:ext cx="1428427" cy="511200"/>
          </a:xfrm>
          <a:prstGeom prst="roundRect">
            <a:avLst/>
          </a:prstGeom>
          <a:solidFill>
            <a:srgbClr val="E2EC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1200" dirty="0">
              <a:solidFill>
                <a:srgbClr val="000000"/>
              </a:solidFill>
              <a:latin typeface="Times New Roman Regular" panose="02020603050405020304" charset="0"/>
              <a:cs typeface="Times New Roman Regular" panose="02020603050405020304" charset="0"/>
            </a:endParaRPr>
          </a:p>
          <a:p>
            <a:pPr algn="ctr"/>
            <a:r>
              <a:rPr lang="en-US" altLang="zh-CN" sz="900" dirty="0">
                <a:solidFill>
                  <a:srgbClr val="000000"/>
                </a:solidFill>
                <a:latin typeface="Times New Roman Regular" panose="02020603050405020304" charset="0"/>
                <a:cs typeface="Times New Roman Regular" panose="02020603050405020304" charset="0"/>
              </a:rPr>
              <a:t>USL-VI-</a:t>
            </a:r>
            <a:r>
              <a:rPr lang="en-US" altLang="zh-CN" sz="900" dirty="0" err="1">
                <a:solidFill>
                  <a:srgbClr val="000000"/>
                </a:solidFill>
                <a:latin typeface="Times New Roman Regular" panose="02020603050405020304" charset="0"/>
                <a:cs typeface="Times New Roman Regular" panose="02020603050405020304" charset="0"/>
              </a:rPr>
              <a:t>ReID</a:t>
            </a:r>
            <a:r>
              <a:rPr lang="en-US" altLang="zh-CN" sz="1200" dirty="0">
                <a:solidFill>
                  <a:srgbClr val="000000"/>
                </a:solidFill>
                <a:latin typeface="Times New Roman Regular" panose="02020603050405020304" charset="0"/>
                <a:cs typeface="Times New Roman Regular" panose="02020603050405020304" charset="0"/>
              </a:rPr>
              <a:t> </a:t>
            </a:r>
            <a:r>
              <a:rPr lang="en-US" altLang="zh-CN" sz="1000" dirty="0">
                <a:solidFill>
                  <a:srgbClr val="000000"/>
                </a:solidFill>
                <a:latin typeface="Times New Roman Regular" panose="02020603050405020304" charset="0"/>
                <a:cs typeface="Times New Roman Regular" panose="02020603050405020304" charset="0"/>
              </a:rPr>
              <a:t>(MM</a:t>
            </a:r>
            <a:r>
              <a:rPr lang="zh-CN" altLang="en-US" sz="1000" dirty="0">
                <a:solidFill>
                  <a:srgbClr val="000000"/>
                </a:solidFill>
                <a:latin typeface="Times New Roman Regular" panose="02020603050405020304" charset="0"/>
                <a:cs typeface="Times New Roman Regular" panose="02020603050405020304" charset="0"/>
              </a:rPr>
              <a:t>’</a:t>
            </a:r>
            <a:r>
              <a:rPr lang="en-US" altLang="zh-CN" sz="1000" dirty="0">
                <a:solidFill>
                  <a:srgbClr val="000000"/>
                </a:solidFill>
                <a:latin typeface="Times New Roman Regular" panose="02020603050405020304" charset="0"/>
                <a:cs typeface="Times New Roman Regular" panose="02020603050405020304" charset="0"/>
              </a:rPr>
              <a:t>24)</a:t>
            </a:r>
            <a:endParaRPr lang="zh-CN" altLang="en-US" sz="1000" dirty="0">
              <a:solidFill>
                <a:srgbClr val="000000"/>
              </a:solidFill>
              <a:latin typeface="Times New Roman Regular" panose="02020603050405020304" charset="0"/>
              <a:cs typeface="Times New Roman Regular" panose="02020603050405020304" charset="0"/>
            </a:endParaRPr>
          </a:p>
          <a:p>
            <a:pPr algn="ctr"/>
            <a:r>
              <a:rPr lang="en-US" altLang="zh-CN" sz="1000" dirty="0">
                <a:solidFill>
                  <a:srgbClr val="000000"/>
                </a:solidFill>
                <a:latin typeface="Times New Roman Regular" panose="02020603050405020304" charset="0"/>
                <a:cs typeface="Times New Roman Regular" panose="02020603050405020304" charset="0"/>
              </a:rPr>
              <a:t>CLIP-MC</a:t>
            </a:r>
            <a:r>
              <a:rPr lang="en-US" altLang="zh-CN" sz="1200" dirty="0">
                <a:solidFill>
                  <a:srgbClr val="000000"/>
                </a:solidFill>
                <a:latin typeface="Times New Roman Regular" panose="02020603050405020304" charset="0"/>
                <a:cs typeface="Times New Roman Regular" panose="02020603050405020304" charset="0"/>
              </a:rPr>
              <a:t> </a:t>
            </a:r>
            <a:r>
              <a:rPr lang="en-US" altLang="zh-CN" sz="1100" dirty="0">
                <a:solidFill>
                  <a:srgbClr val="000000"/>
                </a:solidFill>
                <a:latin typeface="Times New Roman Regular" panose="02020603050405020304" charset="0"/>
                <a:cs typeface="Times New Roman Regular" panose="02020603050405020304" charset="0"/>
              </a:rPr>
              <a:t>(TMM’24)</a:t>
            </a:r>
          </a:p>
          <a:p>
            <a:pPr algn="ctr"/>
            <a:endParaRPr lang="en-US" altLang="zh-CN" sz="1200" dirty="0">
              <a:solidFill>
                <a:srgbClr val="000000"/>
              </a:solidFill>
              <a:latin typeface="Times New Roman Regular" panose="02020603050405020304" charset="0"/>
              <a:cs typeface="Times New Roman Regular" panose="02020603050405020304" charset="0"/>
            </a:endParaRPr>
          </a:p>
        </p:txBody>
      </p:sp>
      <p:sp>
        <p:nvSpPr>
          <p:cNvPr id="7" name="圆角矩形 24">
            <a:extLst>
              <a:ext uri="{FF2B5EF4-FFF2-40B4-BE49-F238E27FC236}">
                <a16:creationId xmlns:a16="http://schemas.microsoft.com/office/drawing/2014/main" id="{C9B83AEC-B442-8CE3-BF09-BF8E0B17FA1A}"/>
              </a:ext>
            </a:extLst>
          </p:cNvPr>
          <p:cNvSpPr/>
          <p:nvPr/>
        </p:nvSpPr>
        <p:spPr>
          <a:xfrm>
            <a:off x="2044700" y="4122218"/>
            <a:ext cx="1043940" cy="511810"/>
          </a:xfrm>
          <a:prstGeom prst="roundRect">
            <a:avLst/>
          </a:prstGeom>
          <a:solidFill>
            <a:srgbClr val="DDFA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b="1" dirty="0" err="1">
                <a:solidFill>
                  <a:schemeClr val="tx1"/>
                </a:solidFill>
                <a:latin typeface="华文楷体" panose="02010600040101010101" pitchFamily="2" charset="-122"/>
                <a:ea typeface="华文楷体" panose="02010600040101010101" pitchFamily="2" charset="-122"/>
              </a:rPr>
              <a:t>ReID</a:t>
            </a:r>
            <a:endParaRPr lang="en-US" altLang="zh-CN" sz="1400" b="1" dirty="0">
              <a:solidFill>
                <a:schemeClr val="tx1"/>
              </a:solidFill>
              <a:latin typeface="华文楷体" panose="02010600040101010101" pitchFamily="2" charset="-122"/>
              <a:ea typeface="华文楷体" panose="02010600040101010101" pitchFamily="2" charset="-122"/>
            </a:endParaRPr>
          </a:p>
        </p:txBody>
      </p:sp>
      <p:sp>
        <p:nvSpPr>
          <p:cNvPr id="8" name="圆角矩形 26">
            <a:extLst>
              <a:ext uri="{FF2B5EF4-FFF2-40B4-BE49-F238E27FC236}">
                <a16:creationId xmlns:a16="http://schemas.microsoft.com/office/drawing/2014/main" id="{8CA21E5A-1189-1F29-D7C4-9CA944BCF5A4}"/>
              </a:ext>
            </a:extLst>
          </p:cNvPr>
          <p:cNvSpPr/>
          <p:nvPr/>
        </p:nvSpPr>
        <p:spPr>
          <a:xfrm>
            <a:off x="3235482" y="4122217"/>
            <a:ext cx="1442717" cy="511811"/>
          </a:xfrm>
          <a:prstGeom prst="roundRect">
            <a:avLst/>
          </a:prstGeom>
          <a:solidFill>
            <a:srgbClr val="E2EC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1200" dirty="0">
              <a:solidFill>
                <a:schemeClr val="tx1"/>
              </a:solidFill>
              <a:latin typeface="Times New Roman" panose="02020603050405020304" pitchFamily="18" charset="0"/>
              <a:cs typeface="Times New Roman" panose="02020603050405020304" pitchFamily="18" charset="0"/>
            </a:endParaRPr>
          </a:p>
          <a:p>
            <a:pPr algn="ctr"/>
            <a:endParaRPr lang="en-US" altLang="zh-CN" sz="1200" dirty="0">
              <a:solidFill>
                <a:srgbClr val="000000"/>
              </a:solidFill>
              <a:latin typeface="Times New Roman Regular" panose="02020603050405020304" charset="0"/>
              <a:cs typeface="Times New Roman Regular" panose="02020603050405020304" charset="0"/>
            </a:endParaRPr>
          </a:p>
          <a:p>
            <a:pPr algn="ctr"/>
            <a:r>
              <a:rPr lang="en-US" altLang="zh-CN" sz="1000" dirty="0">
                <a:solidFill>
                  <a:srgbClr val="000000"/>
                </a:solidFill>
                <a:latin typeface="Times New Roman Regular" panose="02020603050405020304" charset="0"/>
                <a:cs typeface="Times New Roman Regular" panose="02020603050405020304" charset="0"/>
              </a:rPr>
              <a:t> CLIP-</a:t>
            </a:r>
            <a:r>
              <a:rPr lang="en-US" altLang="zh-CN" sz="1000" dirty="0" err="1">
                <a:solidFill>
                  <a:srgbClr val="000000"/>
                </a:solidFill>
                <a:latin typeface="Times New Roman Regular" panose="02020603050405020304" charset="0"/>
                <a:cs typeface="Times New Roman Regular" panose="02020603050405020304" charset="0"/>
              </a:rPr>
              <a:t>ReID</a:t>
            </a:r>
            <a:r>
              <a:rPr lang="en-US" altLang="zh-CN" sz="1000" dirty="0">
                <a:solidFill>
                  <a:srgbClr val="000000"/>
                </a:solidFill>
                <a:latin typeface="Times New Roman Regular" panose="02020603050405020304" charset="0"/>
                <a:cs typeface="Times New Roman Regular" panose="02020603050405020304" charset="0"/>
              </a:rPr>
              <a:t> (AAAI</a:t>
            </a:r>
            <a:r>
              <a:rPr lang="zh-CN" altLang="en-US" sz="1000" dirty="0">
                <a:solidFill>
                  <a:srgbClr val="000000"/>
                </a:solidFill>
                <a:latin typeface="Times New Roman Regular" panose="02020603050405020304" charset="0"/>
                <a:cs typeface="Times New Roman Regular" panose="02020603050405020304" charset="0"/>
              </a:rPr>
              <a:t>’</a:t>
            </a:r>
            <a:r>
              <a:rPr lang="en-US" altLang="zh-CN" sz="1000" dirty="0">
                <a:solidFill>
                  <a:srgbClr val="000000"/>
                </a:solidFill>
                <a:latin typeface="Times New Roman Regular" panose="02020603050405020304" charset="0"/>
                <a:cs typeface="Times New Roman Regular" panose="02020603050405020304" charset="0"/>
              </a:rPr>
              <a:t>23</a:t>
            </a:r>
            <a:r>
              <a:rPr lang="zh-CN" altLang="en-US" sz="1000" dirty="0">
                <a:solidFill>
                  <a:srgbClr val="000000"/>
                </a:solidFill>
                <a:latin typeface="Times New Roman Regular" panose="02020603050405020304" charset="0"/>
                <a:cs typeface="Times New Roman Regular" panose="02020603050405020304" charset="0"/>
              </a:rPr>
              <a:t>）</a:t>
            </a:r>
          </a:p>
          <a:p>
            <a:pPr algn="ctr"/>
            <a:r>
              <a:rPr lang="el-GR" altLang="zh-CN" sz="1200" dirty="0">
                <a:solidFill>
                  <a:srgbClr val="000000"/>
                </a:solidFill>
                <a:latin typeface="Times New Roman Regular" panose="02020603050405020304" charset="0"/>
                <a:cs typeface="Times New Roman Regular" panose="02020603050405020304" charset="0"/>
              </a:rPr>
              <a:t>π-</a:t>
            </a:r>
            <a:r>
              <a:rPr lang="en-US" altLang="zh-CN" sz="1200" dirty="0">
                <a:solidFill>
                  <a:srgbClr val="000000"/>
                </a:solidFill>
                <a:latin typeface="Times New Roman Regular" panose="02020603050405020304" charset="0"/>
                <a:cs typeface="Times New Roman Regular" panose="02020603050405020304" charset="0"/>
              </a:rPr>
              <a:t>VL (arxiv’23)</a:t>
            </a:r>
          </a:p>
          <a:p>
            <a:pPr algn="ctr"/>
            <a:endParaRPr lang="en-US" altLang="zh-CN" sz="1200" dirty="0">
              <a:solidFill>
                <a:srgbClr val="000000"/>
              </a:solidFill>
              <a:latin typeface="Times New Roman Regular" panose="02020603050405020304" charset="0"/>
              <a:cs typeface="Times New Roman Regular" panose="02020603050405020304" charset="0"/>
            </a:endParaRPr>
          </a:p>
          <a:p>
            <a:pPr algn="ctr"/>
            <a:endParaRPr lang="en-US" altLang="zh-CN" sz="1200" dirty="0">
              <a:solidFill>
                <a:srgbClr val="000000"/>
              </a:solidFill>
              <a:latin typeface="Times New Roman Regular" panose="02020603050405020304" charset="0"/>
              <a:cs typeface="Times New Roman Regular" panose="02020603050405020304" charset="0"/>
            </a:endParaRPr>
          </a:p>
        </p:txBody>
      </p:sp>
      <p:sp>
        <p:nvSpPr>
          <p:cNvPr id="11" name="圆角矩形 27">
            <a:extLst>
              <a:ext uri="{FF2B5EF4-FFF2-40B4-BE49-F238E27FC236}">
                <a16:creationId xmlns:a16="http://schemas.microsoft.com/office/drawing/2014/main" id="{6AFCF346-2232-79BE-0FEE-2F9427216B55}"/>
              </a:ext>
            </a:extLst>
          </p:cNvPr>
          <p:cNvSpPr/>
          <p:nvPr/>
        </p:nvSpPr>
        <p:spPr>
          <a:xfrm>
            <a:off x="4860564" y="5272744"/>
            <a:ext cx="1866900" cy="1009950"/>
          </a:xfrm>
          <a:prstGeom prst="roundRect">
            <a:avLst/>
          </a:prstGeom>
          <a:solidFill>
            <a:srgbClr val="FFE0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chemeClr val="tx1"/>
                </a:solidFill>
                <a:latin typeface="华文楷体" panose="02010600040101010101" pitchFamily="2" charset="-122"/>
                <a:ea typeface="华文楷体" panose="02010600040101010101" pitchFamily="2" charset="-122"/>
                <a:cs typeface="华文楷体" panose="02010600040101010101" pitchFamily="2" charset="-122"/>
                <a:sym typeface="+mn-ea"/>
              </a:rPr>
              <a:t>结合任务的性质，基于语言引导方法的思路，在</a:t>
            </a:r>
            <a:r>
              <a:rPr lang="en-US" altLang="zh-CN" sz="1200" b="1" dirty="0">
                <a:solidFill>
                  <a:schemeClr val="tx1"/>
                </a:solidFill>
                <a:latin typeface="华文楷体" panose="02010600040101010101" pitchFamily="2" charset="-122"/>
                <a:ea typeface="华文楷体" panose="02010600040101010101" pitchFamily="2" charset="-122"/>
                <a:cs typeface="华文楷体" panose="02010600040101010101" pitchFamily="2" charset="-122"/>
                <a:sym typeface="+mn-ea"/>
              </a:rPr>
              <a:t>CLIP-</a:t>
            </a:r>
            <a:r>
              <a:rPr lang="en-US" altLang="zh-CN" sz="1200" b="1" dirty="0" err="1">
                <a:solidFill>
                  <a:schemeClr val="tx1"/>
                </a:solidFill>
                <a:latin typeface="华文楷体" panose="02010600040101010101" pitchFamily="2" charset="-122"/>
                <a:ea typeface="华文楷体" panose="02010600040101010101" pitchFamily="2" charset="-122"/>
                <a:cs typeface="华文楷体" panose="02010600040101010101" pitchFamily="2" charset="-122"/>
                <a:sym typeface="+mn-ea"/>
              </a:rPr>
              <a:t>ReID</a:t>
            </a:r>
            <a:r>
              <a:rPr lang="zh-CN" altLang="en-US" sz="1200" b="1" dirty="0">
                <a:solidFill>
                  <a:schemeClr val="tx1"/>
                </a:solidFill>
                <a:latin typeface="华文楷体" panose="02010600040101010101" pitchFamily="2" charset="-122"/>
                <a:ea typeface="华文楷体" panose="02010600040101010101" pitchFamily="2" charset="-122"/>
                <a:cs typeface="华文楷体" panose="02010600040101010101" pitchFamily="2" charset="-122"/>
                <a:sym typeface="+mn-ea"/>
              </a:rPr>
              <a:t>的基础上对学习的</a:t>
            </a:r>
            <a:r>
              <a:rPr lang="en-US" altLang="zh-CN" sz="1200" b="1" dirty="0">
                <a:solidFill>
                  <a:schemeClr val="tx1"/>
                </a:solidFill>
                <a:latin typeface="华文楷体" panose="02010600040101010101" pitchFamily="2" charset="-122"/>
                <a:ea typeface="华文楷体" panose="02010600040101010101" pitchFamily="2" charset="-122"/>
                <a:cs typeface="华文楷体" panose="02010600040101010101" pitchFamily="2" charset="-122"/>
                <a:sym typeface="+mn-ea"/>
              </a:rPr>
              <a:t>Prompt</a:t>
            </a:r>
            <a:r>
              <a:rPr lang="zh-CN" altLang="en-US" sz="1200" b="1" dirty="0">
                <a:solidFill>
                  <a:schemeClr val="tx1"/>
                </a:solidFill>
                <a:latin typeface="华文楷体" panose="02010600040101010101" pitchFamily="2" charset="-122"/>
                <a:ea typeface="华文楷体" panose="02010600040101010101" pitchFamily="2" charset="-122"/>
                <a:cs typeface="华文楷体" panose="02010600040101010101" pitchFamily="2" charset="-122"/>
                <a:sym typeface="+mn-ea"/>
              </a:rPr>
              <a:t>进行相应的调整</a:t>
            </a:r>
          </a:p>
        </p:txBody>
      </p:sp>
    </p:spTree>
  </p:cSld>
  <p:clrMapOvr>
    <a:masterClrMapping/>
  </p:clrMapOvr>
  <mc:AlternateContent xmlns:mc="http://schemas.openxmlformats.org/markup-compatibility/2006" xmlns:p14="http://schemas.microsoft.com/office/powerpoint/2010/main">
    <mc:Choice Requires="p14">
      <p:transition spd="slow" p14:dur="2000" advTm="41972"/>
    </mc:Choice>
    <mc:Fallback xmlns="">
      <p:transition spd="slow" advTm="41972"/>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16" name="Rectangle 15"/>
          <p:cNvSpPr/>
          <p:nvPr/>
        </p:nvSpPr>
        <p:spPr>
          <a:xfrm>
            <a:off x="0" y="2628900"/>
            <a:ext cx="9144000" cy="1409700"/>
          </a:xfrm>
          <a:prstGeom prst="rect">
            <a:avLst/>
          </a:prstGeom>
          <a:solidFill>
            <a:srgbClr val="2E75B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标题 2"/>
          <p:cNvSpPr>
            <a:spLocks noGrp="1"/>
          </p:cNvSpPr>
          <p:nvPr>
            <p:ph type="title"/>
          </p:nvPr>
        </p:nvSpPr>
        <p:spPr>
          <a:xfrm>
            <a:off x="457200" y="2762250"/>
            <a:ext cx="8229600" cy="1143000"/>
          </a:xfrm>
        </p:spPr>
        <p:txBody>
          <a:bodyPr/>
          <a:lstStyle/>
          <a:p>
            <a:pPr algn="ctr"/>
            <a:r>
              <a:rPr kumimoji="1" lang="zh-CN" altLang="en-US" dirty="0">
                <a:solidFill>
                  <a:schemeClr val="bg1"/>
                </a:solidFill>
                <a:latin typeface="STKaiti" panose="02010600040101010101" charset="-122"/>
                <a:ea typeface="STKaiti" panose="02010600040101010101" charset="-122"/>
              </a:rPr>
              <a:t>研究目标、内容和拟解决的关键问题</a:t>
            </a:r>
          </a:p>
        </p:txBody>
      </p:sp>
      <p:sp>
        <p:nvSpPr>
          <p:cNvPr id="2" name="Slide Number Placeholder 52">
            <a:extLst>
              <a:ext uri="{FF2B5EF4-FFF2-40B4-BE49-F238E27FC236}">
                <a16:creationId xmlns:a16="http://schemas.microsoft.com/office/drawing/2014/main" id="{567987E7-6AD6-4528-E47C-F513DBA36224}"/>
              </a:ext>
            </a:extLst>
          </p:cNvPr>
          <p:cNvSpPr>
            <a:spLocks noGrp="1"/>
          </p:cNvSpPr>
          <p:nvPr>
            <p:ph type="sldNum" sz="quarter" idx="16"/>
          </p:nvPr>
        </p:nvSpPr>
        <p:spPr>
          <a:xfrm>
            <a:off x="6563064" y="6380959"/>
            <a:ext cx="2133600" cy="365125"/>
          </a:xfrm>
        </p:spPr>
        <p:txBody>
          <a:bodyPr/>
          <a:lstStyle/>
          <a:p>
            <a:pPr>
              <a:defRPr/>
            </a:pPr>
            <a:fld id="{D69E98CB-8E38-42BF-857B-65773CD3393B}" type="slidenum">
              <a:rPr lang="en-US" altLang="zh-CN" smtClean="0"/>
              <a:t>12</a:t>
            </a:fld>
            <a:endParaRPr lang="en-US" altLang="zh-CN" dirty="0"/>
          </a:p>
        </p:txBody>
      </p:sp>
    </p:spTree>
  </p:cSld>
  <p:clrMapOvr>
    <a:masterClrMapping/>
  </p:clrMapOvr>
  <mc:AlternateContent xmlns:mc="http://schemas.openxmlformats.org/markup-compatibility/2006" xmlns:p14="http://schemas.microsoft.com/office/powerpoint/2010/main">
    <mc:Choice Requires="p14">
      <p:transition spd="slow" p14:dur="2000" advTm="2097"/>
    </mc:Choice>
    <mc:Fallback xmlns="">
      <p:transition spd="slow" advTm="2097"/>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pPr algn="ctr"/>
            <a:r>
              <a:rPr kumimoji="1" lang="zh-CN" altLang="en-US" b="1" dirty="0">
                <a:latin typeface="华文楷体" panose="02010600040101010101" charset="-122"/>
                <a:ea typeface="华文楷体" panose="02010600040101010101" charset="-122"/>
              </a:rPr>
              <a:t>研究目标、内容和拟解决的关键问题</a:t>
            </a:r>
          </a:p>
        </p:txBody>
      </p:sp>
      <p:sp>
        <p:nvSpPr>
          <p:cNvPr id="6" name="文本框 19"/>
          <p:cNvSpPr txBox="1"/>
          <p:nvPr/>
        </p:nvSpPr>
        <p:spPr>
          <a:xfrm>
            <a:off x="1795566" y="1379464"/>
            <a:ext cx="7009221" cy="461665"/>
          </a:xfrm>
          <a:prstGeom prst="rect">
            <a:avLst/>
          </a:prstGeom>
          <a:solidFill>
            <a:schemeClr val="accent5">
              <a:lumMod val="20000"/>
              <a:lumOff val="80000"/>
            </a:schemeClr>
          </a:solidFill>
        </p:spPr>
        <p:txBody>
          <a:bodyPr wrap="square" rtlCol="0">
            <a:spAutoFit/>
          </a:bodyPr>
          <a:lstStyle/>
          <a:p>
            <a:r>
              <a:rPr lang="zh-CN" altLang="en-US" sz="2400" b="1" dirty="0">
                <a:solidFill>
                  <a:srgbClr val="002060"/>
                </a:solidFill>
                <a:latin typeface="华文楷体" panose="02010600040101010101" charset="-122"/>
                <a:ea typeface="华文楷体" panose="02010600040101010101" charset="-122"/>
              </a:rPr>
              <a:t> 全面提升行人重识别在遮挡场景下的鲁棒匹配能力</a:t>
            </a:r>
          </a:p>
        </p:txBody>
      </p:sp>
      <p:sp>
        <p:nvSpPr>
          <p:cNvPr id="7" name="上箭头 42"/>
          <p:cNvSpPr/>
          <p:nvPr/>
        </p:nvSpPr>
        <p:spPr>
          <a:xfrm rot="10800000" flipV="1">
            <a:off x="2642202" y="1896601"/>
            <a:ext cx="343581" cy="273947"/>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华文楷体" panose="02010600040101010101" charset="-122"/>
              <a:ea typeface="华文楷体" panose="02010600040101010101" charset="-122"/>
            </a:endParaRPr>
          </a:p>
        </p:txBody>
      </p:sp>
      <p:sp>
        <p:nvSpPr>
          <p:cNvPr id="8" name="圆角矩形 48"/>
          <p:cNvSpPr/>
          <p:nvPr/>
        </p:nvSpPr>
        <p:spPr>
          <a:xfrm>
            <a:off x="43070" y="1359652"/>
            <a:ext cx="1598409" cy="606354"/>
          </a:xfrm>
          <a:prstGeom prst="roundRect">
            <a:avLst>
              <a:gd name="adj" fmla="val 50000"/>
            </a:avLst>
          </a:prstGeom>
          <a:solidFill>
            <a:schemeClr val="bg1"/>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华文楷体" panose="02010600040101010101" charset="-122"/>
              <a:ea typeface="华文楷体" panose="02010600040101010101" charset="-122"/>
            </a:endParaRPr>
          </a:p>
        </p:txBody>
      </p:sp>
      <p:sp>
        <p:nvSpPr>
          <p:cNvPr id="9" name="矩形 53"/>
          <p:cNvSpPr/>
          <p:nvPr/>
        </p:nvSpPr>
        <p:spPr>
          <a:xfrm>
            <a:off x="43071" y="1481710"/>
            <a:ext cx="1692875" cy="369332"/>
          </a:xfrm>
          <a:prstGeom prst="rect">
            <a:avLst/>
          </a:prstGeom>
        </p:spPr>
        <p:txBody>
          <a:bodyPr wrap="square">
            <a:spAutoFit/>
          </a:bodyPr>
          <a:lstStyle/>
          <a:p>
            <a:r>
              <a:rPr lang="zh-CN" altLang="en-US" b="1" dirty="0">
                <a:solidFill>
                  <a:srgbClr val="FF0000"/>
                </a:solidFill>
                <a:latin typeface="华文楷体" panose="02010600040101010101" charset="-122"/>
                <a:ea typeface="华文楷体" panose="02010600040101010101" charset="-122"/>
              </a:rPr>
              <a:t>一</a:t>
            </a:r>
            <a:r>
              <a:rPr lang="zh-CN" altLang="en-US" b="1" dirty="0">
                <a:solidFill>
                  <a:srgbClr val="002060"/>
                </a:solidFill>
                <a:latin typeface="华文楷体" panose="02010600040101010101" charset="-122"/>
                <a:ea typeface="华文楷体" panose="02010600040101010101" charset="-122"/>
              </a:rPr>
              <a:t>个研究目标</a:t>
            </a:r>
            <a:endParaRPr lang="en-US" altLang="zh-CN" dirty="0">
              <a:solidFill>
                <a:srgbClr val="002060"/>
              </a:solidFill>
              <a:latin typeface="华文楷体" panose="02010600040101010101" charset="-122"/>
              <a:ea typeface="华文楷体" panose="02010600040101010101" charset="-122"/>
            </a:endParaRPr>
          </a:p>
        </p:txBody>
      </p:sp>
      <p:sp>
        <p:nvSpPr>
          <p:cNvPr id="12" name="圆角矩形 33"/>
          <p:cNvSpPr/>
          <p:nvPr/>
        </p:nvSpPr>
        <p:spPr>
          <a:xfrm>
            <a:off x="43070" y="4559324"/>
            <a:ext cx="1598409" cy="606354"/>
          </a:xfrm>
          <a:prstGeom prst="roundRect">
            <a:avLst>
              <a:gd name="adj" fmla="val 50000"/>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华文楷体" panose="02010600040101010101" charset="-122"/>
              <a:ea typeface="华文楷体" panose="02010600040101010101" charset="-122"/>
            </a:endParaRPr>
          </a:p>
        </p:txBody>
      </p:sp>
      <p:sp>
        <p:nvSpPr>
          <p:cNvPr id="13" name="矩形 34"/>
          <p:cNvSpPr/>
          <p:nvPr/>
        </p:nvSpPr>
        <p:spPr>
          <a:xfrm>
            <a:off x="43071" y="4681382"/>
            <a:ext cx="1692875" cy="369332"/>
          </a:xfrm>
          <a:prstGeom prst="rect">
            <a:avLst/>
          </a:prstGeom>
        </p:spPr>
        <p:txBody>
          <a:bodyPr wrap="square">
            <a:spAutoFit/>
          </a:bodyPr>
          <a:lstStyle/>
          <a:p>
            <a:r>
              <a:rPr lang="zh-CN" altLang="en-US" b="1" dirty="0">
                <a:solidFill>
                  <a:srgbClr val="FF0000"/>
                </a:solidFill>
                <a:latin typeface="华文楷体" panose="02010600040101010101" charset="-122"/>
                <a:ea typeface="华文楷体" panose="02010600040101010101" charset="-122"/>
              </a:rPr>
              <a:t>三</a:t>
            </a:r>
            <a:r>
              <a:rPr lang="zh-CN" altLang="en-US" b="1" dirty="0">
                <a:solidFill>
                  <a:srgbClr val="002060"/>
                </a:solidFill>
                <a:latin typeface="华文楷体" panose="02010600040101010101" charset="-122"/>
                <a:ea typeface="华文楷体" panose="02010600040101010101" charset="-122"/>
              </a:rPr>
              <a:t>个研究内容</a:t>
            </a:r>
            <a:endParaRPr lang="en-US" altLang="zh-CN" dirty="0">
              <a:solidFill>
                <a:srgbClr val="002060"/>
              </a:solidFill>
              <a:latin typeface="华文楷体" panose="02010600040101010101" charset="-122"/>
              <a:ea typeface="华文楷体" panose="02010600040101010101" charset="-122"/>
            </a:endParaRPr>
          </a:p>
        </p:txBody>
      </p:sp>
      <p:grpSp>
        <p:nvGrpSpPr>
          <p:cNvPr id="15" name="组合 1"/>
          <p:cNvGrpSpPr/>
          <p:nvPr/>
        </p:nvGrpSpPr>
        <p:grpSpPr>
          <a:xfrm>
            <a:off x="1897422" y="3271921"/>
            <a:ext cx="1741468" cy="3218782"/>
            <a:chOff x="2252108" y="3522586"/>
            <a:chExt cx="1741468" cy="3218782"/>
          </a:xfrm>
        </p:grpSpPr>
        <p:sp>
          <p:nvSpPr>
            <p:cNvPr id="16" name="圆角矩形 40"/>
            <p:cNvSpPr/>
            <p:nvPr/>
          </p:nvSpPr>
          <p:spPr>
            <a:xfrm>
              <a:off x="2310149" y="3522586"/>
              <a:ext cx="1620686" cy="3218782"/>
            </a:xfrm>
            <a:prstGeom prst="round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华文楷体" panose="02010600040101010101" charset="-122"/>
                <a:ea typeface="华文楷体" panose="02010600040101010101" charset="-122"/>
              </a:endParaRPr>
            </a:p>
          </p:txBody>
        </p:sp>
        <p:sp>
          <p:nvSpPr>
            <p:cNvPr id="17" name="矩形 25"/>
            <p:cNvSpPr/>
            <p:nvPr/>
          </p:nvSpPr>
          <p:spPr>
            <a:xfrm>
              <a:off x="2263691" y="3646873"/>
              <a:ext cx="1729885" cy="1477328"/>
            </a:xfrm>
            <a:prstGeom prst="rect">
              <a:avLst/>
            </a:prstGeom>
          </p:spPr>
          <p:txBody>
            <a:bodyPr wrap="square">
              <a:spAutoFit/>
            </a:bodyPr>
            <a:lstStyle/>
            <a:p>
              <a:pPr marL="285750" indent="-285750">
                <a:buFont typeface="Wingdings" panose="05000000000000000000" pitchFamily="2" charset="2"/>
                <a:buChar char="l"/>
              </a:pPr>
              <a:r>
                <a:rPr lang="zh-CN" altLang="en-US" dirty="0">
                  <a:solidFill>
                    <a:srgbClr val="002060"/>
                  </a:solidFill>
                  <a:latin typeface="华文楷体" panose="02010600040101010101" charset="-122"/>
                  <a:ea typeface="华文楷体" panose="02010600040101010101" charset="-122"/>
                </a:rPr>
                <a:t>研究</a:t>
              </a:r>
              <a:r>
                <a:rPr lang="zh-CN" altLang="en-US" dirty="0">
                  <a:solidFill>
                    <a:srgbClr val="FF0000"/>
                  </a:solidFill>
                  <a:latin typeface="华文楷体" panose="02010600040101010101" charset="-122"/>
                  <a:ea typeface="华文楷体" panose="02010600040101010101" charset="-122"/>
                </a:rPr>
                <a:t>基于多模态大模型的细粒度</a:t>
              </a:r>
              <a:r>
                <a:rPr lang="en-US" altLang="zh-CN" dirty="0">
                  <a:solidFill>
                    <a:srgbClr val="FF0000"/>
                  </a:solidFill>
                  <a:latin typeface="华文楷体" panose="02010600040101010101" charset="-122"/>
                  <a:ea typeface="华文楷体" panose="02010600040101010101" charset="-122"/>
                </a:rPr>
                <a:t>prompt</a:t>
              </a:r>
              <a:r>
                <a:rPr lang="zh-CN" altLang="en-US" dirty="0">
                  <a:solidFill>
                    <a:srgbClr val="FF0000"/>
                  </a:solidFill>
                  <a:latin typeface="华文楷体" panose="02010600040101010101" charset="-122"/>
                  <a:ea typeface="华文楷体" panose="02010600040101010101" charset="-122"/>
                </a:rPr>
                <a:t>构建方法</a:t>
              </a:r>
            </a:p>
          </p:txBody>
        </p:sp>
        <p:sp>
          <p:nvSpPr>
            <p:cNvPr id="18" name="矩形 39"/>
            <p:cNvSpPr/>
            <p:nvPr/>
          </p:nvSpPr>
          <p:spPr>
            <a:xfrm>
              <a:off x="2252108" y="5140751"/>
              <a:ext cx="1700684" cy="1477328"/>
            </a:xfrm>
            <a:prstGeom prst="rect">
              <a:avLst/>
            </a:prstGeom>
          </p:spPr>
          <p:txBody>
            <a:bodyPr wrap="square">
              <a:spAutoFit/>
            </a:bodyPr>
            <a:lstStyle/>
            <a:p>
              <a:pPr marL="285750" indent="-285750">
                <a:buFont typeface="Wingdings" panose="05000000000000000000" pitchFamily="2" charset="2"/>
                <a:buChar char="p"/>
              </a:pPr>
              <a:r>
                <a:rPr lang="zh-CN" altLang="en-US" dirty="0">
                  <a:solidFill>
                    <a:srgbClr val="002060"/>
                  </a:solidFill>
                  <a:latin typeface="华文楷体" panose="02010600040101010101" charset="-122"/>
                  <a:ea typeface="华文楷体" panose="02010600040101010101" charset="-122"/>
                </a:rPr>
                <a:t>解决语言引导方法所构建的</a:t>
              </a:r>
              <a:r>
                <a:rPr lang="en-US" altLang="zh-CN" dirty="0">
                  <a:solidFill>
                    <a:srgbClr val="002060"/>
                  </a:solidFill>
                  <a:latin typeface="华文楷体" panose="02010600040101010101" charset="-122"/>
                  <a:ea typeface="华文楷体" panose="02010600040101010101" charset="-122"/>
                </a:rPr>
                <a:t>prompt</a:t>
              </a:r>
              <a:r>
                <a:rPr lang="zh-CN" altLang="en-US" dirty="0">
                  <a:solidFill>
                    <a:srgbClr val="002060"/>
                  </a:solidFill>
                  <a:latin typeface="华文楷体" panose="02010600040101010101" charset="-122"/>
                  <a:ea typeface="华文楷体" panose="02010600040101010101" charset="-122"/>
                </a:rPr>
                <a:t>较为粗粒度的问题</a:t>
              </a:r>
            </a:p>
          </p:txBody>
        </p:sp>
      </p:grpSp>
      <p:grpSp>
        <p:nvGrpSpPr>
          <p:cNvPr id="23" name="组合 69"/>
          <p:cNvGrpSpPr/>
          <p:nvPr/>
        </p:nvGrpSpPr>
        <p:grpSpPr>
          <a:xfrm>
            <a:off x="4312484" y="3271921"/>
            <a:ext cx="1729885" cy="3218782"/>
            <a:chOff x="2288191" y="3522586"/>
            <a:chExt cx="1729885" cy="3218782"/>
          </a:xfrm>
        </p:grpSpPr>
        <p:sp>
          <p:nvSpPr>
            <p:cNvPr id="24" name="圆角矩形 70"/>
            <p:cNvSpPr/>
            <p:nvPr/>
          </p:nvSpPr>
          <p:spPr>
            <a:xfrm>
              <a:off x="2320428" y="3522586"/>
              <a:ext cx="1638914" cy="3218782"/>
            </a:xfrm>
            <a:prstGeom prst="round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华文楷体" panose="02010600040101010101" charset="-122"/>
                <a:ea typeface="华文楷体" panose="02010600040101010101" charset="-122"/>
              </a:endParaRPr>
            </a:p>
          </p:txBody>
        </p:sp>
        <p:sp>
          <p:nvSpPr>
            <p:cNvPr id="25" name="矩形 71"/>
            <p:cNvSpPr/>
            <p:nvPr/>
          </p:nvSpPr>
          <p:spPr>
            <a:xfrm>
              <a:off x="2288191" y="3642381"/>
              <a:ext cx="1729885" cy="1477328"/>
            </a:xfrm>
            <a:prstGeom prst="rect">
              <a:avLst/>
            </a:prstGeom>
          </p:spPr>
          <p:txBody>
            <a:bodyPr wrap="square">
              <a:spAutoFit/>
            </a:bodyPr>
            <a:lstStyle/>
            <a:p>
              <a:pPr marL="285750" indent="-285750">
                <a:buFont typeface="Wingdings" panose="05000000000000000000" pitchFamily="2" charset="2"/>
                <a:buChar char="l"/>
              </a:pPr>
              <a:r>
                <a:rPr lang="zh-CN" altLang="en-US" dirty="0">
                  <a:solidFill>
                    <a:srgbClr val="002060"/>
                  </a:solidFill>
                  <a:latin typeface="华文楷体" panose="02010600040101010101" charset="-122"/>
                  <a:ea typeface="华文楷体" panose="02010600040101010101" charset="-122"/>
                </a:rPr>
                <a:t>研究</a:t>
              </a:r>
              <a:r>
                <a:rPr lang="zh-CN" altLang="en-US" dirty="0">
                  <a:solidFill>
                    <a:srgbClr val="FF0000"/>
                  </a:solidFill>
                  <a:latin typeface="华文楷体" panose="02010600040101010101" charset="-122"/>
                  <a:ea typeface="华文楷体" panose="02010600040101010101" charset="-122"/>
                </a:rPr>
                <a:t>基于特征解耦的遮挡物噪声检测和抑制方法</a:t>
              </a:r>
            </a:p>
          </p:txBody>
        </p:sp>
        <p:sp>
          <p:nvSpPr>
            <p:cNvPr id="26" name="矩形 72"/>
            <p:cNvSpPr/>
            <p:nvPr/>
          </p:nvSpPr>
          <p:spPr>
            <a:xfrm>
              <a:off x="2288191" y="5156163"/>
              <a:ext cx="1642644" cy="1477328"/>
            </a:xfrm>
            <a:prstGeom prst="rect">
              <a:avLst/>
            </a:prstGeom>
          </p:spPr>
          <p:txBody>
            <a:bodyPr wrap="square">
              <a:spAutoFit/>
            </a:bodyPr>
            <a:lstStyle/>
            <a:p>
              <a:pPr marL="285750" indent="-285750">
                <a:buFont typeface="Wingdings" panose="05000000000000000000" pitchFamily="2" charset="2"/>
                <a:buChar char="p"/>
              </a:pPr>
              <a:r>
                <a:rPr lang="zh-CN" altLang="en-US" dirty="0">
                  <a:solidFill>
                    <a:srgbClr val="002060"/>
                  </a:solidFill>
                  <a:latin typeface="华文楷体" panose="02010600040101010101" charset="-122"/>
                  <a:ea typeface="华文楷体" panose="02010600040101010101" charset="-122"/>
                </a:rPr>
                <a:t>解决行人重识别中遮挡干扰导致的特征判别力下降问题</a:t>
              </a:r>
            </a:p>
          </p:txBody>
        </p:sp>
      </p:grpSp>
      <p:sp>
        <p:nvSpPr>
          <p:cNvPr id="28" name="圆角矩形 74"/>
          <p:cNvSpPr/>
          <p:nvPr/>
        </p:nvSpPr>
        <p:spPr>
          <a:xfrm>
            <a:off x="6878659" y="3284402"/>
            <a:ext cx="1642644" cy="3218782"/>
          </a:xfrm>
          <a:prstGeom prst="round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华文楷体" panose="02010600040101010101" charset="-122"/>
              <a:ea typeface="华文楷体" panose="02010600040101010101" charset="-122"/>
            </a:endParaRPr>
          </a:p>
        </p:txBody>
      </p:sp>
      <p:sp>
        <p:nvSpPr>
          <p:cNvPr id="29" name="矩形 75"/>
          <p:cNvSpPr/>
          <p:nvPr/>
        </p:nvSpPr>
        <p:spPr>
          <a:xfrm>
            <a:off x="6846580" y="3403984"/>
            <a:ext cx="1729885" cy="1200329"/>
          </a:xfrm>
          <a:prstGeom prst="rect">
            <a:avLst/>
          </a:prstGeom>
        </p:spPr>
        <p:txBody>
          <a:bodyPr wrap="square">
            <a:spAutoFit/>
          </a:bodyPr>
          <a:lstStyle/>
          <a:p>
            <a:pPr marL="285750" indent="-285750">
              <a:buFont typeface="Wingdings" panose="05000000000000000000" pitchFamily="2" charset="2"/>
              <a:buChar char="l"/>
            </a:pPr>
            <a:r>
              <a:rPr lang="zh-CN" altLang="en-US" dirty="0">
                <a:solidFill>
                  <a:srgbClr val="002060"/>
                </a:solidFill>
                <a:latin typeface="华文楷体" panose="02010600040101010101" charset="-122"/>
                <a:ea typeface="华文楷体" panose="02010600040101010101" charset="-122"/>
              </a:rPr>
              <a:t>研究</a:t>
            </a:r>
            <a:r>
              <a:rPr lang="zh-CN" altLang="en-US" dirty="0">
                <a:solidFill>
                  <a:srgbClr val="FF0000"/>
                </a:solidFill>
                <a:latin typeface="华文楷体" panose="02010600040101010101" charset="-122"/>
                <a:ea typeface="华文楷体" panose="02010600040101010101" charset="-122"/>
              </a:rPr>
              <a:t>基于多模态交互的特征增强方法</a:t>
            </a:r>
          </a:p>
        </p:txBody>
      </p:sp>
      <p:sp>
        <p:nvSpPr>
          <p:cNvPr id="30" name="矩形 76"/>
          <p:cNvSpPr/>
          <p:nvPr/>
        </p:nvSpPr>
        <p:spPr>
          <a:xfrm>
            <a:off x="6846580" y="4870216"/>
            <a:ext cx="1815703" cy="1477328"/>
          </a:xfrm>
          <a:prstGeom prst="rect">
            <a:avLst/>
          </a:prstGeom>
        </p:spPr>
        <p:txBody>
          <a:bodyPr wrap="square">
            <a:spAutoFit/>
          </a:bodyPr>
          <a:lstStyle/>
          <a:p>
            <a:pPr marL="285750" indent="-285750">
              <a:buFont typeface="Wingdings" panose="05000000000000000000" pitchFamily="2" charset="2"/>
              <a:buChar char="p"/>
            </a:pPr>
            <a:r>
              <a:rPr lang="zh-CN" altLang="en-US" dirty="0">
                <a:solidFill>
                  <a:srgbClr val="002060"/>
                </a:solidFill>
                <a:latin typeface="华文楷体" panose="02010600040101010101" charset="-122"/>
                <a:ea typeface="华文楷体" panose="02010600040101010101" charset="-122"/>
              </a:rPr>
              <a:t>解决单一模态信息不足导致的特征表达受限的问题</a:t>
            </a:r>
          </a:p>
        </p:txBody>
      </p:sp>
      <p:sp>
        <p:nvSpPr>
          <p:cNvPr id="31" name="上箭头 77"/>
          <p:cNvSpPr/>
          <p:nvPr/>
        </p:nvSpPr>
        <p:spPr>
          <a:xfrm rot="10800000" flipV="1">
            <a:off x="5003016" y="1899446"/>
            <a:ext cx="343581" cy="261477"/>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华文楷体" panose="02010600040101010101" charset="-122"/>
              <a:ea typeface="华文楷体" panose="02010600040101010101" charset="-122"/>
            </a:endParaRPr>
          </a:p>
        </p:txBody>
      </p:sp>
      <p:sp>
        <p:nvSpPr>
          <p:cNvPr id="32" name="上箭头 78"/>
          <p:cNvSpPr/>
          <p:nvPr/>
        </p:nvSpPr>
        <p:spPr>
          <a:xfrm rot="10800000" flipV="1">
            <a:off x="7524904" y="1890607"/>
            <a:ext cx="343581" cy="279941"/>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华文楷体" panose="02010600040101010101" charset="-122"/>
              <a:ea typeface="华文楷体" panose="02010600040101010101" charset="-122"/>
            </a:endParaRPr>
          </a:p>
        </p:txBody>
      </p:sp>
      <p:sp>
        <p:nvSpPr>
          <p:cNvPr id="33" name="圆角矩形 79"/>
          <p:cNvSpPr/>
          <p:nvPr/>
        </p:nvSpPr>
        <p:spPr>
          <a:xfrm>
            <a:off x="1735732" y="2223743"/>
            <a:ext cx="2159483" cy="4313228"/>
          </a:xfrm>
          <a:prstGeom prst="roundRect">
            <a:avLst>
              <a:gd name="adj" fmla="val 0"/>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华文楷体" panose="02010600040101010101" charset="-122"/>
              <a:ea typeface="华文楷体" panose="02010600040101010101" charset="-122"/>
            </a:endParaRPr>
          </a:p>
        </p:txBody>
      </p:sp>
      <p:sp>
        <p:nvSpPr>
          <p:cNvPr id="37" name="圆角矩形 79"/>
          <p:cNvSpPr/>
          <p:nvPr/>
        </p:nvSpPr>
        <p:spPr>
          <a:xfrm>
            <a:off x="4151158" y="2223743"/>
            <a:ext cx="2124776" cy="4308017"/>
          </a:xfrm>
          <a:prstGeom prst="roundRect">
            <a:avLst>
              <a:gd name="adj" fmla="val 0"/>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华文楷体" panose="02010600040101010101" charset="-122"/>
              <a:ea typeface="华文楷体" panose="02010600040101010101" charset="-122"/>
            </a:endParaRPr>
          </a:p>
        </p:txBody>
      </p:sp>
      <p:sp>
        <p:nvSpPr>
          <p:cNvPr id="38" name="圆角矩形 79"/>
          <p:cNvSpPr/>
          <p:nvPr/>
        </p:nvSpPr>
        <p:spPr>
          <a:xfrm>
            <a:off x="6631806" y="2223744"/>
            <a:ext cx="2133600" cy="4308016"/>
          </a:xfrm>
          <a:prstGeom prst="roundRect">
            <a:avLst>
              <a:gd name="adj" fmla="val 0"/>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华文楷体" panose="02010600040101010101" charset="-122"/>
              <a:ea typeface="华文楷体" panose="02010600040101010101" charset="-122"/>
            </a:endParaRPr>
          </a:p>
        </p:txBody>
      </p:sp>
      <p:sp>
        <p:nvSpPr>
          <p:cNvPr id="11" name="Slide Number Placeholder 14"/>
          <p:cNvSpPr txBox="1"/>
          <p:nvPr/>
        </p:nvSpPr>
        <p:spPr>
          <a:xfrm>
            <a:off x="6705600" y="6508754"/>
            <a:ext cx="2133600"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Arial" panose="020B06040202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D69E98CB-8E38-42BF-857B-65773CD3393B}" type="slidenum">
              <a:rPr lang="en-US" altLang="zh-CN" smtClean="0"/>
              <a:t>13</a:t>
            </a:fld>
            <a:endParaRPr lang="en-US" altLang="zh-CN" dirty="0"/>
          </a:p>
        </p:txBody>
      </p:sp>
      <p:sp>
        <p:nvSpPr>
          <p:cNvPr id="34" name="文本框 65"/>
          <p:cNvSpPr txBox="1"/>
          <p:nvPr/>
        </p:nvSpPr>
        <p:spPr>
          <a:xfrm>
            <a:off x="1955462" y="2431298"/>
            <a:ext cx="1642644" cy="646331"/>
          </a:xfrm>
          <a:prstGeom prst="rect">
            <a:avLst/>
          </a:prstGeom>
          <a:solidFill>
            <a:schemeClr val="accent5">
              <a:lumMod val="20000"/>
              <a:lumOff val="80000"/>
            </a:schemeClr>
          </a:solidFill>
        </p:spPr>
        <p:txBody>
          <a:bodyPr wrap="square" rtlCol="0">
            <a:spAutoFit/>
          </a:bodyPr>
          <a:lstStyle/>
          <a:p>
            <a:pPr algn="ctr"/>
            <a:r>
              <a:rPr lang="zh-CN" altLang="en-US" b="1" dirty="0">
                <a:solidFill>
                  <a:srgbClr val="002060"/>
                </a:solidFill>
                <a:latin typeface="华文楷体" panose="02010600040101010101" charset="-122"/>
                <a:ea typeface="华文楷体" panose="02010600040101010101" charset="-122"/>
              </a:rPr>
              <a:t>细粒度</a:t>
            </a:r>
            <a:r>
              <a:rPr lang="en-US" altLang="zh-CN" b="1" dirty="0">
                <a:solidFill>
                  <a:srgbClr val="002060"/>
                </a:solidFill>
                <a:latin typeface="华文楷体" panose="02010600040101010101" charset="-122"/>
                <a:ea typeface="华文楷体" panose="02010600040101010101" charset="-122"/>
              </a:rPr>
              <a:t>prompt</a:t>
            </a:r>
            <a:r>
              <a:rPr lang="zh-CN" altLang="en-US" b="1" dirty="0">
                <a:solidFill>
                  <a:srgbClr val="002060"/>
                </a:solidFill>
                <a:latin typeface="华文楷体" panose="02010600040101010101" charset="-122"/>
                <a:ea typeface="华文楷体" panose="02010600040101010101" charset="-122"/>
              </a:rPr>
              <a:t>构建</a:t>
            </a:r>
            <a:endParaRPr lang="en-US" altLang="zh-CN" b="1" dirty="0">
              <a:solidFill>
                <a:srgbClr val="002060"/>
              </a:solidFill>
              <a:latin typeface="华文楷体" panose="02010600040101010101" charset="-122"/>
              <a:ea typeface="华文楷体" panose="02010600040101010101" charset="-122"/>
            </a:endParaRPr>
          </a:p>
        </p:txBody>
      </p:sp>
      <p:sp>
        <p:nvSpPr>
          <p:cNvPr id="35" name="文本框 65"/>
          <p:cNvSpPr txBox="1"/>
          <p:nvPr/>
        </p:nvSpPr>
        <p:spPr>
          <a:xfrm>
            <a:off x="4344721" y="2431298"/>
            <a:ext cx="1642644" cy="646331"/>
          </a:xfrm>
          <a:prstGeom prst="rect">
            <a:avLst/>
          </a:prstGeom>
          <a:solidFill>
            <a:schemeClr val="accent5">
              <a:lumMod val="20000"/>
              <a:lumOff val="80000"/>
            </a:schemeClr>
          </a:solidFill>
        </p:spPr>
        <p:txBody>
          <a:bodyPr wrap="square" rtlCol="0">
            <a:spAutoFit/>
          </a:bodyPr>
          <a:lstStyle/>
          <a:p>
            <a:pPr algn="ctr"/>
            <a:r>
              <a:rPr lang="zh-CN" altLang="en-US" b="1" dirty="0">
                <a:solidFill>
                  <a:srgbClr val="002060"/>
                </a:solidFill>
                <a:latin typeface="华文楷体" panose="02010600040101010101" charset="-122"/>
                <a:ea typeface="华文楷体" panose="02010600040101010101" charset="-122"/>
              </a:rPr>
              <a:t>解耦遮挡物噪声信息</a:t>
            </a:r>
            <a:endParaRPr lang="en-US" altLang="zh-CN" b="1" dirty="0">
              <a:solidFill>
                <a:srgbClr val="002060"/>
              </a:solidFill>
              <a:latin typeface="华文楷体" panose="02010600040101010101" charset="-122"/>
              <a:ea typeface="华文楷体" panose="02010600040101010101" charset="-122"/>
            </a:endParaRPr>
          </a:p>
        </p:txBody>
      </p:sp>
      <p:sp>
        <p:nvSpPr>
          <p:cNvPr id="36" name="文本框 65"/>
          <p:cNvSpPr txBox="1"/>
          <p:nvPr/>
        </p:nvSpPr>
        <p:spPr>
          <a:xfrm>
            <a:off x="6878659" y="2431298"/>
            <a:ext cx="1642644" cy="646331"/>
          </a:xfrm>
          <a:prstGeom prst="rect">
            <a:avLst/>
          </a:prstGeom>
          <a:solidFill>
            <a:schemeClr val="accent5">
              <a:lumMod val="20000"/>
              <a:lumOff val="80000"/>
            </a:schemeClr>
          </a:solidFill>
        </p:spPr>
        <p:txBody>
          <a:bodyPr wrap="square" rtlCol="0">
            <a:spAutoFit/>
          </a:bodyPr>
          <a:lstStyle/>
          <a:p>
            <a:pPr algn="ctr"/>
            <a:r>
              <a:rPr lang="zh-CN" altLang="en-US" b="1" dirty="0">
                <a:solidFill>
                  <a:srgbClr val="002060"/>
                </a:solidFill>
                <a:latin typeface="华文楷体" panose="02010600040101010101" charset="-122"/>
                <a:ea typeface="华文楷体" panose="02010600040101010101" charset="-122"/>
              </a:rPr>
              <a:t>多模态特征交互与增强</a:t>
            </a:r>
            <a:endParaRPr lang="en-US" altLang="zh-CN" b="1" dirty="0">
              <a:solidFill>
                <a:srgbClr val="002060"/>
              </a:solidFill>
              <a:latin typeface="华文楷体" panose="02010600040101010101" charset="-122"/>
              <a:ea typeface="华文楷体" panose="02010600040101010101" charset="-122"/>
            </a:endParaRPr>
          </a:p>
        </p:txBody>
      </p:sp>
    </p:spTree>
  </p:cSld>
  <p:clrMapOvr>
    <a:masterClrMapping/>
  </p:clrMapOvr>
  <mc:AlternateContent xmlns:mc="http://schemas.openxmlformats.org/markup-compatibility/2006" xmlns:p14="http://schemas.microsoft.com/office/powerpoint/2010/main">
    <mc:Choice Requires="p14">
      <p:transition spd="slow" p14:dur="2000" advTm="19316"/>
    </mc:Choice>
    <mc:Fallback xmlns="">
      <p:transition spd="slow" advTm="19316"/>
    </mc:Fallback>
  </mc:AlternateContent>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内容占位符 4"/>
          <p:cNvSpPr txBox="1"/>
          <p:nvPr/>
        </p:nvSpPr>
        <p:spPr>
          <a:xfrm>
            <a:off x="540899" y="1249824"/>
            <a:ext cx="8015605" cy="106108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TKaiti" panose="02010600040101010101" charset="-122"/>
                <a:ea typeface="STKaiti" panose="02010600040101010101" charset="-122"/>
                <a:cs typeface="STKaiti" panose="02010600040101010101" charset="-122"/>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TKaiti" panose="02010600040101010101" charset="-122"/>
                <a:ea typeface="STKaiti" panose="02010600040101010101" charset="-122"/>
                <a:cs typeface="STKaiti" panose="02010600040101010101" charset="-122"/>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TKaiti" panose="02010600040101010101" charset="-122"/>
                <a:ea typeface="STKaiti" panose="02010600040101010101" charset="-122"/>
                <a:cs typeface="STKaiti" panose="02010600040101010101" charset="-122"/>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25000"/>
              </a:lnSpc>
              <a:buNone/>
              <a:defRPr/>
            </a:pPr>
            <a:r>
              <a:rPr kumimoji="1" lang="en-US" altLang="zh-CN" sz="2000" b="1" dirty="0">
                <a:solidFill>
                  <a:prstClr val="black"/>
                </a:solidFill>
                <a:latin typeface="STKaiti" panose="02010600040101010101" charset="-122"/>
                <a:ea typeface="STKaiti" panose="02010600040101010101" charset="-122"/>
              </a:rPr>
              <a:t>                 </a:t>
            </a:r>
          </a:p>
          <a:p>
            <a:pPr marL="0" indent="0">
              <a:lnSpc>
                <a:spcPct val="125000"/>
              </a:lnSpc>
              <a:buNone/>
              <a:defRPr/>
            </a:pPr>
            <a:endParaRPr kumimoji="1" lang="en-US" altLang="zh-CN" sz="2000" b="0" i="0" u="none" strike="noStrike" kern="1200" cap="none" spc="0" normalizeH="0" baseline="0" noProof="0" dirty="0">
              <a:ln>
                <a:noFill/>
              </a:ln>
              <a:solidFill>
                <a:prstClr val="black"/>
              </a:solidFill>
              <a:effectLst/>
              <a:uLnTx/>
              <a:uFillTx/>
              <a:latin typeface="STKaiti" panose="02010600040101010101" charset="-122"/>
              <a:ea typeface="STKaiti" panose="02010600040101010101" charset="-122"/>
            </a:endParaRPr>
          </a:p>
          <a:p>
            <a:pPr marL="0" marR="0" lvl="0" indent="0" algn="l" defTabSz="914400" rtl="0" eaLnBrk="1" fontAlgn="auto" latinLnBrk="0" hangingPunct="1">
              <a:lnSpc>
                <a:spcPct val="125000"/>
              </a:lnSpc>
              <a:spcBef>
                <a:spcPts val="1000"/>
              </a:spcBef>
              <a:spcAft>
                <a:spcPts val="0"/>
              </a:spcAft>
              <a:buClrTx/>
              <a:buSzTx/>
              <a:buFont typeface="Arial" panose="020B0604020202020204" pitchFamily="34" charset="0"/>
              <a:buNone/>
              <a:defRPr/>
            </a:pPr>
            <a:endParaRPr kumimoji="1" lang="en-US" altLang="zh-CN" sz="2000" b="0" i="0" u="none" strike="noStrike" kern="1200" cap="none" spc="0" normalizeH="0" baseline="0" noProof="0" dirty="0">
              <a:ln>
                <a:noFill/>
              </a:ln>
              <a:solidFill>
                <a:prstClr val="black"/>
              </a:solidFill>
              <a:effectLst/>
              <a:uLnTx/>
              <a:uFillTx/>
              <a:latin typeface="STKaiti" panose="02010600040101010101" charset="-122"/>
              <a:ea typeface="STKaiti" panose="02010600040101010101" charset="-122"/>
            </a:endParaRPr>
          </a:p>
        </p:txBody>
      </p:sp>
      <p:sp>
        <p:nvSpPr>
          <p:cNvPr id="10" name="标题 2"/>
          <p:cNvSpPr>
            <a:spLocks noGrp="1"/>
          </p:cNvSpPr>
          <p:nvPr>
            <p:ph type="title"/>
          </p:nvPr>
        </p:nvSpPr>
        <p:spPr>
          <a:xfrm>
            <a:off x="508000" y="274638"/>
            <a:ext cx="8229600" cy="1143000"/>
          </a:xfrm>
        </p:spPr>
        <p:txBody>
          <a:bodyPr>
            <a:normAutofit/>
          </a:bodyPr>
          <a:lstStyle/>
          <a:p>
            <a:pPr algn="ctr"/>
            <a:r>
              <a:rPr kumimoji="1" lang="zh-CN" altLang="en-US" sz="2400" b="1" dirty="0">
                <a:latin typeface="STKaiti" panose="02010600040101010101" charset="-122"/>
                <a:ea typeface="STKaiti" panose="02010600040101010101" charset="-122"/>
              </a:rPr>
              <a:t>研究内容（一）基于多模态大模型的细粒度</a:t>
            </a:r>
            <a:r>
              <a:rPr kumimoji="1" lang="en-US" altLang="zh-CN" sz="2400" b="1" dirty="0">
                <a:latin typeface="STKaiti" panose="02010600040101010101" charset="-122"/>
                <a:ea typeface="STKaiti" panose="02010600040101010101" charset="-122"/>
              </a:rPr>
              <a:t>prompt</a:t>
            </a:r>
            <a:r>
              <a:rPr kumimoji="1" lang="zh-CN" altLang="en-US" sz="2400" b="1" dirty="0">
                <a:latin typeface="STKaiti" panose="02010600040101010101" charset="-122"/>
                <a:ea typeface="STKaiti" panose="02010600040101010101" charset="-122"/>
              </a:rPr>
              <a:t>构建方法</a:t>
            </a:r>
          </a:p>
        </p:txBody>
      </p:sp>
      <p:sp>
        <p:nvSpPr>
          <p:cNvPr id="11" name="Slide Number Placeholder 14"/>
          <p:cNvSpPr txBox="1"/>
          <p:nvPr/>
        </p:nvSpPr>
        <p:spPr>
          <a:xfrm>
            <a:off x="6705600" y="6508754"/>
            <a:ext cx="2133600"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Arial" panose="020B06040202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D69E98CB-8E38-42BF-857B-65773CD3393B}" type="slidenum">
              <a:rPr lang="en-US" altLang="zh-CN" smtClean="0"/>
              <a:t>14</a:t>
            </a:fld>
            <a:endParaRPr lang="en-US" altLang="zh-CN" dirty="0"/>
          </a:p>
        </p:txBody>
      </p:sp>
      <p:pic>
        <p:nvPicPr>
          <p:cNvPr id="6" name="图片 5">
            <a:extLst>
              <a:ext uri="{FF2B5EF4-FFF2-40B4-BE49-F238E27FC236}">
                <a16:creationId xmlns:a16="http://schemas.microsoft.com/office/drawing/2014/main" id="{4807D4FD-C2EA-F9C5-82D6-60B381959DA9}"/>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95159" y="4220667"/>
            <a:ext cx="479773" cy="1202813"/>
          </a:xfrm>
          <a:prstGeom prst="rect">
            <a:avLst/>
          </a:prstGeom>
          <a:ln w="12700">
            <a:solidFill>
              <a:schemeClr val="bg1"/>
            </a:solidFill>
          </a:ln>
        </p:spPr>
      </p:pic>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7686E87E-C57E-A815-25BD-3D89C10FDCEB}"/>
                  </a:ext>
                </a:extLst>
              </p:cNvPr>
              <p:cNvSpPr txBox="1"/>
              <p:nvPr/>
            </p:nvSpPr>
            <p:spPr>
              <a:xfrm>
                <a:off x="452429" y="5471927"/>
                <a:ext cx="2238235" cy="253916"/>
              </a:xfrm>
              <a:prstGeom prst="rect">
                <a:avLst/>
              </a:prstGeom>
              <a:noFill/>
            </p:spPr>
            <p:txBody>
              <a:bodyPr wrap="square">
                <a:spAutoFit/>
              </a:bodyPr>
              <a:lstStyle/>
              <a:p>
                <a:r>
                  <a:rPr lang="en-US" altLang="zh-CN" sz="1050" dirty="0"/>
                  <a:t>A photo of a </a:t>
                </a:r>
                <a14:m>
                  <m:oMath xmlns:m="http://schemas.openxmlformats.org/officeDocument/2006/math">
                    <m:sSub>
                      <m:sSubPr>
                        <m:ctrlPr>
                          <a:rPr lang="en-US" altLang="zh-CN" sz="1050" b="0" i="1" smtClean="0">
                            <a:solidFill>
                              <a:schemeClr val="accent2"/>
                            </a:solidFill>
                            <a:latin typeface="Cambria Math" panose="02040503050406030204" pitchFamily="18" charset="0"/>
                          </a:rPr>
                        </m:ctrlPr>
                      </m:sSubPr>
                      <m:e>
                        <m:r>
                          <a:rPr lang="en-US" altLang="zh-CN" sz="1050" b="0" i="1" smtClean="0">
                            <a:solidFill>
                              <a:schemeClr val="accent2"/>
                            </a:solidFill>
                            <a:latin typeface="Cambria Math" panose="02040503050406030204" pitchFamily="18" charset="0"/>
                          </a:rPr>
                          <m:t>[</m:t>
                        </m:r>
                        <m:r>
                          <a:rPr lang="en-US" altLang="zh-CN" sz="1050" b="0" i="1" smtClean="0">
                            <a:solidFill>
                              <a:schemeClr val="accent2"/>
                            </a:solidFill>
                            <a:latin typeface="Cambria Math" panose="02040503050406030204" pitchFamily="18" charset="0"/>
                          </a:rPr>
                          <m:t>𝑋</m:t>
                        </m:r>
                        <m:r>
                          <a:rPr lang="en-US" altLang="zh-CN" sz="1050" b="0" i="1" smtClean="0">
                            <a:solidFill>
                              <a:schemeClr val="accent2"/>
                            </a:solidFill>
                            <a:latin typeface="Cambria Math" panose="02040503050406030204" pitchFamily="18" charset="0"/>
                          </a:rPr>
                          <m:t>]</m:t>
                        </m:r>
                      </m:e>
                      <m:sub>
                        <m:r>
                          <a:rPr lang="en-US" altLang="zh-CN" sz="1050" b="0" i="1" smtClean="0">
                            <a:solidFill>
                              <a:schemeClr val="accent2"/>
                            </a:solidFill>
                            <a:latin typeface="Cambria Math" panose="02040503050406030204" pitchFamily="18" charset="0"/>
                          </a:rPr>
                          <m:t>1</m:t>
                        </m:r>
                      </m:sub>
                    </m:sSub>
                    <m:sSub>
                      <m:sSubPr>
                        <m:ctrlPr>
                          <a:rPr lang="en-US" altLang="zh-CN" sz="1050" i="1">
                            <a:solidFill>
                              <a:schemeClr val="accent2"/>
                            </a:solidFill>
                            <a:latin typeface="Cambria Math" panose="02040503050406030204" pitchFamily="18" charset="0"/>
                          </a:rPr>
                        </m:ctrlPr>
                      </m:sSubPr>
                      <m:e>
                        <m:r>
                          <a:rPr lang="en-US" altLang="zh-CN" sz="1050" i="1">
                            <a:solidFill>
                              <a:schemeClr val="accent2"/>
                            </a:solidFill>
                            <a:latin typeface="Cambria Math" panose="02040503050406030204" pitchFamily="18" charset="0"/>
                          </a:rPr>
                          <m:t>[</m:t>
                        </m:r>
                        <m:r>
                          <a:rPr lang="en-US" altLang="zh-CN" sz="1050" i="1">
                            <a:solidFill>
                              <a:schemeClr val="accent2"/>
                            </a:solidFill>
                            <a:latin typeface="Cambria Math" panose="02040503050406030204" pitchFamily="18" charset="0"/>
                          </a:rPr>
                          <m:t>𝑋</m:t>
                        </m:r>
                        <m:r>
                          <a:rPr lang="en-US" altLang="zh-CN" sz="1050" i="1">
                            <a:solidFill>
                              <a:schemeClr val="accent2"/>
                            </a:solidFill>
                            <a:latin typeface="Cambria Math" panose="02040503050406030204" pitchFamily="18" charset="0"/>
                          </a:rPr>
                          <m:t>]</m:t>
                        </m:r>
                      </m:e>
                      <m:sub>
                        <m:r>
                          <a:rPr lang="en-US" altLang="zh-CN" sz="1050" b="0" i="1" smtClean="0">
                            <a:solidFill>
                              <a:schemeClr val="accent2"/>
                            </a:solidFill>
                            <a:latin typeface="Cambria Math" panose="02040503050406030204" pitchFamily="18" charset="0"/>
                          </a:rPr>
                          <m:t>2</m:t>
                        </m:r>
                      </m:sub>
                    </m:sSub>
                    <m:r>
                      <a:rPr lang="en-US" altLang="zh-CN" sz="1050" b="0" i="1" smtClean="0">
                        <a:solidFill>
                          <a:schemeClr val="accent2"/>
                        </a:solidFill>
                        <a:latin typeface="Cambria Math" panose="02040503050406030204" pitchFamily="18" charset="0"/>
                      </a:rPr>
                      <m:t>…</m:t>
                    </m:r>
                    <m:sSub>
                      <m:sSubPr>
                        <m:ctrlPr>
                          <a:rPr lang="en-US" altLang="zh-CN" sz="1050" i="1">
                            <a:solidFill>
                              <a:schemeClr val="accent2"/>
                            </a:solidFill>
                            <a:latin typeface="Cambria Math" panose="02040503050406030204" pitchFamily="18" charset="0"/>
                          </a:rPr>
                        </m:ctrlPr>
                      </m:sSubPr>
                      <m:e>
                        <m:d>
                          <m:dPr>
                            <m:begChr m:val="["/>
                            <m:endChr m:val="]"/>
                            <m:ctrlPr>
                              <a:rPr lang="en-US" altLang="zh-CN" sz="1050" i="1">
                                <a:solidFill>
                                  <a:schemeClr val="accent2"/>
                                </a:solidFill>
                                <a:latin typeface="Cambria Math" panose="02040503050406030204" pitchFamily="18" charset="0"/>
                              </a:rPr>
                            </m:ctrlPr>
                          </m:dPr>
                          <m:e>
                            <m:r>
                              <a:rPr lang="en-US" altLang="zh-CN" sz="1050" i="1">
                                <a:solidFill>
                                  <a:schemeClr val="accent2"/>
                                </a:solidFill>
                                <a:latin typeface="Cambria Math" panose="02040503050406030204" pitchFamily="18" charset="0"/>
                              </a:rPr>
                              <m:t>𝑋</m:t>
                            </m:r>
                          </m:e>
                        </m:d>
                      </m:e>
                      <m:sub>
                        <m:r>
                          <a:rPr lang="en-US" altLang="zh-CN" sz="1050" b="0" i="1" smtClean="0">
                            <a:solidFill>
                              <a:schemeClr val="accent2"/>
                            </a:solidFill>
                            <a:latin typeface="Cambria Math" panose="02040503050406030204" pitchFamily="18" charset="0"/>
                          </a:rPr>
                          <m:t>𝑀</m:t>
                        </m:r>
                      </m:sub>
                    </m:sSub>
                    <m:r>
                      <a:rPr lang="en-US" altLang="zh-CN" sz="1050" b="0" i="1" smtClean="0">
                        <a:latin typeface="Cambria Math" panose="02040503050406030204" pitchFamily="18" charset="0"/>
                      </a:rPr>
                      <m:t> </m:t>
                    </m:r>
                  </m:oMath>
                </a14:m>
                <a:r>
                  <a:rPr lang="en-US" altLang="zh-CN" sz="1050" dirty="0"/>
                  <a:t>person </a:t>
                </a:r>
                <a:endParaRPr lang="zh-CN" altLang="en-US" sz="1050" dirty="0"/>
              </a:p>
            </p:txBody>
          </p:sp>
        </mc:Choice>
        <mc:Fallback xmlns="">
          <p:sp>
            <p:nvSpPr>
              <p:cNvPr id="8" name="文本框 7">
                <a:extLst>
                  <a:ext uri="{FF2B5EF4-FFF2-40B4-BE49-F238E27FC236}">
                    <a16:creationId xmlns:a16="http://schemas.microsoft.com/office/drawing/2014/main" id="{7686E87E-C57E-A815-25BD-3D89C10FDCEB}"/>
                  </a:ext>
                </a:extLst>
              </p:cNvPr>
              <p:cNvSpPr txBox="1">
                <a:spLocks noRot="1" noChangeAspect="1" noMove="1" noResize="1" noEditPoints="1" noAdjustHandles="1" noChangeArrowheads="1" noChangeShapeType="1" noTextEdit="1"/>
              </p:cNvSpPr>
              <p:nvPr/>
            </p:nvSpPr>
            <p:spPr>
              <a:xfrm>
                <a:off x="452429" y="5471927"/>
                <a:ext cx="2238235" cy="253916"/>
              </a:xfrm>
              <a:prstGeom prst="rect">
                <a:avLst/>
              </a:prstGeom>
              <a:blipFill>
                <a:blip r:embed="rId4"/>
                <a:stretch>
                  <a:fillRect b="-17073"/>
                </a:stretch>
              </a:blipFill>
            </p:spPr>
            <p:txBody>
              <a:bodyPr/>
              <a:lstStyle/>
              <a:p>
                <a:r>
                  <a:rPr lang="zh-CN" altLang="en-US">
                    <a:noFill/>
                  </a:rPr>
                  <a:t> </a:t>
                </a:r>
              </a:p>
            </p:txBody>
          </p:sp>
        </mc:Fallback>
      </mc:AlternateContent>
      <p:pic>
        <p:nvPicPr>
          <p:cNvPr id="14" name="图片 13">
            <a:extLst>
              <a:ext uri="{FF2B5EF4-FFF2-40B4-BE49-F238E27FC236}">
                <a16:creationId xmlns:a16="http://schemas.microsoft.com/office/drawing/2014/main" id="{D654889C-7AD2-118D-EA40-92A935121AF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78622" y="4220666"/>
            <a:ext cx="477521" cy="1202813"/>
          </a:xfrm>
          <a:prstGeom prst="rect">
            <a:avLst/>
          </a:prstGeom>
          <a:ln w="12700">
            <a:solidFill>
              <a:schemeClr val="bg1"/>
            </a:solidFill>
          </a:ln>
        </p:spPr>
      </p:pic>
      <p:pic>
        <p:nvPicPr>
          <p:cNvPr id="17" name="图片 16">
            <a:extLst>
              <a:ext uri="{FF2B5EF4-FFF2-40B4-BE49-F238E27FC236}">
                <a16:creationId xmlns:a16="http://schemas.microsoft.com/office/drawing/2014/main" id="{D8F316D8-8B45-C1A6-0A89-D0E5A3234F4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638763" y="4220666"/>
            <a:ext cx="480960" cy="1202400"/>
          </a:xfrm>
          <a:prstGeom prst="rect">
            <a:avLst/>
          </a:prstGeom>
          <a:ln w="12700">
            <a:solidFill>
              <a:schemeClr val="bg1"/>
            </a:solidFill>
          </a:ln>
        </p:spPr>
      </p:pic>
      <p:grpSp>
        <p:nvGrpSpPr>
          <p:cNvPr id="94" name="组合 93">
            <a:extLst>
              <a:ext uri="{FF2B5EF4-FFF2-40B4-BE49-F238E27FC236}">
                <a16:creationId xmlns:a16="http://schemas.microsoft.com/office/drawing/2014/main" id="{6E1C0ACC-44F1-AEAC-272E-62EA38BFE26C}"/>
              </a:ext>
            </a:extLst>
          </p:cNvPr>
          <p:cNvGrpSpPr/>
          <p:nvPr/>
        </p:nvGrpSpPr>
        <p:grpSpPr>
          <a:xfrm>
            <a:off x="504098" y="5775118"/>
            <a:ext cx="2094922" cy="370825"/>
            <a:chOff x="323211" y="2703372"/>
            <a:chExt cx="2159947" cy="370825"/>
          </a:xfrm>
        </p:grpSpPr>
        <p:sp>
          <p:nvSpPr>
            <p:cNvPr id="19" name="文本框 18">
              <a:extLst>
                <a:ext uri="{FF2B5EF4-FFF2-40B4-BE49-F238E27FC236}">
                  <a16:creationId xmlns:a16="http://schemas.microsoft.com/office/drawing/2014/main" id="{7B52C1B3-8D21-F53E-F4A5-A56C34BCCD73}"/>
                </a:ext>
              </a:extLst>
            </p:cNvPr>
            <p:cNvSpPr txBox="1"/>
            <p:nvPr/>
          </p:nvSpPr>
          <p:spPr>
            <a:xfrm>
              <a:off x="390123" y="2734895"/>
              <a:ext cx="2093035" cy="307777"/>
            </a:xfrm>
            <a:prstGeom prst="rect">
              <a:avLst/>
            </a:prstGeom>
            <a:noFill/>
          </p:spPr>
          <p:txBody>
            <a:bodyPr wrap="square">
              <a:spAutoFit/>
            </a:bodyPr>
            <a:lstStyle/>
            <a:p>
              <a:r>
                <a:rPr lang="zh-CN" altLang="en-US" sz="1400" dirty="0">
                  <a:latin typeface="华文楷体" panose="02010600040101010101" pitchFamily="2" charset="-122"/>
                  <a:ea typeface="华文楷体" panose="02010600040101010101" pitchFamily="2" charset="-122"/>
                </a:rPr>
                <a:t>文本描述较为</a:t>
              </a:r>
              <a:r>
                <a:rPr lang="zh-CN" altLang="en-US" sz="1400" dirty="0">
                  <a:solidFill>
                    <a:srgbClr val="FF0000"/>
                  </a:solidFill>
                  <a:latin typeface="华文楷体" panose="02010600040101010101" pitchFamily="2" charset="-122"/>
                  <a:ea typeface="华文楷体" panose="02010600040101010101" pitchFamily="2" charset="-122"/>
                </a:rPr>
                <a:t>粗粒度</a:t>
              </a:r>
              <a:endParaRPr lang="zh-CN" altLang="en-US" sz="1400" dirty="0">
                <a:latin typeface="华文楷体" panose="02010600040101010101" pitchFamily="2" charset="-122"/>
                <a:ea typeface="华文楷体" panose="02010600040101010101" pitchFamily="2" charset="-122"/>
              </a:endParaRPr>
            </a:p>
          </p:txBody>
        </p:sp>
        <p:sp>
          <p:nvSpPr>
            <p:cNvPr id="20" name="矩形 19">
              <a:extLst>
                <a:ext uri="{FF2B5EF4-FFF2-40B4-BE49-F238E27FC236}">
                  <a16:creationId xmlns:a16="http://schemas.microsoft.com/office/drawing/2014/main" id="{C0E6212D-5EB2-5BE2-F0C1-014215D01AC6}"/>
                </a:ext>
              </a:extLst>
            </p:cNvPr>
            <p:cNvSpPr/>
            <p:nvPr/>
          </p:nvSpPr>
          <p:spPr>
            <a:xfrm>
              <a:off x="323211" y="2703372"/>
              <a:ext cx="2048084" cy="370825"/>
            </a:xfrm>
            <a:prstGeom prst="rect">
              <a:avLst/>
            </a:prstGeom>
            <a:noFill/>
            <a:ln>
              <a:solidFill>
                <a:schemeClr val="accent2"/>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grpSp>
      <p:sp>
        <p:nvSpPr>
          <p:cNvPr id="21" name="矩形: 圆角 20">
            <a:extLst>
              <a:ext uri="{FF2B5EF4-FFF2-40B4-BE49-F238E27FC236}">
                <a16:creationId xmlns:a16="http://schemas.microsoft.com/office/drawing/2014/main" id="{F395448F-3990-CB57-2715-0D1194723511}"/>
              </a:ext>
            </a:extLst>
          </p:cNvPr>
          <p:cNvSpPr/>
          <p:nvPr/>
        </p:nvSpPr>
        <p:spPr>
          <a:xfrm>
            <a:off x="452429" y="4095473"/>
            <a:ext cx="2099338" cy="2219602"/>
          </a:xfrm>
          <a:prstGeom prst="roundRect">
            <a:avLst>
              <a:gd name="adj" fmla="val 6533"/>
            </a:avLst>
          </a:prstGeom>
          <a:no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圆角 24">
            <a:extLst>
              <a:ext uri="{FF2B5EF4-FFF2-40B4-BE49-F238E27FC236}">
                <a16:creationId xmlns:a16="http://schemas.microsoft.com/office/drawing/2014/main" id="{C1AE2B6B-912B-E244-AFC7-C2942E707739}"/>
              </a:ext>
            </a:extLst>
          </p:cNvPr>
          <p:cNvSpPr/>
          <p:nvPr/>
        </p:nvSpPr>
        <p:spPr>
          <a:xfrm>
            <a:off x="2945218" y="1666942"/>
            <a:ext cx="4466377" cy="2064676"/>
          </a:xfrm>
          <a:prstGeom prst="roundRect">
            <a:avLst>
              <a:gd name="adj" fmla="val 6533"/>
            </a:avLst>
          </a:prstGeom>
          <a:no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圆角 25">
            <a:extLst>
              <a:ext uri="{FF2B5EF4-FFF2-40B4-BE49-F238E27FC236}">
                <a16:creationId xmlns:a16="http://schemas.microsoft.com/office/drawing/2014/main" id="{76E326BE-2967-1422-6652-28E3BCACF6AB}"/>
              </a:ext>
            </a:extLst>
          </p:cNvPr>
          <p:cNvSpPr/>
          <p:nvPr/>
        </p:nvSpPr>
        <p:spPr>
          <a:xfrm>
            <a:off x="2959590" y="4047805"/>
            <a:ext cx="4466377" cy="2327310"/>
          </a:xfrm>
          <a:prstGeom prst="roundRect">
            <a:avLst>
              <a:gd name="adj" fmla="val 6533"/>
            </a:avLst>
          </a:prstGeom>
          <a:no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文本框 27">
            <a:extLst>
              <a:ext uri="{FF2B5EF4-FFF2-40B4-BE49-F238E27FC236}">
                <a16:creationId xmlns:a16="http://schemas.microsoft.com/office/drawing/2014/main" id="{37E9A9FA-8B94-0CE8-D0F6-2554B5FDE7CA}"/>
              </a:ext>
            </a:extLst>
          </p:cNvPr>
          <p:cNvSpPr txBox="1"/>
          <p:nvPr/>
        </p:nvSpPr>
        <p:spPr>
          <a:xfrm>
            <a:off x="3624427" y="1790508"/>
            <a:ext cx="3215912" cy="338554"/>
          </a:xfrm>
          <a:prstGeom prst="rect">
            <a:avLst/>
          </a:prstGeom>
          <a:noFill/>
        </p:spPr>
        <p:txBody>
          <a:bodyPr wrap="square">
            <a:spAutoFit/>
          </a:bodyPr>
          <a:lstStyle/>
          <a:p>
            <a:r>
              <a:rPr lang="zh-CN" altLang="en-US" sz="1600" dirty="0">
                <a:solidFill>
                  <a:srgbClr val="FF0000"/>
                </a:solidFill>
                <a:latin typeface="华文楷体" panose="02010600040101010101" pitchFamily="2" charset="-122"/>
                <a:ea typeface="华文楷体" panose="02010600040101010101" pitchFamily="2" charset="-122"/>
              </a:rPr>
              <a:t>基于可学习</a:t>
            </a:r>
            <a:r>
              <a:rPr lang="en-US" altLang="zh-CN" sz="1600" dirty="0">
                <a:solidFill>
                  <a:srgbClr val="FF0000"/>
                </a:solidFill>
                <a:latin typeface="华文楷体" panose="02010600040101010101" pitchFamily="2" charset="-122"/>
                <a:ea typeface="华文楷体" panose="02010600040101010101" pitchFamily="2" charset="-122"/>
              </a:rPr>
              <a:t>token</a:t>
            </a:r>
            <a:r>
              <a:rPr lang="zh-CN" altLang="en-US" sz="1600" dirty="0">
                <a:solidFill>
                  <a:srgbClr val="FF0000"/>
                </a:solidFill>
                <a:latin typeface="华文楷体" panose="02010600040101010101" pitchFamily="2" charset="-122"/>
                <a:ea typeface="华文楷体" panose="02010600040101010101" pitchFamily="2" charset="-122"/>
              </a:rPr>
              <a:t>的隐式文本描述</a:t>
            </a:r>
            <a:endParaRPr lang="zh-CN" altLang="en-US" sz="1600" dirty="0">
              <a:latin typeface="华文楷体" panose="02010600040101010101" pitchFamily="2" charset="-122"/>
              <a:ea typeface="华文楷体" panose="02010600040101010101" pitchFamily="2" charset="-122"/>
            </a:endParaRPr>
          </a:p>
        </p:txBody>
      </p:sp>
      <p:sp>
        <p:nvSpPr>
          <p:cNvPr id="29" name="矩形 28">
            <a:extLst>
              <a:ext uri="{FF2B5EF4-FFF2-40B4-BE49-F238E27FC236}">
                <a16:creationId xmlns:a16="http://schemas.microsoft.com/office/drawing/2014/main" id="{D2437D9B-AB7D-D49E-11D1-14A0F16A7BFA}"/>
              </a:ext>
            </a:extLst>
          </p:cNvPr>
          <p:cNvSpPr/>
          <p:nvPr/>
        </p:nvSpPr>
        <p:spPr>
          <a:xfrm>
            <a:off x="3624427" y="1758236"/>
            <a:ext cx="3133719" cy="370825"/>
          </a:xfrm>
          <a:prstGeom prst="rect">
            <a:avLst/>
          </a:prstGeom>
          <a:noFill/>
          <a:ln>
            <a:solidFill>
              <a:schemeClr val="accent2"/>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30" name="文本框 29">
                <a:extLst>
                  <a:ext uri="{FF2B5EF4-FFF2-40B4-BE49-F238E27FC236}">
                    <a16:creationId xmlns:a16="http://schemas.microsoft.com/office/drawing/2014/main" id="{A99805D0-D47A-77C7-8938-6B2304069461}"/>
                  </a:ext>
                </a:extLst>
              </p:cNvPr>
              <p:cNvSpPr txBox="1"/>
              <p:nvPr/>
            </p:nvSpPr>
            <p:spPr>
              <a:xfrm>
                <a:off x="3058268" y="2257306"/>
                <a:ext cx="3956733" cy="307777"/>
              </a:xfrm>
              <a:prstGeom prst="rect">
                <a:avLst/>
              </a:prstGeom>
              <a:noFill/>
            </p:spPr>
            <p:txBody>
              <a:bodyPr wrap="square">
                <a:spAutoFit/>
              </a:bodyPr>
              <a:lstStyle/>
              <a:p>
                <a:r>
                  <a:rPr lang="zh-CN" altLang="en-US" sz="1400" dirty="0">
                    <a:latin typeface="华文楷体" panose="02010600040101010101" pitchFamily="2" charset="-122"/>
                    <a:ea typeface="华文楷体" panose="02010600040101010101" pitchFamily="2" charset="-122"/>
                  </a:rPr>
                  <a:t>对行人的描述：</a:t>
                </a:r>
                <a:r>
                  <a:rPr lang="en-US" altLang="zh-CN" sz="1400" dirty="0"/>
                  <a:t>A photo of a </a:t>
                </a:r>
                <a14:m>
                  <m:oMath xmlns:m="http://schemas.openxmlformats.org/officeDocument/2006/math">
                    <m:r>
                      <a:rPr lang="en-US" altLang="zh-CN" sz="1400" b="0" i="1" smtClean="0">
                        <a:solidFill>
                          <a:schemeClr val="accent2"/>
                        </a:solidFill>
                        <a:latin typeface="Cambria Math" panose="02040503050406030204" pitchFamily="18" charset="0"/>
                      </a:rPr>
                      <m:t>[</m:t>
                    </m:r>
                    <m:sSup>
                      <m:sSupPr>
                        <m:ctrlPr>
                          <a:rPr lang="en-US" altLang="zh-CN" sz="1400" b="0" i="1" smtClean="0">
                            <a:solidFill>
                              <a:schemeClr val="accent2"/>
                            </a:solidFill>
                            <a:latin typeface="Cambria Math" panose="02040503050406030204" pitchFamily="18" charset="0"/>
                          </a:rPr>
                        </m:ctrlPr>
                      </m:sSupPr>
                      <m:e>
                        <m:r>
                          <a:rPr lang="en-US" altLang="zh-CN" sz="1400" b="0" i="1" smtClean="0">
                            <a:solidFill>
                              <a:schemeClr val="accent2"/>
                            </a:solidFill>
                            <a:latin typeface="Cambria Math" panose="02040503050406030204" pitchFamily="18" charset="0"/>
                          </a:rPr>
                          <m:t>𝑆</m:t>
                        </m:r>
                      </m:e>
                      <m:sup>
                        <m:r>
                          <a:rPr lang="en-US" altLang="zh-CN" sz="1400" b="0" i="1" smtClean="0">
                            <a:solidFill>
                              <a:schemeClr val="accent2"/>
                            </a:solidFill>
                            <a:latin typeface="Cambria Math" panose="02040503050406030204" pitchFamily="18" charset="0"/>
                          </a:rPr>
                          <m:t>∗</m:t>
                        </m:r>
                      </m:sup>
                    </m:sSup>
                    <m:r>
                      <a:rPr lang="en-US" altLang="zh-CN" sz="1400" b="0" i="1" smtClean="0">
                        <a:solidFill>
                          <a:schemeClr val="accent2"/>
                        </a:solidFill>
                        <a:latin typeface="Cambria Math" panose="02040503050406030204" pitchFamily="18" charset="0"/>
                      </a:rPr>
                      <m:t>]</m:t>
                    </m:r>
                  </m:oMath>
                </a14:m>
                <a:r>
                  <a:rPr lang="en-US" altLang="zh-CN" sz="1400" dirty="0">
                    <a:solidFill>
                      <a:schemeClr val="accent2"/>
                    </a:solidFill>
                  </a:rPr>
                  <a:t> </a:t>
                </a:r>
                <a:r>
                  <a:rPr lang="en-US" altLang="zh-CN" sz="1400" dirty="0"/>
                  <a:t>person with </a:t>
                </a:r>
                <a14:m>
                  <m:oMath xmlns:m="http://schemas.openxmlformats.org/officeDocument/2006/math">
                    <m:d>
                      <m:dPr>
                        <m:begChr m:val="["/>
                        <m:endChr m:val="]"/>
                        <m:ctrlPr>
                          <a:rPr lang="en-US" altLang="zh-CN" sz="1400" i="1" smtClean="0">
                            <a:solidFill>
                              <a:schemeClr val="accent2"/>
                            </a:solidFill>
                            <a:latin typeface="Cambria Math" panose="02040503050406030204" pitchFamily="18" charset="0"/>
                          </a:rPr>
                        </m:ctrlPr>
                      </m:dPr>
                      <m:e>
                        <m:sSup>
                          <m:sSupPr>
                            <m:ctrlPr>
                              <a:rPr lang="en-US" altLang="zh-CN" sz="1400" i="1" smtClean="0">
                                <a:solidFill>
                                  <a:schemeClr val="accent2"/>
                                </a:solidFill>
                                <a:latin typeface="Cambria Math" panose="02040503050406030204" pitchFamily="18" charset="0"/>
                              </a:rPr>
                            </m:ctrlPr>
                          </m:sSupPr>
                          <m:e>
                            <m:r>
                              <a:rPr lang="en-US" altLang="zh-CN" sz="1400" b="0" i="1" smtClean="0">
                                <a:solidFill>
                                  <a:schemeClr val="accent2"/>
                                </a:solidFill>
                                <a:latin typeface="Cambria Math" panose="02040503050406030204" pitchFamily="18" charset="0"/>
                              </a:rPr>
                              <m:t>𝐴</m:t>
                            </m:r>
                          </m:e>
                          <m:sup>
                            <m:r>
                              <a:rPr lang="en-US" altLang="zh-CN" sz="1400" b="0" i="1" smtClean="0">
                                <a:solidFill>
                                  <a:schemeClr val="accent2"/>
                                </a:solidFill>
                                <a:latin typeface="Cambria Math" panose="02040503050406030204" pitchFamily="18" charset="0"/>
                              </a:rPr>
                              <m:t>∗</m:t>
                            </m:r>
                          </m:sup>
                        </m:sSup>
                      </m:e>
                    </m:d>
                  </m:oMath>
                </a14:m>
                <a:r>
                  <a:rPr lang="en-US" altLang="zh-CN" sz="1400" dirty="0"/>
                  <a:t>.</a:t>
                </a:r>
                <a:endParaRPr lang="zh-CN" altLang="en-US" sz="1400" dirty="0"/>
              </a:p>
            </p:txBody>
          </p:sp>
        </mc:Choice>
        <mc:Fallback xmlns="">
          <p:sp>
            <p:nvSpPr>
              <p:cNvPr id="30" name="文本框 29">
                <a:extLst>
                  <a:ext uri="{FF2B5EF4-FFF2-40B4-BE49-F238E27FC236}">
                    <a16:creationId xmlns:a16="http://schemas.microsoft.com/office/drawing/2014/main" id="{A99805D0-D47A-77C7-8938-6B2304069461}"/>
                  </a:ext>
                </a:extLst>
              </p:cNvPr>
              <p:cNvSpPr txBox="1">
                <a:spLocks noRot="1" noChangeAspect="1" noMove="1" noResize="1" noEditPoints="1" noAdjustHandles="1" noChangeArrowheads="1" noChangeShapeType="1" noTextEdit="1"/>
              </p:cNvSpPr>
              <p:nvPr/>
            </p:nvSpPr>
            <p:spPr>
              <a:xfrm>
                <a:off x="3058268" y="2257306"/>
                <a:ext cx="3956733" cy="307777"/>
              </a:xfrm>
              <a:prstGeom prst="rect">
                <a:avLst/>
              </a:prstGeom>
              <a:blipFill>
                <a:blip r:embed="rId7"/>
                <a:stretch>
                  <a:fillRect l="-462" t="-1961" r="-154" b="-1960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1" name="文本框 30">
                <a:extLst>
                  <a:ext uri="{FF2B5EF4-FFF2-40B4-BE49-F238E27FC236}">
                    <a16:creationId xmlns:a16="http://schemas.microsoft.com/office/drawing/2014/main" id="{A1BB6D62-5CAE-84CB-C4BE-126A92FAA498}"/>
                  </a:ext>
                </a:extLst>
              </p:cNvPr>
              <p:cNvSpPr txBox="1"/>
              <p:nvPr/>
            </p:nvSpPr>
            <p:spPr>
              <a:xfrm>
                <a:off x="3058268" y="3006878"/>
                <a:ext cx="4249546" cy="307777"/>
              </a:xfrm>
              <a:prstGeom prst="rect">
                <a:avLst/>
              </a:prstGeom>
              <a:noFill/>
            </p:spPr>
            <p:txBody>
              <a:bodyPr wrap="square">
                <a:spAutoFit/>
              </a:bodyPr>
              <a:lstStyle/>
              <a:p>
                <a:r>
                  <a:rPr lang="zh-CN" altLang="en-US" sz="1400" dirty="0">
                    <a:latin typeface="华文楷体" panose="02010600040101010101" pitchFamily="2" charset="-122"/>
                    <a:ea typeface="华文楷体" panose="02010600040101010101" pitchFamily="2" charset="-122"/>
                  </a:rPr>
                  <a:t>对遮挡物的描述：</a:t>
                </a:r>
                <a:r>
                  <a:rPr lang="en-US" altLang="zh-CN" sz="1400" dirty="0"/>
                  <a:t>A photo of the </a:t>
                </a:r>
                <a14:m>
                  <m:oMath xmlns:m="http://schemas.openxmlformats.org/officeDocument/2006/math">
                    <m:r>
                      <a:rPr lang="en-US" altLang="zh-CN" sz="1400" b="0" i="1" smtClean="0">
                        <a:solidFill>
                          <a:schemeClr val="accent2"/>
                        </a:solidFill>
                        <a:latin typeface="Cambria Math" panose="02040503050406030204" pitchFamily="18" charset="0"/>
                      </a:rPr>
                      <m:t>[</m:t>
                    </m:r>
                    <m:sSup>
                      <m:sSupPr>
                        <m:ctrlPr>
                          <a:rPr lang="en-US" altLang="zh-CN" sz="1400" b="0" i="1" smtClean="0">
                            <a:solidFill>
                              <a:schemeClr val="accent2"/>
                            </a:solidFill>
                            <a:latin typeface="Cambria Math" panose="02040503050406030204" pitchFamily="18" charset="0"/>
                          </a:rPr>
                        </m:ctrlPr>
                      </m:sSupPr>
                      <m:e>
                        <m:r>
                          <a:rPr lang="en-US" altLang="zh-CN" sz="1400" b="0" i="1" smtClean="0">
                            <a:solidFill>
                              <a:schemeClr val="accent2"/>
                            </a:solidFill>
                            <a:latin typeface="Cambria Math" panose="02040503050406030204" pitchFamily="18" charset="0"/>
                          </a:rPr>
                          <m:t>𝑂</m:t>
                        </m:r>
                      </m:e>
                      <m:sup>
                        <m:r>
                          <a:rPr lang="en-US" altLang="zh-CN" sz="1400" b="0" i="1" smtClean="0">
                            <a:solidFill>
                              <a:schemeClr val="accent2"/>
                            </a:solidFill>
                            <a:latin typeface="Cambria Math" panose="02040503050406030204" pitchFamily="18" charset="0"/>
                          </a:rPr>
                          <m:t>∗</m:t>
                        </m:r>
                      </m:sup>
                    </m:sSup>
                    <m:r>
                      <a:rPr lang="en-US" altLang="zh-CN" sz="1400" b="0" i="1" smtClean="0">
                        <a:solidFill>
                          <a:schemeClr val="accent2"/>
                        </a:solidFill>
                        <a:latin typeface="Cambria Math" panose="02040503050406030204" pitchFamily="18" charset="0"/>
                      </a:rPr>
                      <m:t>]</m:t>
                    </m:r>
                  </m:oMath>
                </a14:m>
                <a:r>
                  <a:rPr lang="en-US" altLang="zh-CN" sz="1400" dirty="0">
                    <a:solidFill>
                      <a:schemeClr val="accent2"/>
                    </a:solidFill>
                  </a:rPr>
                  <a:t> </a:t>
                </a:r>
                <a:r>
                  <a:rPr lang="en-US" altLang="zh-CN" sz="1400" dirty="0"/>
                  <a:t>occlusion.</a:t>
                </a:r>
                <a:endParaRPr lang="zh-CN" altLang="en-US" sz="1400" dirty="0"/>
              </a:p>
            </p:txBody>
          </p:sp>
        </mc:Choice>
        <mc:Fallback xmlns="">
          <p:sp>
            <p:nvSpPr>
              <p:cNvPr id="31" name="文本框 30">
                <a:extLst>
                  <a:ext uri="{FF2B5EF4-FFF2-40B4-BE49-F238E27FC236}">
                    <a16:creationId xmlns:a16="http://schemas.microsoft.com/office/drawing/2014/main" id="{A1BB6D62-5CAE-84CB-C4BE-126A92FAA498}"/>
                  </a:ext>
                </a:extLst>
              </p:cNvPr>
              <p:cNvSpPr txBox="1">
                <a:spLocks noRot="1" noChangeAspect="1" noMove="1" noResize="1" noEditPoints="1" noAdjustHandles="1" noChangeArrowheads="1" noChangeShapeType="1" noTextEdit="1"/>
              </p:cNvSpPr>
              <p:nvPr/>
            </p:nvSpPr>
            <p:spPr>
              <a:xfrm>
                <a:off x="3058268" y="3006878"/>
                <a:ext cx="4249546" cy="307777"/>
              </a:xfrm>
              <a:prstGeom prst="rect">
                <a:avLst/>
              </a:prstGeom>
              <a:blipFill>
                <a:blip r:embed="rId8"/>
                <a:stretch>
                  <a:fillRect l="-430" t="-1961" b="-19608"/>
                </a:stretch>
              </a:blipFill>
            </p:spPr>
            <p:txBody>
              <a:bodyPr/>
              <a:lstStyle/>
              <a:p>
                <a:r>
                  <a:rPr lang="zh-CN" altLang="en-US">
                    <a:noFill/>
                  </a:rPr>
                  <a:t> </a:t>
                </a:r>
              </a:p>
            </p:txBody>
          </p:sp>
        </mc:Fallback>
      </mc:AlternateContent>
      <p:grpSp>
        <p:nvGrpSpPr>
          <p:cNvPr id="48" name="组合 47">
            <a:extLst>
              <a:ext uri="{FF2B5EF4-FFF2-40B4-BE49-F238E27FC236}">
                <a16:creationId xmlns:a16="http://schemas.microsoft.com/office/drawing/2014/main" id="{F5F0E5E0-2CE2-739B-7EB0-D2C543C52182}"/>
              </a:ext>
            </a:extLst>
          </p:cNvPr>
          <p:cNvGrpSpPr/>
          <p:nvPr/>
        </p:nvGrpSpPr>
        <p:grpSpPr>
          <a:xfrm>
            <a:off x="5209723" y="3267426"/>
            <a:ext cx="863080" cy="429740"/>
            <a:chOff x="5181149" y="3267426"/>
            <a:chExt cx="863080" cy="429740"/>
          </a:xfrm>
        </p:grpSpPr>
        <p:grpSp>
          <p:nvGrpSpPr>
            <p:cNvPr id="37" name="组合 36">
              <a:extLst>
                <a:ext uri="{FF2B5EF4-FFF2-40B4-BE49-F238E27FC236}">
                  <a16:creationId xmlns:a16="http://schemas.microsoft.com/office/drawing/2014/main" id="{F6BABC96-31BA-1AB4-9A99-61E9953E82FD}"/>
                </a:ext>
              </a:extLst>
            </p:cNvPr>
            <p:cNvGrpSpPr/>
            <p:nvPr/>
          </p:nvGrpSpPr>
          <p:grpSpPr>
            <a:xfrm>
              <a:off x="5181149" y="3415790"/>
              <a:ext cx="863080" cy="281376"/>
              <a:chOff x="5244906" y="3237302"/>
              <a:chExt cx="863080" cy="281376"/>
            </a:xfrm>
          </p:grpSpPr>
          <p:sp>
            <p:nvSpPr>
              <p:cNvPr id="32" name="矩形: 圆角 31">
                <a:extLst>
                  <a:ext uri="{FF2B5EF4-FFF2-40B4-BE49-F238E27FC236}">
                    <a16:creationId xmlns:a16="http://schemas.microsoft.com/office/drawing/2014/main" id="{600996B0-96B8-4E84-A41C-601658104D0E}"/>
                  </a:ext>
                </a:extLst>
              </p:cNvPr>
              <p:cNvSpPr/>
              <p:nvPr/>
            </p:nvSpPr>
            <p:spPr>
              <a:xfrm>
                <a:off x="5244906" y="3273332"/>
                <a:ext cx="863080" cy="245346"/>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矩形: 圆角 32">
                <a:extLst>
                  <a:ext uri="{FF2B5EF4-FFF2-40B4-BE49-F238E27FC236}">
                    <a16:creationId xmlns:a16="http://schemas.microsoft.com/office/drawing/2014/main" id="{A7E480AB-FA3B-C444-524F-D9218411C80C}"/>
                  </a:ext>
                </a:extLst>
              </p:cNvPr>
              <p:cNvSpPr/>
              <p:nvPr/>
            </p:nvSpPr>
            <p:spPr>
              <a:xfrm>
                <a:off x="5276750" y="3306127"/>
                <a:ext cx="181949" cy="181949"/>
              </a:xfrm>
              <a:prstGeom prst="roundRect">
                <a:avLst/>
              </a:prstGeom>
              <a:solidFill>
                <a:srgbClr val="E2ECF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矩形: 圆角 33">
                <a:extLst>
                  <a:ext uri="{FF2B5EF4-FFF2-40B4-BE49-F238E27FC236}">
                    <a16:creationId xmlns:a16="http://schemas.microsoft.com/office/drawing/2014/main" id="{F2DFFC76-5194-F6BB-4E69-D94CC831460B}"/>
                  </a:ext>
                </a:extLst>
              </p:cNvPr>
              <p:cNvSpPr/>
              <p:nvPr/>
            </p:nvSpPr>
            <p:spPr>
              <a:xfrm>
                <a:off x="5510419" y="3305030"/>
                <a:ext cx="181949" cy="181949"/>
              </a:xfrm>
              <a:prstGeom prst="roundRect">
                <a:avLst/>
              </a:prstGeom>
              <a:solidFill>
                <a:srgbClr val="FFE0D7"/>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矩形: 圆角 34">
                <a:extLst>
                  <a:ext uri="{FF2B5EF4-FFF2-40B4-BE49-F238E27FC236}">
                    <a16:creationId xmlns:a16="http://schemas.microsoft.com/office/drawing/2014/main" id="{B2BA404A-E3AE-10AD-DE1D-70204AC37406}"/>
                  </a:ext>
                </a:extLst>
              </p:cNvPr>
              <p:cNvSpPr/>
              <p:nvPr/>
            </p:nvSpPr>
            <p:spPr>
              <a:xfrm>
                <a:off x="5866906" y="3305029"/>
                <a:ext cx="181949" cy="181949"/>
              </a:xfrm>
              <a:prstGeom prst="roundRect">
                <a:avLst/>
              </a:prstGeom>
              <a:solidFill>
                <a:srgbClr val="DDFA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文本框 35">
                <a:extLst>
                  <a:ext uri="{FF2B5EF4-FFF2-40B4-BE49-F238E27FC236}">
                    <a16:creationId xmlns:a16="http://schemas.microsoft.com/office/drawing/2014/main" id="{17182782-5E76-0C42-87F7-66CAEE7D79F1}"/>
                  </a:ext>
                </a:extLst>
              </p:cNvPr>
              <p:cNvSpPr txBox="1"/>
              <p:nvPr/>
            </p:nvSpPr>
            <p:spPr>
              <a:xfrm>
                <a:off x="5633237" y="3237302"/>
                <a:ext cx="233669" cy="261610"/>
              </a:xfrm>
              <a:prstGeom prst="rect">
                <a:avLst/>
              </a:prstGeom>
              <a:noFill/>
            </p:spPr>
            <p:txBody>
              <a:bodyPr wrap="square" rtlCol="0">
                <a:spAutoFit/>
              </a:bodyPr>
              <a:lstStyle/>
              <a:p>
                <a:r>
                  <a:rPr lang="en-US" altLang="zh-CN" sz="1100" dirty="0"/>
                  <a:t>…</a:t>
                </a:r>
                <a:endParaRPr lang="zh-CN" altLang="en-US" sz="1100" dirty="0"/>
              </a:p>
            </p:txBody>
          </p:sp>
        </p:grpSp>
        <p:cxnSp>
          <p:nvCxnSpPr>
            <p:cNvPr id="41" name="直接箭头连接符 40">
              <a:extLst>
                <a:ext uri="{FF2B5EF4-FFF2-40B4-BE49-F238E27FC236}">
                  <a16:creationId xmlns:a16="http://schemas.microsoft.com/office/drawing/2014/main" id="{86C6DCD0-3AAB-78C5-7491-6F0FFE9F2CA2}"/>
                </a:ext>
              </a:extLst>
            </p:cNvPr>
            <p:cNvCxnSpPr/>
            <p:nvPr/>
          </p:nvCxnSpPr>
          <p:spPr>
            <a:xfrm flipV="1">
              <a:off x="5633237" y="3267426"/>
              <a:ext cx="0" cy="18000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grpSp>
      <p:grpSp>
        <p:nvGrpSpPr>
          <p:cNvPr id="49" name="组合 48">
            <a:extLst>
              <a:ext uri="{FF2B5EF4-FFF2-40B4-BE49-F238E27FC236}">
                <a16:creationId xmlns:a16="http://schemas.microsoft.com/office/drawing/2014/main" id="{0EAC3A0F-C694-2F99-F0DF-A0A2D0510132}"/>
              </a:ext>
            </a:extLst>
          </p:cNvPr>
          <p:cNvGrpSpPr/>
          <p:nvPr/>
        </p:nvGrpSpPr>
        <p:grpSpPr>
          <a:xfrm>
            <a:off x="5043696" y="2540861"/>
            <a:ext cx="863080" cy="429740"/>
            <a:chOff x="5181149" y="3267426"/>
            <a:chExt cx="863080" cy="429740"/>
          </a:xfrm>
        </p:grpSpPr>
        <p:grpSp>
          <p:nvGrpSpPr>
            <p:cNvPr id="50" name="组合 49">
              <a:extLst>
                <a:ext uri="{FF2B5EF4-FFF2-40B4-BE49-F238E27FC236}">
                  <a16:creationId xmlns:a16="http://schemas.microsoft.com/office/drawing/2014/main" id="{F4159595-64DD-5F82-C6AD-E8F443B946EA}"/>
                </a:ext>
              </a:extLst>
            </p:cNvPr>
            <p:cNvGrpSpPr/>
            <p:nvPr/>
          </p:nvGrpSpPr>
          <p:grpSpPr>
            <a:xfrm>
              <a:off x="5181149" y="3415790"/>
              <a:ext cx="863080" cy="281376"/>
              <a:chOff x="5244906" y="3237302"/>
              <a:chExt cx="863080" cy="281376"/>
            </a:xfrm>
          </p:grpSpPr>
          <p:sp>
            <p:nvSpPr>
              <p:cNvPr id="52" name="矩形: 圆角 51">
                <a:extLst>
                  <a:ext uri="{FF2B5EF4-FFF2-40B4-BE49-F238E27FC236}">
                    <a16:creationId xmlns:a16="http://schemas.microsoft.com/office/drawing/2014/main" id="{60A2685A-1164-46A7-2E30-2F819A3751BF}"/>
                  </a:ext>
                </a:extLst>
              </p:cNvPr>
              <p:cNvSpPr/>
              <p:nvPr/>
            </p:nvSpPr>
            <p:spPr>
              <a:xfrm>
                <a:off x="5244906" y="3273332"/>
                <a:ext cx="863080" cy="245346"/>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矩形: 圆角 52">
                <a:extLst>
                  <a:ext uri="{FF2B5EF4-FFF2-40B4-BE49-F238E27FC236}">
                    <a16:creationId xmlns:a16="http://schemas.microsoft.com/office/drawing/2014/main" id="{DD53BDB4-0E8B-6BE8-70AE-DA58E9685FFF}"/>
                  </a:ext>
                </a:extLst>
              </p:cNvPr>
              <p:cNvSpPr/>
              <p:nvPr/>
            </p:nvSpPr>
            <p:spPr>
              <a:xfrm>
                <a:off x="5276750" y="3306127"/>
                <a:ext cx="181949" cy="181949"/>
              </a:xfrm>
              <a:prstGeom prst="round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矩形: 圆角 53">
                <a:extLst>
                  <a:ext uri="{FF2B5EF4-FFF2-40B4-BE49-F238E27FC236}">
                    <a16:creationId xmlns:a16="http://schemas.microsoft.com/office/drawing/2014/main" id="{305F6840-3AC6-2E97-E97E-8DF8035A6818}"/>
                  </a:ext>
                </a:extLst>
              </p:cNvPr>
              <p:cNvSpPr/>
              <p:nvPr/>
            </p:nvSpPr>
            <p:spPr>
              <a:xfrm>
                <a:off x="5510419" y="3305030"/>
                <a:ext cx="181949" cy="181949"/>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矩形: 圆角 54">
                <a:extLst>
                  <a:ext uri="{FF2B5EF4-FFF2-40B4-BE49-F238E27FC236}">
                    <a16:creationId xmlns:a16="http://schemas.microsoft.com/office/drawing/2014/main" id="{042E8FD8-D359-928E-7662-17C5431DD702}"/>
                  </a:ext>
                </a:extLst>
              </p:cNvPr>
              <p:cNvSpPr/>
              <p:nvPr/>
            </p:nvSpPr>
            <p:spPr>
              <a:xfrm>
                <a:off x="5866906" y="3305029"/>
                <a:ext cx="181949" cy="181949"/>
              </a:xfrm>
              <a:prstGeom prst="roundRect">
                <a:avLst/>
              </a:prstGeom>
              <a:solidFill>
                <a:srgbClr val="F3E2F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文本框 55">
                <a:extLst>
                  <a:ext uri="{FF2B5EF4-FFF2-40B4-BE49-F238E27FC236}">
                    <a16:creationId xmlns:a16="http://schemas.microsoft.com/office/drawing/2014/main" id="{FB1CD976-44FD-6CC5-F172-DD4C3EEBE6FA}"/>
                  </a:ext>
                </a:extLst>
              </p:cNvPr>
              <p:cNvSpPr txBox="1"/>
              <p:nvPr/>
            </p:nvSpPr>
            <p:spPr>
              <a:xfrm>
                <a:off x="5633237" y="3237302"/>
                <a:ext cx="233669" cy="261610"/>
              </a:xfrm>
              <a:prstGeom prst="rect">
                <a:avLst/>
              </a:prstGeom>
              <a:noFill/>
            </p:spPr>
            <p:txBody>
              <a:bodyPr wrap="square" rtlCol="0">
                <a:spAutoFit/>
              </a:bodyPr>
              <a:lstStyle/>
              <a:p>
                <a:r>
                  <a:rPr lang="en-US" altLang="zh-CN" sz="1100" dirty="0"/>
                  <a:t>…</a:t>
                </a:r>
                <a:endParaRPr lang="zh-CN" altLang="en-US" sz="1100" dirty="0"/>
              </a:p>
            </p:txBody>
          </p:sp>
        </p:grpSp>
        <p:cxnSp>
          <p:nvCxnSpPr>
            <p:cNvPr id="51" name="直接箭头连接符 50">
              <a:extLst>
                <a:ext uri="{FF2B5EF4-FFF2-40B4-BE49-F238E27FC236}">
                  <a16:creationId xmlns:a16="http://schemas.microsoft.com/office/drawing/2014/main" id="{9F37B1AB-BC49-FCE9-B481-8ED508F9AF51}"/>
                </a:ext>
              </a:extLst>
            </p:cNvPr>
            <p:cNvCxnSpPr/>
            <p:nvPr/>
          </p:nvCxnSpPr>
          <p:spPr>
            <a:xfrm flipV="1">
              <a:off x="5633237" y="3267426"/>
              <a:ext cx="0" cy="18000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grpSp>
      <p:grpSp>
        <p:nvGrpSpPr>
          <p:cNvPr id="57" name="组合 56">
            <a:extLst>
              <a:ext uri="{FF2B5EF4-FFF2-40B4-BE49-F238E27FC236}">
                <a16:creationId xmlns:a16="http://schemas.microsoft.com/office/drawing/2014/main" id="{3964C68F-A77A-FE0A-0096-3D06E0BB3B6D}"/>
              </a:ext>
            </a:extLst>
          </p:cNvPr>
          <p:cNvGrpSpPr/>
          <p:nvPr/>
        </p:nvGrpSpPr>
        <p:grpSpPr>
          <a:xfrm>
            <a:off x="6276109" y="2540861"/>
            <a:ext cx="863080" cy="429740"/>
            <a:chOff x="5181149" y="3267426"/>
            <a:chExt cx="863080" cy="429740"/>
          </a:xfrm>
        </p:grpSpPr>
        <p:grpSp>
          <p:nvGrpSpPr>
            <p:cNvPr id="58" name="组合 57">
              <a:extLst>
                <a:ext uri="{FF2B5EF4-FFF2-40B4-BE49-F238E27FC236}">
                  <a16:creationId xmlns:a16="http://schemas.microsoft.com/office/drawing/2014/main" id="{77D7AEBC-92FE-7995-88D7-F7EF962DB7A2}"/>
                </a:ext>
              </a:extLst>
            </p:cNvPr>
            <p:cNvGrpSpPr/>
            <p:nvPr/>
          </p:nvGrpSpPr>
          <p:grpSpPr>
            <a:xfrm>
              <a:off x="5181149" y="3415790"/>
              <a:ext cx="863080" cy="281376"/>
              <a:chOff x="5244906" y="3237302"/>
              <a:chExt cx="863080" cy="281376"/>
            </a:xfrm>
          </p:grpSpPr>
          <p:sp>
            <p:nvSpPr>
              <p:cNvPr id="60" name="矩形: 圆角 59">
                <a:extLst>
                  <a:ext uri="{FF2B5EF4-FFF2-40B4-BE49-F238E27FC236}">
                    <a16:creationId xmlns:a16="http://schemas.microsoft.com/office/drawing/2014/main" id="{965EB0A1-0F2F-DA0B-68E5-C053CC8A9A75}"/>
                  </a:ext>
                </a:extLst>
              </p:cNvPr>
              <p:cNvSpPr/>
              <p:nvPr/>
            </p:nvSpPr>
            <p:spPr>
              <a:xfrm>
                <a:off x="5244906" y="3273332"/>
                <a:ext cx="863080" cy="245346"/>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 name="矩形: 圆角 60">
                <a:extLst>
                  <a:ext uri="{FF2B5EF4-FFF2-40B4-BE49-F238E27FC236}">
                    <a16:creationId xmlns:a16="http://schemas.microsoft.com/office/drawing/2014/main" id="{E7C5C1C9-8366-C3D4-9384-D0B6195D1E76}"/>
                  </a:ext>
                </a:extLst>
              </p:cNvPr>
              <p:cNvSpPr/>
              <p:nvPr/>
            </p:nvSpPr>
            <p:spPr>
              <a:xfrm>
                <a:off x="5276750" y="3306127"/>
                <a:ext cx="181949" cy="181949"/>
              </a:xfrm>
              <a:prstGeom prst="round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矩形: 圆角 61">
                <a:extLst>
                  <a:ext uri="{FF2B5EF4-FFF2-40B4-BE49-F238E27FC236}">
                    <a16:creationId xmlns:a16="http://schemas.microsoft.com/office/drawing/2014/main" id="{41A02930-9B04-CE88-D6E4-879A4B21E07E}"/>
                  </a:ext>
                </a:extLst>
              </p:cNvPr>
              <p:cNvSpPr/>
              <p:nvPr/>
            </p:nvSpPr>
            <p:spPr>
              <a:xfrm>
                <a:off x="5510419" y="3305030"/>
                <a:ext cx="181949" cy="181949"/>
              </a:xfrm>
              <a:prstGeom prst="roundRect">
                <a:avLst/>
              </a:prstGeom>
              <a:solidFill>
                <a:srgbClr val="F7DFE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矩形: 圆角 62">
                <a:extLst>
                  <a:ext uri="{FF2B5EF4-FFF2-40B4-BE49-F238E27FC236}">
                    <a16:creationId xmlns:a16="http://schemas.microsoft.com/office/drawing/2014/main" id="{CC4A31D2-1196-D4E8-82C8-F309EECB1012}"/>
                  </a:ext>
                </a:extLst>
              </p:cNvPr>
              <p:cNvSpPr/>
              <p:nvPr/>
            </p:nvSpPr>
            <p:spPr>
              <a:xfrm>
                <a:off x="5866906" y="3305029"/>
                <a:ext cx="181949" cy="181949"/>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文本框 63">
                <a:extLst>
                  <a:ext uri="{FF2B5EF4-FFF2-40B4-BE49-F238E27FC236}">
                    <a16:creationId xmlns:a16="http://schemas.microsoft.com/office/drawing/2014/main" id="{72145F94-690A-7312-5EEE-2B41387A8EC8}"/>
                  </a:ext>
                </a:extLst>
              </p:cNvPr>
              <p:cNvSpPr txBox="1"/>
              <p:nvPr/>
            </p:nvSpPr>
            <p:spPr>
              <a:xfrm>
                <a:off x="5633237" y="3237302"/>
                <a:ext cx="233669" cy="261610"/>
              </a:xfrm>
              <a:prstGeom prst="rect">
                <a:avLst/>
              </a:prstGeom>
              <a:noFill/>
            </p:spPr>
            <p:txBody>
              <a:bodyPr wrap="square" rtlCol="0">
                <a:spAutoFit/>
              </a:bodyPr>
              <a:lstStyle/>
              <a:p>
                <a:r>
                  <a:rPr lang="en-US" altLang="zh-CN" sz="1100" dirty="0"/>
                  <a:t>…</a:t>
                </a:r>
                <a:endParaRPr lang="zh-CN" altLang="en-US" sz="1100" dirty="0"/>
              </a:p>
            </p:txBody>
          </p:sp>
        </p:grpSp>
        <p:cxnSp>
          <p:nvCxnSpPr>
            <p:cNvPr id="59" name="直接箭头连接符 58">
              <a:extLst>
                <a:ext uri="{FF2B5EF4-FFF2-40B4-BE49-F238E27FC236}">
                  <a16:creationId xmlns:a16="http://schemas.microsoft.com/office/drawing/2014/main" id="{855C878E-D73C-2C18-CCDC-3B3F94C41E2E}"/>
                </a:ext>
              </a:extLst>
            </p:cNvPr>
            <p:cNvCxnSpPr/>
            <p:nvPr/>
          </p:nvCxnSpPr>
          <p:spPr>
            <a:xfrm flipV="1">
              <a:off x="5633237" y="3267426"/>
              <a:ext cx="0" cy="18000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grpSp>
      <p:sp>
        <p:nvSpPr>
          <p:cNvPr id="65" name="文本框 64">
            <a:extLst>
              <a:ext uri="{FF2B5EF4-FFF2-40B4-BE49-F238E27FC236}">
                <a16:creationId xmlns:a16="http://schemas.microsoft.com/office/drawing/2014/main" id="{4550A03D-7B24-7AA1-A220-3F50A67AF715}"/>
              </a:ext>
            </a:extLst>
          </p:cNvPr>
          <p:cNvSpPr txBox="1"/>
          <p:nvPr/>
        </p:nvSpPr>
        <p:spPr>
          <a:xfrm>
            <a:off x="3624427" y="4168841"/>
            <a:ext cx="3273682" cy="338554"/>
          </a:xfrm>
          <a:prstGeom prst="rect">
            <a:avLst/>
          </a:prstGeom>
          <a:noFill/>
        </p:spPr>
        <p:txBody>
          <a:bodyPr wrap="square">
            <a:spAutoFit/>
          </a:bodyPr>
          <a:lstStyle/>
          <a:p>
            <a:r>
              <a:rPr lang="zh-CN" altLang="en-US" sz="1600" dirty="0">
                <a:solidFill>
                  <a:srgbClr val="FF0000"/>
                </a:solidFill>
                <a:latin typeface="华文楷体" panose="02010600040101010101" pitchFamily="2" charset="-122"/>
                <a:ea typeface="华文楷体" panose="02010600040101010101" pitchFamily="2" charset="-122"/>
              </a:rPr>
              <a:t>基于多模态大模型的显式文本描述</a:t>
            </a:r>
            <a:endParaRPr lang="zh-CN" altLang="en-US" sz="1600" dirty="0">
              <a:latin typeface="华文楷体" panose="02010600040101010101" pitchFamily="2" charset="-122"/>
              <a:ea typeface="华文楷体" panose="02010600040101010101" pitchFamily="2" charset="-122"/>
            </a:endParaRPr>
          </a:p>
        </p:txBody>
      </p:sp>
      <p:sp>
        <p:nvSpPr>
          <p:cNvPr id="66" name="矩形 65">
            <a:extLst>
              <a:ext uri="{FF2B5EF4-FFF2-40B4-BE49-F238E27FC236}">
                <a16:creationId xmlns:a16="http://schemas.microsoft.com/office/drawing/2014/main" id="{F3932782-56BE-C2C7-91EE-6E60110480B5}"/>
              </a:ext>
            </a:extLst>
          </p:cNvPr>
          <p:cNvSpPr/>
          <p:nvPr/>
        </p:nvSpPr>
        <p:spPr>
          <a:xfrm>
            <a:off x="3624427" y="4136569"/>
            <a:ext cx="3273682" cy="370825"/>
          </a:xfrm>
          <a:prstGeom prst="rect">
            <a:avLst/>
          </a:prstGeom>
          <a:noFill/>
          <a:ln>
            <a:solidFill>
              <a:schemeClr val="accent2"/>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 name="文本框 66">
            <a:extLst>
              <a:ext uri="{FF2B5EF4-FFF2-40B4-BE49-F238E27FC236}">
                <a16:creationId xmlns:a16="http://schemas.microsoft.com/office/drawing/2014/main" id="{0A41F3B3-E014-A09F-9A79-BFF9B8BAC765}"/>
              </a:ext>
            </a:extLst>
          </p:cNvPr>
          <p:cNvSpPr txBox="1"/>
          <p:nvPr/>
        </p:nvSpPr>
        <p:spPr>
          <a:xfrm>
            <a:off x="2991938" y="4642503"/>
            <a:ext cx="4246134" cy="1384995"/>
          </a:xfrm>
          <a:prstGeom prst="rect">
            <a:avLst/>
          </a:prstGeom>
          <a:noFill/>
        </p:spPr>
        <p:txBody>
          <a:bodyPr wrap="square">
            <a:spAutoFit/>
          </a:bodyPr>
          <a:lstStyle/>
          <a:p>
            <a:r>
              <a:rPr lang="en-US" altLang="zh-CN" sz="1400" dirty="0">
                <a:latin typeface="Times New Roman" panose="02020603050405020304" pitchFamily="18" charset="0"/>
                <a:cs typeface="Times New Roman" panose="02020603050405020304" pitchFamily="18" charset="0"/>
              </a:rPr>
              <a:t>ChatGPT Prompt</a:t>
            </a:r>
            <a:r>
              <a:rPr lang="zh-CN" altLang="en-US" sz="1400" dirty="0">
                <a:latin typeface="华文楷体" panose="02010600040101010101" pitchFamily="2" charset="-122"/>
                <a:ea typeface="华文楷体" panose="02010600040101010101" pitchFamily="2" charset="-122"/>
              </a:rPr>
              <a:t>：</a:t>
            </a:r>
            <a:endParaRPr lang="en-US" altLang="zh-CN" sz="1400" dirty="0">
              <a:latin typeface="华文楷体" panose="02010600040101010101" pitchFamily="2" charset="-122"/>
              <a:ea typeface="华文楷体" panose="02010600040101010101" pitchFamily="2" charset="-122"/>
            </a:endParaRPr>
          </a:p>
          <a:p>
            <a:endParaRPr lang="en-US" altLang="zh-CN" sz="1400" dirty="0">
              <a:latin typeface="华文楷体" panose="02010600040101010101" pitchFamily="2" charset="-122"/>
              <a:ea typeface="华文楷体" panose="02010600040101010101" pitchFamily="2" charset="-122"/>
            </a:endParaRPr>
          </a:p>
          <a:p>
            <a:endParaRPr lang="en-US" altLang="zh-CN" sz="1400" dirty="0">
              <a:latin typeface="华文楷体" panose="02010600040101010101" pitchFamily="2" charset="-122"/>
              <a:ea typeface="华文楷体" panose="02010600040101010101" pitchFamily="2" charset="-122"/>
            </a:endParaRPr>
          </a:p>
          <a:p>
            <a:endParaRPr lang="en-US" altLang="zh-CN" sz="1400" dirty="0">
              <a:latin typeface="华文楷体" panose="02010600040101010101" pitchFamily="2" charset="-122"/>
              <a:ea typeface="华文楷体" panose="02010600040101010101" pitchFamily="2" charset="-122"/>
            </a:endParaRPr>
          </a:p>
          <a:p>
            <a:r>
              <a:rPr lang="en-US" altLang="zh-CN" sz="1400" dirty="0">
                <a:latin typeface="Times New Roman" panose="02020603050405020304" pitchFamily="18" charset="0"/>
                <a:cs typeface="Times New Roman" panose="02020603050405020304" pitchFamily="18" charset="0"/>
              </a:rPr>
              <a:t>VQA Prompt</a:t>
            </a:r>
            <a:r>
              <a:rPr lang="zh-CN" altLang="en-US" sz="1400" dirty="0">
                <a:latin typeface="华文楷体" panose="02010600040101010101" pitchFamily="2" charset="-122"/>
                <a:ea typeface="华文楷体" panose="02010600040101010101" pitchFamily="2" charset="-122"/>
              </a:rPr>
              <a:t>：</a:t>
            </a:r>
            <a:endParaRPr lang="zh-CN" altLang="en-US" sz="1400" dirty="0"/>
          </a:p>
          <a:p>
            <a:endParaRPr lang="zh-CN" altLang="en-US" sz="1400" dirty="0"/>
          </a:p>
        </p:txBody>
      </p:sp>
      <p:pic>
        <p:nvPicPr>
          <p:cNvPr id="68" name="图片 67">
            <a:extLst>
              <a:ext uri="{FF2B5EF4-FFF2-40B4-BE49-F238E27FC236}">
                <a16:creationId xmlns:a16="http://schemas.microsoft.com/office/drawing/2014/main" id="{9C500D44-566E-F8C6-3715-A6B6AD34789A}"/>
              </a:ext>
            </a:extLst>
          </p:cNvPr>
          <p:cNvPicPr>
            <a:picLocks noChangeAspect="1"/>
          </p:cNvPicPr>
          <p:nvPr/>
        </p:nvPicPr>
        <p:blipFill>
          <a:blip r:embed="rId9"/>
          <a:srcRect l="2033" t="-2757" r="4879" b="2757"/>
          <a:stretch/>
        </p:blipFill>
        <p:spPr>
          <a:xfrm>
            <a:off x="4539174" y="4526446"/>
            <a:ext cx="2037409" cy="749171"/>
          </a:xfrm>
          <a:prstGeom prst="rect">
            <a:avLst/>
          </a:prstGeom>
        </p:spPr>
      </p:pic>
      <p:pic>
        <p:nvPicPr>
          <p:cNvPr id="69" name="图片 68">
            <a:extLst>
              <a:ext uri="{FF2B5EF4-FFF2-40B4-BE49-F238E27FC236}">
                <a16:creationId xmlns:a16="http://schemas.microsoft.com/office/drawing/2014/main" id="{362B7435-0EC3-2C43-CC28-4840E1A8C09E}"/>
              </a:ext>
            </a:extLst>
          </p:cNvPr>
          <p:cNvPicPr>
            <a:picLocks noChangeAspect="1"/>
          </p:cNvPicPr>
          <p:nvPr/>
        </p:nvPicPr>
        <p:blipFill>
          <a:blip r:embed="rId10"/>
          <a:stretch>
            <a:fillRect/>
          </a:stretch>
        </p:blipFill>
        <p:spPr>
          <a:xfrm>
            <a:off x="3478148" y="4903253"/>
            <a:ext cx="664072" cy="515715"/>
          </a:xfrm>
          <a:prstGeom prst="rect">
            <a:avLst/>
          </a:prstGeom>
        </p:spPr>
      </p:pic>
      <p:pic>
        <p:nvPicPr>
          <p:cNvPr id="70" name="图片 69">
            <a:extLst>
              <a:ext uri="{FF2B5EF4-FFF2-40B4-BE49-F238E27FC236}">
                <a16:creationId xmlns:a16="http://schemas.microsoft.com/office/drawing/2014/main" id="{B215FE0E-FD9A-3550-F9DC-E09E8C586309}"/>
              </a:ext>
            </a:extLst>
          </p:cNvPr>
          <p:cNvPicPr>
            <a:picLocks noChangeAspect="1"/>
          </p:cNvPicPr>
          <p:nvPr/>
        </p:nvPicPr>
        <p:blipFill>
          <a:blip r:embed="rId11"/>
          <a:srcRect r="541"/>
          <a:stretch/>
        </p:blipFill>
        <p:spPr>
          <a:xfrm>
            <a:off x="4173554" y="5438020"/>
            <a:ext cx="3205930" cy="639960"/>
          </a:xfrm>
          <a:prstGeom prst="rect">
            <a:avLst/>
          </a:prstGeom>
        </p:spPr>
      </p:pic>
      <p:cxnSp>
        <p:nvCxnSpPr>
          <p:cNvPr id="73" name="直接箭头连接符 72">
            <a:extLst>
              <a:ext uri="{FF2B5EF4-FFF2-40B4-BE49-F238E27FC236}">
                <a16:creationId xmlns:a16="http://schemas.microsoft.com/office/drawing/2014/main" id="{372012B9-40C5-C0BC-6B1E-363B8B73B3AC}"/>
              </a:ext>
            </a:extLst>
          </p:cNvPr>
          <p:cNvCxnSpPr>
            <a:cxnSpLocks/>
          </p:cNvCxnSpPr>
          <p:nvPr/>
        </p:nvCxnSpPr>
        <p:spPr>
          <a:xfrm>
            <a:off x="7417586" y="3087718"/>
            <a:ext cx="295418" cy="385164"/>
          </a:xfrm>
          <a:prstGeom prst="straightConnector1">
            <a:avLst/>
          </a:prstGeom>
          <a:ln w="190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74" name="直接箭头连接符 73">
            <a:extLst>
              <a:ext uri="{FF2B5EF4-FFF2-40B4-BE49-F238E27FC236}">
                <a16:creationId xmlns:a16="http://schemas.microsoft.com/office/drawing/2014/main" id="{0D8BA78A-C279-06AB-D239-9D9E2B8FE4DA}"/>
              </a:ext>
            </a:extLst>
          </p:cNvPr>
          <p:cNvCxnSpPr>
            <a:cxnSpLocks/>
          </p:cNvCxnSpPr>
          <p:nvPr/>
        </p:nvCxnSpPr>
        <p:spPr>
          <a:xfrm flipV="1">
            <a:off x="7437267" y="4103955"/>
            <a:ext cx="275737" cy="385164"/>
          </a:xfrm>
          <a:prstGeom prst="straightConnector1">
            <a:avLst/>
          </a:prstGeom>
          <a:ln w="190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85" name="文本框 84">
            <a:extLst>
              <a:ext uri="{FF2B5EF4-FFF2-40B4-BE49-F238E27FC236}">
                <a16:creationId xmlns:a16="http://schemas.microsoft.com/office/drawing/2014/main" id="{18905460-8D34-FE0F-7B65-C676E962D430}"/>
              </a:ext>
            </a:extLst>
          </p:cNvPr>
          <p:cNvSpPr txBox="1"/>
          <p:nvPr/>
        </p:nvSpPr>
        <p:spPr>
          <a:xfrm>
            <a:off x="7732685" y="3242050"/>
            <a:ext cx="1332630" cy="954107"/>
          </a:xfrm>
          <a:prstGeom prst="rect">
            <a:avLst/>
          </a:prstGeom>
          <a:noFill/>
        </p:spPr>
        <p:txBody>
          <a:bodyPr wrap="square">
            <a:spAutoFit/>
          </a:bodyPr>
          <a:lstStyle/>
          <a:p>
            <a:pPr marL="285750" indent="-285750">
              <a:buFont typeface="Wingdings" panose="05000000000000000000" pitchFamily="2" charset="2"/>
              <a:buChar char="ü"/>
            </a:pPr>
            <a:r>
              <a:rPr lang="zh-CN" altLang="en-US" sz="1400" dirty="0">
                <a:solidFill>
                  <a:srgbClr val="FF0000"/>
                </a:solidFill>
                <a:latin typeface="华文楷体" panose="02010600040101010101" pitchFamily="2" charset="-122"/>
                <a:ea typeface="华文楷体" panose="02010600040101010101" pitchFamily="2" charset="-122"/>
              </a:rPr>
              <a:t>细粒度</a:t>
            </a:r>
            <a:endParaRPr lang="en-US" altLang="zh-CN" sz="1400" dirty="0">
              <a:solidFill>
                <a:srgbClr val="FF0000"/>
              </a:solidFill>
              <a:latin typeface="华文楷体" panose="02010600040101010101" pitchFamily="2" charset="-122"/>
              <a:ea typeface="华文楷体" panose="02010600040101010101" pitchFamily="2" charset="-122"/>
            </a:endParaRPr>
          </a:p>
          <a:p>
            <a:pPr marL="285750" indent="-285750">
              <a:buFont typeface="Wingdings" panose="05000000000000000000" pitchFamily="2" charset="2"/>
              <a:buChar char="ü"/>
            </a:pPr>
            <a:r>
              <a:rPr lang="zh-CN" altLang="en-US" sz="1400" dirty="0">
                <a:solidFill>
                  <a:srgbClr val="FF0000"/>
                </a:solidFill>
                <a:latin typeface="华文楷体" panose="02010600040101010101" pitchFamily="2" charset="-122"/>
                <a:ea typeface="华文楷体" panose="02010600040101010101" pitchFamily="2" charset="-122"/>
              </a:rPr>
              <a:t>有针对遮挡场景的设计</a:t>
            </a:r>
          </a:p>
        </p:txBody>
      </p:sp>
      <p:sp>
        <p:nvSpPr>
          <p:cNvPr id="88" name="矩形: 圆角 87">
            <a:extLst>
              <a:ext uri="{FF2B5EF4-FFF2-40B4-BE49-F238E27FC236}">
                <a16:creationId xmlns:a16="http://schemas.microsoft.com/office/drawing/2014/main" id="{A61B7F17-21C3-7468-526B-EC72A1E41FA6}"/>
              </a:ext>
            </a:extLst>
          </p:cNvPr>
          <p:cNvSpPr/>
          <p:nvPr/>
        </p:nvSpPr>
        <p:spPr>
          <a:xfrm>
            <a:off x="7732685" y="3160767"/>
            <a:ext cx="1220815" cy="1059900"/>
          </a:xfrm>
          <a:prstGeom prst="roundRect">
            <a:avLst/>
          </a:prstGeom>
          <a:noFill/>
          <a:ln w="190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5" name="矩形: 圆角 94">
            <a:extLst>
              <a:ext uri="{FF2B5EF4-FFF2-40B4-BE49-F238E27FC236}">
                <a16:creationId xmlns:a16="http://schemas.microsoft.com/office/drawing/2014/main" id="{E8F16DB7-3907-151A-9995-BA196716C2B0}"/>
              </a:ext>
            </a:extLst>
          </p:cNvPr>
          <p:cNvSpPr/>
          <p:nvPr/>
        </p:nvSpPr>
        <p:spPr>
          <a:xfrm>
            <a:off x="457200" y="1728914"/>
            <a:ext cx="2099338" cy="1996218"/>
          </a:xfrm>
          <a:prstGeom prst="roundRect">
            <a:avLst>
              <a:gd name="adj" fmla="val 6533"/>
            </a:avLst>
          </a:prstGeom>
          <a:no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6" name="文本框 95">
            <a:extLst>
              <a:ext uri="{FF2B5EF4-FFF2-40B4-BE49-F238E27FC236}">
                <a16:creationId xmlns:a16="http://schemas.microsoft.com/office/drawing/2014/main" id="{C624F1A9-76D2-F66E-6EA1-3044B3DFD4C3}"/>
              </a:ext>
            </a:extLst>
          </p:cNvPr>
          <p:cNvSpPr txBox="1"/>
          <p:nvPr/>
        </p:nvSpPr>
        <p:spPr>
          <a:xfrm>
            <a:off x="587496" y="1848254"/>
            <a:ext cx="1873843" cy="307777"/>
          </a:xfrm>
          <a:prstGeom prst="rect">
            <a:avLst/>
          </a:prstGeom>
          <a:noFill/>
        </p:spPr>
        <p:txBody>
          <a:bodyPr wrap="square">
            <a:spAutoFit/>
          </a:bodyPr>
          <a:lstStyle/>
          <a:p>
            <a:r>
              <a:rPr lang="zh-CN" altLang="en-US" sz="1400" dirty="0">
                <a:latin typeface="华文楷体" panose="02010600040101010101" pitchFamily="2" charset="-122"/>
                <a:ea typeface="华文楷体" panose="02010600040101010101" pitchFamily="2" charset="-122"/>
              </a:rPr>
              <a:t>人体解析模型（可选）</a:t>
            </a:r>
          </a:p>
        </p:txBody>
      </p:sp>
      <p:pic>
        <p:nvPicPr>
          <p:cNvPr id="97" name="图片 96">
            <a:extLst>
              <a:ext uri="{FF2B5EF4-FFF2-40B4-BE49-F238E27FC236}">
                <a16:creationId xmlns:a16="http://schemas.microsoft.com/office/drawing/2014/main" id="{1D7FA75B-2DF4-6327-7D15-4F3B3EC0ED0E}"/>
              </a:ext>
            </a:extLst>
          </p:cNvPr>
          <p:cNvPicPr>
            <a:picLocks noChangeAspect="1"/>
          </p:cNvPicPr>
          <p:nvPr/>
        </p:nvPicPr>
        <p:blipFill>
          <a:blip r:embed="rId12">
            <a:extLst>
              <a:ext uri="{28A0092B-C50C-407E-A947-70E740481C1C}">
                <a14:useLocalDpi xmlns:a14="http://schemas.microsoft.com/office/drawing/2010/main" val="0"/>
              </a:ext>
            </a:extLst>
          </a:blip>
          <a:srcRect/>
          <a:stretch/>
        </p:blipFill>
        <p:spPr>
          <a:xfrm>
            <a:off x="740635" y="2292054"/>
            <a:ext cx="479609" cy="1202400"/>
          </a:xfrm>
          <a:prstGeom prst="rect">
            <a:avLst/>
          </a:prstGeom>
          <a:ln w="12700">
            <a:solidFill>
              <a:schemeClr val="bg1"/>
            </a:solidFill>
          </a:ln>
        </p:spPr>
      </p:pic>
      <p:pic>
        <p:nvPicPr>
          <p:cNvPr id="98" name="图片 97">
            <a:extLst>
              <a:ext uri="{FF2B5EF4-FFF2-40B4-BE49-F238E27FC236}">
                <a16:creationId xmlns:a16="http://schemas.microsoft.com/office/drawing/2014/main" id="{AC464333-7719-43AE-A913-75F0267630FE}"/>
              </a:ext>
            </a:extLst>
          </p:cNvPr>
          <p:cNvPicPr>
            <a:picLocks noChangeAspect="1"/>
          </p:cNvPicPr>
          <p:nvPr/>
        </p:nvPicPr>
        <p:blipFill>
          <a:blip r:embed="rId13">
            <a:extLst>
              <a:ext uri="{28A0092B-C50C-407E-A947-70E740481C1C}">
                <a14:useLocalDpi xmlns:a14="http://schemas.microsoft.com/office/drawing/2010/main" val="0"/>
              </a:ext>
            </a:extLst>
          </a:blip>
          <a:srcRect/>
          <a:stretch/>
        </p:blipFill>
        <p:spPr>
          <a:xfrm>
            <a:off x="1236027" y="2295784"/>
            <a:ext cx="499459" cy="1202400"/>
          </a:xfrm>
          <a:prstGeom prst="rect">
            <a:avLst/>
          </a:prstGeom>
          <a:ln w="12700">
            <a:solidFill>
              <a:schemeClr val="bg1"/>
            </a:solidFill>
          </a:ln>
        </p:spPr>
      </p:pic>
      <p:pic>
        <p:nvPicPr>
          <p:cNvPr id="99" name="图片 98">
            <a:extLst>
              <a:ext uri="{FF2B5EF4-FFF2-40B4-BE49-F238E27FC236}">
                <a16:creationId xmlns:a16="http://schemas.microsoft.com/office/drawing/2014/main" id="{462AB3BF-FB33-B9DD-DF0D-1F16222C881D}"/>
              </a:ext>
            </a:extLst>
          </p:cNvPr>
          <p:cNvPicPr>
            <a:picLocks noChangeAspect="1"/>
          </p:cNvPicPr>
          <p:nvPr/>
        </p:nvPicPr>
        <p:blipFill>
          <a:blip r:embed="rId14">
            <a:extLst>
              <a:ext uri="{28A0092B-C50C-407E-A947-70E740481C1C}">
                <a14:useLocalDpi xmlns:a14="http://schemas.microsoft.com/office/drawing/2010/main" val="0"/>
              </a:ext>
            </a:extLst>
          </a:blip>
          <a:srcRect/>
          <a:stretch/>
        </p:blipFill>
        <p:spPr>
          <a:xfrm>
            <a:off x="1715198" y="2287537"/>
            <a:ext cx="508708" cy="1202400"/>
          </a:xfrm>
          <a:prstGeom prst="rect">
            <a:avLst/>
          </a:prstGeom>
          <a:ln w="12700">
            <a:solidFill>
              <a:schemeClr val="bg1"/>
            </a:solidFill>
          </a:ln>
        </p:spPr>
      </p:pic>
      <p:sp>
        <p:nvSpPr>
          <p:cNvPr id="101" name="箭头: 上 100">
            <a:extLst>
              <a:ext uri="{FF2B5EF4-FFF2-40B4-BE49-F238E27FC236}">
                <a16:creationId xmlns:a16="http://schemas.microsoft.com/office/drawing/2014/main" id="{8E0214B5-0246-724C-682F-BA6B6E253FB8}"/>
              </a:ext>
            </a:extLst>
          </p:cNvPr>
          <p:cNvSpPr/>
          <p:nvPr/>
        </p:nvSpPr>
        <p:spPr>
          <a:xfrm>
            <a:off x="1286754" y="3770159"/>
            <a:ext cx="198773" cy="260571"/>
          </a:xfrm>
          <a:prstGeom prst="upArrow">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3" name="箭头: 上 102">
            <a:extLst>
              <a:ext uri="{FF2B5EF4-FFF2-40B4-BE49-F238E27FC236}">
                <a16:creationId xmlns:a16="http://schemas.microsoft.com/office/drawing/2014/main" id="{0C935590-6848-1D4B-9D59-25BD6770862F}"/>
              </a:ext>
            </a:extLst>
          </p:cNvPr>
          <p:cNvSpPr/>
          <p:nvPr/>
        </p:nvSpPr>
        <p:spPr>
          <a:xfrm rot="5400000">
            <a:off x="2686536" y="3445055"/>
            <a:ext cx="168286" cy="369797"/>
          </a:xfrm>
          <a:prstGeom prst="upArrow">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5" name="箭头: 上 104">
            <a:extLst>
              <a:ext uri="{FF2B5EF4-FFF2-40B4-BE49-F238E27FC236}">
                <a16:creationId xmlns:a16="http://schemas.microsoft.com/office/drawing/2014/main" id="{A69C8BBA-5B55-5F89-F972-1EB615FB0BC7}"/>
              </a:ext>
            </a:extLst>
          </p:cNvPr>
          <p:cNvSpPr/>
          <p:nvPr/>
        </p:nvSpPr>
        <p:spPr>
          <a:xfrm rot="8200850">
            <a:off x="2673005" y="3699144"/>
            <a:ext cx="168286" cy="369797"/>
          </a:xfrm>
          <a:prstGeom prst="upArrow">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19316"/>
    </mc:Choice>
    <mc:Fallback xmlns="">
      <p:transition spd="slow" advTm="19316"/>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Slide Number Placeholder 14"/>
          <p:cNvSpPr txBox="1"/>
          <p:nvPr/>
        </p:nvSpPr>
        <p:spPr>
          <a:xfrm>
            <a:off x="6719888" y="6521450"/>
            <a:ext cx="2133600"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Arial" panose="020B06040202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D69E98CB-8E38-42BF-857B-65773CD3393B}" type="slidenum">
              <a:rPr lang="en-US" altLang="zh-CN" smtClean="0"/>
              <a:t>15</a:t>
            </a:fld>
            <a:endParaRPr lang="en-US" altLang="zh-CN" dirty="0"/>
          </a:p>
        </p:txBody>
      </p:sp>
      <p:sp>
        <p:nvSpPr>
          <p:cNvPr id="84" name="标题 2"/>
          <p:cNvSpPr>
            <a:spLocks noGrp="1"/>
          </p:cNvSpPr>
          <p:nvPr/>
        </p:nvSpPr>
        <p:spPr>
          <a:xfrm>
            <a:off x="508000" y="283528"/>
            <a:ext cx="8229600" cy="11430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a:solidFill>
                  <a:schemeClr val="accent5">
                    <a:lumMod val="75000"/>
                  </a:schemeClr>
                </a:solidFill>
                <a:latin typeface="STKaiti" panose="02010600040101010101" charset="-122"/>
                <a:ea typeface="STKaiti" panose="02010600040101010101" charset="-122"/>
                <a:cs typeface="STKaiti" panose="02010600040101010101" charset="-122"/>
              </a:defRPr>
            </a:lvl1pPr>
          </a:lstStyle>
          <a:p>
            <a:pPr algn="ctr"/>
            <a:r>
              <a:rPr kumimoji="1" lang="zh-CN" altLang="en-US" sz="2400" b="1" dirty="0">
                <a:sym typeface="+mn-ea"/>
              </a:rPr>
              <a:t>研究内容（二）基于特征解耦的遮挡物噪声检测和抑制方法</a:t>
            </a:r>
          </a:p>
        </p:txBody>
      </p:sp>
      <p:grpSp>
        <p:nvGrpSpPr>
          <p:cNvPr id="244" name="组合 243">
            <a:extLst>
              <a:ext uri="{FF2B5EF4-FFF2-40B4-BE49-F238E27FC236}">
                <a16:creationId xmlns:a16="http://schemas.microsoft.com/office/drawing/2014/main" id="{3F7CAAD2-79BA-7E63-15F6-39824446DCD1}"/>
              </a:ext>
            </a:extLst>
          </p:cNvPr>
          <p:cNvGrpSpPr/>
          <p:nvPr/>
        </p:nvGrpSpPr>
        <p:grpSpPr>
          <a:xfrm>
            <a:off x="948272" y="1426528"/>
            <a:ext cx="7114640" cy="2412525"/>
            <a:chOff x="948272" y="1426528"/>
            <a:chExt cx="7114640" cy="2412525"/>
          </a:xfrm>
        </p:grpSpPr>
        <p:sp>
          <p:nvSpPr>
            <p:cNvPr id="119" name="文本框 118"/>
            <p:cNvSpPr txBox="1"/>
            <p:nvPr/>
          </p:nvSpPr>
          <p:spPr>
            <a:xfrm>
              <a:off x="2878882" y="1456926"/>
              <a:ext cx="4112477" cy="369332"/>
            </a:xfrm>
            <a:prstGeom prst="rect">
              <a:avLst/>
            </a:prstGeom>
            <a:noFill/>
          </p:spPr>
          <p:txBody>
            <a:bodyPr wrap="square" rtlCol="0">
              <a:spAutoFit/>
            </a:bodyPr>
            <a:lstStyle/>
            <a:p>
              <a:pPr algn="ctr"/>
              <a:r>
                <a:rPr lang="zh-CN" altLang="en-US" dirty="0">
                  <a:solidFill>
                    <a:srgbClr val="FF0000"/>
                  </a:solidFill>
                  <a:latin typeface="华文楷体" panose="02010600040101010101" pitchFamily="2" charset="-122"/>
                  <a:ea typeface="华文楷体" panose="02010600040101010101" pitchFamily="2" charset="-122"/>
                  <a:cs typeface="+mn-lt"/>
                </a:rPr>
                <a:t>抑制噪声：身份和噪声文本特征正交化</a:t>
              </a:r>
            </a:p>
          </p:txBody>
        </p:sp>
        <p:pic>
          <p:nvPicPr>
            <p:cNvPr id="158" name="图片 157">
              <a:extLst>
                <a:ext uri="{FF2B5EF4-FFF2-40B4-BE49-F238E27FC236}">
                  <a16:creationId xmlns:a16="http://schemas.microsoft.com/office/drawing/2014/main" id="{7BE678CE-E241-2708-18BC-09A6518CF6BC}"/>
                </a:ext>
              </a:extLst>
            </p:cNvPr>
            <p:cNvPicPr>
              <a:picLocks noChangeAspect="1"/>
            </p:cNvPicPr>
            <p:nvPr/>
          </p:nvPicPr>
          <p:blipFill>
            <a:blip r:embed="rId3"/>
            <a:stretch>
              <a:fillRect/>
            </a:stretch>
          </p:blipFill>
          <p:spPr>
            <a:xfrm>
              <a:off x="1188649" y="1797401"/>
              <a:ext cx="6433779" cy="1947720"/>
            </a:xfrm>
            <a:prstGeom prst="rect">
              <a:avLst/>
            </a:prstGeom>
          </p:spPr>
        </p:pic>
        <p:sp>
          <p:nvSpPr>
            <p:cNvPr id="159" name="矩形 158">
              <a:extLst>
                <a:ext uri="{FF2B5EF4-FFF2-40B4-BE49-F238E27FC236}">
                  <a16:creationId xmlns:a16="http://schemas.microsoft.com/office/drawing/2014/main" id="{A6F27EB7-E676-8161-6B4C-3C1BBA3FD966}"/>
                </a:ext>
              </a:extLst>
            </p:cNvPr>
            <p:cNvSpPr/>
            <p:nvPr/>
          </p:nvSpPr>
          <p:spPr>
            <a:xfrm>
              <a:off x="6365021" y="3129678"/>
              <a:ext cx="1566619" cy="69723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160" name="矩形 159">
                  <a:extLst>
                    <a:ext uri="{FF2B5EF4-FFF2-40B4-BE49-F238E27FC236}">
                      <a16:creationId xmlns:a16="http://schemas.microsoft.com/office/drawing/2014/main" id="{359493AF-02C3-9BD0-8D97-750DB69C3497}"/>
                    </a:ext>
                  </a:extLst>
                </p:cNvPr>
                <p:cNvSpPr/>
                <p:nvPr/>
              </p:nvSpPr>
              <p:spPr>
                <a:xfrm>
                  <a:off x="5677569" y="2258220"/>
                  <a:ext cx="167143" cy="130889"/>
                </a:xfrm>
                <a:prstGeom prst="rect">
                  <a:avLst/>
                </a:prstGeom>
                <a:solidFill>
                  <a:srgbClr val="FFF2C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sz="800" b="1" i="1" smtClean="0">
                                <a:solidFill>
                                  <a:srgbClr val="DAA5E3"/>
                                </a:solidFill>
                                <a:latin typeface="Cambria Math" panose="02040503050406030204" pitchFamily="18" charset="0"/>
                              </a:rPr>
                            </m:ctrlPr>
                          </m:sSubPr>
                          <m:e>
                            <m:r>
                              <a:rPr lang="en-US" altLang="zh-CN" sz="800" b="1" i="1" smtClean="0">
                                <a:solidFill>
                                  <a:srgbClr val="DAA5E3"/>
                                </a:solidFill>
                                <a:latin typeface="Cambria Math" panose="02040503050406030204" pitchFamily="18" charset="0"/>
                              </a:rPr>
                              <m:t>𝑭</m:t>
                            </m:r>
                          </m:e>
                          <m:sub>
                            <m:r>
                              <a:rPr lang="en-US" altLang="zh-CN" sz="800" b="1" i="1" smtClean="0">
                                <a:solidFill>
                                  <a:srgbClr val="DAA5E3"/>
                                </a:solidFill>
                                <a:latin typeface="Cambria Math" panose="02040503050406030204" pitchFamily="18" charset="0"/>
                              </a:rPr>
                              <m:t>𝒐𝒄𝒄</m:t>
                            </m:r>
                          </m:sub>
                        </m:sSub>
                      </m:oMath>
                    </m:oMathPara>
                  </a14:m>
                  <a:endParaRPr lang="zh-CN" altLang="en-US" b="1" dirty="0"/>
                </a:p>
              </p:txBody>
            </p:sp>
          </mc:Choice>
          <mc:Fallback xmlns="">
            <p:sp>
              <p:nvSpPr>
                <p:cNvPr id="160" name="矩形 159">
                  <a:extLst>
                    <a:ext uri="{FF2B5EF4-FFF2-40B4-BE49-F238E27FC236}">
                      <a16:creationId xmlns:a16="http://schemas.microsoft.com/office/drawing/2014/main" id="{359493AF-02C3-9BD0-8D97-750DB69C3497}"/>
                    </a:ext>
                  </a:extLst>
                </p:cNvPr>
                <p:cNvSpPr>
                  <a:spLocks noRot="1" noChangeAspect="1" noMove="1" noResize="1" noEditPoints="1" noAdjustHandles="1" noChangeArrowheads="1" noChangeShapeType="1" noTextEdit="1"/>
                </p:cNvSpPr>
                <p:nvPr/>
              </p:nvSpPr>
              <p:spPr>
                <a:xfrm>
                  <a:off x="5677569" y="2258220"/>
                  <a:ext cx="167143" cy="130889"/>
                </a:xfrm>
                <a:prstGeom prst="rect">
                  <a:avLst/>
                </a:prstGeom>
                <a:blipFill>
                  <a:blip r:embed="rId4"/>
                  <a:stretch>
                    <a:fillRect l="-32143" r="-7143" b="-13636"/>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1" name="矩形 160">
                  <a:extLst>
                    <a:ext uri="{FF2B5EF4-FFF2-40B4-BE49-F238E27FC236}">
                      <a16:creationId xmlns:a16="http://schemas.microsoft.com/office/drawing/2014/main" id="{CA4B0329-D656-C381-25B8-18FAA2C3DAA1}"/>
                    </a:ext>
                  </a:extLst>
                </p:cNvPr>
                <p:cNvSpPr/>
                <p:nvPr/>
              </p:nvSpPr>
              <p:spPr>
                <a:xfrm>
                  <a:off x="6723166" y="2142808"/>
                  <a:ext cx="167143" cy="130889"/>
                </a:xfrm>
                <a:prstGeom prst="rect">
                  <a:avLst/>
                </a:prstGeom>
                <a:solidFill>
                  <a:srgbClr val="FFF2C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sz="800" b="1" i="1" smtClean="0">
                                <a:solidFill>
                                  <a:srgbClr val="DAA5E3"/>
                                </a:solidFill>
                                <a:latin typeface="Cambria Math" panose="02040503050406030204" pitchFamily="18" charset="0"/>
                              </a:rPr>
                            </m:ctrlPr>
                          </m:sSubPr>
                          <m:e>
                            <m:r>
                              <a:rPr lang="en-US" altLang="zh-CN" sz="800" b="1" i="1" smtClean="0">
                                <a:solidFill>
                                  <a:srgbClr val="DAA5E3"/>
                                </a:solidFill>
                                <a:latin typeface="Cambria Math" panose="02040503050406030204" pitchFamily="18" charset="0"/>
                              </a:rPr>
                              <m:t>𝑭</m:t>
                            </m:r>
                          </m:e>
                          <m:sub>
                            <m:r>
                              <a:rPr lang="en-US" altLang="zh-CN" sz="800" b="1" i="1" smtClean="0">
                                <a:solidFill>
                                  <a:srgbClr val="DAA5E3"/>
                                </a:solidFill>
                                <a:latin typeface="Cambria Math" panose="02040503050406030204" pitchFamily="18" charset="0"/>
                              </a:rPr>
                              <m:t>𝒐𝒄𝒄</m:t>
                            </m:r>
                          </m:sub>
                        </m:sSub>
                      </m:oMath>
                    </m:oMathPara>
                  </a14:m>
                  <a:endParaRPr lang="zh-CN" altLang="en-US" b="1" dirty="0"/>
                </a:p>
              </p:txBody>
            </p:sp>
          </mc:Choice>
          <mc:Fallback xmlns="">
            <p:sp>
              <p:nvSpPr>
                <p:cNvPr id="161" name="矩形 160">
                  <a:extLst>
                    <a:ext uri="{FF2B5EF4-FFF2-40B4-BE49-F238E27FC236}">
                      <a16:creationId xmlns:a16="http://schemas.microsoft.com/office/drawing/2014/main" id="{CA4B0329-D656-C381-25B8-18FAA2C3DAA1}"/>
                    </a:ext>
                  </a:extLst>
                </p:cNvPr>
                <p:cNvSpPr>
                  <a:spLocks noRot="1" noChangeAspect="1" noMove="1" noResize="1" noEditPoints="1" noAdjustHandles="1" noChangeArrowheads="1" noChangeShapeType="1" noTextEdit="1"/>
                </p:cNvSpPr>
                <p:nvPr/>
              </p:nvSpPr>
              <p:spPr>
                <a:xfrm>
                  <a:off x="6723166" y="2142808"/>
                  <a:ext cx="167143" cy="130889"/>
                </a:xfrm>
                <a:prstGeom prst="rect">
                  <a:avLst/>
                </a:prstGeom>
                <a:blipFill>
                  <a:blip r:embed="rId5"/>
                  <a:stretch>
                    <a:fillRect l="-37037" r="-11111" b="-14286"/>
                  </a:stretch>
                </a:blipFill>
                <a:ln>
                  <a:noFill/>
                </a:ln>
              </p:spPr>
              <p:txBody>
                <a:bodyPr/>
                <a:lstStyle/>
                <a:p>
                  <a:r>
                    <a:rPr lang="zh-CN" altLang="en-US">
                      <a:noFill/>
                    </a:rPr>
                    <a:t> </a:t>
                  </a:r>
                </a:p>
              </p:txBody>
            </p:sp>
          </mc:Fallback>
        </mc:AlternateContent>
        <p:sp>
          <p:nvSpPr>
            <p:cNvPr id="162" name="矩形 161">
              <a:extLst>
                <a:ext uri="{FF2B5EF4-FFF2-40B4-BE49-F238E27FC236}">
                  <a16:creationId xmlns:a16="http://schemas.microsoft.com/office/drawing/2014/main" id="{7EBB703B-0BCE-4621-7D56-BE2807C847F1}"/>
                </a:ext>
              </a:extLst>
            </p:cNvPr>
            <p:cNvSpPr/>
            <p:nvPr/>
          </p:nvSpPr>
          <p:spPr>
            <a:xfrm>
              <a:off x="5516665" y="1824071"/>
              <a:ext cx="328047" cy="170330"/>
            </a:xfrm>
            <a:prstGeom prst="rect">
              <a:avLst/>
            </a:prstGeom>
            <a:solidFill>
              <a:srgbClr val="FFFAE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3" name="矩形 162">
              <a:extLst>
                <a:ext uri="{FF2B5EF4-FFF2-40B4-BE49-F238E27FC236}">
                  <a16:creationId xmlns:a16="http://schemas.microsoft.com/office/drawing/2014/main" id="{7F7D650C-FE57-FB48-FE83-DCF0A9722D35}"/>
                </a:ext>
              </a:extLst>
            </p:cNvPr>
            <p:cNvSpPr/>
            <p:nvPr/>
          </p:nvSpPr>
          <p:spPr>
            <a:xfrm>
              <a:off x="4215938" y="2553416"/>
              <a:ext cx="500062" cy="16668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t>N</a:t>
              </a:r>
              <a:endParaRPr lang="zh-CN" altLang="en-US" dirty="0"/>
            </a:p>
          </p:txBody>
        </p:sp>
        <p:sp>
          <p:nvSpPr>
            <p:cNvPr id="164" name="文本框 163">
              <a:extLst>
                <a:ext uri="{FF2B5EF4-FFF2-40B4-BE49-F238E27FC236}">
                  <a16:creationId xmlns:a16="http://schemas.microsoft.com/office/drawing/2014/main" id="{458CC7AC-CA69-0E44-FAE6-1F45E395846C}"/>
                </a:ext>
              </a:extLst>
            </p:cNvPr>
            <p:cNvSpPr txBox="1"/>
            <p:nvPr/>
          </p:nvSpPr>
          <p:spPr>
            <a:xfrm>
              <a:off x="4067994" y="2511200"/>
              <a:ext cx="722709" cy="230832"/>
            </a:xfrm>
            <a:prstGeom prst="rect">
              <a:avLst/>
            </a:prstGeom>
            <a:noFill/>
          </p:spPr>
          <p:txBody>
            <a:bodyPr wrap="square" rtlCol="0">
              <a:spAutoFit/>
            </a:bodyPr>
            <a:lstStyle/>
            <a:p>
              <a:r>
                <a:rPr lang="en-US" altLang="zh-CN" sz="900" dirty="0">
                  <a:latin typeface="Comic Sans MS" panose="030F0702030302020204" pitchFamily="66" charset="0"/>
                </a:rPr>
                <a:t>Occlusion</a:t>
              </a:r>
              <a:endParaRPr lang="zh-CN" altLang="en-US" sz="900" dirty="0">
                <a:latin typeface="Comic Sans MS" panose="030F0702030302020204" pitchFamily="66" charset="0"/>
              </a:endParaRPr>
            </a:p>
          </p:txBody>
        </p:sp>
        <p:sp>
          <p:nvSpPr>
            <p:cNvPr id="165" name="矩形 164">
              <a:extLst>
                <a:ext uri="{FF2B5EF4-FFF2-40B4-BE49-F238E27FC236}">
                  <a16:creationId xmlns:a16="http://schemas.microsoft.com/office/drawing/2014/main" id="{40548321-7D92-493B-ABE7-4152C3DB4D51}"/>
                </a:ext>
              </a:extLst>
            </p:cNvPr>
            <p:cNvSpPr/>
            <p:nvPr/>
          </p:nvSpPr>
          <p:spPr>
            <a:xfrm>
              <a:off x="1245725" y="1970803"/>
              <a:ext cx="1733550" cy="244475"/>
            </a:xfrm>
            <a:prstGeom prst="rect">
              <a:avLst/>
            </a:prstGeom>
            <a:solidFill>
              <a:srgbClr val="FBE4D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166" name="文本框 165">
                  <a:extLst>
                    <a:ext uri="{FF2B5EF4-FFF2-40B4-BE49-F238E27FC236}">
                      <a16:creationId xmlns:a16="http://schemas.microsoft.com/office/drawing/2014/main" id="{5924BC0A-9892-D601-9FCE-2CFE03F9ECC0}"/>
                    </a:ext>
                  </a:extLst>
                </p:cNvPr>
                <p:cNvSpPr txBox="1"/>
                <p:nvPr/>
              </p:nvSpPr>
              <p:spPr>
                <a:xfrm>
                  <a:off x="1166387" y="1962651"/>
                  <a:ext cx="1962076" cy="246221"/>
                </a:xfrm>
                <a:prstGeom prst="rect">
                  <a:avLst/>
                </a:prstGeom>
                <a:noFill/>
              </p:spPr>
              <p:txBody>
                <a:bodyPr wrap="square">
                  <a:spAutoFit/>
                </a:bodyPr>
                <a:lstStyle/>
                <a:p>
                  <a:r>
                    <a:rPr lang="en-US" altLang="zh-CN" sz="950" dirty="0"/>
                    <a:t>A photo of a </a:t>
                  </a:r>
                  <a14:m>
                    <m:oMath xmlns:m="http://schemas.openxmlformats.org/officeDocument/2006/math">
                      <m:r>
                        <a:rPr lang="en-US" altLang="zh-CN" sz="950" b="0" i="1" smtClean="0">
                          <a:solidFill>
                            <a:schemeClr val="accent2"/>
                          </a:solidFill>
                          <a:latin typeface="Cambria Math" panose="02040503050406030204" pitchFamily="18" charset="0"/>
                        </a:rPr>
                        <m:t>[</m:t>
                      </m:r>
                      <m:sSup>
                        <m:sSupPr>
                          <m:ctrlPr>
                            <a:rPr lang="en-US" altLang="zh-CN" sz="950" b="0" i="1" smtClean="0">
                              <a:solidFill>
                                <a:schemeClr val="accent2"/>
                              </a:solidFill>
                              <a:latin typeface="Cambria Math" panose="02040503050406030204" pitchFamily="18" charset="0"/>
                            </a:rPr>
                          </m:ctrlPr>
                        </m:sSupPr>
                        <m:e>
                          <m:r>
                            <a:rPr lang="en-US" altLang="zh-CN" sz="950" b="0" i="1" smtClean="0">
                              <a:solidFill>
                                <a:schemeClr val="accent2"/>
                              </a:solidFill>
                              <a:latin typeface="Cambria Math" panose="02040503050406030204" pitchFamily="18" charset="0"/>
                            </a:rPr>
                            <m:t>𝑆</m:t>
                          </m:r>
                        </m:e>
                        <m:sup>
                          <m:r>
                            <a:rPr lang="en-US" altLang="zh-CN" sz="950" b="0" i="1" smtClean="0">
                              <a:solidFill>
                                <a:schemeClr val="accent2"/>
                              </a:solidFill>
                              <a:latin typeface="Cambria Math" panose="02040503050406030204" pitchFamily="18" charset="0"/>
                            </a:rPr>
                            <m:t>∗</m:t>
                          </m:r>
                        </m:sup>
                      </m:sSup>
                      <m:r>
                        <a:rPr lang="en-US" altLang="zh-CN" sz="950" b="0" i="1" smtClean="0">
                          <a:solidFill>
                            <a:schemeClr val="accent2"/>
                          </a:solidFill>
                          <a:latin typeface="Cambria Math" panose="02040503050406030204" pitchFamily="18" charset="0"/>
                        </a:rPr>
                        <m:t>]</m:t>
                      </m:r>
                    </m:oMath>
                  </a14:m>
                  <a:r>
                    <a:rPr lang="en-US" altLang="zh-CN" sz="950" dirty="0">
                      <a:solidFill>
                        <a:schemeClr val="accent2"/>
                      </a:solidFill>
                    </a:rPr>
                    <a:t> </a:t>
                  </a:r>
                  <a:r>
                    <a:rPr lang="en-US" altLang="zh-CN" sz="950" dirty="0"/>
                    <a:t>person with </a:t>
                  </a:r>
                  <a14:m>
                    <m:oMath xmlns:m="http://schemas.openxmlformats.org/officeDocument/2006/math">
                      <m:d>
                        <m:dPr>
                          <m:begChr m:val="["/>
                          <m:endChr m:val="]"/>
                          <m:ctrlPr>
                            <a:rPr lang="en-US" altLang="zh-CN" sz="950" i="1" smtClean="0">
                              <a:solidFill>
                                <a:schemeClr val="accent2"/>
                              </a:solidFill>
                              <a:latin typeface="Cambria Math" panose="02040503050406030204" pitchFamily="18" charset="0"/>
                            </a:rPr>
                          </m:ctrlPr>
                        </m:dPr>
                        <m:e>
                          <m:sSup>
                            <m:sSupPr>
                              <m:ctrlPr>
                                <a:rPr lang="en-US" altLang="zh-CN" sz="950" i="1" smtClean="0">
                                  <a:solidFill>
                                    <a:schemeClr val="accent2"/>
                                  </a:solidFill>
                                  <a:latin typeface="Cambria Math" panose="02040503050406030204" pitchFamily="18" charset="0"/>
                                </a:rPr>
                              </m:ctrlPr>
                            </m:sSupPr>
                            <m:e>
                              <m:r>
                                <a:rPr lang="en-US" altLang="zh-CN" sz="950" b="0" i="1" smtClean="0">
                                  <a:solidFill>
                                    <a:schemeClr val="accent2"/>
                                  </a:solidFill>
                                  <a:latin typeface="Cambria Math" panose="02040503050406030204" pitchFamily="18" charset="0"/>
                                </a:rPr>
                                <m:t>𝐴</m:t>
                              </m:r>
                            </m:e>
                            <m:sup>
                              <m:r>
                                <a:rPr lang="en-US" altLang="zh-CN" sz="950" b="0" i="1" smtClean="0">
                                  <a:solidFill>
                                    <a:schemeClr val="accent2"/>
                                  </a:solidFill>
                                  <a:latin typeface="Cambria Math" panose="02040503050406030204" pitchFamily="18" charset="0"/>
                                </a:rPr>
                                <m:t>∗</m:t>
                              </m:r>
                            </m:sup>
                          </m:sSup>
                        </m:e>
                      </m:d>
                    </m:oMath>
                  </a14:m>
                  <a:r>
                    <a:rPr lang="en-US" altLang="zh-CN" sz="950" dirty="0"/>
                    <a:t>.</a:t>
                  </a:r>
                  <a:endParaRPr lang="zh-CN" altLang="en-US" sz="950" dirty="0"/>
                </a:p>
              </p:txBody>
            </p:sp>
          </mc:Choice>
          <mc:Fallback xmlns="">
            <p:sp>
              <p:nvSpPr>
                <p:cNvPr id="166" name="文本框 165">
                  <a:extLst>
                    <a:ext uri="{FF2B5EF4-FFF2-40B4-BE49-F238E27FC236}">
                      <a16:creationId xmlns:a16="http://schemas.microsoft.com/office/drawing/2014/main" id="{5924BC0A-9892-D601-9FCE-2CFE03F9ECC0}"/>
                    </a:ext>
                  </a:extLst>
                </p:cNvPr>
                <p:cNvSpPr txBox="1">
                  <a:spLocks noRot="1" noChangeAspect="1" noMove="1" noResize="1" noEditPoints="1" noAdjustHandles="1" noChangeArrowheads="1" noChangeShapeType="1" noTextEdit="1"/>
                </p:cNvSpPr>
                <p:nvPr/>
              </p:nvSpPr>
              <p:spPr>
                <a:xfrm>
                  <a:off x="1166387" y="1962651"/>
                  <a:ext cx="1962076" cy="246221"/>
                </a:xfrm>
                <a:prstGeom prst="rect">
                  <a:avLst/>
                </a:prstGeom>
                <a:blipFill>
                  <a:blip r:embed="rId6"/>
                  <a:stretch>
                    <a:fillRect b="-10000"/>
                  </a:stretch>
                </a:blipFill>
              </p:spPr>
              <p:txBody>
                <a:bodyPr/>
                <a:lstStyle/>
                <a:p>
                  <a:r>
                    <a:rPr lang="zh-CN" altLang="en-US">
                      <a:noFill/>
                    </a:rPr>
                    <a:t> </a:t>
                  </a:r>
                </a:p>
              </p:txBody>
            </p:sp>
          </mc:Fallback>
        </mc:AlternateContent>
        <p:sp>
          <p:nvSpPr>
            <p:cNvPr id="167" name="矩形 166">
              <a:extLst>
                <a:ext uri="{FF2B5EF4-FFF2-40B4-BE49-F238E27FC236}">
                  <a16:creationId xmlns:a16="http://schemas.microsoft.com/office/drawing/2014/main" id="{FA734C9B-7541-550D-979D-583AE705AF54}"/>
                </a:ext>
              </a:extLst>
            </p:cNvPr>
            <p:cNvSpPr/>
            <p:nvPr/>
          </p:nvSpPr>
          <p:spPr>
            <a:xfrm>
              <a:off x="1223500" y="2358153"/>
              <a:ext cx="1806575" cy="195263"/>
            </a:xfrm>
            <a:prstGeom prst="rect">
              <a:avLst/>
            </a:prstGeom>
            <a:solidFill>
              <a:srgbClr val="DDEB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168" name="文本框 167">
                  <a:extLst>
                    <a:ext uri="{FF2B5EF4-FFF2-40B4-BE49-F238E27FC236}">
                      <a16:creationId xmlns:a16="http://schemas.microsoft.com/office/drawing/2014/main" id="{562958F3-9074-FF9E-E27A-D601554C7B03}"/>
                    </a:ext>
                  </a:extLst>
                </p:cNvPr>
                <p:cNvSpPr txBox="1"/>
                <p:nvPr/>
              </p:nvSpPr>
              <p:spPr>
                <a:xfrm>
                  <a:off x="1166387" y="2323096"/>
                  <a:ext cx="1863688" cy="238527"/>
                </a:xfrm>
                <a:prstGeom prst="rect">
                  <a:avLst/>
                </a:prstGeom>
                <a:noFill/>
              </p:spPr>
              <p:txBody>
                <a:bodyPr wrap="square">
                  <a:spAutoFit/>
                </a:bodyPr>
                <a:lstStyle/>
                <a:p>
                  <a:r>
                    <a:rPr lang="en-US" altLang="zh-CN" sz="950" dirty="0"/>
                    <a:t>A photo of the  </a:t>
                  </a:r>
                  <a14:m>
                    <m:oMath xmlns:m="http://schemas.openxmlformats.org/officeDocument/2006/math">
                      <m:r>
                        <a:rPr lang="en-US" altLang="zh-CN" sz="950" b="0" i="1" smtClean="0">
                          <a:solidFill>
                            <a:schemeClr val="accent2"/>
                          </a:solidFill>
                          <a:latin typeface="Cambria Math" panose="02040503050406030204" pitchFamily="18" charset="0"/>
                        </a:rPr>
                        <m:t>[</m:t>
                      </m:r>
                      <m:sSup>
                        <m:sSupPr>
                          <m:ctrlPr>
                            <a:rPr lang="en-US" altLang="zh-CN" sz="950" b="0" i="1" smtClean="0">
                              <a:solidFill>
                                <a:schemeClr val="accent2"/>
                              </a:solidFill>
                              <a:latin typeface="Cambria Math" panose="02040503050406030204" pitchFamily="18" charset="0"/>
                            </a:rPr>
                          </m:ctrlPr>
                        </m:sSupPr>
                        <m:e>
                          <m:r>
                            <a:rPr lang="en-US" altLang="zh-CN" sz="950" b="0" i="1" smtClean="0">
                              <a:solidFill>
                                <a:schemeClr val="accent2"/>
                              </a:solidFill>
                              <a:latin typeface="Cambria Math" panose="02040503050406030204" pitchFamily="18" charset="0"/>
                            </a:rPr>
                            <m:t>𝑂</m:t>
                          </m:r>
                        </m:e>
                        <m:sup>
                          <m:r>
                            <a:rPr lang="en-US" altLang="zh-CN" sz="950" b="0" i="1" smtClean="0">
                              <a:solidFill>
                                <a:schemeClr val="accent2"/>
                              </a:solidFill>
                              <a:latin typeface="Cambria Math" panose="02040503050406030204" pitchFamily="18" charset="0"/>
                            </a:rPr>
                            <m:t>∗</m:t>
                          </m:r>
                        </m:sup>
                      </m:sSup>
                      <m:r>
                        <a:rPr lang="en-US" altLang="zh-CN" sz="950" b="0" i="1" smtClean="0">
                          <a:solidFill>
                            <a:schemeClr val="accent2"/>
                          </a:solidFill>
                          <a:latin typeface="Cambria Math" panose="02040503050406030204" pitchFamily="18" charset="0"/>
                        </a:rPr>
                        <m:t>]</m:t>
                      </m:r>
                    </m:oMath>
                  </a14:m>
                  <a:r>
                    <a:rPr lang="en-US" altLang="zh-CN" sz="950" dirty="0">
                      <a:solidFill>
                        <a:schemeClr val="accent2"/>
                      </a:solidFill>
                    </a:rPr>
                    <a:t> </a:t>
                  </a:r>
                  <a:r>
                    <a:rPr lang="en-US" altLang="zh-CN" sz="950" dirty="0"/>
                    <a:t>occlusion.</a:t>
                  </a:r>
                  <a:endParaRPr lang="zh-CN" altLang="en-US" sz="950" dirty="0"/>
                </a:p>
              </p:txBody>
            </p:sp>
          </mc:Choice>
          <mc:Fallback xmlns="">
            <p:sp>
              <p:nvSpPr>
                <p:cNvPr id="168" name="文本框 167">
                  <a:extLst>
                    <a:ext uri="{FF2B5EF4-FFF2-40B4-BE49-F238E27FC236}">
                      <a16:creationId xmlns:a16="http://schemas.microsoft.com/office/drawing/2014/main" id="{562958F3-9074-FF9E-E27A-D601554C7B03}"/>
                    </a:ext>
                  </a:extLst>
                </p:cNvPr>
                <p:cNvSpPr txBox="1">
                  <a:spLocks noRot="1" noChangeAspect="1" noMove="1" noResize="1" noEditPoints="1" noAdjustHandles="1" noChangeArrowheads="1" noChangeShapeType="1" noTextEdit="1"/>
                </p:cNvSpPr>
                <p:nvPr/>
              </p:nvSpPr>
              <p:spPr>
                <a:xfrm>
                  <a:off x="1166387" y="2323096"/>
                  <a:ext cx="1863688" cy="238527"/>
                </a:xfrm>
                <a:prstGeom prst="rect">
                  <a:avLst/>
                </a:prstGeom>
                <a:blipFill>
                  <a:blip r:embed="rId7"/>
                  <a:stretch>
                    <a:fillRect b="-12821"/>
                  </a:stretch>
                </a:blipFill>
              </p:spPr>
              <p:txBody>
                <a:bodyPr/>
                <a:lstStyle/>
                <a:p>
                  <a:r>
                    <a:rPr lang="zh-CN" altLang="en-US">
                      <a:noFill/>
                    </a:rPr>
                    <a:t> </a:t>
                  </a:r>
                </a:p>
              </p:txBody>
            </p:sp>
          </mc:Fallback>
        </mc:AlternateContent>
        <p:pic>
          <p:nvPicPr>
            <p:cNvPr id="169" name="图片 168">
              <a:extLst>
                <a:ext uri="{FF2B5EF4-FFF2-40B4-BE49-F238E27FC236}">
                  <a16:creationId xmlns:a16="http://schemas.microsoft.com/office/drawing/2014/main" id="{79C5C3E2-46FD-0E48-E8B6-B4C7CF04DF29}"/>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flipH="1">
              <a:off x="1609221" y="2794205"/>
              <a:ext cx="288439" cy="726539"/>
            </a:xfrm>
            <a:prstGeom prst="rect">
              <a:avLst/>
            </a:prstGeom>
            <a:ln w="12700">
              <a:solidFill>
                <a:schemeClr val="bg1"/>
              </a:solidFill>
            </a:ln>
          </p:spPr>
        </p:pic>
        <p:pic>
          <p:nvPicPr>
            <p:cNvPr id="170" name="图片 169">
              <a:extLst>
                <a:ext uri="{FF2B5EF4-FFF2-40B4-BE49-F238E27FC236}">
                  <a16:creationId xmlns:a16="http://schemas.microsoft.com/office/drawing/2014/main" id="{695FF833-9746-729D-D146-C7946503ECC7}"/>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flipH="1">
              <a:off x="1956096" y="2794454"/>
              <a:ext cx="290516" cy="726290"/>
            </a:xfrm>
            <a:prstGeom prst="rect">
              <a:avLst/>
            </a:prstGeom>
            <a:ln w="12700">
              <a:solidFill>
                <a:schemeClr val="bg1"/>
              </a:solidFill>
            </a:ln>
          </p:spPr>
        </p:pic>
        <p:pic>
          <p:nvPicPr>
            <p:cNvPr id="171" name="图片 170">
              <a:extLst>
                <a:ext uri="{FF2B5EF4-FFF2-40B4-BE49-F238E27FC236}">
                  <a16:creationId xmlns:a16="http://schemas.microsoft.com/office/drawing/2014/main" id="{9B5E4CAF-5013-CD52-7F8B-778F92FC2794}"/>
                </a:ext>
              </a:extLst>
            </p:cNvPr>
            <p:cNvPicPr>
              <a:picLocks noChangeAspect="1"/>
            </p:cNvPicPr>
            <p:nvPr/>
          </p:nvPicPr>
          <p:blipFill>
            <a:blip r:embed="rId10" cstate="print">
              <a:extLst>
                <a:ext uri="{28A0092B-C50C-407E-A947-70E740481C1C}">
                  <a14:useLocalDpi xmlns:a14="http://schemas.microsoft.com/office/drawing/2010/main" val="0"/>
                </a:ext>
              </a:extLst>
            </a:blip>
            <a:srcRect/>
            <a:stretch/>
          </p:blipFill>
          <p:spPr>
            <a:xfrm flipH="1">
              <a:off x="1245725" y="2794205"/>
              <a:ext cx="289799" cy="726539"/>
            </a:xfrm>
            <a:prstGeom prst="rect">
              <a:avLst/>
            </a:prstGeom>
            <a:ln w="12700">
              <a:solidFill>
                <a:schemeClr val="bg1"/>
              </a:solidFill>
            </a:ln>
          </p:spPr>
        </p:pic>
        <p:pic>
          <p:nvPicPr>
            <p:cNvPr id="174" name="图片 173">
              <a:extLst>
                <a:ext uri="{FF2B5EF4-FFF2-40B4-BE49-F238E27FC236}">
                  <a16:creationId xmlns:a16="http://schemas.microsoft.com/office/drawing/2014/main" id="{5B347A8A-BFAA-2CDD-001D-3435F9C77CB7}"/>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2665357" y="2793544"/>
              <a:ext cx="289468" cy="727200"/>
            </a:xfrm>
            <a:prstGeom prst="rect">
              <a:avLst/>
            </a:prstGeom>
            <a:ln w="12700">
              <a:solidFill>
                <a:schemeClr val="bg1"/>
              </a:solidFill>
            </a:ln>
          </p:spPr>
        </p:pic>
        <p:sp>
          <p:nvSpPr>
            <p:cNvPr id="176" name="矩形: 圆角 175">
              <a:extLst>
                <a:ext uri="{FF2B5EF4-FFF2-40B4-BE49-F238E27FC236}">
                  <a16:creationId xmlns:a16="http://schemas.microsoft.com/office/drawing/2014/main" id="{FD2127E2-E7E0-FE3C-5155-F652EB5D1887}"/>
                </a:ext>
              </a:extLst>
            </p:cNvPr>
            <p:cNvSpPr/>
            <p:nvPr/>
          </p:nvSpPr>
          <p:spPr>
            <a:xfrm>
              <a:off x="948272" y="1426528"/>
              <a:ext cx="7114640" cy="2412525"/>
            </a:xfrm>
            <a:prstGeom prst="roundRect">
              <a:avLst>
                <a:gd name="adj" fmla="val 8478"/>
              </a:avLst>
            </a:prstGeom>
            <a:noFill/>
            <a:ln>
              <a:solidFill>
                <a:schemeClr val="bg1">
                  <a:lumMod val="5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6" name="矩形 195">
              <a:extLst>
                <a:ext uri="{FF2B5EF4-FFF2-40B4-BE49-F238E27FC236}">
                  <a16:creationId xmlns:a16="http://schemas.microsoft.com/office/drawing/2014/main" id="{3D43CE0A-D645-42B7-1063-4B7ABEA1AE0A}"/>
                </a:ext>
              </a:extLst>
            </p:cNvPr>
            <p:cNvSpPr/>
            <p:nvPr/>
          </p:nvSpPr>
          <p:spPr>
            <a:xfrm>
              <a:off x="3985718" y="3250760"/>
              <a:ext cx="267545" cy="47836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3" name="矩形 222">
              <a:extLst>
                <a:ext uri="{FF2B5EF4-FFF2-40B4-BE49-F238E27FC236}">
                  <a16:creationId xmlns:a16="http://schemas.microsoft.com/office/drawing/2014/main" id="{57E67435-37D0-E195-C5EF-094CAEEC0991}"/>
                </a:ext>
              </a:extLst>
            </p:cNvPr>
            <p:cNvSpPr/>
            <p:nvPr/>
          </p:nvSpPr>
          <p:spPr>
            <a:xfrm>
              <a:off x="4010113" y="1840044"/>
              <a:ext cx="1391299" cy="22479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900" b="1" dirty="0">
                  <a:solidFill>
                    <a:schemeClr val="tx1"/>
                  </a:solidFill>
                  <a:latin typeface="华文楷体" panose="02010600040101010101" pitchFamily="2" charset="-122"/>
                  <a:ea typeface="华文楷体" panose="02010600040101010101" pitchFamily="2" charset="-122"/>
                </a:rPr>
                <a:t>原始图像对应文本特征</a:t>
              </a:r>
            </a:p>
          </p:txBody>
        </p:sp>
        <p:sp>
          <p:nvSpPr>
            <p:cNvPr id="224" name="矩形 223">
              <a:extLst>
                <a:ext uri="{FF2B5EF4-FFF2-40B4-BE49-F238E27FC236}">
                  <a16:creationId xmlns:a16="http://schemas.microsoft.com/office/drawing/2014/main" id="{A0D8DF2A-EDA8-BD4B-A6C5-BEB1875681DC}"/>
                </a:ext>
              </a:extLst>
            </p:cNvPr>
            <p:cNvSpPr/>
            <p:nvPr/>
          </p:nvSpPr>
          <p:spPr>
            <a:xfrm>
              <a:off x="4119491" y="2504705"/>
              <a:ext cx="1068949" cy="22479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900" b="1" dirty="0">
                  <a:solidFill>
                    <a:schemeClr val="tx1"/>
                  </a:solidFill>
                  <a:latin typeface="华文楷体" panose="02010600040101010101" pitchFamily="2" charset="-122"/>
                  <a:ea typeface="华文楷体" panose="02010600040101010101" pitchFamily="2" charset="-122"/>
                </a:rPr>
                <a:t>遮挡物文本特征</a:t>
              </a:r>
            </a:p>
          </p:txBody>
        </p:sp>
        <p:sp>
          <p:nvSpPr>
            <p:cNvPr id="225" name="矩形 224">
              <a:extLst>
                <a:ext uri="{FF2B5EF4-FFF2-40B4-BE49-F238E27FC236}">
                  <a16:creationId xmlns:a16="http://schemas.microsoft.com/office/drawing/2014/main" id="{45AB20B6-70B5-0EC1-0060-F2D17FB1367B}"/>
                </a:ext>
              </a:extLst>
            </p:cNvPr>
            <p:cNvSpPr/>
            <p:nvPr/>
          </p:nvSpPr>
          <p:spPr>
            <a:xfrm rot="5400000">
              <a:off x="3763220" y="3332208"/>
              <a:ext cx="662940" cy="29051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900" b="1" dirty="0">
                  <a:solidFill>
                    <a:schemeClr val="tx1"/>
                  </a:solidFill>
                  <a:latin typeface="华文楷体" panose="02010600040101010101" pitchFamily="2" charset="-122"/>
                  <a:ea typeface="华文楷体" panose="02010600040101010101" pitchFamily="2" charset="-122"/>
                </a:rPr>
                <a:t>原始图像特征</a:t>
              </a:r>
            </a:p>
          </p:txBody>
        </p:sp>
        <p:sp>
          <p:nvSpPr>
            <p:cNvPr id="227" name="矩形 226">
              <a:extLst>
                <a:ext uri="{FF2B5EF4-FFF2-40B4-BE49-F238E27FC236}">
                  <a16:creationId xmlns:a16="http://schemas.microsoft.com/office/drawing/2014/main" id="{92523344-7378-9FE0-058B-1D9E7FD7BDB1}"/>
                </a:ext>
              </a:extLst>
            </p:cNvPr>
            <p:cNvSpPr/>
            <p:nvPr/>
          </p:nvSpPr>
          <p:spPr>
            <a:xfrm>
              <a:off x="4295860" y="2736860"/>
              <a:ext cx="1197882" cy="17868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900" b="1" dirty="0">
                  <a:solidFill>
                    <a:schemeClr val="tx1"/>
                  </a:solidFill>
                  <a:latin typeface="华文楷体" panose="02010600040101010101" pitchFamily="2" charset="-122"/>
                  <a:ea typeface="华文楷体" panose="02010600040101010101" pitchFamily="2" charset="-122"/>
                </a:rPr>
                <a:t>正交化特征</a:t>
              </a:r>
            </a:p>
          </p:txBody>
        </p:sp>
        <p:sp>
          <p:nvSpPr>
            <p:cNvPr id="240" name="矩形 239">
              <a:extLst>
                <a:ext uri="{FF2B5EF4-FFF2-40B4-BE49-F238E27FC236}">
                  <a16:creationId xmlns:a16="http://schemas.microsoft.com/office/drawing/2014/main" id="{850ED048-21E4-07BE-8E0A-25F77D206CA0}"/>
                </a:ext>
              </a:extLst>
            </p:cNvPr>
            <p:cNvSpPr/>
            <p:nvPr/>
          </p:nvSpPr>
          <p:spPr>
            <a:xfrm>
              <a:off x="2905132" y="1493823"/>
              <a:ext cx="4162423" cy="306567"/>
            </a:xfrm>
            <a:prstGeom prst="rect">
              <a:avLst/>
            </a:prstGeom>
            <a:noFill/>
            <a:ln>
              <a:solidFill>
                <a:schemeClr val="accent2"/>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43" name="组合 242">
            <a:extLst>
              <a:ext uri="{FF2B5EF4-FFF2-40B4-BE49-F238E27FC236}">
                <a16:creationId xmlns:a16="http://schemas.microsoft.com/office/drawing/2014/main" id="{3F66E0B9-80C6-BB5E-CA03-B2BD5440E1B0}"/>
              </a:ext>
            </a:extLst>
          </p:cNvPr>
          <p:cNvGrpSpPr/>
          <p:nvPr/>
        </p:nvGrpSpPr>
        <p:grpSpPr>
          <a:xfrm>
            <a:off x="948272" y="3913700"/>
            <a:ext cx="7114639" cy="2491552"/>
            <a:chOff x="948272" y="3913700"/>
            <a:chExt cx="7114639" cy="2491552"/>
          </a:xfrm>
        </p:grpSpPr>
        <p:pic>
          <p:nvPicPr>
            <p:cNvPr id="177" name="图片 176">
              <a:extLst>
                <a:ext uri="{FF2B5EF4-FFF2-40B4-BE49-F238E27FC236}">
                  <a16:creationId xmlns:a16="http://schemas.microsoft.com/office/drawing/2014/main" id="{9A5180E3-C145-9817-4644-E67F1828FCC2}"/>
                </a:ext>
              </a:extLst>
            </p:cNvPr>
            <p:cNvPicPr>
              <a:picLocks noChangeAspect="1"/>
            </p:cNvPicPr>
            <p:nvPr/>
          </p:nvPicPr>
          <p:blipFill>
            <a:blip r:embed="rId12"/>
            <a:stretch>
              <a:fillRect/>
            </a:stretch>
          </p:blipFill>
          <p:spPr>
            <a:xfrm>
              <a:off x="1149360" y="4242947"/>
              <a:ext cx="6310338" cy="2025486"/>
            </a:xfrm>
            <a:prstGeom prst="rect">
              <a:avLst/>
            </a:prstGeom>
          </p:spPr>
        </p:pic>
        <p:sp>
          <p:nvSpPr>
            <p:cNvPr id="194" name="矩形: 圆角 193">
              <a:extLst>
                <a:ext uri="{FF2B5EF4-FFF2-40B4-BE49-F238E27FC236}">
                  <a16:creationId xmlns:a16="http://schemas.microsoft.com/office/drawing/2014/main" id="{994D02F4-8BD8-C321-1660-21F9448ABC6C}"/>
                </a:ext>
              </a:extLst>
            </p:cNvPr>
            <p:cNvSpPr/>
            <p:nvPr/>
          </p:nvSpPr>
          <p:spPr>
            <a:xfrm>
              <a:off x="948272" y="3913700"/>
              <a:ext cx="7114639" cy="2491552"/>
            </a:xfrm>
            <a:prstGeom prst="roundRect">
              <a:avLst>
                <a:gd name="adj" fmla="val 8478"/>
              </a:avLst>
            </a:prstGeom>
            <a:noFill/>
            <a:ln>
              <a:solidFill>
                <a:schemeClr val="bg1">
                  <a:lumMod val="5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5" name="矩形 194">
              <a:extLst>
                <a:ext uri="{FF2B5EF4-FFF2-40B4-BE49-F238E27FC236}">
                  <a16:creationId xmlns:a16="http://schemas.microsoft.com/office/drawing/2014/main" id="{93C1BB63-C08F-C792-AE4E-4A4118DF0A3E}"/>
                </a:ext>
              </a:extLst>
            </p:cNvPr>
            <p:cNvSpPr/>
            <p:nvPr/>
          </p:nvSpPr>
          <p:spPr>
            <a:xfrm>
              <a:off x="3869229" y="4222196"/>
              <a:ext cx="3752850" cy="26620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3" name="文本框 212">
              <a:extLst>
                <a:ext uri="{FF2B5EF4-FFF2-40B4-BE49-F238E27FC236}">
                  <a16:creationId xmlns:a16="http://schemas.microsoft.com/office/drawing/2014/main" id="{C46890CC-14FC-7693-D2AC-B5DB0B83783A}"/>
                </a:ext>
              </a:extLst>
            </p:cNvPr>
            <p:cNvSpPr txBox="1"/>
            <p:nvPr/>
          </p:nvSpPr>
          <p:spPr>
            <a:xfrm>
              <a:off x="2845470" y="3974838"/>
              <a:ext cx="4564981" cy="369332"/>
            </a:xfrm>
            <a:prstGeom prst="rect">
              <a:avLst/>
            </a:prstGeom>
            <a:noFill/>
          </p:spPr>
          <p:txBody>
            <a:bodyPr wrap="square" rtlCol="0">
              <a:spAutoFit/>
            </a:bodyPr>
            <a:lstStyle/>
            <a:p>
              <a:pPr algn="ctr"/>
              <a:r>
                <a:rPr lang="zh-CN" altLang="en-US" dirty="0">
                  <a:solidFill>
                    <a:srgbClr val="FF0000"/>
                  </a:solidFill>
                  <a:latin typeface="华文楷体" panose="02010600040101010101" pitchFamily="2" charset="-122"/>
                  <a:ea typeface="华文楷体" panose="02010600040101010101" pitchFamily="2" charset="-122"/>
                  <a:cs typeface="+mn-lt"/>
                </a:rPr>
                <a:t>检测噪声：保证身份和噪声图像特征不相似</a:t>
              </a:r>
            </a:p>
          </p:txBody>
        </p:sp>
        <mc:AlternateContent xmlns:mc="http://schemas.openxmlformats.org/markup-compatibility/2006" xmlns:a14="http://schemas.microsoft.com/office/drawing/2010/main">
          <mc:Choice Requires="a14">
            <p:sp>
              <p:nvSpPr>
                <p:cNvPr id="215" name="文本框 214">
                  <a:extLst>
                    <a:ext uri="{FF2B5EF4-FFF2-40B4-BE49-F238E27FC236}">
                      <a16:creationId xmlns:a16="http://schemas.microsoft.com/office/drawing/2014/main" id="{2EA2C1EA-6A85-11AD-D299-9C1BEFDB004E}"/>
                    </a:ext>
                  </a:extLst>
                </p:cNvPr>
                <p:cNvSpPr txBox="1"/>
                <p:nvPr/>
              </p:nvSpPr>
              <p:spPr>
                <a:xfrm rot="16200000">
                  <a:off x="6638197" y="5080523"/>
                  <a:ext cx="2028295" cy="276999"/>
                </a:xfrm>
                <a:prstGeom prst="rect">
                  <a:avLst/>
                </a:prstGeom>
                <a:solidFill>
                  <a:srgbClr val="DDEBF7"/>
                </a:solidFill>
              </p:spPr>
              <p:txBody>
                <a:bodyPr wrap="square">
                  <a:spAutoFit/>
                </a:bodyPr>
                <a:lstStyle/>
                <a:p>
                  <a:r>
                    <a:rPr lang="en-US" altLang="zh-CN" sz="1200" dirty="0"/>
                    <a:t>A photo of the </a:t>
                  </a:r>
                  <a14:m>
                    <m:oMath xmlns:m="http://schemas.openxmlformats.org/officeDocument/2006/math">
                      <m:r>
                        <a:rPr lang="en-US" altLang="zh-CN" sz="1200" b="0" i="1" smtClean="0">
                          <a:solidFill>
                            <a:schemeClr val="accent2"/>
                          </a:solidFill>
                          <a:latin typeface="Cambria Math" panose="02040503050406030204" pitchFamily="18" charset="0"/>
                        </a:rPr>
                        <m:t>[</m:t>
                      </m:r>
                      <m:sSup>
                        <m:sSupPr>
                          <m:ctrlPr>
                            <a:rPr lang="en-US" altLang="zh-CN" sz="1200" b="0" i="1" smtClean="0">
                              <a:solidFill>
                                <a:schemeClr val="accent2"/>
                              </a:solidFill>
                              <a:latin typeface="Cambria Math" panose="02040503050406030204" pitchFamily="18" charset="0"/>
                            </a:rPr>
                          </m:ctrlPr>
                        </m:sSupPr>
                        <m:e>
                          <m:r>
                            <a:rPr lang="en-US" altLang="zh-CN" sz="1200" b="0" i="1" smtClean="0">
                              <a:solidFill>
                                <a:schemeClr val="accent2"/>
                              </a:solidFill>
                              <a:latin typeface="Cambria Math" panose="02040503050406030204" pitchFamily="18" charset="0"/>
                            </a:rPr>
                            <m:t>𝑂</m:t>
                          </m:r>
                        </m:e>
                        <m:sup>
                          <m:r>
                            <a:rPr lang="en-US" altLang="zh-CN" sz="1200" b="0" i="1" smtClean="0">
                              <a:solidFill>
                                <a:schemeClr val="accent2"/>
                              </a:solidFill>
                              <a:latin typeface="Cambria Math" panose="02040503050406030204" pitchFamily="18" charset="0"/>
                            </a:rPr>
                            <m:t>∗</m:t>
                          </m:r>
                        </m:sup>
                      </m:sSup>
                      <m:r>
                        <a:rPr lang="en-US" altLang="zh-CN" sz="1200" b="0" i="1" smtClean="0">
                          <a:solidFill>
                            <a:schemeClr val="accent2"/>
                          </a:solidFill>
                          <a:latin typeface="Cambria Math" panose="02040503050406030204" pitchFamily="18" charset="0"/>
                        </a:rPr>
                        <m:t>]</m:t>
                      </m:r>
                    </m:oMath>
                  </a14:m>
                  <a:r>
                    <a:rPr lang="en-US" altLang="zh-CN" sz="1200" dirty="0">
                      <a:solidFill>
                        <a:schemeClr val="accent2"/>
                      </a:solidFill>
                    </a:rPr>
                    <a:t> </a:t>
                  </a:r>
                  <a:r>
                    <a:rPr lang="en-US" altLang="zh-CN" sz="1200" dirty="0"/>
                    <a:t>occlusion.</a:t>
                  </a:r>
                  <a:endParaRPr lang="zh-CN" altLang="en-US" sz="1200" dirty="0"/>
                </a:p>
              </p:txBody>
            </p:sp>
          </mc:Choice>
          <mc:Fallback xmlns="">
            <p:sp>
              <p:nvSpPr>
                <p:cNvPr id="215" name="文本框 214">
                  <a:extLst>
                    <a:ext uri="{FF2B5EF4-FFF2-40B4-BE49-F238E27FC236}">
                      <a16:creationId xmlns:a16="http://schemas.microsoft.com/office/drawing/2014/main" id="{2EA2C1EA-6A85-11AD-D299-9C1BEFDB004E}"/>
                    </a:ext>
                  </a:extLst>
                </p:cNvPr>
                <p:cNvSpPr txBox="1">
                  <a:spLocks noRot="1" noChangeAspect="1" noMove="1" noResize="1" noEditPoints="1" noAdjustHandles="1" noChangeArrowheads="1" noChangeShapeType="1" noTextEdit="1"/>
                </p:cNvSpPr>
                <p:nvPr/>
              </p:nvSpPr>
              <p:spPr>
                <a:xfrm rot="16200000">
                  <a:off x="6638197" y="5080523"/>
                  <a:ext cx="2028295" cy="276999"/>
                </a:xfrm>
                <a:prstGeom prst="rect">
                  <a:avLst/>
                </a:prstGeom>
                <a:blipFill>
                  <a:blip r:embed="rId13"/>
                  <a:stretch>
                    <a:fillRect l="-2222" t="-2102" r="-17778"/>
                  </a:stretch>
                </a:blipFill>
              </p:spPr>
              <p:txBody>
                <a:bodyPr/>
                <a:lstStyle/>
                <a:p>
                  <a:r>
                    <a:rPr lang="zh-CN" altLang="en-US">
                      <a:noFill/>
                    </a:rPr>
                    <a:t> </a:t>
                  </a:r>
                </a:p>
              </p:txBody>
            </p:sp>
          </mc:Fallback>
        </mc:AlternateContent>
        <p:sp>
          <p:nvSpPr>
            <p:cNvPr id="216" name="矩形 215">
              <a:extLst>
                <a:ext uri="{FF2B5EF4-FFF2-40B4-BE49-F238E27FC236}">
                  <a16:creationId xmlns:a16="http://schemas.microsoft.com/office/drawing/2014/main" id="{4FC3778A-CF7F-8BC2-6DF9-9C3B83729833}"/>
                </a:ext>
              </a:extLst>
            </p:cNvPr>
            <p:cNvSpPr/>
            <p:nvPr/>
          </p:nvSpPr>
          <p:spPr>
            <a:xfrm>
              <a:off x="1245726" y="4936352"/>
              <a:ext cx="913551" cy="22479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900" b="1" dirty="0">
                  <a:solidFill>
                    <a:schemeClr val="tx1"/>
                  </a:solidFill>
                  <a:latin typeface="华文楷体" panose="02010600040101010101" pitchFamily="2" charset="-122"/>
                  <a:ea typeface="华文楷体" panose="02010600040101010101" pitchFamily="2" charset="-122"/>
                </a:rPr>
                <a:t>原始图像特征</a:t>
              </a:r>
            </a:p>
          </p:txBody>
        </p:sp>
        <p:sp>
          <p:nvSpPr>
            <p:cNvPr id="217" name="矩形 216">
              <a:extLst>
                <a:ext uri="{FF2B5EF4-FFF2-40B4-BE49-F238E27FC236}">
                  <a16:creationId xmlns:a16="http://schemas.microsoft.com/office/drawing/2014/main" id="{421F522E-89A4-C7A7-224F-84D1F994979F}"/>
                </a:ext>
              </a:extLst>
            </p:cNvPr>
            <p:cNvSpPr/>
            <p:nvPr/>
          </p:nvSpPr>
          <p:spPr>
            <a:xfrm>
              <a:off x="3554768" y="4921112"/>
              <a:ext cx="1026453" cy="22479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900" b="1" dirty="0">
                  <a:solidFill>
                    <a:schemeClr val="tx1"/>
                  </a:solidFill>
                  <a:latin typeface="华文楷体" panose="02010600040101010101" pitchFamily="2" charset="-122"/>
                  <a:ea typeface="华文楷体" panose="02010600040101010101" pitchFamily="2" charset="-122"/>
                </a:rPr>
                <a:t>遮挡物图像特征</a:t>
              </a:r>
            </a:p>
          </p:txBody>
        </p:sp>
        <p:sp>
          <p:nvSpPr>
            <p:cNvPr id="218" name="梯形 217">
              <a:extLst>
                <a:ext uri="{FF2B5EF4-FFF2-40B4-BE49-F238E27FC236}">
                  <a16:creationId xmlns:a16="http://schemas.microsoft.com/office/drawing/2014/main" id="{A53BE951-A5A1-9075-4BA3-FD512406AE4B}"/>
                </a:ext>
              </a:extLst>
            </p:cNvPr>
            <p:cNvSpPr/>
            <p:nvPr/>
          </p:nvSpPr>
          <p:spPr>
            <a:xfrm rot="5400000" flipH="1">
              <a:off x="4725861" y="5696244"/>
              <a:ext cx="637031" cy="507346"/>
            </a:xfrm>
            <a:prstGeom prst="trapezoid">
              <a:avLst/>
            </a:prstGeom>
            <a:solidFill>
              <a:schemeClr val="accent4">
                <a:lumMod val="20000"/>
                <a:lumOff val="80000"/>
              </a:schemeClr>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19" name="文本框 218">
              <a:extLst>
                <a:ext uri="{FF2B5EF4-FFF2-40B4-BE49-F238E27FC236}">
                  <a16:creationId xmlns:a16="http://schemas.microsoft.com/office/drawing/2014/main" id="{954DCC6A-0B58-A4E5-2563-B3FDA839CB43}"/>
                </a:ext>
              </a:extLst>
            </p:cNvPr>
            <p:cNvSpPr txBox="1"/>
            <p:nvPr/>
          </p:nvSpPr>
          <p:spPr>
            <a:xfrm>
              <a:off x="4655860" y="5734473"/>
              <a:ext cx="777032" cy="430887"/>
            </a:xfrm>
            <a:prstGeom prst="rect">
              <a:avLst/>
            </a:prstGeom>
            <a:noFill/>
          </p:spPr>
          <p:txBody>
            <a:bodyPr wrap="square" rtlCol="0">
              <a:spAutoFit/>
            </a:bodyPr>
            <a:lstStyle/>
            <a:p>
              <a:pPr algn="ctr"/>
              <a:r>
                <a:rPr lang="en-US" altLang="zh-CN" sz="1050" dirty="0"/>
                <a:t>Image</a:t>
              </a:r>
            </a:p>
            <a:p>
              <a:pPr algn="ctr"/>
              <a:r>
                <a:rPr lang="en-US" altLang="zh-CN" sz="1050" dirty="0"/>
                <a:t>Encoder</a:t>
              </a:r>
              <a:endParaRPr lang="zh-CN" altLang="en-US" sz="1050" dirty="0"/>
            </a:p>
          </p:txBody>
        </p:sp>
        <p:sp>
          <p:nvSpPr>
            <p:cNvPr id="220" name="矩形 219">
              <a:extLst>
                <a:ext uri="{FF2B5EF4-FFF2-40B4-BE49-F238E27FC236}">
                  <a16:creationId xmlns:a16="http://schemas.microsoft.com/office/drawing/2014/main" id="{CA2C7C0E-374A-56CF-279C-FA2E8F6C012E}"/>
                </a:ext>
              </a:extLst>
            </p:cNvPr>
            <p:cNvSpPr/>
            <p:nvPr/>
          </p:nvSpPr>
          <p:spPr>
            <a:xfrm>
              <a:off x="5751788" y="5869438"/>
              <a:ext cx="381511" cy="26620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900" b="1" dirty="0">
                <a:solidFill>
                  <a:schemeClr val="tx1"/>
                </a:solidFill>
                <a:latin typeface="华文楷体" panose="02010600040101010101" pitchFamily="2" charset="-122"/>
                <a:ea typeface="华文楷体" panose="02010600040101010101" pitchFamily="2" charset="-122"/>
              </a:endParaRPr>
            </a:p>
          </p:txBody>
        </p:sp>
        <p:sp>
          <p:nvSpPr>
            <p:cNvPr id="222" name="矩形 221">
              <a:extLst>
                <a:ext uri="{FF2B5EF4-FFF2-40B4-BE49-F238E27FC236}">
                  <a16:creationId xmlns:a16="http://schemas.microsoft.com/office/drawing/2014/main" id="{CB5DABE2-A32D-A849-6C4D-26667820704A}"/>
                </a:ext>
              </a:extLst>
            </p:cNvPr>
            <p:cNvSpPr/>
            <p:nvPr/>
          </p:nvSpPr>
          <p:spPr>
            <a:xfrm rot="16200000">
              <a:off x="5028485" y="5255489"/>
              <a:ext cx="1102026" cy="19614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900" b="1" dirty="0">
                  <a:solidFill>
                    <a:schemeClr val="tx1"/>
                  </a:solidFill>
                  <a:latin typeface="华文楷体" panose="02010600040101010101" pitchFamily="2" charset="-122"/>
                  <a:ea typeface="华文楷体" panose="02010600040101010101" pitchFamily="2" charset="-122"/>
                </a:rPr>
                <a:t>遮挡物文本特征</a:t>
              </a:r>
            </a:p>
          </p:txBody>
        </p:sp>
        <p:sp>
          <p:nvSpPr>
            <p:cNvPr id="226" name="矩形 225">
              <a:extLst>
                <a:ext uri="{FF2B5EF4-FFF2-40B4-BE49-F238E27FC236}">
                  <a16:creationId xmlns:a16="http://schemas.microsoft.com/office/drawing/2014/main" id="{A32A06B5-1230-B8B3-29C7-77A5A820DB96}"/>
                </a:ext>
              </a:extLst>
            </p:cNvPr>
            <p:cNvSpPr/>
            <p:nvPr/>
          </p:nvSpPr>
          <p:spPr>
            <a:xfrm>
              <a:off x="1100436" y="4222196"/>
              <a:ext cx="1026352" cy="336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1" name="矩形 240">
              <a:extLst>
                <a:ext uri="{FF2B5EF4-FFF2-40B4-BE49-F238E27FC236}">
                  <a16:creationId xmlns:a16="http://schemas.microsoft.com/office/drawing/2014/main" id="{7C1107EC-D292-1E38-C218-7B3D5F044E44}"/>
                </a:ext>
              </a:extLst>
            </p:cNvPr>
            <p:cNvSpPr/>
            <p:nvPr/>
          </p:nvSpPr>
          <p:spPr>
            <a:xfrm>
              <a:off x="2893000" y="3994265"/>
              <a:ext cx="4564981" cy="306567"/>
            </a:xfrm>
            <a:prstGeom prst="rect">
              <a:avLst/>
            </a:prstGeom>
            <a:noFill/>
            <a:ln>
              <a:solidFill>
                <a:schemeClr val="accent2"/>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mc:AlternateContent xmlns:mc="http://schemas.openxmlformats.org/markup-compatibility/2006" xmlns:p14="http://schemas.microsoft.com/office/powerpoint/2010/main">
    <mc:Choice Requires="p14">
      <p:transition spd="slow" p14:dur="2000" advTm="19316"/>
    </mc:Choice>
    <mc:Fallback xmlns="">
      <p:transition spd="slow" advTm="19316"/>
    </mc:Fallback>
  </mc:AlternateContent>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 name="标题 2"/>
          <p:cNvSpPr>
            <a:spLocks noGrp="1"/>
          </p:cNvSpPr>
          <p:nvPr>
            <p:ph type="title"/>
          </p:nvPr>
        </p:nvSpPr>
        <p:spPr>
          <a:xfrm>
            <a:off x="508000" y="274638"/>
            <a:ext cx="8229600" cy="1143000"/>
          </a:xfrm>
        </p:spPr>
        <p:txBody>
          <a:bodyPr>
            <a:normAutofit/>
          </a:bodyPr>
          <a:lstStyle/>
          <a:p>
            <a:pPr algn="ctr"/>
            <a:r>
              <a:rPr kumimoji="1" lang="zh-CN" altLang="en-US" sz="2400" b="1" dirty="0">
                <a:sym typeface="+mn-ea"/>
              </a:rPr>
              <a:t>研究内容（三）</a:t>
            </a:r>
            <a:r>
              <a:rPr kumimoji="1" lang="zh-CN" altLang="en-US" sz="2400" b="1" dirty="0">
                <a:latin typeface="STKaiti" panose="02010600040101010101" charset="-122"/>
                <a:ea typeface="STKaiti" panose="02010600040101010101" charset="-122"/>
                <a:sym typeface="+mn-ea"/>
              </a:rPr>
              <a:t>基于多模态交互的特征增强方法</a:t>
            </a:r>
          </a:p>
        </p:txBody>
      </p:sp>
      <p:sp>
        <p:nvSpPr>
          <p:cNvPr id="11" name="Slide Number Placeholder 14"/>
          <p:cNvSpPr txBox="1"/>
          <p:nvPr/>
        </p:nvSpPr>
        <p:spPr>
          <a:xfrm>
            <a:off x="6705600" y="6508754"/>
            <a:ext cx="2133600"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Arial" panose="020B06040202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D69E98CB-8E38-42BF-857B-65773CD3393B}" type="slidenum">
              <a:rPr lang="en-US" altLang="zh-CN" smtClean="0"/>
              <a:t>16</a:t>
            </a:fld>
            <a:endParaRPr lang="en-US" altLang="zh-CN" dirty="0"/>
          </a:p>
        </p:txBody>
      </p:sp>
      <p:sp>
        <p:nvSpPr>
          <p:cNvPr id="3" name="文本框 2"/>
          <p:cNvSpPr txBox="1"/>
          <p:nvPr/>
        </p:nvSpPr>
        <p:spPr>
          <a:xfrm>
            <a:off x="516891" y="1369868"/>
            <a:ext cx="7731760" cy="400110"/>
          </a:xfrm>
          <a:prstGeom prst="rect">
            <a:avLst/>
          </a:prstGeom>
          <a:noFill/>
        </p:spPr>
        <p:txBody>
          <a:bodyPr wrap="square" rtlCol="0">
            <a:spAutoFit/>
          </a:bodyPr>
          <a:lstStyle/>
          <a:p>
            <a:pPr marL="342900" marR="0" lvl="0" indent="-342900" defTabSz="914400" rtl="0" eaLnBrk="1" fontAlgn="auto" latinLnBrk="0" hangingPunct="1">
              <a:lnSpc>
                <a:spcPct val="100000"/>
              </a:lnSpc>
              <a:spcBef>
                <a:spcPts val="0"/>
              </a:spcBef>
              <a:spcAft>
                <a:spcPts val="0"/>
              </a:spcAft>
              <a:buClrTx/>
              <a:buSzTx/>
              <a:buFont typeface="Wingdings" panose="05000000000000000000" pitchFamily="2" charset="2"/>
              <a:buChar char="l"/>
              <a:defRPr/>
            </a:pPr>
            <a:r>
              <a:rPr kumimoji="1" lang="zh-CN" altLang="en-US" sz="2000" b="1" dirty="0">
                <a:solidFill>
                  <a:prstClr val="black"/>
                </a:solidFill>
                <a:latin typeface="STKaiti" panose="02010600040101010101" charset="-122"/>
                <a:ea typeface="STKaiti" panose="02010600040101010101" charset="-122"/>
                <a:sym typeface="+mn-ea"/>
              </a:rPr>
              <a:t>关键问题： 如何有效地利用细粒度</a:t>
            </a:r>
            <a:r>
              <a:rPr kumimoji="1" lang="en-US" altLang="zh-CN" sz="2000" b="1" dirty="0">
                <a:solidFill>
                  <a:prstClr val="black"/>
                </a:solidFill>
                <a:latin typeface="STKaiti" panose="02010600040101010101" charset="-122"/>
                <a:ea typeface="STKaiti" panose="02010600040101010101" charset="-122"/>
                <a:sym typeface="+mn-ea"/>
              </a:rPr>
              <a:t>prompt</a:t>
            </a:r>
            <a:r>
              <a:rPr kumimoji="1" lang="zh-CN" altLang="en-US" sz="2000" b="1" dirty="0">
                <a:solidFill>
                  <a:prstClr val="black"/>
                </a:solidFill>
                <a:latin typeface="STKaiti" panose="02010600040101010101" charset="-122"/>
                <a:ea typeface="STKaiti" panose="02010600040101010101" charset="-122"/>
                <a:sym typeface="+mn-ea"/>
              </a:rPr>
              <a:t>来帮助提取图像特征</a:t>
            </a:r>
            <a:endParaRPr kumimoji="1" sz="2000" b="1" dirty="0">
              <a:solidFill>
                <a:prstClr val="black"/>
              </a:solidFill>
              <a:latin typeface="STKaiti" panose="02010600040101010101" charset="-122"/>
              <a:ea typeface="STKaiti" panose="02010600040101010101" charset="-122"/>
            </a:endParaRPr>
          </a:p>
        </p:txBody>
      </p:sp>
      <p:sp>
        <p:nvSpPr>
          <p:cNvPr id="5" name="文本框 4"/>
          <p:cNvSpPr txBox="1"/>
          <p:nvPr/>
        </p:nvSpPr>
        <p:spPr>
          <a:xfrm>
            <a:off x="5222875" y="2086234"/>
            <a:ext cx="1920876" cy="337185"/>
          </a:xfrm>
          <a:prstGeom prst="rect">
            <a:avLst/>
          </a:prstGeom>
          <a:noFill/>
        </p:spPr>
        <p:txBody>
          <a:bodyPr wrap="square" rtlCol="0">
            <a:spAutoFit/>
          </a:bodyPr>
          <a:lstStyle/>
          <a:p>
            <a:r>
              <a:rPr lang="en-US" altLang="zh-CN" sz="1600" dirty="0">
                <a:solidFill>
                  <a:srgbClr val="FF0000"/>
                </a:solidFill>
                <a:latin typeface="Times New Roman Regular" panose="02020603050405020304" charset="0"/>
                <a:ea typeface="华文楷体" panose="02010600040101010101" pitchFamily="2" charset="-122"/>
                <a:cs typeface="Times New Roman Regular" panose="02020603050405020304" charset="0"/>
              </a:rPr>
              <a:t>Cross-Attention</a:t>
            </a:r>
            <a:r>
              <a:rPr lang="zh-CN" altLang="en-US" sz="1600" dirty="0">
                <a:solidFill>
                  <a:srgbClr val="FF0000"/>
                </a:solidFill>
                <a:latin typeface="Times New Roman Regular" panose="02020603050405020304" charset="0"/>
                <a:ea typeface="华文楷体" panose="02010600040101010101" pitchFamily="2" charset="-122"/>
                <a:cs typeface="Times New Roman Regular" panose="02020603050405020304" charset="0"/>
              </a:rPr>
              <a:t>机制</a:t>
            </a:r>
          </a:p>
        </p:txBody>
      </p:sp>
      <p:grpSp>
        <p:nvGrpSpPr>
          <p:cNvPr id="32" name="组合 31">
            <a:extLst>
              <a:ext uri="{FF2B5EF4-FFF2-40B4-BE49-F238E27FC236}">
                <a16:creationId xmlns:a16="http://schemas.microsoft.com/office/drawing/2014/main" id="{E105A2F6-05B4-28AB-904D-7FB5F7D1F587}"/>
              </a:ext>
            </a:extLst>
          </p:cNvPr>
          <p:cNvGrpSpPr/>
          <p:nvPr/>
        </p:nvGrpSpPr>
        <p:grpSpPr>
          <a:xfrm>
            <a:off x="862488" y="3253025"/>
            <a:ext cx="1200150" cy="715191"/>
            <a:chOff x="857250" y="2269215"/>
            <a:chExt cx="1200150" cy="715191"/>
          </a:xfrm>
        </p:grpSpPr>
        <p:sp>
          <p:nvSpPr>
            <p:cNvPr id="2" name="立方体 1">
              <a:extLst>
                <a:ext uri="{FF2B5EF4-FFF2-40B4-BE49-F238E27FC236}">
                  <a16:creationId xmlns:a16="http://schemas.microsoft.com/office/drawing/2014/main" id="{F3C1F268-D196-E9D2-5D89-5E0DBA8252C5}"/>
                </a:ext>
              </a:extLst>
            </p:cNvPr>
            <p:cNvSpPr/>
            <p:nvPr/>
          </p:nvSpPr>
          <p:spPr>
            <a:xfrm>
              <a:off x="857250" y="2269215"/>
              <a:ext cx="285750" cy="285750"/>
            </a:xfrm>
            <a:prstGeom prst="cube">
              <a:avLst/>
            </a:prstGeom>
            <a:solidFill>
              <a:schemeClr val="accent4">
                <a:lumMod val="40000"/>
                <a:lumOff val="60000"/>
              </a:schemeClr>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立方体 3">
              <a:extLst>
                <a:ext uri="{FF2B5EF4-FFF2-40B4-BE49-F238E27FC236}">
                  <a16:creationId xmlns:a16="http://schemas.microsoft.com/office/drawing/2014/main" id="{AB9B402E-6687-4143-C49E-C2A85D28B1B1}"/>
                </a:ext>
              </a:extLst>
            </p:cNvPr>
            <p:cNvSpPr/>
            <p:nvPr/>
          </p:nvSpPr>
          <p:spPr>
            <a:xfrm>
              <a:off x="1162050" y="2269215"/>
              <a:ext cx="285750" cy="285750"/>
            </a:xfrm>
            <a:prstGeom prst="cube">
              <a:avLst/>
            </a:prstGeom>
            <a:solidFill>
              <a:schemeClr val="accent4">
                <a:lumMod val="40000"/>
                <a:lumOff val="60000"/>
              </a:schemeClr>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立方体 9">
              <a:extLst>
                <a:ext uri="{FF2B5EF4-FFF2-40B4-BE49-F238E27FC236}">
                  <a16:creationId xmlns:a16="http://schemas.microsoft.com/office/drawing/2014/main" id="{78170259-24AD-EC77-6F3A-C1F534FB14A0}"/>
                </a:ext>
              </a:extLst>
            </p:cNvPr>
            <p:cNvSpPr/>
            <p:nvPr/>
          </p:nvSpPr>
          <p:spPr>
            <a:xfrm>
              <a:off x="1466850" y="2269215"/>
              <a:ext cx="285750" cy="285750"/>
            </a:xfrm>
            <a:prstGeom prst="cube">
              <a:avLst/>
            </a:prstGeom>
            <a:solidFill>
              <a:schemeClr val="accent4">
                <a:lumMod val="40000"/>
                <a:lumOff val="60000"/>
              </a:schemeClr>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立方体 11">
              <a:extLst>
                <a:ext uri="{FF2B5EF4-FFF2-40B4-BE49-F238E27FC236}">
                  <a16:creationId xmlns:a16="http://schemas.microsoft.com/office/drawing/2014/main" id="{F49C600F-0C1B-6F9D-5A25-347FBD9553BB}"/>
                </a:ext>
              </a:extLst>
            </p:cNvPr>
            <p:cNvSpPr/>
            <p:nvPr/>
          </p:nvSpPr>
          <p:spPr>
            <a:xfrm>
              <a:off x="1771650" y="2269215"/>
              <a:ext cx="285750" cy="285750"/>
            </a:xfrm>
            <a:prstGeom prst="cube">
              <a:avLst/>
            </a:prstGeom>
            <a:solidFill>
              <a:schemeClr val="accent4">
                <a:lumMod val="40000"/>
                <a:lumOff val="60000"/>
              </a:schemeClr>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a:extLst>
                <a:ext uri="{FF2B5EF4-FFF2-40B4-BE49-F238E27FC236}">
                  <a16:creationId xmlns:a16="http://schemas.microsoft.com/office/drawing/2014/main" id="{1D13492C-29D6-813F-4EF1-4C07A1133231}"/>
                </a:ext>
              </a:extLst>
            </p:cNvPr>
            <p:cNvSpPr/>
            <p:nvPr/>
          </p:nvSpPr>
          <p:spPr>
            <a:xfrm>
              <a:off x="905442" y="2647221"/>
              <a:ext cx="1084716" cy="33718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chemeClr val="tx1"/>
                  </a:solidFill>
                  <a:latin typeface="华文楷体" panose="02010600040101010101" pitchFamily="2" charset="-122"/>
                  <a:ea typeface="华文楷体" panose="02010600040101010101" pitchFamily="2" charset="-122"/>
                </a:rPr>
                <a:t>去除噪声的文本特征</a:t>
              </a:r>
            </a:p>
          </p:txBody>
        </p:sp>
      </p:grpSp>
      <p:grpSp>
        <p:nvGrpSpPr>
          <p:cNvPr id="37" name="组合 36">
            <a:extLst>
              <a:ext uri="{FF2B5EF4-FFF2-40B4-BE49-F238E27FC236}">
                <a16:creationId xmlns:a16="http://schemas.microsoft.com/office/drawing/2014/main" id="{6694991A-044F-6994-E397-1B87D0CD4FE0}"/>
              </a:ext>
            </a:extLst>
          </p:cNvPr>
          <p:cNvGrpSpPr/>
          <p:nvPr/>
        </p:nvGrpSpPr>
        <p:grpSpPr>
          <a:xfrm>
            <a:off x="895464" y="2302818"/>
            <a:ext cx="1200150" cy="605486"/>
            <a:chOff x="857250" y="3222527"/>
            <a:chExt cx="1200150" cy="605486"/>
          </a:xfrm>
        </p:grpSpPr>
        <p:sp>
          <p:nvSpPr>
            <p:cNvPr id="14" name="立方体 13">
              <a:extLst>
                <a:ext uri="{FF2B5EF4-FFF2-40B4-BE49-F238E27FC236}">
                  <a16:creationId xmlns:a16="http://schemas.microsoft.com/office/drawing/2014/main" id="{36D8C481-FD81-A986-038F-6EF61B0BBC9F}"/>
                </a:ext>
              </a:extLst>
            </p:cNvPr>
            <p:cNvSpPr/>
            <p:nvPr/>
          </p:nvSpPr>
          <p:spPr>
            <a:xfrm>
              <a:off x="857250" y="3222527"/>
              <a:ext cx="285750" cy="285750"/>
            </a:xfrm>
            <a:prstGeom prst="cube">
              <a:avLst/>
            </a:prstGeom>
            <a:solidFill>
              <a:schemeClr val="accent1">
                <a:lumMod val="40000"/>
                <a:lumOff val="60000"/>
              </a:schemeClr>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立方体 14">
              <a:extLst>
                <a:ext uri="{FF2B5EF4-FFF2-40B4-BE49-F238E27FC236}">
                  <a16:creationId xmlns:a16="http://schemas.microsoft.com/office/drawing/2014/main" id="{C289E893-8AC7-6669-631C-14DD114B8A10}"/>
                </a:ext>
              </a:extLst>
            </p:cNvPr>
            <p:cNvSpPr/>
            <p:nvPr/>
          </p:nvSpPr>
          <p:spPr>
            <a:xfrm>
              <a:off x="1162050" y="3222527"/>
              <a:ext cx="285750" cy="285750"/>
            </a:xfrm>
            <a:prstGeom prst="cube">
              <a:avLst/>
            </a:prstGeom>
            <a:solidFill>
              <a:schemeClr val="accent1">
                <a:lumMod val="40000"/>
                <a:lumOff val="60000"/>
              </a:schemeClr>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立方体 15">
              <a:extLst>
                <a:ext uri="{FF2B5EF4-FFF2-40B4-BE49-F238E27FC236}">
                  <a16:creationId xmlns:a16="http://schemas.microsoft.com/office/drawing/2014/main" id="{8A7A5D1D-6B63-9F8A-3B6E-1BAC5CFEB0BF}"/>
                </a:ext>
              </a:extLst>
            </p:cNvPr>
            <p:cNvSpPr/>
            <p:nvPr/>
          </p:nvSpPr>
          <p:spPr>
            <a:xfrm>
              <a:off x="1466850" y="3222527"/>
              <a:ext cx="285750" cy="285750"/>
            </a:xfrm>
            <a:prstGeom prst="cube">
              <a:avLst/>
            </a:prstGeom>
            <a:solidFill>
              <a:schemeClr val="accent1">
                <a:lumMod val="40000"/>
                <a:lumOff val="60000"/>
              </a:schemeClr>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立方体 16">
              <a:extLst>
                <a:ext uri="{FF2B5EF4-FFF2-40B4-BE49-F238E27FC236}">
                  <a16:creationId xmlns:a16="http://schemas.microsoft.com/office/drawing/2014/main" id="{3A3DB8B1-F23D-BCDC-9AAE-F58BDA5E3115}"/>
                </a:ext>
              </a:extLst>
            </p:cNvPr>
            <p:cNvSpPr/>
            <p:nvPr/>
          </p:nvSpPr>
          <p:spPr>
            <a:xfrm>
              <a:off x="1771650" y="3222527"/>
              <a:ext cx="285750" cy="285750"/>
            </a:xfrm>
            <a:prstGeom prst="cube">
              <a:avLst/>
            </a:prstGeom>
            <a:solidFill>
              <a:schemeClr val="accent1">
                <a:lumMod val="40000"/>
                <a:lumOff val="60000"/>
              </a:schemeClr>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a:extLst>
                <a:ext uri="{FF2B5EF4-FFF2-40B4-BE49-F238E27FC236}">
                  <a16:creationId xmlns:a16="http://schemas.microsoft.com/office/drawing/2014/main" id="{72D67CA5-EFBD-B05C-5E21-F6F97C2F6573}"/>
                </a:ext>
              </a:extLst>
            </p:cNvPr>
            <p:cNvSpPr/>
            <p:nvPr/>
          </p:nvSpPr>
          <p:spPr>
            <a:xfrm>
              <a:off x="905442" y="3600536"/>
              <a:ext cx="1084716" cy="22747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chemeClr val="tx1"/>
                  </a:solidFill>
                  <a:latin typeface="华文楷体" panose="02010600040101010101" pitchFamily="2" charset="-122"/>
                  <a:ea typeface="华文楷体" panose="02010600040101010101" pitchFamily="2" charset="-122"/>
                </a:rPr>
                <a:t>图片特征</a:t>
              </a:r>
            </a:p>
          </p:txBody>
        </p:sp>
      </p:grpSp>
      <p:sp>
        <p:nvSpPr>
          <p:cNvPr id="26" name="箭头: 上弧形 25">
            <a:extLst>
              <a:ext uri="{FF2B5EF4-FFF2-40B4-BE49-F238E27FC236}">
                <a16:creationId xmlns:a16="http://schemas.microsoft.com/office/drawing/2014/main" id="{D3EA27EE-6E31-FEF7-41FC-9A1891DFC40F}"/>
              </a:ext>
            </a:extLst>
          </p:cNvPr>
          <p:cNvSpPr/>
          <p:nvPr/>
        </p:nvSpPr>
        <p:spPr>
          <a:xfrm rot="15905615" flipV="1">
            <a:off x="2004242" y="2784730"/>
            <a:ext cx="808282" cy="410342"/>
          </a:xfrm>
          <a:prstGeom prst="curvedDownArrow">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7" name="矩形 26">
            <a:extLst>
              <a:ext uri="{FF2B5EF4-FFF2-40B4-BE49-F238E27FC236}">
                <a16:creationId xmlns:a16="http://schemas.microsoft.com/office/drawing/2014/main" id="{846FE799-F89D-7B24-1DAF-F77BB05D2D9E}"/>
              </a:ext>
            </a:extLst>
          </p:cNvPr>
          <p:cNvSpPr/>
          <p:nvPr/>
        </p:nvSpPr>
        <p:spPr>
          <a:xfrm>
            <a:off x="2634790" y="2832057"/>
            <a:ext cx="1084716" cy="33718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tx1"/>
                </a:solidFill>
                <a:latin typeface="华文楷体" panose="02010600040101010101" pitchFamily="2" charset="-122"/>
                <a:ea typeface="华文楷体" panose="02010600040101010101" pitchFamily="2" charset="-122"/>
              </a:rPr>
              <a:t>如何引导？</a:t>
            </a:r>
          </a:p>
        </p:txBody>
      </p:sp>
      <p:sp>
        <p:nvSpPr>
          <p:cNvPr id="28" name="矩形: 圆角 27">
            <a:extLst>
              <a:ext uri="{FF2B5EF4-FFF2-40B4-BE49-F238E27FC236}">
                <a16:creationId xmlns:a16="http://schemas.microsoft.com/office/drawing/2014/main" id="{10A93DD6-AC6F-01BE-EE76-15580DDD8FFD}"/>
              </a:ext>
            </a:extLst>
          </p:cNvPr>
          <p:cNvSpPr/>
          <p:nvPr/>
        </p:nvSpPr>
        <p:spPr>
          <a:xfrm>
            <a:off x="648067" y="2046460"/>
            <a:ext cx="3004772" cy="2053766"/>
          </a:xfrm>
          <a:prstGeom prst="roundRect">
            <a:avLst>
              <a:gd name="adj" fmla="val 8478"/>
            </a:avLst>
          </a:prstGeom>
          <a:noFill/>
          <a:ln>
            <a:solidFill>
              <a:schemeClr val="bg1">
                <a:lumMod val="5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箭头: 上 29">
            <a:extLst>
              <a:ext uri="{FF2B5EF4-FFF2-40B4-BE49-F238E27FC236}">
                <a16:creationId xmlns:a16="http://schemas.microsoft.com/office/drawing/2014/main" id="{56EF705E-89B6-10DD-D691-59C10F411F2E}"/>
              </a:ext>
            </a:extLst>
          </p:cNvPr>
          <p:cNvSpPr/>
          <p:nvPr/>
        </p:nvSpPr>
        <p:spPr>
          <a:xfrm rot="5400000">
            <a:off x="3852852" y="2951681"/>
            <a:ext cx="168286" cy="369797"/>
          </a:xfrm>
          <a:prstGeom prst="upArrow">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矩形: 圆角 30">
            <a:extLst>
              <a:ext uri="{FF2B5EF4-FFF2-40B4-BE49-F238E27FC236}">
                <a16:creationId xmlns:a16="http://schemas.microsoft.com/office/drawing/2014/main" id="{62C95D24-8998-51EA-E2A4-7CBA0C467931}"/>
              </a:ext>
            </a:extLst>
          </p:cNvPr>
          <p:cNvSpPr/>
          <p:nvPr/>
        </p:nvSpPr>
        <p:spPr>
          <a:xfrm>
            <a:off x="4287820" y="2069986"/>
            <a:ext cx="3694129" cy="2030240"/>
          </a:xfrm>
          <a:prstGeom prst="roundRect">
            <a:avLst>
              <a:gd name="adj" fmla="val 8478"/>
            </a:avLst>
          </a:prstGeom>
          <a:noFill/>
          <a:ln>
            <a:solidFill>
              <a:schemeClr val="bg1">
                <a:lumMod val="5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26" name="Picture 2">
            <a:extLst>
              <a:ext uri="{FF2B5EF4-FFF2-40B4-BE49-F238E27FC236}">
                <a16:creationId xmlns:a16="http://schemas.microsoft.com/office/drawing/2014/main" id="{68F2E101-D231-7CD4-EA5D-ADB19FD79BE2}"/>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b="3741"/>
          <a:stretch/>
        </p:blipFill>
        <p:spPr bwMode="auto">
          <a:xfrm>
            <a:off x="4673999" y="2486966"/>
            <a:ext cx="3055598" cy="1585532"/>
          </a:xfrm>
          <a:prstGeom prst="rect">
            <a:avLst/>
          </a:prstGeom>
          <a:noFill/>
          <a:extLst>
            <a:ext uri="{909E8E84-426E-40DD-AFC4-6F175D3DCCD1}">
              <a14:hiddenFill xmlns:a14="http://schemas.microsoft.com/office/drawing/2010/main">
                <a:solidFill>
                  <a:srgbClr val="FFFFFF"/>
                </a:solidFill>
              </a14:hiddenFill>
            </a:ext>
          </a:extLst>
        </p:spPr>
      </p:pic>
      <p:sp>
        <p:nvSpPr>
          <p:cNvPr id="40" name="矩形 39">
            <a:extLst>
              <a:ext uri="{FF2B5EF4-FFF2-40B4-BE49-F238E27FC236}">
                <a16:creationId xmlns:a16="http://schemas.microsoft.com/office/drawing/2014/main" id="{AEABAB31-6A09-8A86-7D2F-2DD4A0E8819B}"/>
              </a:ext>
            </a:extLst>
          </p:cNvPr>
          <p:cNvSpPr/>
          <p:nvPr/>
        </p:nvSpPr>
        <p:spPr>
          <a:xfrm>
            <a:off x="5114933" y="2123920"/>
            <a:ext cx="2181218" cy="306567"/>
          </a:xfrm>
          <a:prstGeom prst="rect">
            <a:avLst/>
          </a:prstGeom>
          <a:noFill/>
          <a:ln>
            <a:solidFill>
              <a:schemeClr val="accent2"/>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 name="任意多边形: 形状 60">
            <a:extLst>
              <a:ext uri="{FF2B5EF4-FFF2-40B4-BE49-F238E27FC236}">
                <a16:creationId xmlns:a16="http://schemas.microsoft.com/office/drawing/2014/main" id="{FA56E9F5-FD3A-DAAE-13CF-8431405BAB71}"/>
              </a:ext>
            </a:extLst>
          </p:cNvPr>
          <p:cNvSpPr/>
          <p:nvPr/>
        </p:nvSpPr>
        <p:spPr>
          <a:xfrm>
            <a:off x="2178103" y="2324856"/>
            <a:ext cx="2743200" cy="376018"/>
          </a:xfrm>
          <a:custGeom>
            <a:avLst/>
            <a:gdLst>
              <a:gd name="connsiteX0" fmla="*/ 0 w 2743200"/>
              <a:gd name="connsiteY0" fmla="*/ 335637 h 707112"/>
              <a:gd name="connsiteX1" fmla="*/ 1314450 w 2743200"/>
              <a:gd name="connsiteY1" fmla="*/ 11787 h 707112"/>
              <a:gd name="connsiteX2" fmla="*/ 2743200 w 2743200"/>
              <a:gd name="connsiteY2" fmla="*/ 707112 h 707112"/>
            </a:gdLst>
            <a:ahLst/>
            <a:cxnLst>
              <a:cxn ang="0">
                <a:pos x="connsiteX0" y="connsiteY0"/>
              </a:cxn>
              <a:cxn ang="0">
                <a:pos x="connsiteX1" y="connsiteY1"/>
              </a:cxn>
              <a:cxn ang="0">
                <a:pos x="connsiteX2" y="connsiteY2"/>
              </a:cxn>
            </a:cxnLst>
            <a:rect l="l" t="t" r="r" b="b"/>
            <a:pathLst>
              <a:path w="2743200" h="707112">
                <a:moveTo>
                  <a:pt x="0" y="335637"/>
                </a:moveTo>
                <a:cubicBezTo>
                  <a:pt x="428625" y="142756"/>
                  <a:pt x="857250" y="-50125"/>
                  <a:pt x="1314450" y="11787"/>
                </a:cubicBezTo>
                <a:cubicBezTo>
                  <a:pt x="1771650" y="73699"/>
                  <a:pt x="2485231" y="602337"/>
                  <a:pt x="2743200" y="707112"/>
                </a:cubicBezTo>
              </a:path>
            </a:pathLst>
          </a:custGeom>
          <a:noFill/>
          <a:ln>
            <a:solidFill>
              <a:srgbClr val="FF0000"/>
            </a:solidFill>
            <a:prstDash val="dash"/>
            <a:tailEnd type="arrow"/>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任意多边形: 形状 61">
            <a:extLst>
              <a:ext uri="{FF2B5EF4-FFF2-40B4-BE49-F238E27FC236}">
                <a16:creationId xmlns:a16="http://schemas.microsoft.com/office/drawing/2014/main" id="{63C6C463-7CB5-FBA8-4B20-E4085ECB1EC7}"/>
              </a:ext>
            </a:extLst>
          </p:cNvPr>
          <p:cNvSpPr/>
          <p:nvPr/>
        </p:nvSpPr>
        <p:spPr>
          <a:xfrm rot="565924" flipV="1">
            <a:off x="2140112" y="3570067"/>
            <a:ext cx="2743200" cy="358734"/>
          </a:xfrm>
          <a:custGeom>
            <a:avLst/>
            <a:gdLst>
              <a:gd name="connsiteX0" fmla="*/ 0 w 2743200"/>
              <a:gd name="connsiteY0" fmla="*/ 335637 h 707112"/>
              <a:gd name="connsiteX1" fmla="*/ 1314450 w 2743200"/>
              <a:gd name="connsiteY1" fmla="*/ 11787 h 707112"/>
              <a:gd name="connsiteX2" fmla="*/ 2743200 w 2743200"/>
              <a:gd name="connsiteY2" fmla="*/ 707112 h 707112"/>
            </a:gdLst>
            <a:ahLst/>
            <a:cxnLst>
              <a:cxn ang="0">
                <a:pos x="connsiteX0" y="connsiteY0"/>
              </a:cxn>
              <a:cxn ang="0">
                <a:pos x="connsiteX1" y="connsiteY1"/>
              </a:cxn>
              <a:cxn ang="0">
                <a:pos x="connsiteX2" y="connsiteY2"/>
              </a:cxn>
            </a:cxnLst>
            <a:rect l="l" t="t" r="r" b="b"/>
            <a:pathLst>
              <a:path w="2743200" h="707112">
                <a:moveTo>
                  <a:pt x="0" y="335637"/>
                </a:moveTo>
                <a:cubicBezTo>
                  <a:pt x="428625" y="142756"/>
                  <a:pt x="857250" y="-50125"/>
                  <a:pt x="1314450" y="11787"/>
                </a:cubicBezTo>
                <a:cubicBezTo>
                  <a:pt x="1771650" y="73699"/>
                  <a:pt x="2485231" y="602337"/>
                  <a:pt x="2743200" y="707112"/>
                </a:cubicBezTo>
              </a:path>
            </a:pathLst>
          </a:custGeom>
          <a:noFill/>
          <a:ln>
            <a:solidFill>
              <a:srgbClr val="FF0000"/>
            </a:solidFill>
            <a:prstDash val="dash"/>
            <a:tailEnd type="arrow"/>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矩形: 圆角 62">
            <a:extLst>
              <a:ext uri="{FF2B5EF4-FFF2-40B4-BE49-F238E27FC236}">
                <a16:creationId xmlns:a16="http://schemas.microsoft.com/office/drawing/2014/main" id="{5F29E1E4-233F-AFC2-3122-61C9B95B9D94}"/>
              </a:ext>
            </a:extLst>
          </p:cNvPr>
          <p:cNvSpPr/>
          <p:nvPr/>
        </p:nvSpPr>
        <p:spPr>
          <a:xfrm>
            <a:off x="4287820" y="4289349"/>
            <a:ext cx="3751280" cy="2030240"/>
          </a:xfrm>
          <a:prstGeom prst="roundRect">
            <a:avLst>
              <a:gd name="adj" fmla="val 8478"/>
            </a:avLst>
          </a:prstGeom>
          <a:noFill/>
          <a:ln>
            <a:solidFill>
              <a:schemeClr val="bg1">
                <a:lumMod val="5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24" name="文本框 1023">
            <a:extLst>
              <a:ext uri="{FF2B5EF4-FFF2-40B4-BE49-F238E27FC236}">
                <a16:creationId xmlns:a16="http://schemas.microsoft.com/office/drawing/2014/main" id="{6E0398FA-331C-C3C0-1611-F0DDA5775688}"/>
              </a:ext>
            </a:extLst>
          </p:cNvPr>
          <p:cNvSpPr txBox="1"/>
          <p:nvPr/>
        </p:nvSpPr>
        <p:spPr>
          <a:xfrm>
            <a:off x="5460197" y="4383714"/>
            <a:ext cx="1483201" cy="337185"/>
          </a:xfrm>
          <a:prstGeom prst="rect">
            <a:avLst/>
          </a:prstGeom>
          <a:noFill/>
        </p:spPr>
        <p:txBody>
          <a:bodyPr wrap="square" rtlCol="0">
            <a:spAutoFit/>
          </a:bodyPr>
          <a:lstStyle/>
          <a:p>
            <a:r>
              <a:rPr lang="zh-CN" altLang="en-US" sz="1600" dirty="0">
                <a:solidFill>
                  <a:srgbClr val="FF0000"/>
                </a:solidFill>
                <a:latin typeface="Times New Roman Regular" panose="02020603050405020304" charset="0"/>
                <a:ea typeface="华文楷体" panose="02010600040101010101" pitchFamily="2" charset="-122"/>
                <a:cs typeface="Times New Roman Regular" panose="02020603050405020304" charset="0"/>
              </a:rPr>
              <a:t>动态融合机制</a:t>
            </a:r>
          </a:p>
        </p:txBody>
      </p:sp>
      <p:sp>
        <p:nvSpPr>
          <p:cNvPr id="1025" name="矩形 1024">
            <a:extLst>
              <a:ext uri="{FF2B5EF4-FFF2-40B4-BE49-F238E27FC236}">
                <a16:creationId xmlns:a16="http://schemas.microsoft.com/office/drawing/2014/main" id="{D8CFD340-54CB-8EEA-4510-FDADDF6EFE59}"/>
              </a:ext>
            </a:extLst>
          </p:cNvPr>
          <p:cNvSpPr/>
          <p:nvPr/>
        </p:nvSpPr>
        <p:spPr>
          <a:xfrm>
            <a:off x="5111189" y="4408244"/>
            <a:ext cx="2181218" cy="306567"/>
          </a:xfrm>
          <a:prstGeom prst="rect">
            <a:avLst/>
          </a:prstGeom>
          <a:noFill/>
          <a:ln>
            <a:solidFill>
              <a:schemeClr val="accent2"/>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27" name="矩形: 圆角 1026">
            <a:extLst>
              <a:ext uri="{FF2B5EF4-FFF2-40B4-BE49-F238E27FC236}">
                <a16:creationId xmlns:a16="http://schemas.microsoft.com/office/drawing/2014/main" id="{EFB0BFC4-B09B-1C54-8B99-7B97271936C7}"/>
              </a:ext>
            </a:extLst>
          </p:cNvPr>
          <p:cNvSpPr/>
          <p:nvPr/>
        </p:nvSpPr>
        <p:spPr>
          <a:xfrm>
            <a:off x="648067" y="4289349"/>
            <a:ext cx="3004772" cy="2030240"/>
          </a:xfrm>
          <a:prstGeom prst="roundRect">
            <a:avLst>
              <a:gd name="adj" fmla="val 8478"/>
            </a:avLst>
          </a:prstGeom>
          <a:noFill/>
          <a:ln>
            <a:solidFill>
              <a:schemeClr val="bg1">
                <a:lumMod val="5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36" name="立方体 1035">
            <a:extLst>
              <a:ext uri="{FF2B5EF4-FFF2-40B4-BE49-F238E27FC236}">
                <a16:creationId xmlns:a16="http://schemas.microsoft.com/office/drawing/2014/main" id="{27617D9A-00AE-1233-F1EC-EB7C0DAD518F}"/>
              </a:ext>
            </a:extLst>
          </p:cNvPr>
          <p:cNvSpPr/>
          <p:nvPr/>
        </p:nvSpPr>
        <p:spPr>
          <a:xfrm>
            <a:off x="938893" y="4484043"/>
            <a:ext cx="227477" cy="227477"/>
          </a:xfrm>
          <a:prstGeom prst="cube">
            <a:avLst/>
          </a:prstGeom>
          <a:solidFill>
            <a:schemeClr val="accent6">
              <a:lumMod val="40000"/>
              <a:lumOff val="60000"/>
            </a:schemeClr>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37" name="立方体 1036">
            <a:extLst>
              <a:ext uri="{FF2B5EF4-FFF2-40B4-BE49-F238E27FC236}">
                <a16:creationId xmlns:a16="http://schemas.microsoft.com/office/drawing/2014/main" id="{6F05B251-0296-4560-139B-53BC8C283A9B}"/>
              </a:ext>
            </a:extLst>
          </p:cNvPr>
          <p:cNvSpPr/>
          <p:nvPr/>
        </p:nvSpPr>
        <p:spPr>
          <a:xfrm>
            <a:off x="1201273" y="4484043"/>
            <a:ext cx="227477" cy="227477"/>
          </a:xfrm>
          <a:prstGeom prst="cube">
            <a:avLst/>
          </a:prstGeom>
          <a:solidFill>
            <a:schemeClr val="accent6">
              <a:lumMod val="40000"/>
              <a:lumOff val="60000"/>
            </a:schemeClr>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38" name="立方体 1037">
            <a:extLst>
              <a:ext uri="{FF2B5EF4-FFF2-40B4-BE49-F238E27FC236}">
                <a16:creationId xmlns:a16="http://schemas.microsoft.com/office/drawing/2014/main" id="{C36789A5-6BCB-37E1-E06F-219658C834B4}"/>
              </a:ext>
            </a:extLst>
          </p:cNvPr>
          <p:cNvSpPr/>
          <p:nvPr/>
        </p:nvSpPr>
        <p:spPr>
          <a:xfrm>
            <a:off x="1463653" y="4484043"/>
            <a:ext cx="227477" cy="227477"/>
          </a:xfrm>
          <a:prstGeom prst="cube">
            <a:avLst/>
          </a:prstGeom>
          <a:solidFill>
            <a:schemeClr val="accent6">
              <a:lumMod val="40000"/>
              <a:lumOff val="60000"/>
            </a:schemeClr>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39" name="立方体 1038">
            <a:extLst>
              <a:ext uri="{FF2B5EF4-FFF2-40B4-BE49-F238E27FC236}">
                <a16:creationId xmlns:a16="http://schemas.microsoft.com/office/drawing/2014/main" id="{44AD1E59-423F-A6F8-51F2-15812BC46ECC}"/>
              </a:ext>
            </a:extLst>
          </p:cNvPr>
          <p:cNvSpPr/>
          <p:nvPr/>
        </p:nvSpPr>
        <p:spPr>
          <a:xfrm>
            <a:off x="1726034" y="4484043"/>
            <a:ext cx="227477" cy="227477"/>
          </a:xfrm>
          <a:prstGeom prst="cube">
            <a:avLst/>
          </a:prstGeom>
          <a:solidFill>
            <a:schemeClr val="accent6">
              <a:lumMod val="40000"/>
              <a:lumOff val="60000"/>
            </a:schemeClr>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0" name="矩形 1039">
            <a:extLst>
              <a:ext uri="{FF2B5EF4-FFF2-40B4-BE49-F238E27FC236}">
                <a16:creationId xmlns:a16="http://schemas.microsoft.com/office/drawing/2014/main" id="{E7DF8015-2685-9763-26B5-D4F5FD122710}"/>
              </a:ext>
            </a:extLst>
          </p:cNvPr>
          <p:cNvSpPr/>
          <p:nvPr/>
        </p:nvSpPr>
        <p:spPr>
          <a:xfrm>
            <a:off x="849814" y="4756597"/>
            <a:ext cx="1207592" cy="30592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200" b="1" dirty="0">
                <a:solidFill>
                  <a:schemeClr val="tx1"/>
                </a:solidFill>
                <a:latin typeface="华文楷体" panose="02010600040101010101" pitchFamily="2" charset="-122"/>
                <a:ea typeface="华文楷体" panose="02010600040101010101" pitchFamily="2" charset="-122"/>
              </a:rPr>
              <a:t>Cross-Attention</a:t>
            </a:r>
            <a:r>
              <a:rPr lang="zh-CN" altLang="en-US" sz="1200" b="1" dirty="0">
                <a:solidFill>
                  <a:schemeClr val="tx1"/>
                </a:solidFill>
                <a:latin typeface="华文楷体" panose="02010600040101010101" pitchFamily="2" charset="-122"/>
                <a:ea typeface="华文楷体" panose="02010600040101010101" pitchFamily="2" charset="-122"/>
              </a:rPr>
              <a:t>特征</a:t>
            </a:r>
          </a:p>
        </p:txBody>
      </p:sp>
      <p:sp>
        <p:nvSpPr>
          <p:cNvPr id="1041" name="立方体 1040">
            <a:extLst>
              <a:ext uri="{FF2B5EF4-FFF2-40B4-BE49-F238E27FC236}">
                <a16:creationId xmlns:a16="http://schemas.microsoft.com/office/drawing/2014/main" id="{48AC6F6D-64BD-128E-177A-231253BCFD9F}"/>
              </a:ext>
            </a:extLst>
          </p:cNvPr>
          <p:cNvSpPr/>
          <p:nvPr/>
        </p:nvSpPr>
        <p:spPr>
          <a:xfrm>
            <a:off x="938893" y="5187308"/>
            <a:ext cx="227477" cy="227477"/>
          </a:xfrm>
          <a:prstGeom prst="cube">
            <a:avLst/>
          </a:prstGeom>
          <a:solidFill>
            <a:schemeClr val="accent1">
              <a:lumMod val="40000"/>
              <a:lumOff val="60000"/>
            </a:schemeClr>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2" name="立方体 1041">
            <a:extLst>
              <a:ext uri="{FF2B5EF4-FFF2-40B4-BE49-F238E27FC236}">
                <a16:creationId xmlns:a16="http://schemas.microsoft.com/office/drawing/2014/main" id="{C4BAAA7D-2F9E-9C20-1867-838A8B553335}"/>
              </a:ext>
            </a:extLst>
          </p:cNvPr>
          <p:cNvSpPr/>
          <p:nvPr/>
        </p:nvSpPr>
        <p:spPr>
          <a:xfrm>
            <a:off x="1201273" y="5187308"/>
            <a:ext cx="227477" cy="227477"/>
          </a:xfrm>
          <a:prstGeom prst="cube">
            <a:avLst/>
          </a:prstGeom>
          <a:solidFill>
            <a:schemeClr val="accent1">
              <a:lumMod val="40000"/>
              <a:lumOff val="60000"/>
            </a:schemeClr>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3" name="立方体 1042">
            <a:extLst>
              <a:ext uri="{FF2B5EF4-FFF2-40B4-BE49-F238E27FC236}">
                <a16:creationId xmlns:a16="http://schemas.microsoft.com/office/drawing/2014/main" id="{BF2334B8-F700-305C-587E-9E3A7CF07E4C}"/>
              </a:ext>
            </a:extLst>
          </p:cNvPr>
          <p:cNvSpPr/>
          <p:nvPr/>
        </p:nvSpPr>
        <p:spPr>
          <a:xfrm>
            <a:off x="1463653" y="5187308"/>
            <a:ext cx="227477" cy="227477"/>
          </a:xfrm>
          <a:prstGeom prst="cube">
            <a:avLst/>
          </a:prstGeom>
          <a:solidFill>
            <a:schemeClr val="accent1">
              <a:lumMod val="40000"/>
              <a:lumOff val="60000"/>
            </a:schemeClr>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4" name="立方体 1043">
            <a:extLst>
              <a:ext uri="{FF2B5EF4-FFF2-40B4-BE49-F238E27FC236}">
                <a16:creationId xmlns:a16="http://schemas.microsoft.com/office/drawing/2014/main" id="{EE5CB027-41B0-84FB-0054-8981877150D2}"/>
              </a:ext>
            </a:extLst>
          </p:cNvPr>
          <p:cNvSpPr/>
          <p:nvPr/>
        </p:nvSpPr>
        <p:spPr>
          <a:xfrm>
            <a:off x="1726034" y="5187308"/>
            <a:ext cx="227477" cy="227477"/>
          </a:xfrm>
          <a:prstGeom prst="cube">
            <a:avLst/>
          </a:prstGeom>
          <a:solidFill>
            <a:schemeClr val="accent1">
              <a:lumMod val="40000"/>
              <a:lumOff val="60000"/>
            </a:schemeClr>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5" name="矩形 1044">
            <a:extLst>
              <a:ext uri="{FF2B5EF4-FFF2-40B4-BE49-F238E27FC236}">
                <a16:creationId xmlns:a16="http://schemas.microsoft.com/office/drawing/2014/main" id="{D42B8424-9E1D-9AE5-F9A0-FD770E50457D}"/>
              </a:ext>
            </a:extLst>
          </p:cNvPr>
          <p:cNvSpPr/>
          <p:nvPr/>
        </p:nvSpPr>
        <p:spPr>
          <a:xfrm>
            <a:off x="849814" y="5459862"/>
            <a:ext cx="1084716" cy="22747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chemeClr val="tx1"/>
                </a:solidFill>
                <a:latin typeface="华文楷体" panose="02010600040101010101" pitchFamily="2" charset="-122"/>
                <a:ea typeface="华文楷体" panose="02010600040101010101" pitchFamily="2" charset="-122"/>
              </a:rPr>
              <a:t>图片特征</a:t>
            </a:r>
          </a:p>
        </p:txBody>
      </p:sp>
      <p:sp>
        <p:nvSpPr>
          <p:cNvPr id="1046" name="立方体 1045">
            <a:extLst>
              <a:ext uri="{FF2B5EF4-FFF2-40B4-BE49-F238E27FC236}">
                <a16:creationId xmlns:a16="http://schemas.microsoft.com/office/drawing/2014/main" id="{22871C28-8746-3755-72ED-3DAA96A35598}"/>
              </a:ext>
            </a:extLst>
          </p:cNvPr>
          <p:cNvSpPr/>
          <p:nvPr/>
        </p:nvSpPr>
        <p:spPr>
          <a:xfrm>
            <a:off x="914621" y="5739516"/>
            <a:ext cx="227477" cy="227477"/>
          </a:xfrm>
          <a:prstGeom prst="cube">
            <a:avLst/>
          </a:prstGeom>
          <a:solidFill>
            <a:srgbClr val="FFE699"/>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7" name="立方体 1046">
            <a:extLst>
              <a:ext uri="{FF2B5EF4-FFF2-40B4-BE49-F238E27FC236}">
                <a16:creationId xmlns:a16="http://schemas.microsoft.com/office/drawing/2014/main" id="{06799A78-D04A-2B87-35EA-442CC67C1059}"/>
              </a:ext>
            </a:extLst>
          </p:cNvPr>
          <p:cNvSpPr/>
          <p:nvPr/>
        </p:nvSpPr>
        <p:spPr>
          <a:xfrm>
            <a:off x="1177001" y="5739516"/>
            <a:ext cx="227477" cy="227477"/>
          </a:xfrm>
          <a:prstGeom prst="cube">
            <a:avLst/>
          </a:prstGeom>
          <a:solidFill>
            <a:srgbClr val="FFE699"/>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 name="立方体 1047">
            <a:extLst>
              <a:ext uri="{FF2B5EF4-FFF2-40B4-BE49-F238E27FC236}">
                <a16:creationId xmlns:a16="http://schemas.microsoft.com/office/drawing/2014/main" id="{5081433C-E2C1-3AE3-B7F5-2EAF5180C66E}"/>
              </a:ext>
            </a:extLst>
          </p:cNvPr>
          <p:cNvSpPr/>
          <p:nvPr/>
        </p:nvSpPr>
        <p:spPr>
          <a:xfrm>
            <a:off x="1439381" y="5739516"/>
            <a:ext cx="227477" cy="227477"/>
          </a:xfrm>
          <a:prstGeom prst="cube">
            <a:avLst/>
          </a:prstGeom>
          <a:solidFill>
            <a:srgbClr val="FFE699"/>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9" name="立方体 1048">
            <a:extLst>
              <a:ext uri="{FF2B5EF4-FFF2-40B4-BE49-F238E27FC236}">
                <a16:creationId xmlns:a16="http://schemas.microsoft.com/office/drawing/2014/main" id="{3327DAE5-4330-9331-B893-2AD1E0D4BDF7}"/>
              </a:ext>
            </a:extLst>
          </p:cNvPr>
          <p:cNvSpPr/>
          <p:nvPr/>
        </p:nvSpPr>
        <p:spPr>
          <a:xfrm>
            <a:off x="1701762" y="5739516"/>
            <a:ext cx="227477" cy="227477"/>
          </a:xfrm>
          <a:prstGeom prst="cube">
            <a:avLst/>
          </a:prstGeom>
          <a:solidFill>
            <a:srgbClr val="FFE699"/>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50" name="矩形 1049">
            <a:extLst>
              <a:ext uri="{FF2B5EF4-FFF2-40B4-BE49-F238E27FC236}">
                <a16:creationId xmlns:a16="http://schemas.microsoft.com/office/drawing/2014/main" id="{7817CACD-B223-3BA5-2F96-33A1DBC64554}"/>
              </a:ext>
            </a:extLst>
          </p:cNvPr>
          <p:cNvSpPr/>
          <p:nvPr/>
        </p:nvSpPr>
        <p:spPr>
          <a:xfrm>
            <a:off x="844523" y="6003921"/>
            <a:ext cx="1084716" cy="22747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chemeClr val="tx1"/>
                </a:solidFill>
                <a:latin typeface="华文楷体" panose="02010600040101010101" pitchFamily="2" charset="-122"/>
                <a:ea typeface="华文楷体" panose="02010600040101010101" pitchFamily="2" charset="-122"/>
              </a:rPr>
              <a:t>文本特征</a:t>
            </a:r>
          </a:p>
        </p:txBody>
      </p:sp>
      <p:sp>
        <p:nvSpPr>
          <p:cNvPr id="1051" name="右大括号 1050">
            <a:extLst>
              <a:ext uri="{FF2B5EF4-FFF2-40B4-BE49-F238E27FC236}">
                <a16:creationId xmlns:a16="http://schemas.microsoft.com/office/drawing/2014/main" id="{746A93C3-13AF-02A2-3625-9E8F7498A9B9}"/>
              </a:ext>
            </a:extLst>
          </p:cNvPr>
          <p:cNvSpPr/>
          <p:nvPr/>
        </p:nvSpPr>
        <p:spPr>
          <a:xfrm>
            <a:off x="2039459" y="4558096"/>
            <a:ext cx="304687" cy="1485900"/>
          </a:xfrm>
          <a:prstGeom prst="rightBrace">
            <a:avLst>
              <a:gd name="adj1" fmla="val 58352"/>
              <a:gd name="adj2" fmla="val 50000"/>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052" name="矩形 1051">
            <a:extLst>
              <a:ext uri="{FF2B5EF4-FFF2-40B4-BE49-F238E27FC236}">
                <a16:creationId xmlns:a16="http://schemas.microsoft.com/office/drawing/2014/main" id="{8B4FFE0A-F204-8C2C-E80A-4B2F26A313DF}"/>
              </a:ext>
            </a:extLst>
          </p:cNvPr>
          <p:cNvSpPr/>
          <p:nvPr/>
        </p:nvSpPr>
        <p:spPr>
          <a:xfrm>
            <a:off x="2342098" y="5112974"/>
            <a:ext cx="1274057" cy="33718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tx1"/>
                </a:solidFill>
                <a:latin typeface="华文楷体" panose="02010600040101010101" pitchFamily="2" charset="-122"/>
                <a:ea typeface="华文楷体" panose="02010600040101010101" pitchFamily="2" charset="-122"/>
              </a:rPr>
              <a:t>使用哪个特征来进行检索？</a:t>
            </a:r>
          </a:p>
        </p:txBody>
      </p:sp>
      <p:sp>
        <p:nvSpPr>
          <p:cNvPr id="1053" name="箭头: 上 1052">
            <a:extLst>
              <a:ext uri="{FF2B5EF4-FFF2-40B4-BE49-F238E27FC236}">
                <a16:creationId xmlns:a16="http://schemas.microsoft.com/office/drawing/2014/main" id="{84172105-AEA2-9B8E-ED10-DFA7CF270698}"/>
              </a:ext>
            </a:extLst>
          </p:cNvPr>
          <p:cNvSpPr/>
          <p:nvPr/>
        </p:nvSpPr>
        <p:spPr>
          <a:xfrm rot="5400000">
            <a:off x="3852852" y="5116148"/>
            <a:ext cx="168286" cy="369797"/>
          </a:xfrm>
          <a:prstGeom prst="upArrow">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54" name="文本框 1053">
            <a:extLst>
              <a:ext uri="{FF2B5EF4-FFF2-40B4-BE49-F238E27FC236}">
                <a16:creationId xmlns:a16="http://schemas.microsoft.com/office/drawing/2014/main" id="{F1226F2D-6B1C-8078-39F1-AD5B96039A09}"/>
              </a:ext>
            </a:extLst>
          </p:cNvPr>
          <p:cNvSpPr txBox="1"/>
          <p:nvPr/>
        </p:nvSpPr>
        <p:spPr>
          <a:xfrm>
            <a:off x="4452938" y="4810125"/>
            <a:ext cx="3128962" cy="276999"/>
          </a:xfrm>
          <a:prstGeom prst="rect">
            <a:avLst/>
          </a:prstGeom>
          <a:noFill/>
        </p:spPr>
        <p:txBody>
          <a:bodyPr wrap="square" rtlCol="0">
            <a:spAutoFit/>
          </a:bodyPr>
          <a:lstStyle/>
          <a:p>
            <a:pPr marL="285750" indent="-285750">
              <a:buFont typeface="Wingdings" panose="05000000000000000000" pitchFamily="2" charset="2"/>
              <a:buChar char="l"/>
            </a:pPr>
            <a:r>
              <a:rPr lang="zh-CN" altLang="en-US" sz="1200" dirty="0">
                <a:latin typeface="华文楷体" panose="02010600040101010101" pitchFamily="2" charset="-122"/>
                <a:ea typeface="华文楷体" panose="02010600040101010101" pitchFamily="2" charset="-122"/>
              </a:rPr>
              <a:t>根据预测的不确定性来确定权重</a:t>
            </a:r>
          </a:p>
        </p:txBody>
      </p:sp>
      <p:cxnSp>
        <p:nvCxnSpPr>
          <p:cNvPr id="1056" name="直接箭头连接符 1055">
            <a:extLst>
              <a:ext uri="{FF2B5EF4-FFF2-40B4-BE49-F238E27FC236}">
                <a16:creationId xmlns:a16="http://schemas.microsoft.com/office/drawing/2014/main" id="{3B4EA21C-D620-091B-A4F2-D7CF561762FE}"/>
              </a:ext>
            </a:extLst>
          </p:cNvPr>
          <p:cNvCxnSpPr>
            <a:cxnSpLocks/>
          </p:cNvCxnSpPr>
          <p:nvPr/>
        </p:nvCxnSpPr>
        <p:spPr>
          <a:xfrm flipV="1">
            <a:off x="4788728" y="5213099"/>
            <a:ext cx="0" cy="639066"/>
          </a:xfrm>
          <a:prstGeom prst="straightConnector1">
            <a:avLst/>
          </a:prstGeom>
          <a:ln w="12700">
            <a:solidFill>
              <a:srgbClr val="8FC26C"/>
            </a:solidFill>
            <a:tailEnd type="triangle" w="sm" len="sm"/>
          </a:ln>
        </p:spPr>
        <p:style>
          <a:lnRef idx="1">
            <a:schemeClr val="dk1"/>
          </a:lnRef>
          <a:fillRef idx="0">
            <a:schemeClr val="dk1"/>
          </a:fillRef>
          <a:effectRef idx="0">
            <a:schemeClr val="dk1"/>
          </a:effectRef>
          <a:fontRef idx="minor">
            <a:schemeClr val="tx1"/>
          </a:fontRef>
        </p:style>
      </p:cxnSp>
      <p:sp>
        <p:nvSpPr>
          <p:cNvPr id="1057" name="矩形 1056">
            <a:extLst>
              <a:ext uri="{FF2B5EF4-FFF2-40B4-BE49-F238E27FC236}">
                <a16:creationId xmlns:a16="http://schemas.microsoft.com/office/drawing/2014/main" id="{754F65A7-002B-0EA7-B5DD-02E00DA16477}"/>
              </a:ext>
            </a:extLst>
          </p:cNvPr>
          <p:cNvSpPr/>
          <p:nvPr/>
        </p:nvSpPr>
        <p:spPr>
          <a:xfrm>
            <a:off x="4921303" y="5717461"/>
            <a:ext cx="180137" cy="134707"/>
          </a:xfrm>
          <a:prstGeom prst="rect">
            <a:avLst/>
          </a:prstGeom>
          <a:solidFill>
            <a:srgbClr val="D8EBC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123"/>
          </a:p>
        </p:txBody>
      </p:sp>
      <p:sp>
        <p:nvSpPr>
          <p:cNvPr id="1058" name="矩形 1057">
            <a:extLst>
              <a:ext uri="{FF2B5EF4-FFF2-40B4-BE49-F238E27FC236}">
                <a16:creationId xmlns:a16="http://schemas.microsoft.com/office/drawing/2014/main" id="{895C4D7E-CB6D-7923-3250-8F56BBEC368B}"/>
              </a:ext>
            </a:extLst>
          </p:cNvPr>
          <p:cNvSpPr/>
          <p:nvPr/>
        </p:nvSpPr>
        <p:spPr>
          <a:xfrm>
            <a:off x="5120292" y="5258202"/>
            <a:ext cx="180133" cy="593960"/>
          </a:xfrm>
          <a:prstGeom prst="rect">
            <a:avLst/>
          </a:prstGeom>
          <a:solidFill>
            <a:srgbClr val="D8EBC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123"/>
          </a:p>
        </p:txBody>
      </p:sp>
      <p:sp>
        <p:nvSpPr>
          <p:cNvPr id="1059" name="矩形 1058">
            <a:extLst>
              <a:ext uri="{FF2B5EF4-FFF2-40B4-BE49-F238E27FC236}">
                <a16:creationId xmlns:a16="http://schemas.microsoft.com/office/drawing/2014/main" id="{4E45865F-0F6C-9195-692E-A98D8C4032A6}"/>
              </a:ext>
            </a:extLst>
          </p:cNvPr>
          <p:cNvSpPr/>
          <p:nvPr/>
        </p:nvSpPr>
        <p:spPr>
          <a:xfrm>
            <a:off x="5319243" y="5777501"/>
            <a:ext cx="180136" cy="74268"/>
          </a:xfrm>
          <a:prstGeom prst="rect">
            <a:avLst/>
          </a:prstGeom>
          <a:solidFill>
            <a:srgbClr val="D8EBC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123"/>
          </a:p>
        </p:txBody>
      </p:sp>
      <p:cxnSp>
        <p:nvCxnSpPr>
          <p:cNvPr id="1060" name="直接箭头连接符 1059">
            <a:extLst>
              <a:ext uri="{FF2B5EF4-FFF2-40B4-BE49-F238E27FC236}">
                <a16:creationId xmlns:a16="http://schemas.microsoft.com/office/drawing/2014/main" id="{7C33750A-30D3-06C9-2F20-C3778BEB6589}"/>
              </a:ext>
            </a:extLst>
          </p:cNvPr>
          <p:cNvCxnSpPr>
            <a:cxnSpLocks/>
          </p:cNvCxnSpPr>
          <p:nvPr/>
        </p:nvCxnSpPr>
        <p:spPr>
          <a:xfrm>
            <a:off x="4788728" y="5852162"/>
            <a:ext cx="896012" cy="0"/>
          </a:xfrm>
          <a:prstGeom prst="straightConnector1">
            <a:avLst/>
          </a:prstGeom>
          <a:ln w="12700">
            <a:solidFill>
              <a:srgbClr val="8FC26C"/>
            </a:solidFill>
            <a:tailEnd type="triangle" w="sm" len="sm"/>
          </a:ln>
        </p:spPr>
        <p:style>
          <a:lnRef idx="1">
            <a:schemeClr val="dk1"/>
          </a:lnRef>
          <a:fillRef idx="0">
            <a:schemeClr val="dk1"/>
          </a:fillRef>
          <a:effectRef idx="0">
            <a:schemeClr val="dk1"/>
          </a:effectRef>
          <a:fontRef idx="minor">
            <a:schemeClr val="tx1"/>
          </a:fontRef>
        </p:style>
      </p:cxnSp>
      <p:sp>
        <p:nvSpPr>
          <p:cNvPr id="1061" name="任意多边形: 形状 1060">
            <a:extLst>
              <a:ext uri="{FF2B5EF4-FFF2-40B4-BE49-F238E27FC236}">
                <a16:creationId xmlns:a16="http://schemas.microsoft.com/office/drawing/2014/main" id="{1613317D-96A1-4C1F-552A-40A48E0D7B7F}"/>
              </a:ext>
            </a:extLst>
          </p:cNvPr>
          <p:cNvSpPr/>
          <p:nvPr/>
        </p:nvSpPr>
        <p:spPr>
          <a:xfrm>
            <a:off x="4965616" y="5279195"/>
            <a:ext cx="482235" cy="573179"/>
          </a:xfrm>
          <a:custGeom>
            <a:avLst/>
            <a:gdLst>
              <a:gd name="connsiteX0" fmla="*/ 0 w 296862"/>
              <a:gd name="connsiteY0" fmla="*/ 352847 h 352847"/>
              <a:gd name="connsiteX1" fmla="*/ 58737 w 296862"/>
              <a:gd name="connsiteY1" fmla="*/ 279822 h 352847"/>
              <a:gd name="connsiteX2" fmla="*/ 141287 w 296862"/>
              <a:gd name="connsiteY2" fmla="*/ 422 h 352847"/>
              <a:gd name="connsiteX3" fmla="*/ 296862 w 296862"/>
              <a:gd name="connsiteY3" fmla="*/ 349672 h 352847"/>
            </a:gdLst>
            <a:ahLst/>
            <a:cxnLst>
              <a:cxn ang="0">
                <a:pos x="connsiteX0" y="connsiteY0"/>
              </a:cxn>
              <a:cxn ang="0">
                <a:pos x="connsiteX1" y="connsiteY1"/>
              </a:cxn>
              <a:cxn ang="0">
                <a:pos x="connsiteX2" y="connsiteY2"/>
              </a:cxn>
              <a:cxn ang="0">
                <a:pos x="connsiteX3" y="connsiteY3"/>
              </a:cxn>
            </a:cxnLst>
            <a:rect l="l" t="t" r="r" b="b"/>
            <a:pathLst>
              <a:path w="296862" h="352847">
                <a:moveTo>
                  <a:pt x="0" y="352847"/>
                </a:moveTo>
                <a:cubicBezTo>
                  <a:pt x="17594" y="345703"/>
                  <a:pt x="35189" y="338559"/>
                  <a:pt x="58737" y="279822"/>
                </a:cubicBezTo>
                <a:cubicBezTo>
                  <a:pt x="82285" y="221085"/>
                  <a:pt x="101600" y="-11220"/>
                  <a:pt x="141287" y="422"/>
                </a:cubicBezTo>
                <a:cubicBezTo>
                  <a:pt x="180975" y="12064"/>
                  <a:pt x="238918" y="180868"/>
                  <a:pt x="296862" y="349672"/>
                </a:cubicBezTo>
              </a:path>
            </a:pathLst>
          </a:custGeom>
          <a:noFill/>
          <a:ln w="9525">
            <a:solidFill>
              <a:srgbClr val="8FC2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123"/>
          </a:p>
        </p:txBody>
      </p:sp>
      <p:sp>
        <p:nvSpPr>
          <p:cNvPr id="1062" name="矩形: 圆角 1061">
            <a:extLst>
              <a:ext uri="{FF2B5EF4-FFF2-40B4-BE49-F238E27FC236}">
                <a16:creationId xmlns:a16="http://schemas.microsoft.com/office/drawing/2014/main" id="{12A4DEC7-7599-E096-DAB3-427F61B4FFF8}"/>
              </a:ext>
            </a:extLst>
          </p:cNvPr>
          <p:cNvSpPr/>
          <p:nvPr/>
        </p:nvSpPr>
        <p:spPr>
          <a:xfrm>
            <a:off x="5861069" y="5423701"/>
            <a:ext cx="769370" cy="353800"/>
          </a:xfrm>
          <a:prstGeom prst="roundRect">
            <a:avLst/>
          </a:prstGeom>
          <a:noFill/>
          <a:ln>
            <a:solidFill>
              <a:srgbClr val="8FC26C"/>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123" dirty="0"/>
          </a:p>
        </p:txBody>
      </p:sp>
      <p:cxnSp>
        <p:nvCxnSpPr>
          <p:cNvPr id="1064" name="直接箭头连接符 1063">
            <a:extLst>
              <a:ext uri="{FF2B5EF4-FFF2-40B4-BE49-F238E27FC236}">
                <a16:creationId xmlns:a16="http://schemas.microsoft.com/office/drawing/2014/main" id="{9FFE0CFF-CFF6-B491-A606-B0A42CBF5D07}"/>
              </a:ext>
            </a:extLst>
          </p:cNvPr>
          <p:cNvCxnSpPr>
            <a:cxnSpLocks/>
          </p:cNvCxnSpPr>
          <p:nvPr/>
        </p:nvCxnSpPr>
        <p:spPr>
          <a:xfrm>
            <a:off x="5514476" y="5586032"/>
            <a:ext cx="245135" cy="0"/>
          </a:xfrm>
          <a:prstGeom prst="straightConnector1">
            <a:avLst/>
          </a:prstGeom>
          <a:ln w="9525">
            <a:tailEnd type="triangle"/>
          </a:ln>
        </p:spPr>
        <p:style>
          <a:lnRef idx="1">
            <a:schemeClr val="dk1"/>
          </a:lnRef>
          <a:fillRef idx="0">
            <a:schemeClr val="dk1"/>
          </a:fillRef>
          <a:effectRef idx="0">
            <a:schemeClr val="dk1"/>
          </a:effectRef>
          <a:fontRef idx="minor">
            <a:schemeClr val="tx1"/>
          </a:fontRef>
        </p:style>
      </p:cxnSp>
      <p:sp>
        <p:nvSpPr>
          <p:cNvPr id="1071" name="文本框 1070">
            <a:extLst>
              <a:ext uri="{FF2B5EF4-FFF2-40B4-BE49-F238E27FC236}">
                <a16:creationId xmlns:a16="http://schemas.microsoft.com/office/drawing/2014/main" id="{86C3369A-850A-B75B-FD81-7ABF1928BF65}"/>
              </a:ext>
            </a:extLst>
          </p:cNvPr>
          <p:cNvSpPr txBox="1"/>
          <p:nvPr/>
        </p:nvSpPr>
        <p:spPr>
          <a:xfrm>
            <a:off x="4670073" y="5946982"/>
            <a:ext cx="1226109" cy="276999"/>
          </a:xfrm>
          <a:prstGeom prst="rect">
            <a:avLst/>
          </a:prstGeom>
          <a:noFill/>
        </p:spPr>
        <p:txBody>
          <a:bodyPr wrap="square" rtlCol="0">
            <a:spAutoFit/>
          </a:bodyPr>
          <a:lstStyle/>
          <a:p>
            <a:r>
              <a:rPr lang="zh-CN" altLang="en-US" sz="1200" dirty="0">
                <a:latin typeface="华文楷体" panose="02010600040101010101" pitchFamily="2" charset="-122"/>
                <a:ea typeface="华文楷体" panose="02010600040101010101" pitchFamily="2" charset="-122"/>
              </a:rPr>
              <a:t>特征预测概率</a:t>
            </a:r>
          </a:p>
        </p:txBody>
      </p:sp>
      <p:sp>
        <p:nvSpPr>
          <p:cNvPr id="1072" name="文本框 1071">
            <a:extLst>
              <a:ext uri="{FF2B5EF4-FFF2-40B4-BE49-F238E27FC236}">
                <a16:creationId xmlns:a16="http://schemas.microsoft.com/office/drawing/2014/main" id="{6C3F25C8-00D1-D6B4-B3AD-752AF9BEB638}"/>
              </a:ext>
            </a:extLst>
          </p:cNvPr>
          <p:cNvSpPr txBox="1"/>
          <p:nvPr/>
        </p:nvSpPr>
        <p:spPr>
          <a:xfrm>
            <a:off x="5808881" y="5466943"/>
            <a:ext cx="896011" cy="261610"/>
          </a:xfrm>
          <a:prstGeom prst="rect">
            <a:avLst/>
          </a:prstGeom>
          <a:noFill/>
        </p:spPr>
        <p:txBody>
          <a:bodyPr wrap="square" rtlCol="0">
            <a:spAutoFit/>
          </a:bodyPr>
          <a:lstStyle/>
          <a:p>
            <a:r>
              <a:rPr lang="zh-CN" altLang="en-US" sz="1100" dirty="0">
                <a:solidFill>
                  <a:srgbClr val="8FC26C"/>
                </a:solidFill>
                <a:latin typeface="华文楷体" panose="02010600040101010101" pitchFamily="2" charset="-122"/>
                <a:ea typeface="华文楷体" panose="02010600040101010101" pitchFamily="2" charset="-122"/>
              </a:rPr>
              <a:t>不确定性小</a:t>
            </a:r>
          </a:p>
        </p:txBody>
      </p:sp>
      <p:sp>
        <p:nvSpPr>
          <p:cNvPr id="1073" name="矩形: 圆角 1072">
            <a:extLst>
              <a:ext uri="{FF2B5EF4-FFF2-40B4-BE49-F238E27FC236}">
                <a16:creationId xmlns:a16="http://schemas.microsoft.com/office/drawing/2014/main" id="{6D6A1755-6C55-9541-957A-01FE83AEF619}"/>
              </a:ext>
            </a:extLst>
          </p:cNvPr>
          <p:cNvSpPr/>
          <p:nvPr/>
        </p:nvSpPr>
        <p:spPr>
          <a:xfrm>
            <a:off x="7085658" y="5414785"/>
            <a:ext cx="533523" cy="353800"/>
          </a:xfrm>
          <a:prstGeom prst="roundRect">
            <a:avLst/>
          </a:prstGeom>
          <a:noFill/>
          <a:ln>
            <a:solidFill>
              <a:srgbClr val="8FC26C"/>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123" dirty="0"/>
          </a:p>
        </p:txBody>
      </p:sp>
      <p:cxnSp>
        <p:nvCxnSpPr>
          <p:cNvPr id="1074" name="直接箭头连接符 1073">
            <a:extLst>
              <a:ext uri="{FF2B5EF4-FFF2-40B4-BE49-F238E27FC236}">
                <a16:creationId xmlns:a16="http://schemas.microsoft.com/office/drawing/2014/main" id="{3FAF0D98-2D43-0968-B31C-4DDA576BBCB6}"/>
              </a:ext>
            </a:extLst>
          </p:cNvPr>
          <p:cNvCxnSpPr>
            <a:cxnSpLocks/>
          </p:cNvCxnSpPr>
          <p:nvPr/>
        </p:nvCxnSpPr>
        <p:spPr>
          <a:xfrm>
            <a:off x="6739065" y="5577116"/>
            <a:ext cx="245135" cy="0"/>
          </a:xfrm>
          <a:prstGeom prst="straightConnector1">
            <a:avLst/>
          </a:prstGeom>
          <a:ln w="9525">
            <a:tailEnd type="triangle"/>
          </a:ln>
        </p:spPr>
        <p:style>
          <a:lnRef idx="1">
            <a:schemeClr val="dk1"/>
          </a:lnRef>
          <a:fillRef idx="0">
            <a:schemeClr val="dk1"/>
          </a:fillRef>
          <a:effectRef idx="0">
            <a:schemeClr val="dk1"/>
          </a:effectRef>
          <a:fontRef idx="minor">
            <a:schemeClr val="tx1"/>
          </a:fontRef>
        </p:style>
      </p:cxnSp>
      <p:sp>
        <p:nvSpPr>
          <p:cNvPr id="1075" name="文本框 1074">
            <a:extLst>
              <a:ext uri="{FF2B5EF4-FFF2-40B4-BE49-F238E27FC236}">
                <a16:creationId xmlns:a16="http://schemas.microsoft.com/office/drawing/2014/main" id="{A7A68806-BF7A-4921-1AF4-C619DC3988DF}"/>
              </a:ext>
            </a:extLst>
          </p:cNvPr>
          <p:cNvSpPr txBox="1"/>
          <p:nvPr/>
        </p:nvSpPr>
        <p:spPr>
          <a:xfrm>
            <a:off x="7052547" y="5450946"/>
            <a:ext cx="643654" cy="261610"/>
          </a:xfrm>
          <a:prstGeom prst="rect">
            <a:avLst/>
          </a:prstGeom>
          <a:noFill/>
        </p:spPr>
        <p:txBody>
          <a:bodyPr wrap="square" rtlCol="0">
            <a:spAutoFit/>
          </a:bodyPr>
          <a:lstStyle/>
          <a:p>
            <a:r>
              <a:rPr lang="zh-CN" altLang="en-US" sz="1100" dirty="0">
                <a:solidFill>
                  <a:schemeClr val="accent6"/>
                </a:solidFill>
                <a:latin typeface="华文楷体" panose="02010600040101010101" pitchFamily="2" charset="-122"/>
                <a:ea typeface="华文楷体" panose="02010600040101010101" pitchFamily="2" charset="-122"/>
              </a:rPr>
              <a:t>权重大</a:t>
            </a:r>
          </a:p>
        </p:txBody>
      </p:sp>
    </p:spTree>
  </p:cSld>
  <p:clrMapOvr>
    <a:masterClrMapping/>
  </p:clrMapOvr>
  <mc:AlternateContent xmlns:mc="http://schemas.openxmlformats.org/markup-compatibility/2006" xmlns:p14="http://schemas.microsoft.com/office/powerpoint/2010/main">
    <mc:Choice Requires="p14">
      <p:transition spd="slow" p14:dur="2000" advTm="45348"/>
    </mc:Choice>
    <mc:Fallback xmlns="">
      <p:transition spd="slow" advTm="45348"/>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024" grpId="0"/>
    </p:bldLst>
  </p:timing>
</p:sld>
</file>

<file path=ppt/slides/slide17.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16" name="Rectangle 15"/>
          <p:cNvSpPr/>
          <p:nvPr/>
        </p:nvSpPr>
        <p:spPr>
          <a:xfrm>
            <a:off x="0" y="2628900"/>
            <a:ext cx="9144000" cy="1409700"/>
          </a:xfrm>
          <a:prstGeom prst="rect">
            <a:avLst/>
          </a:prstGeom>
          <a:solidFill>
            <a:srgbClr val="2E75B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标题 2"/>
          <p:cNvSpPr>
            <a:spLocks noGrp="1"/>
          </p:cNvSpPr>
          <p:nvPr>
            <p:ph type="title"/>
          </p:nvPr>
        </p:nvSpPr>
        <p:spPr>
          <a:xfrm>
            <a:off x="457200" y="2762250"/>
            <a:ext cx="8229600" cy="1143000"/>
          </a:xfrm>
        </p:spPr>
        <p:txBody>
          <a:bodyPr/>
          <a:lstStyle/>
          <a:p>
            <a:pPr algn="ctr"/>
            <a:r>
              <a:rPr kumimoji="1" lang="zh-CN" altLang="en-US" dirty="0">
                <a:solidFill>
                  <a:schemeClr val="bg1"/>
                </a:solidFill>
                <a:latin typeface="STKaiti" panose="02010600040101010101" charset="-122"/>
                <a:ea typeface="STKaiti" panose="02010600040101010101" charset="-122"/>
              </a:rPr>
              <a:t>已有工作基础</a:t>
            </a:r>
          </a:p>
        </p:txBody>
      </p:sp>
    </p:spTree>
  </p:cSld>
  <p:clrMapOvr>
    <a:masterClrMapping/>
  </p:clrMapOvr>
  <mc:AlternateContent xmlns:mc="http://schemas.openxmlformats.org/markup-compatibility/2006" xmlns:p14="http://schemas.microsoft.com/office/powerpoint/2010/main">
    <mc:Choice Requires="p14">
      <p:transition spd="slow" p14:dur="2000" advTm="855"/>
    </mc:Choice>
    <mc:Fallback xmlns="">
      <p:transition spd="slow" advTm="855"/>
    </mc:Fallback>
  </mc:AlternateContent>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pPr algn="ctr"/>
            <a:r>
              <a:rPr kumimoji="1" lang="zh-CN" altLang="en-US" b="1" dirty="0">
                <a:latin typeface="STKaiti" panose="02010600040101010101" charset="-122"/>
                <a:ea typeface="STKaiti" panose="02010600040101010101" charset="-122"/>
              </a:rPr>
              <a:t>已有工作基础</a:t>
            </a:r>
          </a:p>
        </p:txBody>
      </p:sp>
      <p:sp>
        <p:nvSpPr>
          <p:cNvPr id="5" name="内容占位符 1"/>
          <p:cNvSpPr>
            <a:spLocks noGrp="1"/>
          </p:cNvSpPr>
          <p:nvPr>
            <p:ph idx="4294967295"/>
          </p:nvPr>
        </p:nvSpPr>
        <p:spPr>
          <a:xfrm>
            <a:off x="1686527" y="1753522"/>
            <a:ext cx="6834505" cy="3421862"/>
          </a:xfrm>
        </p:spPr>
        <p:txBody>
          <a:bodyPr>
            <a:normAutofit/>
          </a:bodyPr>
          <a:lstStyle/>
          <a:p>
            <a:pPr marL="0" indent="0">
              <a:lnSpc>
                <a:spcPct val="125000"/>
              </a:lnSpc>
              <a:buNone/>
            </a:pPr>
            <a:r>
              <a:rPr lang="zh-CN" altLang="en-US" sz="1600" dirty="0">
                <a:latin typeface="STKaiti" panose="02010600040101010101" charset="-122"/>
                <a:ea typeface="STKaiti" panose="02010600040101010101" charset="-122"/>
              </a:rPr>
              <a:t>研究内容一：已形成论文并投稿 </a:t>
            </a:r>
            <a:r>
              <a:rPr lang="en-US" altLang="zh-CN" sz="1600" dirty="0">
                <a:latin typeface="Times New Roman" panose="02020603050405020304" pitchFamily="18" charset="0"/>
                <a:cs typeface="Times New Roman" panose="02020603050405020304" pitchFamily="18" charset="0"/>
              </a:rPr>
              <a:t>IJCAI2025</a:t>
            </a:r>
            <a:r>
              <a:rPr lang="zh-CN" altLang="en-US" sz="1600" dirty="0">
                <a:latin typeface="STKaiti" panose="02010600040101010101" charset="-122"/>
                <a:ea typeface="STKaiti" panose="02010600040101010101" charset="-122"/>
              </a:rPr>
              <a:t>。</a:t>
            </a:r>
            <a:endParaRPr lang="en-US" altLang="zh-CN" sz="1600" dirty="0">
              <a:latin typeface="STKaiti" panose="02010600040101010101" charset="-122"/>
              <a:ea typeface="STKaiti" panose="02010600040101010101" charset="-122"/>
            </a:endParaRPr>
          </a:p>
          <a:p>
            <a:pPr marL="0" indent="0">
              <a:lnSpc>
                <a:spcPct val="125000"/>
              </a:lnSpc>
              <a:buNone/>
            </a:pPr>
            <a:r>
              <a:rPr lang="en-US" altLang="zh-CN" sz="1600" dirty="0">
                <a:latin typeface="Times New Roman Regular" panose="02020603050405020304" charset="0"/>
                <a:cs typeface="Times New Roman Regular" panose="02020603050405020304" charset="0"/>
              </a:rPr>
              <a:t>Categorical Attention: Fine-grained Language-guided Noise Filtering Network for Occluded Person Re-Identification. </a:t>
            </a:r>
            <a:endParaRPr lang="en-US" altLang="zh-CN" sz="1600" b="1" dirty="0">
              <a:latin typeface="Times New Roman Regular" panose="02020603050405020304" charset="0"/>
              <a:ea typeface="STKaiti" panose="02010600040101010101" charset="-122"/>
              <a:cs typeface="Times New Roman Regular" panose="02020603050405020304" charset="0"/>
            </a:endParaRPr>
          </a:p>
          <a:p>
            <a:pPr marL="0" indent="0">
              <a:lnSpc>
                <a:spcPct val="125000"/>
              </a:lnSpc>
              <a:buNone/>
            </a:pPr>
            <a:r>
              <a:rPr lang="zh-CN" altLang="en-US" sz="1600" dirty="0">
                <a:latin typeface="STKaiti" panose="02010600040101010101" charset="-122"/>
                <a:ea typeface="STKaiti" panose="02010600040101010101" charset="-122"/>
              </a:rPr>
              <a:t>研究内容二：</a:t>
            </a:r>
            <a:endParaRPr lang="en-US" altLang="zh-CN" sz="1600" dirty="0">
              <a:latin typeface="STKaiti" panose="02010600040101010101" charset="-122"/>
              <a:ea typeface="STKaiti" panose="02010600040101010101" charset="-122"/>
            </a:endParaRPr>
          </a:p>
          <a:p>
            <a:pPr marL="0" indent="0">
              <a:lnSpc>
                <a:spcPct val="125000"/>
              </a:lnSpc>
              <a:buNone/>
            </a:pPr>
            <a:r>
              <a:rPr lang="zh-CN" altLang="en-US" sz="1600" dirty="0">
                <a:latin typeface="STKaiti" panose="02010600040101010101" charset="-122"/>
                <a:ea typeface="STKaiti" panose="02010600040101010101" charset="-122"/>
              </a:rPr>
              <a:t>基于特征解耦的遮挡物噪声检测和抑制方法 ，已</a:t>
            </a:r>
            <a:r>
              <a:rPr lang="zh-CN" altLang="en-US" sz="1600" dirty="0"/>
              <a:t>调研相关方法并形成初步模型</a:t>
            </a:r>
            <a:r>
              <a:rPr lang="zh-CN" altLang="en-US" sz="1600" dirty="0">
                <a:latin typeface="STKaiti" panose="02010600040101010101" charset="-122"/>
                <a:ea typeface="STKaiti" panose="02010600040101010101" charset="-122"/>
              </a:rPr>
              <a:t>。</a:t>
            </a:r>
          </a:p>
          <a:p>
            <a:pPr marL="0" indent="0">
              <a:lnSpc>
                <a:spcPct val="125000"/>
              </a:lnSpc>
              <a:buNone/>
            </a:pPr>
            <a:r>
              <a:rPr lang="zh-CN" altLang="en-US" sz="1600" dirty="0">
                <a:sym typeface="+mn-ea"/>
              </a:rPr>
              <a:t>研究内容三：</a:t>
            </a:r>
            <a:endParaRPr lang="en-US" altLang="zh-CN" sz="1600" dirty="0">
              <a:latin typeface="STKaiti" panose="02010600040101010101" charset="-122"/>
              <a:ea typeface="STKaiti" panose="02010600040101010101" charset="-122"/>
            </a:endParaRPr>
          </a:p>
          <a:p>
            <a:pPr marL="0" indent="0">
              <a:lnSpc>
                <a:spcPct val="125000"/>
              </a:lnSpc>
              <a:buNone/>
            </a:pPr>
            <a:r>
              <a:rPr lang="zh-CN" altLang="en-US" sz="1600" dirty="0">
                <a:sym typeface="+mn-ea"/>
              </a:rPr>
              <a:t>基于多模态交互的特征增强方法，已实现方法并验证了其有效性。</a:t>
            </a:r>
            <a:endParaRPr lang="en-US" altLang="zh-CN" sz="1600" dirty="0">
              <a:latin typeface="STKaiti" panose="02010600040101010101" charset="-122"/>
              <a:ea typeface="STKaiti" panose="02010600040101010101" charset="-122"/>
            </a:endParaRPr>
          </a:p>
        </p:txBody>
      </p:sp>
      <p:sp>
        <p:nvSpPr>
          <p:cNvPr id="6" name="Slide Number Placeholder 14"/>
          <p:cNvSpPr txBox="1"/>
          <p:nvPr/>
        </p:nvSpPr>
        <p:spPr>
          <a:xfrm>
            <a:off x="6705600" y="6508754"/>
            <a:ext cx="2133600"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Arial" panose="020B06040202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D69E98CB-8E38-42BF-857B-65773CD3393B}" type="slidenum">
              <a:rPr lang="en-US" altLang="zh-CN" smtClean="0"/>
              <a:t>18</a:t>
            </a:fld>
            <a:endParaRPr lang="en-US" altLang="zh-CN" dirty="0"/>
          </a:p>
        </p:txBody>
      </p:sp>
      <p:sp>
        <p:nvSpPr>
          <p:cNvPr id="11" name="AutoShape 14">
            <a:extLst>
              <a:ext uri="{FF2B5EF4-FFF2-40B4-BE49-F238E27FC236}">
                <a16:creationId xmlns:a16="http://schemas.microsoft.com/office/drawing/2014/main" id="{1B96803E-85C3-4CD0-971C-A27EF2108CBA}"/>
              </a:ext>
            </a:extLst>
          </p:cNvPr>
          <p:cNvSpPr>
            <a:spLocks noChangeArrowheads="1"/>
          </p:cNvSpPr>
          <p:nvPr/>
        </p:nvSpPr>
        <p:spPr bwMode="gray">
          <a:xfrm>
            <a:off x="283176" y="3102105"/>
            <a:ext cx="1296035" cy="645795"/>
          </a:xfrm>
          <a:prstGeom prst="roundRect">
            <a:avLst>
              <a:gd name="adj" fmla="val 16667"/>
            </a:avLst>
          </a:prstGeom>
          <a:solidFill>
            <a:schemeClr val="accent5">
              <a:lumMod val="75000"/>
            </a:schemeClr>
          </a:solidFill>
          <a:ln w="38100" algn="ctr">
            <a:solidFill>
              <a:srgbClr val="F8F8F8">
                <a:alpha val="70000"/>
              </a:srgbClr>
            </a:solidFill>
            <a:round/>
          </a:ln>
          <a:effectLst/>
        </p:spPr>
        <p:txBody>
          <a:bodyPr wrap="none" anchor="ctr"/>
          <a:lstStyle>
            <a:defPPr>
              <a:defRPr lang="en-US"/>
            </a:defPPr>
            <a:lvl1pPr algn="l" rtl="0" fontAlgn="base">
              <a:spcBef>
                <a:spcPct val="0"/>
              </a:spcBef>
              <a:spcAft>
                <a:spcPct val="0"/>
              </a:spcAft>
              <a:defRPr kern="1200">
                <a:solidFill>
                  <a:schemeClr val="tx1"/>
                </a:solidFill>
                <a:latin typeface="Arial" panose="020B0604020202020204" pitchFamily="34" charset="0"/>
                <a:ea typeface="宋体"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itchFamily="2" charset="-122"/>
                <a:cs typeface="+mn-cs"/>
              </a:defRPr>
            </a:lvl9pPr>
          </a:lstStyle>
          <a:p>
            <a:pPr>
              <a:defRPr/>
            </a:pPr>
            <a:r>
              <a:rPr lang="zh-CN" altLang="en-US" b="1" dirty="0">
                <a:latin typeface="华文楷体" panose="02010600040101010101" pitchFamily="2" charset="-122"/>
                <a:ea typeface="华文楷体" panose="02010600040101010101" pitchFamily="2" charset="-122"/>
              </a:rPr>
              <a:t> 科研情况</a:t>
            </a:r>
            <a:endParaRPr lang="zh-CN" altLang="en-US" sz="1800" b="1" dirty="0">
              <a:latin typeface="华文楷体" panose="02010600040101010101" pitchFamily="2" charset="-122"/>
              <a:ea typeface="华文楷体" panose="0201060004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spd="slow" p14:dur="2000" advTm="7783"/>
    </mc:Choice>
    <mc:Fallback xmlns="">
      <p:transition spd="slow" advTm="7783"/>
    </mc:Fallback>
  </mc:AlternateContent>
</p:sld>
</file>

<file path=ppt/slides/slide19.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16" name="Rectangle 15"/>
          <p:cNvSpPr/>
          <p:nvPr/>
        </p:nvSpPr>
        <p:spPr>
          <a:xfrm>
            <a:off x="0" y="2628900"/>
            <a:ext cx="9144000" cy="1409700"/>
          </a:xfrm>
          <a:prstGeom prst="rect">
            <a:avLst/>
          </a:prstGeom>
          <a:solidFill>
            <a:srgbClr val="2E75B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标题 2"/>
          <p:cNvSpPr>
            <a:spLocks noGrp="1"/>
          </p:cNvSpPr>
          <p:nvPr>
            <p:ph type="title"/>
          </p:nvPr>
        </p:nvSpPr>
        <p:spPr>
          <a:xfrm>
            <a:off x="457200" y="2762250"/>
            <a:ext cx="8229600" cy="1143000"/>
          </a:xfrm>
        </p:spPr>
        <p:txBody>
          <a:bodyPr/>
          <a:lstStyle/>
          <a:p>
            <a:pPr algn="ctr"/>
            <a:r>
              <a:rPr kumimoji="1" lang="zh-CN" altLang="en-US" dirty="0">
                <a:solidFill>
                  <a:schemeClr val="bg1"/>
                </a:solidFill>
                <a:latin typeface="STKaiti" panose="02010600040101010101" charset="-122"/>
                <a:ea typeface="STKaiti" panose="02010600040101010101" charset="-122"/>
              </a:rPr>
              <a:t>研究计划及预期进展</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pPr algn="ctr"/>
            <a:r>
              <a:rPr kumimoji="1" lang="zh-CN" altLang="en-US" b="1" dirty="0">
                <a:latin typeface="STKaiti" panose="02010600040101010101" charset="-122"/>
                <a:ea typeface="STKaiti" panose="02010600040101010101" charset="-122"/>
              </a:rPr>
              <a:t>研究计划</a:t>
            </a:r>
          </a:p>
        </p:txBody>
      </p:sp>
      <p:sp>
        <p:nvSpPr>
          <p:cNvPr id="9" name="Slide Number Placeholder 14"/>
          <p:cNvSpPr txBox="1"/>
          <p:nvPr/>
        </p:nvSpPr>
        <p:spPr>
          <a:xfrm>
            <a:off x="6705600" y="6508754"/>
            <a:ext cx="2133600"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Arial" panose="020B06040202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D69E98CB-8E38-42BF-857B-65773CD3393B}" type="slidenum">
              <a:rPr lang="en-US" altLang="zh-CN" smtClean="0"/>
              <a:t>20</a:t>
            </a:fld>
            <a:endParaRPr lang="en-US" altLang="zh-CN" dirty="0"/>
          </a:p>
        </p:txBody>
      </p:sp>
      <p:sp>
        <p:nvSpPr>
          <p:cNvPr id="76" name="箭头: 右 75">
            <a:extLst>
              <a:ext uri="{FF2B5EF4-FFF2-40B4-BE49-F238E27FC236}">
                <a16:creationId xmlns:a16="http://schemas.microsoft.com/office/drawing/2014/main" id="{2CB993C2-125D-45C8-AA80-D756DABFF10A}"/>
              </a:ext>
            </a:extLst>
          </p:cNvPr>
          <p:cNvSpPr/>
          <p:nvPr/>
        </p:nvSpPr>
        <p:spPr>
          <a:xfrm>
            <a:off x="0" y="3821155"/>
            <a:ext cx="9144000" cy="100013"/>
          </a:xfrm>
          <a:prstGeom prst="rightArrow">
            <a:avLst>
              <a:gd name="adj1" fmla="val 50000"/>
              <a:gd name="adj2" fmla="val 201429"/>
            </a:avLst>
          </a:prstGeom>
          <a:solidFill>
            <a:srgbClr val="2F38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zh-CN" altLang="en-US" sz="1400" dirty="0">
              <a:solidFill>
                <a:prstClr val="white"/>
              </a:solidFill>
              <a:latin typeface="思源黑体 CN Light" panose="020B0300000000000000" pitchFamily="34" charset="-122"/>
              <a:ea typeface="思源黑体 CN Medium"/>
            </a:endParaRPr>
          </a:p>
        </p:txBody>
      </p:sp>
      <p:grpSp>
        <p:nvGrpSpPr>
          <p:cNvPr id="77" name="组合 76">
            <a:extLst>
              <a:ext uri="{FF2B5EF4-FFF2-40B4-BE49-F238E27FC236}">
                <a16:creationId xmlns:a16="http://schemas.microsoft.com/office/drawing/2014/main" id="{34847DDE-AC56-44B3-BFE6-B4C8ED4106DA}"/>
              </a:ext>
            </a:extLst>
          </p:cNvPr>
          <p:cNvGrpSpPr/>
          <p:nvPr/>
        </p:nvGrpSpPr>
        <p:grpSpPr>
          <a:xfrm>
            <a:off x="947152" y="3244570"/>
            <a:ext cx="214313" cy="719236"/>
            <a:chOff x="1450516" y="3208887"/>
            <a:chExt cx="285750" cy="958981"/>
          </a:xfrm>
        </p:grpSpPr>
        <p:sp>
          <p:nvSpPr>
            <p:cNvPr id="78" name="椭圆 77">
              <a:extLst>
                <a:ext uri="{FF2B5EF4-FFF2-40B4-BE49-F238E27FC236}">
                  <a16:creationId xmlns:a16="http://schemas.microsoft.com/office/drawing/2014/main" id="{37575F16-E8C3-46F3-98BF-C6632A670B61}"/>
                </a:ext>
              </a:extLst>
            </p:cNvPr>
            <p:cNvSpPr/>
            <p:nvPr/>
          </p:nvSpPr>
          <p:spPr>
            <a:xfrm>
              <a:off x="1450516" y="3882118"/>
              <a:ext cx="285750" cy="285750"/>
            </a:xfrm>
            <a:prstGeom prst="ellipse">
              <a:avLst/>
            </a:prstGeom>
            <a:solidFill>
              <a:srgbClr val="9696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zh-CN" altLang="en-US" sz="1400" dirty="0">
                <a:solidFill>
                  <a:prstClr val="white"/>
                </a:solidFill>
                <a:latin typeface="思源黑体 CN Light" panose="020B0300000000000000" pitchFamily="34" charset="-122"/>
                <a:ea typeface="思源黑体 CN Medium"/>
              </a:endParaRPr>
            </a:p>
          </p:txBody>
        </p:sp>
        <p:cxnSp>
          <p:nvCxnSpPr>
            <p:cNvPr id="79" name="直接连接符 78">
              <a:extLst>
                <a:ext uri="{FF2B5EF4-FFF2-40B4-BE49-F238E27FC236}">
                  <a16:creationId xmlns:a16="http://schemas.microsoft.com/office/drawing/2014/main" id="{FA7FA135-57A2-44D9-839C-0F6FD52C4B7D}"/>
                </a:ext>
              </a:extLst>
            </p:cNvPr>
            <p:cNvCxnSpPr/>
            <p:nvPr/>
          </p:nvCxnSpPr>
          <p:spPr>
            <a:xfrm>
              <a:off x="1593391" y="3208887"/>
              <a:ext cx="0" cy="816106"/>
            </a:xfrm>
            <a:prstGeom prst="line">
              <a:avLst/>
            </a:prstGeom>
            <a:ln w="12700">
              <a:gradFill>
                <a:gsLst>
                  <a:gs pos="0">
                    <a:srgbClr val="969696">
                      <a:alpha val="0"/>
                    </a:srgbClr>
                  </a:gs>
                  <a:gs pos="100000">
                    <a:srgbClr val="969696"/>
                  </a:gs>
                </a:gsLst>
                <a:lin ang="5400000" scaled="1"/>
              </a:gradFill>
            </a:ln>
          </p:spPr>
          <p:style>
            <a:lnRef idx="1">
              <a:schemeClr val="accent1"/>
            </a:lnRef>
            <a:fillRef idx="0">
              <a:schemeClr val="accent1"/>
            </a:fillRef>
            <a:effectRef idx="0">
              <a:schemeClr val="accent1"/>
            </a:effectRef>
            <a:fontRef idx="minor">
              <a:schemeClr val="tx1"/>
            </a:fontRef>
          </p:style>
        </p:cxnSp>
      </p:grpSp>
      <p:grpSp>
        <p:nvGrpSpPr>
          <p:cNvPr id="80" name="组合 79">
            <a:extLst>
              <a:ext uri="{FF2B5EF4-FFF2-40B4-BE49-F238E27FC236}">
                <a16:creationId xmlns:a16="http://schemas.microsoft.com/office/drawing/2014/main" id="{FAB75BAD-19EA-4272-9420-CB8DF948C123}"/>
              </a:ext>
            </a:extLst>
          </p:cNvPr>
          <p:cNvGrpSpPr/>
          <p:nvPr/>
        </p:nvGrpSpPr>
        <p:grpSpPr>
          <a:xfrm>
            <a:off x="1921051" y="4499627"/>
            <a:ext cx="2188991" cy="1888518"/>
            <a:chOff x="108058" y="1470007"/>
            <a:chExt cx="2918654" cy="2518022"/>
          </a:xfrm>
        </p:grpSpPr>
        <p:sp>
          <p:nvSpPr>
            <p:cNvPr id="81" name="文本框 80">
              <a:extLst>
                <a:ext uri="{FF2B5EF4-FFF2-40B4-BE49-F238E27FC236}">
                  <a16:creationId xmlns:a16="http://schemas.microsoft.com/office/drawing/2014/main" id="{F9914BA6-48EB-4992-9BAD-BE6E365781D6}"/>
                </a:ext>
              </a:extLst>
            </p:cNvPr>
            <p:cNvSpPr txBox="1"/>
            <p:nvPr/>
          </p:nvSpPr>
          <p:spPr>
            <a:xfrm>
              <a:off x="184753" y="1470007"/>
              <a:ext cx="2841959" cy="603328"/>
            </a:xfrm>
            <a:prstGeom prst="rect">
              <a:avLst/>
            </a:prstGeom>
            <a:noFill/>
            <a:ln>
              <a:noFill/>
            </a:ln>
          </p:spPr>
          <p:txBody>
            <a:bodyPr wrap="square" rtlCol="0">
              <a:spAutoFit/>
            </a:bodyPr>
            <a:lstStyle>
              <a:defPPr>
                <a:defRPr lang="zh-CN"/>
              </a:defPPr>
              <a:lvl1pPr algn="just">
                <a:lnSpc>
                  <a:spcPct val="130000"/>
                </a:lnSpc>
                <a:defRPr sz="1600" b="1" spc="120">
                  <a:solidFill>
                    <a:schemeClr val="bg1"/>
                  </a:solidFill>
                  <a:latin typeface="思源黑体 CN Light" panose="020B0300000000000000" pitchFamily="34" charset="-122"/>
                  <a:ea typeface="思源黑体 CN Light" panose="020B0300000000000000" pitchFamily="34" charset="-122"/>
                </a:defRPr>
              </a:lvl1pPr>
            </a:lstStyle>
            <a:p>
              <a:pPr algn="l"/>
              <a:r>
                <a:rPr lang="en-US" altLang="zh-CN" sz="20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2024.8-2024.12</a:t>
              </a:r>
              <a:endParaRPr lang="zh-CN" altLang="en-US" sz="20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82" name="文本框 81">
              <a:extLst>
                <a:ext uri="{FF2B5EF4-FFF2-40B4-BE49-F238E27FC236}">
                  <a16:creationId xmlns:a16="http://schemas.microsoft.com/office/drawing/2014/main" id="{6AA7A488-0765-4AE8-86B4-189A32085151}"/>
                </a:ext>
              </a:extLst>
            </p:cNvPr>
            <p:cNvSpPr txBox="1"/>
            <p:nvPr/>
          </p:nvSpPr>
          <p:spPr>
            <a:xfrm>
              <a:off x="108058" y="1978676"/>
              <a:ext cx="2918653" cy="2009353"/>
            </a:xfrm>
            <a:prstGeom prst="rect">
              <a:avLst/>
            </a:prstGeom>
            <a:noFill/>
            <a:ln>
              <a:noFill/>
            </a:ln>
          </p:spPr>
          <p:txBody>
            <a:bodyPr wrap="square" rtlCol="0">
              <a:spAutoFit/>
            </a:bodyPr>
            <a:lstStyle/>
            <a:p>
              <a:pPr marL="285750" indent="-285750">
                <a:lnSpc>
                  <a:spcPct val="130000"/>
                </a:lnSpc>
                <a:buFont typeface="Wingdings" panose="05000000000000000000" pitchFamily="2" charset="2"/>
                <a:buChar char="Ø"/>
              </a:pPr>
              <a:r>
                <a:rPr lang="zh-CN" altLang="en-US" dirty="0">
                  <a:solidFill>
                    <a:srgbClr val="000000"/>
                  </a:solidFill>
                  <a:latin typeface="华文楷体" panose="02010600040101010101" pitchFamily="2" charset="-122"/>
                  <a:ea typeface="华文楷体" panose="02010600040101010101" pitchFamily="2" charset="-122"/>
                </a:rPr>
                <a:t>设计</a:t>
              </a:r>
              <a:r>
                <a:rPr kumimoji="1" lang="zh-CN" altLang="en-US" sz="1800" dirty="0">
                  <a:latin typeface="华文楷体" panose="02010600040101010101" pitchFamily="2" charset="-122"/>
                  <a:ea typeface="华文楷体" panose="02010600040101010101" pitchFamily="2" charset="-122"/>
                </a:rPr>
                <a:t>基于多模态大模型的细粒度</a:t>
              </a:r>
              <a:r>
                <a:rPr kumimoji="1" lang="en-US" altLang="zh-CN" sz="1800" dirty="0">
                  <a:latin typeface="华文楷体" panose="02010600040101010101" pitchFamily="2" charset="-122"/>
                  <a:ea typeface="华文楷体" panose="02010600040101010101" pitchFamily="2" charset="-122"/>
                </a:rPr>
                <a:t>prompt</a:t>
              </a:r>
              <a:r>
                <a:rPr kumimoji="1" lang="zh-CN" altLang="en-US" sz="1800" dirty="0">
                  <a:latin typeface="华文楷体" panose="02010600040101010101" pitchFamily="2" charset="-122"/>
                  <a:ea typeface="华文楷体" panose="02010600040101010101" pitchFamily="2" charset="-122"/>
                </a:rPr>
                <a:t>构建方法</a:t>
              </a:r>
              <a:r>
                <a:rPr lang="zh-CN" altLang="en-US" dirty="0">
                  <a:solidFill>
                    <a:srgbClr val="000000"/>
                  </a:solidFill>
                  <a:latin typeface="华文楷体" panose="02010600040101010101" pitchFamily="2" charset="-122"/>
                  <a:ea typeface="华文楷体" panose="02010600040101010101" pitchFamily="2" charset="-122"/>
                </a:rPr>
                <a:t>，并完成实验探究</a:t>
              </a:r>
            </a:p>
          </p:txBody>
        </p:sp>
      </p:grpSp>
      <p:grpSp>
        <p:nvGrpSpPr>
          <p:cNvPr id="83" name="组合 82">
            <a:extLst>
              <a:ext uri="{FF2B5EF4-FFF2-40B4-BE49-F238E27FC236}">
                <a16:creationId xmlns:a16="http://schemas.microsoft.com/office/drawing/2014/main" id="{812B027D-1CAA-4700-8FDF-0907C3131EA3}"/>
              </a:ext>
            </a:extLst>
          </p:cNvPr>
          <p:cNvGrpSpPr/>
          <p:nvPr/>
        </p:nvGrpSpPr>
        <p:grpSpPr>
          <a:xfrm flipV="1">
            <a:off x="2498631" y="3773160"/>
            <a:ext cx="214313" cy="719236"/>
            <a:chOff x="1450516" y="3208887"/>
            <a:chExt cx="285750" cy="958981"/>
          </a:xfrm>
        </p:grpSpPr>
        <p:sp>
          <p:nvSpPr>
            <p:cNvPr id="84" name="椭圆 83">
              <a:extLst>
                <a:ext uri="{FF2B5EF4-FFF2-40B4-BE49-F238E27FC236}">
                  <a16:creationId xmlns:a16="http://schemas.microsoft.com/office/drawing/2014/main" id="{F4BFE166-2D9F-4538-BB0D-FC119ED55D29}"/>
                </a:ext>
              </a:extLst>
            </p:cNvPr>
            <p:cNvSpPr/>
            <p:nvPr/>
          </p:nvSpPr>
          <p:spPr>
            <a:xfrm>
              <a:off x="1450516" y="3882118"/>
              <a:ext cx="285750" cy="285750"/>
            </a:xfrm>
            <a:prstGeom prst="ellipse">
              <a:avLst/>
            </a:prstGeom>
            <a:solidFill>
              <a:srgbClr val="9696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zh-CN" altLang="en-US" sz="1400" dirty="0">
                <a:solidFill>
                  <a:prstClr val="white"/>
                </a:solidFill>
                <a:latin typeface="思源黑体 CN Light" panose="020B0300000000000000" pitchFamily="34" charset="-122"/>
                <a:ea typeface="思源黑体 CN Medium"/>
              </a:endParaRPr>
            </a:p>
          </p:txBody>
        </p:sp>
        <p:cxnSp>
          <p:nvCxnSpPr>
            <p:cNvPr id="85" name="直接连接符 84">
              <a:extLst>
                <a:ext uri="{FF2B5EF4-FFF2-40B4-BE49-F238E27FC236}">
                  <a16:creationId xmlns:a16="http://schemas.microsoft.com/office/drawing/2014/main" id="{E076449C-8733-4BF3-B051-95D0F0958BC9}"/>
                </a:ext>
              </a:extLst>
            </p:cNvPr>
            <p:cNvCxnSpPr/>
            <p:nvPr/>
          </p:nvCxnSpPr>
          <p:spPr>
            <a:xfrm>
              <a:off x="1593391" y="3208887"/>
              <a:ext cx="0" cy="816106"/>
            </a:xfrm>
            <a:prstGeom prst="line">
              <a:avLst/>
            </a:prstGeom>
            <a:ln w="12700">
              <a:gradFill>
                <a:gsLst>
                  <a:gs pos="0">
                    <a:srgbClr val="969696">
                      <a:alpha val="0"/>
                    </a:srgbClr>
                  </a:gs>
                  <a:gs pos="100000">
                    <a:srgbClr val="969696"/>
                  </a:gs>
                </a:gsLst>
                <a:lin ang="5400000" scaled="1"/>
              </a:gradFill>
            </a:ln>
          </p:spPr>
          <p:style>
            <a:lnRef idx="1">
              <a:schemeClr val="accent1"/>
            </a:lnRef>
            <a:fillRef idx="0">
              <a:schemeClr val="accent1"/>
            </a:fillRef>
            <a:effectRef idx="0">
              <a:schemeClr val="accent1"/>
            </a:effectRef>
            <a:fontRef idx="minor">
              <a:schemeClr val="tx1"/>
            </a:fontRef>
          </p:style>
        </p:cxnSp>
      </p:grpSp>
      <p:grpSp>
        <p:nvGrpSpPr>
          <p:cNvPr id="86" name="组合 85">
            <a:extLst>
              <a:ext uri="{FF2B5EF4-FFF2-40B4-BE49-F238E27FC236}">
                <a16:creationId xmlns:a16="http://schemas.microsoft.com/office/drawing/2014/main" id="{8A854ED2-E95C-4830-A0DD-DA14CF6F5657}"/>
              </a:ext>
            </a:extLst>
          </p:cNvPr>
          <p:cNvGrpSpPr/>
          <p:nvPr/>
        </p:nvGrpSpPr>
        <p:grpSpPr>
          <a:xfrm>
            <a:off x="7356780" y="3259082"/>
            <a:ext cx="214313" cy="719236"/>
            <a:chOff x="1450516" y="3208887"/>
            <a:chExt cx="285750" cy="958981"/>
          </a:xfrm>
        </p:grpSpPr>
        <p:sp>
          <p:nvSpPr>
            <p:cNvPr id="87" name="椭圆 86">
              <a:extLst>
                <a:ext uri="{FF2B5EF4-FFF2-40B4-BE49-F238E27FC236}">
                  <a16:creationId xmlns:a16="http://schemas.microsoft.com/office/drawing/2014/main" id="{4F918328-C6F1-46BE-81AC-4D0A42C2C58A}"/>
                </a:ext>
              </a:extLst>
            </p:cNvPr>
            <p:cNvSpPr/>
            <p:nvPr/>
          </p:nvSpPr>
          <p:spPr>
            <a:xfrm>
              <a:off x="1450516" y="3882118"/>
              <a:ext cx="285750" cy="285750"/>
            </a:xfrm>
            <a:prstGeom prst="ellipse">
              <a:avLst/>
            </a:prstGeom>
            <a:solidFill>
              <a:srgbClr val="9696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zh-CN" altLang="en-US" sz="1400" dirty="0">
                <a:solidFill>
                  <a:prstClr val="white"/>
                </a:solidFill>
                <a:latin typeface="思源黑体 CN Light" panose="020B0300000000000000" pitchFamily="34" charset="-122"/>
                <a:ea typeface="思源黑体 CN Medium"/>
              </a:endParaRPr>
            </a:p>
          </p:txBody>
        </p:sp>
        <p:cxnSp>
          <p:nvCxnSpPr>
            <p:cNvPr id="88" name="直接连接符 87">
              <a:extLst>
                <a:ext uri="{FF2B5EF4-FFF2-40B4-BE49-F238E27FC236}">
                  <a16:creationId xmlns:a16="http://schemas.microsoft.com/office/drawing/2014/main" id="{A64BA460-A502-4D06-B956-6A1A06EE1A1C}"/>
                </a:ext>
              </a:extLst>
            </p:cNvPr>
            <p:cNvCxnSpPr/>
            <p:nvPr/>
          </p:nvCxnSpPr>
          <p:spPr>
            <a:xfrm>
              <a:off x="1593391" y="3208887"/>
              <a:ext cx="0" cy="816106"/>
            </a:xfrm>
            <a:prstGeom prst="line">
              <a:avLst/>
            </a:prstGeom>
            <a:ln w="12700">
              <a:gradFill>
                <a:gsLst>
                  <a:gs pos="0">
                    <a:srgbClr val="969696">
                      <a:alpha val="0"/>
                    </a:srgbClr>
                  </a:gs>
                  <a:gs pos="100000">
                    <a:srgbClr val="969696"/>
                  </a:gs>
                </a:gsLst>
                <a:lin ang="5400000" scaled="1"/>
              </a:gradFill>
            </a:ln>
          </p:spPr>
          <p:style>
            <a:lnRef idx="1">
              <a:schemeClr val="accent1"/>
            </a:lnRef>
            <a:fillRef idx="0">
              <a:schemeClr val="accent1"/>
            </a:fillRef>
            <a:effectRef idx="0">
              <a:schemeClr val="accent1"/>
            </a:effectRef>
            <a:fontRef idx="minor">
              <a:schemeClr val="tx1"/>
            </a:fontRef>
          </p:style>
        </p:cxnSp>
      </p:grpSp>
      <p:grpSp>
        <p:nvGrpSpPr>
          <p:cNvPr id="89" name="组合 88">
            <a:extLst>
              <a:ext uri="{FF2B5EF4-FFF2-40B4-BE49-F238E27FC236}">
                <a16:creationId xmlns:a16="http://schemas.microsoft.com/office/drawing/2014/main" id="{6D362CB7-1725-4E5A-A8C0-84C66179BA0D}"/>
              </a:ext>
            </a:extLst>
          </p:cNvPr>
          <p:cNvGrpSpPr/>
          <p:nvPr/>
        </p:nvGrpSpPr>
        <p:grpSpPr>
          <a:xfrm>
            <a:off x="3880599" y="3259082"/>
            <a:ext cx="214313" cy="719236"/>
            <a:chOff x="1450516" y="3208887"/>
            <a:chExt cx="285750" cy="958981"/>
          </a:xfrm>
        </p:grpSpPr>
        <p:sp>
          <p:nvSpPr>
            <p:cNvPr id="90" name="椭圆 89">
              <a:extLst>
                <a:ext uri="{FF2B5EF4-FFF2-40B4-BE49-F238E27FC236}">
                  <a16:creationId xmlns:a16="http://schemas.microsoft.com/office/drawing/2014/main" id="{EABFA4E1-2495-43D1-A80C-63B29249612F}"/>
                </a:ext>
              </a:extLst>
            </p:cNvPr>
            <p:cNvSpPr/>
            <p:nvPr/>
          </p:nvSpPr>
          <p:spPr>
            <a:xfrm>
              <a:off x="1450516" y="3882118"/>
              <a:ext cx="285750" cy="285750"/>
            </a:xfrm>
            <a:prstGeom prst="ellipse">
              <a:avLst/>
            </a:prstGeom>
            <a:solidFill>
              <a:srgbClr val="9696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zh-CN" altLang="en-US" sz="1400" dirty="0">
                <a:solidFill>
                  <a:prstClr val="white"/>
                </a:solidFill>
                <a:latin typeface="思源黑体 CN Light" panose="020B0300000000000000" pitchFamily="34" charset="-122"/>
                <a:ea typeface="思源黑体 CN Medium"/>
              </a:endParaRPr>
            </a:p>
          </p:txBody>
        </p:sp>
        <p:cxnSp>
          <p:nvCxnSpPr>
            <p:cNvPr id="91" name="直接连接符 90">
              <a:extLst>
                <a:ext uri="{FF2B5EF4-FFF2-40B4-BE49-F238E27FC236}">
                  <a16:creationId xmlns:a16="http://schemas.microsoft.com/office/drawing/2014/main" id="{9835EE29-210D-41E3-BBE3-14F9302D7C88}"/>
                </a:ext>
              </a:extLst>
            </p:cNvPr>
            <p:cNvCxnSpPr/>
            <p:nvPr/>
          </p:nvCxnSpPr>
          <p:spPr>
            <a:xfrm>
              <a:off x="1593391" y="3208887"/>
              <a:ext cx="0" cy="816106"/>
            </a:xfrm>
            <a:prstGeom prst="line">
              <a:avLst/>
            </a:prstGeom>
            <a:ln w="12700">
              <a:gradFill>
                <a:gsLst>
                  <a:gs pos="0">
                    <a:srgbClr val="969696">
                      <a:alpha val="0"/>
                    </a:srgbClr>
                  </a:gs>
                  <a:gs pos="100000">
                    <a:srgbClr val="969696"/>
                  </a:gs>
                </a:gsLst>
                <a:lin ang="5400000" scaled="1"/>
              </a:gradFill>
            </a:ln>
          </p:spPr>
          <p:style>
            <a:lnRef idx="1">
              <a:schemeClr val="accent1"/>
            </a:lnRef>
            <a:fillRef idx="0">
              <a:schemeClr val="accent1"/>
            </a:fillRef>
            <a:effectRef idx="0">
              <a:schemeClr val="accent1"/>
            </a:effectRef>
            <a:fontRef idx="minor">
              <a:schemeClr val="tx1"/>
            </a:fontRef>
          </p:style>
        </p:cxnSp>
      </p:grpSp>
      <p:grpSp>
        <p:nvGrpSpPr>
          <p:cNvPr id="92" name="组合 91">
            <a:extLst>
              <a:ext uri="{FF2B5EF4-FFF2-40B4-BE49-F238E27FC236}">
                <a16:creationId xmlns:a16="http://schemas.microsoft.com/office/drawing/2014/main" id="{EBB1665D-1727-4E6F-AF87-9D628201A260}"/>
              </a:ext>
            </a:extLst>
          </p:cNvPr>
          <p:cNvGrpSpPr/>
          <p:nvPr/>
        </p:nvGrpSpPr>
        <p:grpSpPr>
          <a:xfrm flipV="1">
            <a:off x="5160941" y="3780391"/>
            <a:ext cx="214313" cy="719236"/>
            <a:chOff x="1450516" y="3208887"/>
            <a:chExt cx="285750" cy="958981"/>
          </a:xfrm>
        </p:grpSpPr>
        <p:sp>
          <p:nvSpPr>
            <p:cNvPr id="93" name="椭圆 92">
              <a:extLst>
                <a:ext uri="{FF2B5EF4-FFF2-40B4-BE49-F238E27FC236}">
                  <a16:creationId xmlns:a16="http://schemas.microsoft.com/office/drawing/2014/main" id="{F202E804-E862-47DA-B7EC-B0FF34EF8394}"/>
                </a:ext>
              </a:extLst>
            </p:cNvPr>
            <p:cNvSpPr/>
            <p:nvPr/>
          </p:nvSpPr>
          <p:spPr>
            <a:xfrm>
              <a:off x="1450516" y="3882118"/>
              <a:ext cx="285750" cy="285750"/>
            </a:xfrm>
            <a:prstGeom prst="ellipse">
              <a:avLst/>
            </a:prstGeom>
            <a:solidFill>
              <a:srgbClr val="9696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zh-CN" altLang="en-US" sz="1400" dirty="0">
                <a:solidFill>
                  <a:prstClr val="white"/>
                </a:solidFill>
                <a:latin typeface="思源黑体 CN Light" panose="020B0300000000000000" pitchFamily="34" charset="-122"/>
                <a:ea typeface="思源黑体 CN Medium"/>
              </a:endParaRPr>
            </a:p>
          </p:txBody>
        </p:sp>
        <p:cxnSp>
          <p:nvCxnSpPr>
            <p:cNvPr id="94" name="直接连接符 93">
              <a:extLst>
                <a:ext uri="{FF2B5EF4-FFF2-40B4-BE49-F238E27FC236}">
                  <a16:creationId xmlns:a16="http://schemas.microsoft.com/office/drawing/2014/main" id="{2D344F2C-D477-4509-A4F7-7401B26CD0D6}"/>
                </a:ext>
              </a:extLst>
            </p:cNvPr>
            <p:cNvCxnSpPr/>
            <p:nvPr/>
          </p:nvCxnSpPr>
          <p:spPr>
            <a:xfrm>
              <a:off x="1593391" y="3208887"/>
              <a:ext cx="0" cy="816106"/>
            </a:xfrm>
            <a:prstGeom prst="line">
              <a:avLst/>
            </a:prstGeom>
            <a:ln w="12700">
              <a:gradFill>
                <a:gsLst>
                  <a:gs pos="0">
                    <a:srgbClr val="969696">
                      <a:alpha val="0"/>
                    </a:srgbClr>
                  </a:gs>
                  <a:gs pos="100000">
                    <a:srgbClr val="969696"/>
                  </a:gs>
                </a:gsLst>
                <a:lin ang="5400000" scaled="1"/>
              </a:gradFill>
            </a:ln>
          </p:spPr>
          <p:style>
            <a:lnRef idx="1">
              <a:schemeClr val="accent1"/>
            </a:lnRef>
            <a:fillRef idx="0">
              <a:schemeClr val="accent1"/>
            </a:fillRef>
            <a:effectRef idx="0">
              <a:schemeClr val="accent1"/>
            </a:effectRef>
            <a:fontRef idx="minor">
              <a:schemeClr val="tx1"/>
            </a:fontRef>
          </p:style>
        </p:cxnSp>
      </p:grpSp>
      <p:grpSp>
        <p:nvGrpSpPr>
          <p:cNvPr id="95" name="组合 94">
            <a:extLst>
              <a:ext uri="{FF2B5EF4-FFF2-40B4-BE49-F238E27FC236}">
                <a16:creationId xmlns:a16="http://schemas.microsoft.com/office/drawing/2014/main" id="{157D9BD4-D883-4A24-90BC-B59BD3E5A528}"/>
              </a:ext>
            </a:extLst>
          </p:cNvPr>
          <p:cNvGrpSpPr/>
          <p:nvPr/>
        </p:nvGrpSpPr>
        <p:grpSpPr>
          <a:xfrm>
            <a:off x="383088" y="1753656"/>
            <a:ext cx="2625367" cy="1578838"/>
            <a:chOff x="2912677" y="3661813"/>
            <a:chExt cx="2694566" cy="1578838"/>
          </a:xfrm>
        </p:grpSpPr>
        <p:sp>
          <p:nvSpPr>
            <p:cNvPr id="96" name="文本框 95">
              <a:extLst>
                <a:ext uri="{FF2B5EF4-FFF2-40B4-BE49-F238E27FC236}">
                  <a16:creationId xmlns:a16="http://schemas.microsoft.com/office/drawing/2014/main" id="{5C36A6D7-D4DE-441F-BD1F-38F0C49D074C}"/>
                </a:ext>
              </a:extLst>
            </p:cNvPr>
            <p:cNvSpPr txBox="1"/>
            <p:nvPr/>
          </p:nvSpPr>
          <p:spPr>
            <a:xfrm>
              <a:off x="3089344" y="4788155"/>
              <a:ext cx="2517899" cy="452496"/>
            </a:xfrm>
            <a:prstGeom prst="rect">
              <a:avLst/>
            </a:prstGeom>
            <a:noFill/>
            <a:ln>
              <a:noFill/>
            </a:ln>
          </p:spPr>
          <p:txBody>
            <a:bodyPr wrap="square" rtlCol="0" anchor="ctr">
              <a:spAutoFit/>
            </a:bodyPr>
            <a:lstStyle>
              <a:defPPr>
                <a:defRPr lang="zh-CN"/>
              </a:defPPr>
              <a:lvl1pPr algn="just">
                <a:lnSpc>
                  <a:spcPct val="130000"/>
                </a:lnSpc>
                <a:defRPr sz="1600" b="1" spc="120">
                  <a:solidFill>
                    <a:schemeClr val="bg1"/>
                  </a:solidFill>
                  <a:latin typeface="思源黑体 CN Light" panose="020B0300000000000000" pitchFamily="34" charset="-122"/>
                  <a:ea typeface="思源黑体 CN Light" panose="020B0300000000000000" pitchFamily="34" charset="-122"/>
                </a:defRPr>
              </a:lvl1pPr>
            </a:lstStyle>
            <a:p>
              <a:pPr algn="l"/>
              <a:r>
                <a:rPr lang="en-US" altLang="zh-CN" sz="20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2024.6 - 2024.7</a:t>
              </a:r>
              <a:endParaRPr lang="zh-CN" altLang="en-US" sz="20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97" name="文本框 96">
              <a:extLst>
                <a:ext uri="{FF2B5EF4-FFF2-40B4-BE49-F238E27FC236}">
                  <a16:creationId xmlns:a16="http://schemas.microsoft.com/office/drawing/2014/main" id="{3D47548E-3960-4E53-8156-E2ABDD308303}"/>
                </a:ext>
              </a:extLst>
            </p:cNvPr>
            <p:cNvSpPr txBox="1"/>
            <p:nvPr/>
          </p:nvSpPr>
          <p:spPr>
            <a:xfrm>
              <a:off x="2912677" y="3661813"/>
              <a:ext cx="2418672" cy="1146148"/>
            </a:xfrm>
            <a:prstGeom prst="rect">
              <a:avLst/>
            </a:prstGeom>
            <a:noFill/>
            <a:ln>
              <a:noFill/>
            </a:ln>
          </p:spPr>
          <p:txBody>
            <a:bodyPr wrap="square" rtlCol="0">
              <a:spAutoFit/>
            </a:bodyPr>
            <a:lstStyle/>
            <a:p>
              <a:pPr marL="285750" indent="-285750">
                <a:lnSpc>
                  <a:spcPct val="130000"/>
                </a:lnSpc>
                <a:buFont typeface="Wingdings" panose="05000000000000000000" pitchFamily="2" charset="2"/>
                <a:buChar char="Ø"/>
              </a:pPr>
              <a:r>
                <a:rPr lang="zh-CN" altLang="en-US" sz="1800" baseline="0" dirty="0">
                  <a:latin typeface="华文楷体" panose="02010600040101010101" charset="-122"/>
                  <a:ea typeface="华文楷体" panose="02010600040101010101" charset="-122"/>
                </a:rPr>
                <a:t>整理实验所需数据集以及对比方法的代码</a:t>
              </a:r>
              <a:endParaRPr lang="zh-CN" altLang="en-US" dirty="0"/>
            </a:p>
          </p:txBody>
        </p:sp>
      </p:grpSp>
      <p:grpSp>
        <p:nvGrpSpPr>
          <p:cNvPr id="98" name="组合 97">
            <a:extLst>
              <a:ext uri="{FF2B5EF4-FFF2-40B4-BE49-F238E27FC236}">
                <a16:creationId xmlns:a16="http://schemas.microsoft.com/office/drawing/2014/main" id="{35B5EA6F-A8E2-43B5-AD7D-765ADB444919}"/>
              </a:ext>
            </a:extLst>
          </p:cNvPr>
          <p:cNvGrpSpPr/>
          <p:nvPr/>
        </p:nvGrpSpPr>
        <p:grpSpPr>
          <a:xfrm>
            <a:off x="4746866" y="4490472"/>
            <a:ext cx="2583168" cy="1904904"/>
            <a:chOff x="108058" y="1448159"/>
            <a:chExt cx="3146756" cy="2539870"/>
          </a:xfrm>
        </p:grpSpPr>
        <p:sp>
          <p:nvSpPr>
            <p:cNvPr id="99" name="文本框 98">
              <a:extLst>
                <a:ext uri="{FF2B5EF4-FFF2-40B4-BE49-F238E27FC236}">
                  <a16:creationId xmlns:a16="http://schemas.microsoft.com/office/drawing/2014/main" id="{7B037B3A-CB79-424E-8331-DCA1B697F83E}"/>
                </a:ext>
              </a:extLst>
            </p:cNvPr>
            <p:cNvSpPr txBox="1"/>
            <p:nvPr/>
          </p:nvSpPr>
          <p:spPr>
            <a:xfrm>
              <a:off x="412855" y="1448159"/>
              <a:ext cx="2841959" cy="603327"/>
            </a:xfrm>
            <a:prstGeom prst="rect">
              <a:avLst/>
            </a:prstGeom>
            <a:noFill/>
            <a:ln>
              <a:noFill/>
            </a:ln>
          </p:spPr>
          <p:txBody>
            <a:bodyPr wrap="square" rtlCol="0">
              <a:spAutoFit/>
            </a:bodyPr>
            <a:lstStyle>
              <a:defPPr>
                <a:defRPr lang="zh-CN"/>
              </a:defPPr>
              <a:lvl1pPr algn="just">
                <a:lnSpc>
                  <a:spcPct val="130000"/>
                </a:lnSpc>
                <a:defRPr sz="1600" b="1" spc="120">
                  <a:solidFill>
                    <a:schemeClr val="bg1"/>
                  </a:solidFill>
                  <a:latin typeface="思源黑体 CN Light" panose="020B0300000000000000" pitchFamily="34" charset="-122"/>
                  <a:ea typeface="思源黑体 CN Light" panose="020B0300000000000000" pitchFamily="34" charset="-122"/>
                </a:defRPr>
              </a:lvl1pPr>
            </a:lstStyle>
            <a:p>
              <a:pPr algn="l"/>
              <a:r>
                <a:rPr lang="en-US" altLang="zh-CN" sz="2000" spc="9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2025.6 - 2025.12</a:t>
              </a:r>
              <a:endParaRPr lang="zh-CN" altLang="en-US" sz="2000" spc="9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00" name="文本框 99">
              <a:extLst>
                <a:ext uri="{FF2B5EF4-FFF2-40B4-BE49-F238E27FC236}">
                  <a16:creationId xmlns:a16="http://schemas.microsoft.com/office/drawing/2014/main" id="{44E2EEDC-F924-4BC6-A500-309854112C87}"/>
                </a:ext>
              </a:extLst>
            </p:cNvPr>
            <p:cNvSpPr txBox="1"/>
            <p:nvPr/>
          </p:nvSpPr>
          <p:spPr>
            <a:xfrm>
              <a:off x="108058" y="1978676"/>
              <a:ext cx="2978829" cy="2009353"/>
            </a:xfrm>
            <a:prstGeom prst="rect">
              <a:avLst/>
            </a:prstGeom>
            <a:noFill/>
            <a:ln>
              <a:noFill/>
            </a:ln>
          </p:spPr>
          <p:txBody>
            <a:bodyPr wrap="square" rtlCol="0">
              <a:spAutoFit/>
            </a:bodyPr>
            <a:lstStyle/>
            <a:p>
              <a:pPr marL="285750" indent="-285750">
                <a:lnSpc>
                  <a:spcPct val="130000"/>
                </a:lnSpc>
                <a:buFont typeface="Wingdings" panose="05000000000000000000" pitchFamily="2" charset="2"/>
                <a:buChar char="Ø"/>
              </a:pPr>
              <a:r>
                <a:rPr lang="zh-CN" altLang="en-US" dirty="0">
                  <a:solidFill>
                    <a:srgbClr val="000000"/>
                  </a:solidFill>
                  <a:latin typeface="华文楷体" panose="02010600040101010101" pitchFamily="2" charset="-122"/>
                  <a:ea typeface="华文楷体" panose="02010600040101010101" pitchFamily="2" charset="-122"/>
                </a:rPr>
                <a:t>完善各类实验</a:t>
              </a:r>
              <a:r>
                <a:rPr lang="en-US" altLang="zh-CN" dirty="0">
                  <a:solidFill>
                    <a:srgbClr val="000000"/>
                  </a:solidFill>
                  <a:latin typeface="华文楷体" panose="02010600040101010101" pitchFamily="2" charset="-122"/>
                  <a:ea typeface="华文楷体" panose="02010600040101010101" pitchFamily="2" charset="-122"/>
                </a:rPr>
                <a:t>,</a:t>
              </a:r>
              <a:r>
                <a:rPr lang="zh-CN" altLang="en-US" dirty="0">
                  <a:solidFill>
                    <a:srgbClr val="000000"/>
                  </a:solidFill>
                  <a:latin typeface="华文楷体" panose="02010600040101010101" pitchFamily="2" charset="-122"/>
                  <a:ea typeface="华文楷体" panose="02010600040101010101" pitchFamily="2" charset="-122"/>
                </a:rPr>
                <a:t>初步完成学位论文撰写工作，搭建原型系统。</a:t>
              </a:r>
            </a:p>
          </p:txBody>
        </p:sp>
      </p:grpSp>
      <p:grpSp>
        <p:nvGrpSpPr>
          <p:cNvPr id="101" name="组合 100">
            <a:extLst>
              <a:ext uri="{FF2B5EF4-FFF2-40B4-BE49-F238E27FC236}">
                <a16:creationId xmlns:a16="http://schemas.microsoft.com/office/drawing/2014/main" id="{266E3FFA-4ED0-4FE4-8F7F-B19A1AAA1615}"/>
              </a:ext>
            </a:extLst>
          </p:cNvPr>
          <p:cNvGrpSpPr/>
          <p:nvPr/>
        </p:nvGrpSpPr>
        <p:grpSpPr>
          <a:xfrm>
            <a:off x="3376288" y="1733616"/>
            <a:ext cx="2680025" cy="1599413"/>
            <a:chOff x="2576607" y="3674733"/>
            <a:chExt cx="2770044" cy="1599413"/>
          </a:xfrm>
        </p:grpSpPr>
        <p:sp>
          <p:nvSpPr>
            <p:cNvPr id="102" name="文本框 101">
              <a:extLst>
                <a:ext uri="{FF2B5EF4-FFF2-40B4-BE49-F238E27FC236}">
                  <a16:creationId xmlns:a16="http://schemas.microsoft.com/office/drawing/2014/main" id="{AF7AC992-2D40-46E1-863E-B13E118F041C}"/>
                </a:ext>
              </a:extLst>
            </p:cNvPr>
            <p:cNvSpPr txBox="1"/>
            <p:nvPr/>
          </p:nvSpPr>
          <p:spPr>
            <a:xfrm>
              <a:off x="2828752" y="4821650"/>
              <a:ext cx="2517899" cy="452496"/>
            </a:xfrm>
            <a:prstGeom prst="rect">
              <a:avLst/>
            </a:prstGeom>
            <a:noFill/>
            <a:ln>
              <a:noFill/>
            </a:ln>
          </p:spPr>
          <p:txBody>
            <a:bodyPr wrap="square" rtlCol="0" anchor="ctr">
              <a:spAutoFit/>
            </a:bodyPr>
            <a:lstStyle>
              <a:defPPr>
                <a:defRPr lang="zh-CN"/>
              </a:defPPr>
              <a:lvl1pPr algn="just">
                <a:lnSpc>
                  <a:spcPct val="130000"/>
                </a:lnSpc>
                <a:defRPr sz="1600" b="1" spc="120">
                  <a:solidFill>
                    <a:schemeClr val="bg1"/>
                  </a:solidFill>
                  <a:latin typeface="思源黑体 CN Light" panose="020B0300000000000000" pitchFamily="34" charset="-122"/>
                  <a:ea typeface="思源黑体 CN Light" panose="020B0300000000000000" pitchFamily="34" charset="-122"/>
                </a:defRPr>
              </a:lvl1pPr>
            </a:lstStyle>
            <a:p>
              <a:pPr algn="l"/>
              <a:r>
                <a:rPr lang="en-US" altLang="zh-CN" sz="20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2025.1 - 2025.4</a:t>
              </a:r>
              <a:endParaRPr lang="zh-CN" altLang="en-US" sz="20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03" name="文本框 102">
              <a:extLst>
                <a:ext uri="{FF2B5EF4-FFF2-40B4-BE49-F238E27FC236}">
                  <a16:creationId xmlns:a16="http://schemas.microsoft.com/office/drawing/2014/main" id="{6481750E-312A-4DC5-8E9C-5020B41EE78E}"/>
                </a:ext>
              </a:extLst>
            </p:cNvPr>
            <p:cNvSpPr txBox="1"/>
            <p:nvPr/>
          </p:nvSpPr>
          <p:spPr>
            <a:xfrm>
              <a:off x="2576607" y="3674733"/>
              <a:ext cx="2592132" cy="1146917"/>
            </a:xfrm>
            <a:prstGeom prst="rect">
              <a:avLst/>
            </a:prstGeom>
            <a:noFill/>
            <a:ln>
              <a:noFill/>
            </a:ln>
          </p:spPr>
          <p:txBody>
            <a:bodyPr wrap="square" rtlCol="0">
              <a:spAutoFit/>
            </a:bodyPr>
            <a:lstStyle/>
            <a:p>
              <a:pPr marL="285750" indent="-285750">
                <a:lnSpc>
                  <a:spcPct val="130000"/>
                </a:lnSpc>
                <a:buFont typeface="Wingdings" panose="05000000000000000000" pitchFamily="2" charset="2"/>
                <a:buChar char="Ø"/>
              </a:pPr>
              <a:r>
                <a:rPr lang="zh-CN" altLang="en-US" dirty="0">
                  <a:solidFill>
                    <a:srgbClr val="000000"/>
                  </a:solidFill>
                  <a:latin typeface="华文楷体" panose="02010600040101010101" pitchFamily="2" charset="-122"/>
                  <a:ea typeface="华文楷体" panose="02010600040101010101" pitchFamily="2" charset="-122"/>
                </a:rPr>
                <a:t>完成研究内容二和研究内容三的方法设计以及实验探究</a:t>
              </a:r>
            </a:p>
          </p:txBody>
        </p:sp>
      </p:grpSp>
      <p:grpSp>
        <p:nvGrpSpPr>
          <p:cNvPr id="104" name="组合 103">
            <a:extLst>
              <a:ext uri="{FF2B5EF4-FFF2-40B4-BE49-F238E27FC236}">
                <a16:creationId xmlns:a16="http://schemas.microsoft.com/office/drawing/2014/main" id="{352EF340-BF6A-4810-BEB2-B7969CE084AD}"/>
              </a:ext>
            </a:extLst>
          </p:cNvPr>
          <p:cNvGrpSpPr/>
          <p:nvPr/>
        </p:nvGrpSpPr>
        <p:grpSpPr>
          <a:xfrm>
            <a:off x="6240367" y="1761646"/>
            <a:ext cx="2828106" cy="1482924"/>
            <a:chOff x="2526442" y="3722482"/>
            <a:chExt cx="2828106" cy="1482924"/>
          </a:xfrm>
        </p:grpSpPr>
        <p:sp>
          <p:nvSpPr>
            <p:cNvPr id="105" name="文本框 104">
              <a:extLst>
                <a:ext uri="{FF2B5EF4-FFF2-40B4-BE49-F238E27FC236}">
                  <a16:creationId xmlns:a16="http://schemas.microsoft.com/office/drawing/2014/main" id="{F96159A8-9122-4E91-BB42-FC3C99C72EF7}"/>
                </a:ext>
              </a:extLst>
            </p:cNvPr>
            <p:cNvSpPr txBox="1"/>
            <p:nvPr/>
          </p:nvSpPr>
          <p:spPr>
            <a:xfrm>
              <a:off x="2836649" y="4752910"/>
              <a:ext cx="2517899" cy="452496"/>
            </a:xfrm>
            <a:prstGeom prst="rect">
              <a:avLst/>
            </a:prstGeom>
            <a:noFill/>
            <a:ln>
              <a:noFill/>
            </a:ln>
          </p:spPr>
          <p:txBody>
            <a:bodyPr wrap="square" rtlCol="0" anchor="ctr">
              <a:spAutoFit/>
            </a:bodyPr>
            <a:lstStyle>
              <a:defPPr>
                <a:defRPr lang="zh-CN"/>
              </a:defPPr>
              <a:lvl1pPr algn="just">
                <a:lnSpc>
                  <a:spcPct val="130000"/>
                </a:lnSpc>
                <a:defRPr sz="1600" b="1" spc="120">
                  <a:solidFill>
                    <a:schemeClr val="bg1"/>
                  </a:solidFill>
                  <a:latin typeface="思源黑体 CN Light" panose="020B0300000000000000" pitchFamily="34" charset="-122"/>
                  <a:ea typeface="思源黑体 CN Light" panose="020B0300000000000000" pitchFamily="34" charset="-122"/>
                </a:defRPr>
              </a:lvl1pPr>
            </a:lstStyle>
            <a:p>
              <a:pPr algn="l"/>
              <a:r>
                <a:rPr lang="en-US" altLang="zh-CN" sz="20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2026.1 - 2026.5</a:t>
              </a:r>
              <a:endParaRPr lang="zh-CN" altLang="en-US" sz="20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06" name="文本框 105">
              <a:extLst>
                <a:ext uri="{FF2B5EF4-FFF2-40B4-BE49-F238E27FC236}">
                  <a16:creationId xmlns:a16="http://schemas.microsoft.com/office/drawing/2014/main" id="{D3B8D777-B79F-4894-8CF7-D29047F40AFC}"/>
                </a:ext>
              </a:extLst>
            </p:cNvPr>
            <p:cNvSpPr txBox="1"/>
            <p:nvPr/>
          </p:nvSpPr>
          <p:spPr>
            <a:xfrm>
              <a:off x="2526442" y="3722482"/>
              <a:ext cx="2628644" cy="1146148"/>
            </a:xfrm>
            <a:prstGeom prst="rect">
              <a:avLst/>
            </a:prstGeom>
            <a:noFill/>
            <a:ln>
              <a:noFill/>
            </a:ln>
          </p:spPr>
          <p:txBody>
            <a:bodyPr wrap="square" rtlCol="0">
              <a:spAutoFit/>
            </a:bodyPr>
            <a:lstStyle/>
            <a:p>
              <a:pPr marL="285750" indent="-285750">
                <a:lnSpc>
                  <a:spcPct val="130000"/>
                </a:lnSpc>
                <a:buFont typeface="Wingdings" panose="05000000000000000000" pitchFamily="2" charset="2"/>
                <a:buChar char="Ø"/>
              </a:pPr>
              <a:r>
                <a:rPr lang="zh-CN" altLang="en-US" dirty="0">
                  <a:latin typeface="STKaiti" panose="02010600040101010101" charset="-122"/>
                  <a:ea typeface="STKaiti" panose="02010600040101010101" charset="-122"/>
                  <a:cs typeface="STKaiti" panose="02010600040101010101" charset="-122"/>
                </a:rPr>
                <a:t>完善毕业论文，撰写相关专利，准备毕业答辩。</a:t>
              </a:r>
              <a:endParaRPr lang="zh-CN" altLang="en-US" dirty="0"/>
            </a:p>
          </p:txBody>
        </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16" name="Rectangle 15"/>
          <p:cNvSpPr/>
          <p:nvPr/>
        </p:nvSpPr>
        <p:spPr>
          <a:xfrm>
            <a:off x="0" y="2628900"/>
            <a:ext cx="9144000" cy="1409700"/>
          </a:xfrm>
          <a:prstGeom prst="rect">
            <a:avLst/>
          </a:prstGeom>
          <a:solidFill>
            <a:srgbClr val="2E75B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标题 2"/>
          <p:cNvSpPr>
            <a:spLocks noGrp="1"/>
          </p:cNvSpPr>
          <p:nvPr>
            <p:ph type="title"/>
          </p:nvPr>
        </p:nvSpPr>
        <p:spPr>
          <a:xfrm>
            <a:off x="457200" y="2762250"/>
            <a:ext cx="8229600" cy="1143000"/>
          </a:xfrm>
        </p:spPr>
        <p:txBody>
          <a:bodyPr/>
          <a:lstStyle/>
          <a:p>
            <a:pPr algn="ctr"/>
            <a:r>
              <a:rPr kumimoji="1" lang="zh-CN" altLang="en-US" dirty="0">
                <a:solidFill>
                  <a:schemeClr val="bg1"/>
                </a:solidFill>
                <a:latin typeface="STKaiti" panose="02010600040101010101" charset="-122"/>
                <a:ea typeface="STKaiti" panose="02010600040101010101" charset="-122"/>
              </a:rPr>
              <a:t>参考文献</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pPr algn="ctr"/>
            <a:r>
              <a:rPr kumimoji="1" lang="zh-CN" altLang="en-US" b="1" dirty="0">
                <a:latin typeface="STKaiti" panose="02010600040101010101" charset="-122"/>
                <a:ea typeface="STKaiti" panose="02010600040101010101" charset="-122"/>
              </a:rPr>
              <a:t>参考文献</a:t>
            </a:r>
          </a:p>
        </p:txBody>
      </p:sp>
      <p:sp>
        <p:nvSpPr>
          <p:cNvPr id="15" name="Slide Number Placeholder 14"/>
          <p:cNvSpPr>
            <a:spLocks noGrp="1"/>
          </p:cNvSpPr>
          <p:nvPr>
            <p:ph type="sldNum" sz="quarter" idx="16"/>
          </p:nvPr>
        </p:nvSpPr>
        <p:spPr/>
        <p:txBody>
          <a:bodyPr/>
          <a:lstStyle/>
          <a:p>
            <a:pPr>
              <a:defRPr/>
            </a:pPr>
            <a:fld id="{D69E98CB-8E38-42BF-857B-65773CD3393B}" type="slidenum">
              <a:rPr lang="en-US" altLang="zh-CN" smtClean="0"/>
              <a:t>22</a:t>
            </a:fld>
            <a:endParaRPr lang="en-US" altLang="zh-CN" dirty="0"/>
          </a:p>
        </p:txBody>
      </p:sp>
      <p:sp>
        <p:nvSpPr>
          <p:cNvPr id="9" name="矩形 8"/>
          <p:cNvSpPr/>
          <p:nvPr/>
        </p:nvSpPr>
        <p:spPr>
          <a:xfrm>
            <a:off x="479424" y="1317622"/>
            <a:ext cx="8229600" cy="5324535"/>
          </a:xfrm>
          <a:prstGeom prst="rect">
            <a:avLst/>
          </a:prstGeom>
        </p:spPr>
        <p:txBody>
          <a:bodyPr wrap="square">
            <a:spAutoFit/>
          </a:bodyPr>
          <a:lstStyle/>
          <a:p>
            <a:r>
              <a:rPr lang="en-US" altLang="zh-CN" sz="1700" dirty="0">
                <a:latin typeface="Times New Roman" panose="02020603050405020304" pitchFamily="18" charset="0"/>
                <a:cs typeface="Times New Roman" panose="02020603050405020304" pitchFamily="18" charset="0"/>
              </a:rPr>
              <a:t>[1] Zheng L, Yang Y, Hauptmann A G. Person re-identification: Past, present and future[J]. </a:t>
            </a:r>
            <a:r>
              <a:rPr lang="en-US" altLang="zh-CN" sz="1700" dirty="0" err="1">
                <a:latin typeface="Times New Roman" panose="02020603050405020304" pitchFamily="18" charset="0"/>
                <a:cs typeface="Times New Roman" panose="02020603050405020304" pitchFamily="18" charset="0"/>
              </a:rPr>
              <a:t>arXiv</a:t>
            </a:r>
            <a:r>
              <a:rPr lang="en-US" altLang="zh-CN" sz="1700" dirty="0">
                <a:latin typeface="Times New Roman" panose="02020603050405020304" pitchFamily="18" charset="0"/>
                <a:cs typeface="Times New Roman" panose="02020603050405020304" pitchFamily="18" charset="0"/>
              </a:rPr>
              <a:t> preprint arXiv:1610.02984, 2016.</a:t>
            </a:r>
          </a:p>
          <a:p>
            <a:r>
              <a:rPr lang="en-US" altLang="zh-CN" sz="1700" dirty="0">
                <a:latin typeface="Times New Roman" panose="02020603050405020304" pitchFamily="18" charset="0"/>
                <a:cs typeface="Times New Roman" panose="02020603050405020304" pitchFamily="18" charset="0"/>
              </a:rPr>
              <a:t>[2] Ye M, Shen J, Lin G, et al. Deep learning for person re-identification: A survey and outlook[J]. IEEE transactions on pattern analysis and machine intelligence, 2021, 44(6): 2872-2893.</a:t>
            </a:r>
          </a:p>
          <a:p>
            <a:r>
              <a:rPr lang="en-US" altLang="zh-CN" sz="1700" dirty="0">
                <a:latin typeface="Times New Roman" panose="02020603050405020304" pitchFamily="18" charset="0"/>
                <a:cs typeface="Times New Roman" panose="02020603050405020304" pitchFamily="18" charset="0"/>
              </a:rPr>
              <a:t>[3] Zheng W S, Li X, Xiang T, et al. Partial person re-identification[C]//Proceedings of the IEEE international conference on computer vision. 2015: 4678-4686.</a:t>
            </a:r>
          </a:p>
          <a:p>
            <a:r>
              <a:rPr lang="en-US" altLang="zh-CN" sz="1700" dirty="0">
                <a:latin typeface="Times New Roman" panose="02020603050405020304" pitchFamily="18" charset="0"/>
                <a:cs typeface="Times New Roman" panose="02020603050405020304" pitchFamily="18" charset="0"/>
              </a:rPr>
              <a:t>[4] Zhuo J, Chen Z, Lai J, et al. Occluded person re-identification[C]//2018 IEEE international conference on multimedia and expo (ICME). IEEE, 2018: 1-6.</a:t>
            </a:r>
          </a:p>
          <a:p>
            <a:r>
              <a:rPr lang="en-US" altLang="zh-CN" sz="1700" dirty="0">
                <a:latin typeface="Times New Roman" panose="02020603050405020304" pitchFamily="18" charset="0"/>
                <a:cs typeface="Times New Roman" panose="02020603050405020304" pitchFamily="18" charset="0"/>
              </a:rPr>
              <a:t>[5] Hou R, Ma B, Chang H, et al. Feature completion for occluded person re-identification[J]. IEEE Transactions on Pattern Analysis and Machine Intelligence, 2021, 44(9): 4894-4912.</a:t>
            </a:r>
          </a:p>
          <a:p>
            <a:r>
              <a:rPr lang="en-US" altLang="zh-CN" sz="1700" dirty="0">
                <a:latin typeface="Times New Roman" panose="02020603050405020304" pitchFamily="18" charset="0"/>
                <a:cs typeface="Times New Roman" panose="02020603050405020304" pitchFamily="18" charset="0"/>
              </a:rPr>
              <a:t>[6] Wang T, Liu H, Song P, et al. Pose-guided feature disentangling for occluded person re-identification based on transformer[C]//Proceedings of the AAAI conference on artificial intelligence. 2022, 36(3): 2540-2549.</a:t>
            </a:r>
          </a:p>
          <a:p>
            <a:r>
              <a:rPr lang="en-US" altLang="zh-CN" sz="1700" dirty="0">
                <a:latin typeface="Times New Roman" panose="02020603050405020304" pitchFamily="18" charset="0"/>
                <a:cs typeface="Times New Roman" panose="02020603050405020304" pitchFamily="18" charset="0"/>
              </a:rPr>
              <a:t>[7] Dou S, Zhao C, Jiang X, et al. Human co-parsing guided alignment for occluded person re-identification[J]. IEEE Transactions on Image Processing, 2022, 32: 458-470.</a:t>
            </a:r>
          </a:p>
          <a:p>
            <a:r>
              <a:rPr lang="en-US" altLang="zh-CN" sz="1700" dirty="0">
                <a:latin typeface="Times New Roman" panose="02020603050405020304" pitchFamily="18" charset="0"/>
                <a:cs typeface="Times New Roman" panose="02020603050405020304" pitchFamily="18" charset="0"/>
              </a:rPr>
              <a:t>[8] He S, Luo H, Wang P, et al. </a:t>
            </a:r>
            <a:r>
              <a:rPr lang="en-US" altLang="zh-CN" sz="1700" dirty="0" err="1">
                <a:latin typeface="Times New Roman" panose="02020603050405020304" pitchFamily="18" charset="0"/>
                <a:cs typeface="Times New Roman" panose="02020603050405020304" pitchFamily="18" charset="0"/>
              </a:rPr>
              <a:t>Transreid</a:t>
            </a:r>
            <a:r>
              <a:rPr lang="en-US" altLang="zh-CN" sz="1700" dirty="0">
                <a:latin typeface="Times New Roman" panose="02020603050405020304" pitchFamily="18" charset="0"/>
                <a:cs typeface="Times New Roman" panose="02020603050405020304" pitchFamily="18" charset="0"/>
              </a:rPr>
              <a:t>: Transformer-based object re-identification[C]//Proceedings of the IEEE/CVF international conference on computer vision. 2021: 15013-15022.</a:t>
            </a:r>
          </a:p>
          <a:p>
            <a:endParaRPr lang="en-US" altLang="zh-CN" sz="17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pPr algn="ctr"/>
            <a:r>
              <a:rPr kumimoji="1" lang="zh-CN" altLang="en-US" b="1" dirty="0">
                <a:latin typeface="STKaiti" panose="02010600040101010101" charset="-122"/>
                <a:ea typeface="STKaiti" panose="02010600040101010101" charset="-122"/>
              </a:rPr>
              <a:t>参考文献</a:t>
            </a:r>
          </a:p>
        </p:txBody>
      </p:sp>
      <p:sp>
        <p:nvSpPr>
          <p:cNvPr id="15" name="Slide Number Placeholder 14"/>
          <p:cNvSpPr>
            <a:spLocks noGrp="1"/>
          </p:cNvSpPr>
          <p:nvPr>
            <p:ph type="sldNum" sz="quarter" idx="16"/>
          </p:nvPr>
        </p:nvSpPr>
        <p:spPr/>
        <p:txBody>
          <a:bodyPr/>
          <a:lstStyle/>
          <a:p>
            <a:pPr>
              <a:defRPr/>
            </a:pPr>
            <a:fld id="{D69E98CB-8E38-42BF-857B-65773CD3393B}" type="slidenum">
              <a:rPr lang="en-US" altLang="zh-CN" smtClean="0"/>
              <a:t>23</a:t>
            </a:fld>
            <a:endParaRPr lang="en-US" altLang="zh-CN" dirty="0"/>
          </a:p>
        </p:txBody>
      </p:sp>
      <p:sp>
        <p:nvSpPr>
          <p:cNvPr id="9" name="矩形 8"/>
          <p:cNvSpPr/>
          <p:nvPr/>
        </p:nvSpPr>
        <p:spPr>
          <a:xfrm>
            <a:off x="479424" y="1317622"/>
            <a:ext cx="8229600" cy="5062924"/>
          </a:xfrm>
          <a:prstGeom prst="rect">
            <a:avLst/>
          </a:prstGeom>
        </p:spPr>
        <p:txBody>
          <a:bodyPr wrap="square">
            <a:spAutoFit/>
          </a:bodyPr>
          <a:lstStyle/>
          <a:p>
            <a:r>
              <a:rPr lang="en-US" altLang="zh-CN" dirty="0">
                <a:latin typeface="Times New Roman" panose="02020603050405020304" pitchFamily="18" charset="0"/>
                <a:cs typeface="Times New Roman" panose="02020603050405020304" pitchFamily="18" charset="0"/>
                <a:sym typeface="+mn-ea"/>
              </a:rPr>
              <a:t>[9] Tan L, Dai P, Ji R, et al. Dynamic prototype mask for occluded person re-identification[C]//Proceedings of the 30th ACM international conference on multimedia. 2022: 531-540.</a:t>
            </a:r>
          </a:p>
          <a:p>
            <a:r>
              <a:rPr lang="en-US" altLang="zh-CN" dirty="0">
                <a:latin typeface="Times New Roman" panose="02020603050405020304" pitchFamily="18" charset="0"/>
                <a:cs typeface="Times New Roman" panose="02020603050405020304" pitchFamily="18" charset="0"/>
                <a:sym typeface="+mn-ea"/>
              </a:rPr>
              <a:t>[10] Jia M, Sun Y, Zhai Y, et al. Semi-attention partition for occluded person re-identification[C]//Proceedings of the AAAI conference on artificial intelligence. 2023, 37(1): 998-1006. </a:t>
            </a:r>
          </a:p>
          <a:p>
            <a:r>
              <a:rPr lang="en-US" altLang="zh-CN" sz="1800" dirty="0">
                <a:latin typeface="Times New Roman" panose="02020603050405020304" pitchFamily="18" charset="0"/>
                <a:cs typeface="Times New Roman" panose="02020603050405020304" pitchFamily="18" charset="0"/>
                <a:sym typeface="+mn-ea"/>
              </a:rPr>
              <a:t>[11] </a:t>
            </a:r>
            <a:r>
              <a:rPr lang="en-US" altLang="zh-CN" dirty="0">
                <a:latin typeface="Times New Roman" panose="02020603050405020304" pitchFamily="18" charset="0"/>
                <a:cs typeface="Times New Roman" panose="02020603050405020304" pitchFamily="18" charset="0"/>
                <a:sym typeface="+mn-ea"/>
              </a:rPr>
              <a:t>Li S, Sun L, Li Q. Clip-</a:t>
            </a:r>
            <a:r>
              <a:rPr lang="en-US" altLang="zh-CN" dirty="0" err="1">
                <a:latin typeface="Times New Roman" panose="02020603050405020304" pitchFamily="18" charset="0"/>
                <a:cs typeface="Times New Roman" panose="02020603050405020304" pitchFamily="18" charset="0"/>
                <a:sym typeface="+mn-ea"/>
              </a:rPr>
              <a:t>reid</a:t>
            </a:r>
            <a:r>
              <a:rPr lang="en-US" altLang="zh-CN" dirty="0">
                <a:latin typeface="Times New Roman" panose="02020603050405020304" pitchFamily="18" charset="0"/>
                <a:cs typeface="Times New Roman" panose="02020603050405020304" pitchFamily="18" charset="0"/>
                <a:sym typeface="+mn-ea"/>
              </a:rPr>
              <a:t>: exploiting vision-language model for image re-identification without concrete text labels[C]//Proceedings of the AAAI conference on artificial intelligence. 2023, 37(1): 1405-1413.</a:t>
            </a:r>
          </a:p>
          <a:p>
            <a:r>
              <a:rPr lang="en-US" altLang="zh-CN" sz="1800" dirty="0">
                <a:latin typeface="Times New Roman" panose="02020603050405020304" pitchFamily="18" charset="0"/>
                <a:cs typeface="Times New Roman" panose="02020603050405020304" pitchFamily="18" charset="0"/>
                <a:sym typeface="+mn-ea"/>
              </a:rPr>
              <a:t>[12] </a:t>
            </a:r>
            <a:r>
              <a:rPr lang="en-US" altLang="zh-CN" dirty="0">
                <a:latin typeface="Times New Roman" panose="02020603050405020304" pitchFamily="18" charset="0"/>
                <a:cs typeface="Times New Roman" panose="02020603050405020304" pitchFamily="18" charset="0"/>
                <a:sym typeface="+mn-ea"/>
              </a:rPr>
              <a:t>Radford A, Kim J W, </a:t>
            </a:r>
            <a:r>
              <a:rPr lang="en-US" altLang="zh-CN" dirty="0" err="1">
                <a:latin typeface="Times New Roman" panose="02020603050405020304" pitchFamily="18" charset="0"/>
                <a:cs typeface="Times New Roman" panose="02020603050405020304" pitchFamily="18" charset="0"/>
                <a:sym typeface="+mn-ea"/>
              </a:rPr>
              <a:t>Hallacy</a:t>
            </a:r>
            <a:r>
              <a:rPr lang="en-US" altLang="zh-CN" dirty="0">
                <a:latin typeface="Times New Roman" panose="02020603050405020304" pitchFamily="18" charset="0"/>
                <a:cs typeface="Times New Roman" panose="02020603050405020304" pitchFamily="18" charset="0"/>
                <a:sym typeface="+mn-ea"/>
              </a:rPr>
              <a:t> C, et al. Learning transferable visual models from natural language supervision[C]//International conference on machine learning. </a:t>
            </a:r>
            <a:r>
              <a:rPr lang="en-US" altLang="zh-CN" dirty="0" err="1">
                <a:latin typeface="Times New Roman" panose="02020603050405020304" pitchFamily="18" charset="0"/>
                <a:cs typeface="Times New Roman" panose="02020603050405020304" pitchFamily="18" charset="0"/>
                <a:sym typeface="+mn-ea"/>
              </a:rPr>
              <a:t>PmLR</a:t>
            </a:r>
            <a:r>
              <a:rPr lang="en-US" altLang="zh-CN" dirty="0">
                <a:latin typeface="Times New Roman" panose="02020603050405020304" pitchFamily="18" charset="0"/>
                <a:cs typeface="Times New Roman" panose="02020603050405020304" pitchFamily="18" charset="0"/>
                <a:sym typeface="+mn-ea"/>
              </a:rPr>
              <a:t>, 2021: 8748-8763.</a:t>
            </a:r>
          </a:p>
          <a:p>
            <a:r>
              <a:rPr lang="en-US" altLang="zh-CN" sz="1800" dirty="0">
                <a:latin typeface="Times New Roman" panose="02020603050405020304" pitchFamily="18" charset="0"/>
                <a:cs typeface="Times New Roman" panose="02020603050405020304" pitchFamily="18" charset="0"/>
                <a:sym typeface="+mn-ea"/>
              </a:rPr>
              <a:t>[13] </a:t>
            </a:r>
            <a:r>
              <a:rPr lang="en-US" altLang="zh-CN" dirty="0">
                <a:latin typeface="Times New Roman" panose="02020603050405020304" pitchFamily="18" charset="0"/>
                <a:cs typeface="Times New Roman" panose="02020603050405020304" pitchFamily="18" charset="0"/>
                <a:sym typeface="+mn-ea"/>
              </a:rPr>
              <a:t>Lin Y, Liu C, Chen Y, et al. Exploring part-informed visual-language learning for person re-identification[J]. </a:t>
            </a:r>
            <a:r>
              <a:rPr lang="en-US" altLang="zh-CN" dirty="0" err="1">
                <a:latin typeface="Times New Roman" panose="02020603050405020304" pitchFamily="18" charset="0"/>
                <a:cs typeface="Times New Roman" panose="02020603050405020304" pitchFamily="18" charset="0"/>
                <a:sym typeface="+mn-ea"/>
              </a:rPr>
              <a:t>arXiv</a:t>
            </a:r>
            <a:r>
              <a:rPr lang="en-US" altLang="zh-CN" dirty="0">
                <a:latin typeface="Times New Roman" panose="02020603050405020304" pitchFamily="18" charset="0"/>
                <a:cs typeface="Times New Roman" panose="02020603050405020304" pitchFamily="18" charset="0"/>
                <a:sym typeface="+mn-ea"/>
              </a:rPr>
              <a:t> preprint arXiv:2308.02738, 2023.</a:t>
            </a:r>
          </a:p>
          <a:p>
            <a:r>
              <a:rPr lang="en-US" altLang="zh-CN" sz="1800" dirty="0">
                <a:latin typeface="Times New Roman" panose="02020603050405020304" pitchFamily="18" charset="0"/>
                <a:cs typeface="Times New Roman" panose="02020603050405020304" pitchFamily="18" charset="0"/>
                <a:sym typeface="+mn-ea"/>
              </a:rPr>
              <a:t>[14] </a:t>
            </a:r>
            <a:r>
              <a:rPr lang="en-US" altLang="zh-CN" dirty="0">
                <a:latin typeface="Times New Roman" panose="02020603050405020304" pitchFamily="18" charset="0"/>
                <a:cs typeface="Times New Roman" panose="02020603050405020304" pitchFamily="18" charset="0"/>
                <a:sym typeface="+mn-ea"/>
              </a:rPr>
              <a:t>Zhao H, Qi L, Geng X. CILP-FGDI: Exploiting Vision-Language Model for Generalizable Person Re-Identification[J]. IEEE Transactions on Information Forensics and Security, 2025.</a:t>
            </a:r>
          </a:p>
          <a:p>
            <a:endParaRPr lang="en-US" altLang="zh-CN" sz="17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61E912-241A-FE66-3525-50E1889E294B}"/>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CB3D3EA3-C902-7A73-A1F1-E2F4746736FB}"/>
              </a:ext>
            </a:extLst>
          </p:cNvPr>
          <p:cNvSpPr>
            <a:spLocks noGrp="1"/>
          </p:cNvSpPr>
          <p:nvPr>
            <p:ph type="title"/>
          </p:nvPr>
        </p:nvSpPr>
        <p:spPr/>
        <p:txBody>
          <a:bodyPr/>
          <a:lstStyle/>
          <a:p>
            <a:pPr algn="ctr"/>
            <a:r>
              <a:rPr kumimoji="1" lang="zh-CN" altLang="en-US" b="1" dirty="0">
                <a:latin typeface="STKaiti" panose="02010600040101010101" charset="-122"/>
                <a:ea typeface="STKaiti" panose="02010600040101010101" charset="-122"/>
              </a:rPr>
              <a:t>参考文献</a:t>
            </a:r>
          </a:p>
        </p:txBody>
      </p:sp>
      <p:sp>
        <p:nvSpPr>
          <p:cNvPr id="15" name="Slide Number Placeholder 14">
            <a:extLst>
              <a:ext uri="{FF2B5EF4-FFF2-40B4-BE49-F238E27FC236}">
                <a16:creationId xmlns:a16="http://schemas.microsoft.com/office/drawing/2014/main" id="{5EB6B8F1-122E-6F22-BE08-F373339768F7}"/>
              </a:ext>
            </a:extLst>
          </p:cNvPr>
          <p:cNvSpPr>
            <a:spLocks noGrp="1"/>
          </p:cNvSpPr>
          <p:nvPr>
            <p:ph type="sldNum" sz="quarter" idx="16"/>
          </p:nvPr>
        </p:nvSpPr>
        <p:spPr/>
        <p:txBody>
          <a:bodyPr/>
          <a:lstStyle/>
          <a:p>
            <a:pPr>
              <a:defRPr/>
            </a:pPr>
            <a:fld id="{D69E98CB-8E38-42BF-857B-65773CD3393B}" type="slidenum">
              <a:rPr lang="en-US" altLang="zh-CN" smtClean="0"/>
              <a:t>24</a:t>
            </a:fld>
            <a:endParaRPr lang="en-US" altLang="zh-CN" dirty="0"/>
          </a:p>
        </p:txBody>
      </p:sp>
      <p:sp>
        <p:nvSpPr>
          <p:cNvPr id="9" name="矩形 8">
            <a:extLst>
              <a:ext uri="{FF2B5EF4-FFF2-40B4-BE49-F238E27FC236}">
                <a16:creationId xmlns:a16="http://schemas.microsoft.com/office/drawing/2014/main" id="{43BE2F6E-8466-3ACE-F25E-3D7FF7200B90}"/>
              </a:ext>
            </a:extLst>
          </p:cNvPr>
          <p:cNvSpPr/>
          <p:nvPr/>
        </p:nvSpPr>
        <p:spPr>
          <a:xfrm>
            <a:off x="479424" y="1317622"/>
            <a:ext cx="8229600" cy="5078313"/>
          </a:xfrm>
          <a:prstGeom prst="rect">
            <a:avLst/>
          </a:prstGeom>
        </p:spPr>
        <p:txBody>
          <a:bodyPr wrap="square">
            <a:spAutoFit/>
          </a:bodyPr>
          <a:lstStyle/>
          <a:p>
            <a:r>
              <a:rPr lang="en-US" altLang="zh-CN" dirty="0">
                <a:latin typeface="Times New Roman" panose="02020603050405020304" pitchFamily="18" charset="0"/>
                <a:cs typeface="Times New Roman" panose="02020603050405020304" pitchFamily="18" charset="0"/>
                <a:sym typeface="+mn-ea"/>
              </a:rPr>
              <a:t>[15] Zhao H, Qi L, Geng X. CLIP-DFGS: A Hard Sample Mining Method for CLIP in Generalizable Person Re-Identification[J]. ACM Transactions on Multimedia Computing, Communications and Applications, 2024, 21(1): 1-20.</a:t>
            </a:r>
          </a:p>
          <a:p>
            <a:r>
              <a:rPr lang="en-US" altLang="zh-CN" dirty="0">
                <a:latin typeface="Times New Roman" panose="02020603050405020304" pitchFamily="18" charset="0"/>
                <a:cs typeface="Times New Roman" panose="02020603050405020304" pitchFamily="18" charset="0"/>
                <a:sym typeface="+mn-ea"/>
              </a:rPr>
              <a:t>[16] Li S, Leng J, Li G, et al. CLIP-Driven Cloth-Agnostic Feature Learning for Cloth-Changing Person Re-Identification[J]. </a:t>
            </a:r>
            <a:r>
              <a:rPr lang="en-US" altLang="zh-CN" dirty="0" err="1">
                <a:latin typeface="Times New Roman" panose="02020603050405020304" pitchFamily="18" charset="0"/>
                <a:cs typeface="Times New Roman" panose="02020603050405020304" pitchFamily="18" charset="0"/>
                <a:sym typeface="+mn-ea"/>
              </a:rPr>
              <a:t>arXiv</a:t>
            </a:r>
            <a:r>
              <a:rPr lang="en-US" altLang="zh-CN" dirty="0">
                <a:latin typeface="Times New Roman" panose="02020603050405020304" pitchFamily="18" charset="0"/>
                <a:cs typeface="Times New Roman" panose="02020603050405020304" pitchFamily="18" charset="0"/>
                <a:sym typeface="+mn-ea"/>
              </a:rPr>
              <a:t> preprint arXiv:2406.09198, 2024.</a:t>
            </a:r>
          </a:p>
          <a:p>
            <a:r>
              <a:rPr lang="en-US" altLang="zh-CN" dirty="0">
                <a:latin typeface="Times New Roman" panose="02020603050405020304" pitchFamily="18" charset="0"/>
                <a:cs typeface="Times New Roman" panose="02020603050405020304" pitchFamily="18" charset="0"/>
                <a:sym typeface="+mn-ea"/>
              </a:rPr>
              <a:t>[17] Han X, Zhong X, Huang W, et al. See What You Seek: Semantic Contextual Integration for Cloth-Changing Person Re-Identification[J]. </a:t>
            </a:r>
            <a:r>
              <a:rPr lang="en-US" altLang="zh-CN" dirty="0" err="1">
                <a:latin typeface="Times New Roman" panose="02020603050405020304" pitchFamily="18" charset="0"/>
                <a:cs typeface="Times New Roman" panose="02020603050405020304" pitchFamily="18" charset="0"/>
                <a:sym typeface="+mn-ea"/>
              </a:rPr>
              <a:t>arXiv</a:t>
            </a:r>
            <a:r>
              <a:rPr lang="en-US" altLang="zh-CN" dirty="0">
                <a:latin typeface="Times New Roman" panose="02020603050405020304" pitchFamily="18" charset="0"/>
                <a:cs typeface="Times New Roman" panose="02020603050405020304" pitchFamily="18" charset="0"/>
                <a:sym typeface="+mn-ea"/>
              </a:rPr>
              <a:t> preprint arXiv:2412.01345, 2024.</a:t>
            </a:r>
          </a:p>
          <a:p>
            <a:r>
              <a:rPr lang="en-US" altLang="zh-CN" dirty="0">
                <a:latin typeface="Times New Roman" panose="02020603050405020304" pitchFamily="18" charset="0"/>
                <a:cs typeface="Times New Roman" panose="02020603050405020304" pitchFamily="18" charset="0"/>
                <a:sym typeface="+mn-ea"/>
              </a:rPr>
              <a:t>[18] </a:t>
            </a:r>
            <a:r>
              <a:rPr lang="en-US" altLang="zh-CN" sz="1800" dirty="0">
                <a:latin typeface="Times New Roman" panose="02020603050405020304" pitchFamily="18" charset="0"/>
                <a:cs typeface="Times New Roman" panose="02020603050405020304" pitchFamily="18" charset="0"/>
                <a:sym typeface="+mn-ea"/>
              </a:rPr>
              <a:t>Hu G, </a:t>
            </a:r>
            <a:r>
              <a:rPr lang="en-US" altLang="zh-CN" sz="1800" dirty="0" err="1">
                <a:latin typeface="Times New Roman" panose="02020603050405020304" pitchFamily="18" charset="0"/>
                <a:cs typeface="Times New Roman" panose="02020603050405020304" pitchFamily="18" charset="0"/>
                <a:sym typeface="+mn-ea"/>
              </a:rPr>
              <a:t>Lv</a:t>
            </a:r>
            <a:r>
              <a:rPr lang="en-US" altLang="zh-CN" sz="1800" dirty="0">
                <a:latin typeface="Times New Roman" panose="02020603050405020304" pitchFamily="18" charset="0"/>
                <a:cs typeface="Times New Roman" panose="02020603050405020304" pitchFamily="18" charset="0"/>
                <a:sym typeface="+mn-ea"/>
              </a:rPr>
              <a:t> Y, Zhang J, et al. CLIP-based Modality Compensation for Visible-Infrared </a:t>
            </a:r>
            <a:r>
              <a:rPr lang="en-US" altLang="zh-CN" dirty="0">
                <a:latin typeface="Times New Roman" panose="02020603050405020304" pitchFamily="18" charset="0"/>
                <a:cs typeface="Times New Roman" panose="02020603050405020304" pitchFamily="18" charset="0"/>
                <a:sym typeface="+mn-ea"/>
              </a:rPr>
              <a:t>Image Re-Identification[J]. IEEE Transactions on Multimedia, 2024.</a:t>
            </a:r>
          </a:p>
          <a:p>
            <a:r>
              <a:rPr lang="en-US" altLang="zh-CN" dirty="0">
                <a:latin typeface="Times New Roman" panose="02020603050405020304" pitchFamily="18" charset="0"/>
                <a:cs typeface="Times New Roman" panose="02020603050405020304" pitchFamily="18" charset="0"/>
                <a:sym typeface="+mn-ea"/>
              </a:rPr>
              <a:t>[19] </a:t>
            </a:r>
            <a:r>
              <a:rPr lang="en-US" altLang="zh-CN" dirty="0">
                <a:latin typeface="Times New Roman" panose="02020603050405020304" pitchFamily="18" charset="0"/>
                <a:cs typeface="Times New Roman" panose="02020603050405020304" pitchFamily="18" charset="0"/>
              </a:rPr>
              <a:t>Yu X, Dong N, Zhu L, et al. Clip-driven semantic discovery network for visible-infrared person re-identification[J]. IEEE Transactions on Multimedia, 2025.</a:t>
            </a:r>
          </a:p>
          <a:p>
            <a:r>
              <a:rPr lang="en-US" altLang="zh-CN" dirty="0">
                <a:latin typeface="Times New Roman" panose="02020603050405020304" pitchFamily="18" charset="0"/>
                <a:cs typeface="Times New Roman" panose="02020603050405020304" pitchFamily="18" charset="0"/>
                <a:sym typeface="+mn-ea"/>
              </a:rPr>
              <a:t>[20] </a:t>
            </a:r>
            <a:r>
              <a:rPr lang="en-US" altLang="zh-CN" dirty="0">
                <a:latin typeface="Times New Roman" panose="02020603050405020304" pitchFamily="18" charset="0"/>
                <a:cs typeface="Times New Roman" panose="02020603050405020304" pitchFamily="18" charset="0"/>
              </a:rPr>
              <a:t>Chen Z, Zhang Z, Tan X, et al. Unveiling the power of clip in unsupervised visible-infrared person re-identification[C]//Proceedings of the 31st ACM International Conference on Multimedia. 2023: 3667-3675.</a:t>
            </a:r>
          </a:p>
          <a:p>
            <a:r>
              <a:rPr lang="en-US" altLang="zh-CN" dirty="0">
                <a:latin typeface="Times New Roman" panose="02020603050405020304" pitchFamily="18" charset="0"/>
                <a:cs typeface="Times New Roman" panose="02020603050405020304" pitchFamily="18" charset="0"/>
                <a:sym typeface="+mn-ea"/>
              </a:rPr>
              <a:t>[21] </a:t>
            </a:r>
            <a:r>
              <a:rPr lang="en-US" altLang="zh-CN" dirty="0">
                <a:latin typeface="Times New Roman" panose="02020603050405020304" pitchFamily="18" charset="0"/>
                <a:cs typeface="Times New Roman" panose="02020603050405020304" pitchFamily="18" charset="0"/>
              </a:rPr>
              <a:t>Zhai Y, Zeng Y, Huang Z, et al. Multi-prompts learning with cross-modal alignment for attribute-based person re-identification[C]//Proceedings of the AAAI Conference on Artificial Intelligence. 2024, 38(7): 6979-6987.</a:t>
            </a:r>
          </a:p>
        </p:txBody>
      </p:sp>
    </p:spTree>
    <p:extLst>
      <p:ext uri="{BB962C8B-B14F-4D97-AF65-F5344CB8AC3E}">
        <p14:creationId xmlns:p14="http://schemas.microsoft.com/office/powerpoint/2010/main" val="223903747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Slide Number Placeholder 14"/>
          <p:cNvSpPr>
            <a:spLocks noGrp="1"/>
          </p:cNvSpPr>
          <p:nvPr>
            <p:ph type="sldNum" sz="quarter" idx="16"/>
          </p:nvPr>
        </p:nvSpPr>
        <p:spPr/>
        <p:txBody>
          <a:bodyPr/>
          <a:lstStyle/>
          <a:p>
            <a:pPr>
              <a:defRPr/>
            </a:pPr>
            <a:fld id="{D69E98CB-8E38-42BF-857B-65773CD3393B}" type="slidenum">
              <a:rPr lang="en-US" altLang="zh-CN" smtClean="0"/>
              <a:t>25</a:t>
            </a:fld>
            <a:endParaRPr lang="en-US" altLang="zh-CN" dirty="0"/>
          </a:p>
        </p:txBody>
      </p:sp>
      <p:sp>
        <p:nvSpPr>
          <p:cNvPr id="2" name="标题 1"/>
          <p:cNvSpPr>
            <a:spLocks noGrp="1"/>
          </p:cNvSpPr>
          <p:nvPr>
            <p:ph type="title"/>
          </p:nvPr>
        </p:nvSpPr>
        <p:spPr/>
        <p:txBody>
          <a:bodyPr/>
          <a:lstStyle/>
          <a:p>
            <a:endParaRPr lang="zh-CN" altLang="en-US"/>
          </a:p>
        </p:txBody>
      </p:sp>
      <p:pic>
        <p:nvPicPr>
          <p:cNvPr id="5" name="Picture 5" descr="B-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38" y="274638"/>
            <a:ext cx="9144000" cy="51446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4" descr="B-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400" y="1487163"/>
            <a:ext cx="4627419" cy="9910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 Box 5"/>
          <p:cNvSpPr txBox="1">
            <a:spLocks noChangeArrowheads="1"/>
          </p:cNvSpPr>
          <p:nvPr/>
        </p:nvSpPr>
        <p:spPr bwMode="auto">
          <a:xfrm>
            <a:off x="5197365" y="3481643"/>
            <a:ext cx="3933497" cy="923330"/>
          </a:xfrm>
          <a:prstGeom prst="rect">
            <a:avLst/>
          </a:prstGeom>
          <a:noFill/>
          <a:ln w="9525">
            <a:noFill/>
            <a:miter lim="800000"/>
          </a:ln>
          <a:effectLst/>
        </p:spPr>
        <p:txBody>
          <a:bodyPr wrap="square">
            <a:spAutoFit/>
          </a:bodyPr>
          <a:lstStyle/>
          <a:p>
            <a:pPr algn="ctr">
              <a:defRPr/>
            </a:pPr>
            <a:r>
              <a:rPr lang="zh-CN" altLang="en-US" sz="2700" b="1" spc="225" dirty="0">
                <a:solidFill>
                  <a:schemeClr val="accent1">
                    <a:lumMod val="75000"/>
                  </a:schemeClr>
                </a:solidFill>
                <a:latin typeface="STKaiti" panose="02010600040101010101" charset="-122"/>
                <a:ea typeface="STKaiti" panose="02010600040101010101" charset="-122"/>
              </a:rPr>
              <a:t>请各位老师</a:t>
            </a:r>
            <a:endParaRPr lang="en-US" altLang="zh-CN" sz="2700" b="1" spc="225" dirty="0">
              <a:solidFill>
                <a:schemeClr val="accent1">
                  <a:lumMod val="75000"/>
                </a:schemeClr>
              </a:solidFill>
              <a:latin typeface="STKaiti" panose="02010600040101010101" charset="-122"/>
              <a:ea typeface="STKaiti" panose="02010600040101010101" charset="-122"/>
            </a:endParaRPr>
          </a:p>
          <a:p>
            <a:pPr algn="ctr">
              <a:defRPr/>
            </a:pPr>
            <a:r>
              <a:rPr lang="zh-CN" altLang="en-US" sz="2700" b="1" spc="225" dirty="0">
                <a:solidFill>
                  <a:schemeClr val="accent1">
                    <a:lumMod val="75000"/>
                  </a:schemeClr>
                </a:solidFill>
                <a:latin typeface="STKaiti" panose="02010600040101010101" charset="-122"/>
                <a:ea typeface="STKaiti" panose="02010600040101010101" charset="-122"/>
              </a:rPr>
              <a:t>批评指正</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UNIT_TABLE_BEAUTIFY" val="smartTable{910db7c1-2aca-4079-89ff-d5e4fd37fad0}"/>
  <p:tag name="TABLE_ENDDRAG_ORIGIN_RECT" val="512*362"/>
  <p:tag name="TABLE_ENDDRAG_RECT" val="169*114*512*363"/>
</p:tagLst>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DengXian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DengXian"/>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15643</TotalTime>
  <Words>2300</Words>
  <Application>Microsoft Office PowerPoint</Application>
  <PresentationFormat>On-screen Show (4:3)</PresentationFormat>
  <Paragraphs>327</Paragraphs>
  <Slides>25</Slides>
  <Notes>25</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25</vt:i4>
      </vt:variant>
    </vt:vector>
  </HeadingPairs>
  <TitlesOfParts>
    <vt:vector size="38" baseType="lpstr">
      <vt:lpstr>Times New Roman Regular</vt:lpstr>
      <vt:lpstr>DengXian</vt:lpstr>
      <vt:lpstr>DengXian</vt:lpstr>
      <vt:lpstr>STKaiti</vt:lpstr>
      <vt:lpstr>STKaiti</vt:lpstr>
      <vt:lpstr>思源黑体 CN Light</vt:lpstr>
      <vt:lpstr>Arial</vt:lpstr>
      <vt:lpstr>Calibri</vt:lpstr>
      <vt:lpstr>Cambria Math</vt:lpstr>
      <vt:lpstr>Comic Sans MS</vt:lpstr>
      <vt:lpstr>Times New Roman</vt:lpstr>
      <vt:lpstr>Wingdings</vt:lpstr>
      <vt:lpstr>Office 主题​​</vt:lpstr>
      <vt:lpstr>基于细粒度语言引导的遮挡行人重识别 技术研究</vt:lpstr>
      <vt:lpstr>报告提纲</vt:lpstr>
      <vt:lpstr>研究背景及意义</vt:lpstr>
      <vt:lpstr>什么是行人重识别</vt:lpstr>
      <vt:lpstr>什么是遮挡行人重识别</vt:lpstr>
      <vt:lpstr>现有的针对遮挡行人重识别的方法只使用视觉信息来减轻由遮挡引起的噪声的影响</vt:lpstr>
      <vt:lpstr>PowerPoint Presentation</vt:lpstr>
      <vt:lpstr>PowerPoint Presentation</vt:lpstr>
      <vt:lpstr>PowerPoint Presentation</vt:lpstr>
      <vt:lpstr>研究现状</vt:lpstr>
      <vt:lpstr>遮挡行人重识别和语言引导方法研究现状</vt:lpstr>
      <vt:lpstr>研究目标、内容和拟解决的关键问题</vt:lpstr>
      <vt:lpstr>研究目标、内容和拟解决的关键问题</vt:lpstr>
      <vt:lpstr>研究内容（一）基于多模态大模型的细粒度prompt构建方法</vt:lpstr>
      <vt:lpstr>PowerPoint Presentation</vt:lpstr>
      <vt:lpstr>研究内容（三）基于多模态交互的特征增强方法</vt:lpstr>
      <vt:lpstr>已有工作基础</vt:lpstr>
      <vt:lpstr>已有工作基础</vt:lpstr>
      <vt:lpstr>研究计划及预期进展</vt:lpstr>
      <vt:lpstr>研究计划</vt:lpstr>
      <vt:lpstr>参考文献</vt:lpstr>
      <vt:lpstr>参考文献</vt:lpstr>
      <vt:lpstr>参考文献</vt:lpstr>
      <vt:lpstr>参考文献</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wwenan</dc:creator>
  <cp:lastModifiedBy>天骄 曹</cp:lastModifiedBy>
  <cp:revision>6758</cp:revision>
  <cp:lastPrinted>2023-08-27T19:00:40Z</cp:lastPrinted>
  <dcterms:created xsi:type="dcterms:W3CDTF">2023-08-27T19:00:40Z</dcterms:created>
  <dcterms:modified xsi:type="dcterms:W3CDTF">2025-03-20T00:18:12Z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86377F946B0020895FBCEA64A200576F</vt:lpwstr>
  </property>
  <property fmtid="{D5CDD505-2E9C-101B-9397-08002B2CF9AE}" pid="3" name="KSOProductBuildVer">
    <vt:lpwstr>2052-5.1.1.7676</vt:lpwstr>
  </property>
</Properties>
</file>