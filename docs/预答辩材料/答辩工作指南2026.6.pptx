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4" r:id="rId4"/>
  </p:sldMasterIdLst>
  <p:notesMasterIdLst>
    <p:notesMasterId r:id="rId7"/>
  </p:notesMasterIdLst>
  <p:sldIdLst>
    <p:sldId id="257" r:id="rId5"/>
    <p:sldId id="258" r:id="rId6"/>
    <p:sldId id="261" r:id="rId8"/>
    <p:sldId id="262" r:id="rId9"/>
    <p:sldId id="263" r:id="rId10"/>
    <p:sldId id="264" r:id="rId11"/>
    <p:sldId id="265" r:id="rId12"/>
    <p:sldId id="266" r:id="rId13"/>
    <p:sldId id="267" r:id="rId14"/>
    <p:sldId id="268" r:id="rId15"/>
    <p:sldId id="272" r:id="rId16"/>
    <p:sldId id="269" r:id="rId17"/>
    <p:sldId id="270" r:id="rId18"/>
    <p:sldId id="271"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3" userDrawn="1">
          <p15:clr>
            <a:srgbClr val="A4A3A4"/>
          </p15:clr>
        </p15:guide>
        <p15:guide id="2" pos="378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ngsoft" initials="k" lastIdx="0" clrIdx="0"/>
  <p:cmAuthor id="2" name="王 石" initials="王"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FFFFF"/>
    <a:srgbClr val="F1BBAA"/>
    <a:srgbClr val="F8DED6"/>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3"/>
        <p:guide pos="378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0" Type="http://schemas.openxmlformats.org/officeDocument/2006/relationships/commentAuthors" Target="commentAuthors.xml"/><Relationship Id="rId4" Type="http://schemas.openxmlformats.org/officeDocument/2006/relationships/slideMaster" Target="slideMasters/slideMaster3.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p:cNvSpPr>
          <p:nvPr>
            <p:ph type="sldImg"/>
          </p:nvPr>
        </p:nvSpPr>
        <p:spPr>
          <a:xfrm>
            <a:off x="2697163" y="509588"/>
            <a:ext cx="4532312" cy="2549525"/>
          </a:xfrm>
          <a:ln>
            <a:solidFill>
              <a:srgbClr val="000000"/>
            </a:solidFill>
          </a:ln>
        </p:spPr>
      </p:sp>
      <p:sp>
        <p:nvSpPr>
          <p:cNvPr id="28674" name="文本占位符 2"/>
          <p:cNvSpPr>
            <a:spLocks noGrp="1"/>
          </p:cNvSpPr>
          <p:nvPr>
            <p:ph type="body"/>
          </p:nvPr>
        </p:nvSpPr>
        <p:spPr>
          <a:xfrm>
            <a:off x="992188" y="3228975"/>
            <a:ext cx="7942262" cy="3059113"/>
          </a:xfrm>
          <a:noFill/>
          <a:ln>
            <a:noFill/>
          </a:ln>
        </p:spPr>
        <p:txBody>
          <a:bodyPr lIns="91440" tIns="45720" rIns="91440" bIns="45720" anchor="t" anchorCtr="0"/>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82706" y="1212289"/>
            <a:ext cx="11026588" cy="1425669"/>
          </a:xfrm>
        </p:spPr>
        <p:txBody>
          <a:bodyPr anchor="b">
            <a:normAutofit/>
          </a:bodyPr>
          <a:lstStyle>
            <a:lvl1pPr algn="ctr">
              <a:defRPr sz="4800" b="1">
                <a:solidFill>
                  <a:schemeClr val="bg1"/>
                </a:solidFill>
                <a:latin typeface="微软雅黑" panose="020B0503020204020204" charset="-122"/>
                <a:ea typeface="微软雅黑" panose="020B0503020204020204" charset="-122"/>
              </a:defRPr>
            </a:lvl1pPr>
          </a:lstStyle>
          <a:p>
            <a:pPr fontAlgn="auto"/>
            <a:r>
              <a:rPr lang="zh-CN" altLang="en-US" strike="noStrike" noProof="1" smtClean="0"/>
              <a:t>单击此处编辑母版标题样式</a:t>
            </a:r>
            <a:endParaRPr lang="en-US" strike="noStrike" noProof="1" dirty="0"/>
          </a:p>
        </p:txBody>
      </p:sp>
      <p:sp>
        <p:nvSpPr>
          <p:cNvPr id="3" name="Subtitle 2"/>
          <p:cNvSpPr>
            <a:spLocks noGrp="1"/>
          </p:cNvSpPr>
          <p:nvPr>
            <p:ph type="subTitle" idx="1"/>
          </p:nvPr>
        </p:nvSpPr>
        <p:spPr>
          <a:xfrm>
            <a:off x="2102224" y="4619904"/>
            <a:ext cx="8763000" cy="1216118"/>
          </a:xfrm>
        </p:spPr>
        <p:txBody>
          <a:bodyPr anchor="ctr">
            <a:normAutofit/>
          </a:bodyPr>
          <a:lstStyle>
            <a:lvl1pPr marL="0" indent="0" algn="ctr">
              <a:buNone/>
              <a:defRPr sz="2800" b="1">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单击此处编辑母版副标题样式</a:t>
            </a:r>
            <a:endParaRPr lang="en-US" strike="noStrike" noProof="1" dirty="0"/>
          </a:p>
        </p:txBody>
      </p:sp>
      <p:sp>
        <p:nvSpPr>
          <p:cNvPr id="4" name="日期占位符 3"/>
          <p:cNvSpPr>
            <a:spLocks noGrp="1"/>
          </p:cNvSpPr>
          <p:nvPr>
            <p:ph type="dt" sz="half" idx="10"/>
          </p:nvPr>
        </p:nvSpPr>
        <p:spPr/>
        <p:txBody>
          <a:bodyPr/>
          <a:p>
            <a:pPr fontAlgn="base"/>
            <a:fld id="{770EA092-613D-4EBE-91D9-0CAFA04157B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354DD5AF-04CA-408A-B8EA-5753840BC0B3}"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171" name="Picture 7" descr="B-1"/>
          <p:cNvPicPr>
            <a:picLocks noChangeAspect="1"/>
          </p:cNvPicPr>
          <p:nvPr userDrawn="1"/>
        </p:nvPicPr>
        <p:blipFill>
          <a:blip r:embed="rId2"/>
          <a:stretch>
            <a:fillRect/>
          </a:stretch>
        </p:blipFill>
        <p:spPr>
          <a:xfrm>
            <a:off x="0" y="1588"/>
            <a:ext cx="12192000" cy="6856412"/>
          </a:xfrm>
          <a:prstGeom prst="rect">
            <a:avLst/>
          </a:prstGeom>
          <a:noFill/>
          <a:ln w="9525">
            <a:noFill/>
          </a:ln>
        </p:spPr>
      </p:pic>
      <p:pic>
        <p:nvPicPr>
          <p:cNvPr id="7172" name="Picture 6" descr="B-1"/>
          <p:cNvPicPr>
            <a:picLocks noChangeAspect="1"/>
          </p:cNvPicPr>
          <p:nvPr userDrawn="1"/>
        </p:nvPicPr>
        <p:blipFill>
          <a:blip r:embed="rId3"/>
          <a:srcRect l="8194" t="52522" r="40851" b="32153"/>
          <a:stretch>
            <a:fillRect/>
          </a:stretch>
        </p:blipFill>
        <p:spPr>
          <a:xfrm>
            <a:off x="998538" y="3602038"/>
            <a:ext cx="6213475" cy="1050925"/>
          </a:xfrm>
          <a:prstGeom prst="rect">
            <a:avLst/>
          </a:prstGeom>
          <a:noFill/>
          <a:ln w="9525">
            <a:noFill/>
          </a:ln>
        </p:spPr>
      </p:pic>
      <p:sp>
        <p:nvSpPr>
          <p:cNvPr id="2" name="标题 1"/>
          <p:cNvSpPr>
            <a:spLocks noGrp="1"/>
          </p:cNvSpPr>
          <p:nvPr>
            <p:ph type="ctrTitle"/>
          </p:nvPr>
        </p:nvSpPr>
        <p:spPr>
          <a:xfrm>
            <a:off x="841314" y="1412777"/>
            <a:ext cx="9566031" cy="1470025"/>
          </a:xfrm>
        </p:spPr>
        <p:txBody>
          <a:bodyPr/>
          <a:lstStyle>
            <a:lvl1pPr>
              <a:defRPr>
                <a:solidFill>
                  <a:schemeClr val="bg1"/>
                </a:solidFill>
              </a:defRPr>
            </a:lvl1pPr>
          </a:lstStyle>
          <a:p>
            <a:pPr fontAlgn="base"/>
            <a:r>
              <a:rPr lang="zh-CN" altLang="en-US" strike="noStrike" noProof="1" dirty="0"/>
              <a:t>单击此处编辑母版标题样式</a:t>
            </a:r>
            <a:endParaRPr lang="zh-CN" altLang="en-US" strike="noStrike" noProof="1" dirty="0"/>
          </a:p>
        </p:txBody>
      </p:sp>
      <p:sp>
        <p:nvSpPr>
          <p:cNvPr id="10"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8195" name="Picture 4" descr="B-1"/>
          <p:cNvPicPr>
            <a:picLocks noChangeAspect="1"/>
          </p:cNvPicPr>
          <p:nvPr userDrawn="1"/>
        </p:nvPicPr>
        <p:blipFill>
          <a:blip r:embed="rId2"/>
          <a:stretch>
            <a:fillRect/>
          </a:stretch>
        </p:blipFill>
        <p:spPr>
          <a:xfrm>
            <a:off x="0" y="0"/>
            <a:ext cx="12192000" cy="6858000"/>
          </a:xfrm>
          <a:prstGeom prst="rect">
            <a:avLst/>
          </a:prstGeom>
          <a:noFill/>
          <a:ln w="9525">
            <a:noFill/>
          </a:ln>
        </p:spPr>
      </p:pic>
      <p:sp>
        <p:nvSpPr>
          <p:cNvPr id="2" name="标题 1"/>
          <p:cNvSpPr>
            <a:spLocks noGrp="1"/>
          </p:cNvSpPr>
          <p:nvPr>
            <p:ph type="title"/>
          </p:nvPr>
        </p:nvSpPr>
        <p:spPr>
          <a:xfrm>
            <a:off x="7222331" y="548680"/>
            <a:ext cx="3203239" cy="648072"/>
          </a:xfrm>
        </p:spPr>
        <p:txBody>
          <a:bodyPr/>
          <a:lstStyle>
            <a:lvl1pPr>
              <a:defRPr sz="2400"/>
            </a:lvl1pPr>
          </a:lstStyle>
          <a:p>
            <a:pPr fontAlgn="base"/>
            <a:r>
              <a:rPr lang="en-US" altLang="zh-CN" strike="noStrike" noProof="1" dirty="0"/>
              <a:t>Click to edit Master title style</a:t>
            </a:r>
            <a:endParaRPr lang="zh-CN" altLang="en-US" strike="noStrike" noProof="1" dirty="0"/>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9"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1_空白">
    <p:bg>
      <p:bgPr>
        <a:solidFill>
          <a:schemeClr val="bg1"/>
        </a:solidFill>
        <a:effectLst/>
      </p:bgPr>
    </p:bg>
    <p:spTree>
      <p:nvGrpSpPr>
        <p:cNvPr id="1" name=""/>
        <p:cNvGrpSpPr/>
        <p:nvPr/>
      </p:nvGrpSpPr>
      <p:grpSpPr>
        <a:xfrm>
          <a:off x="0" y="0"/>
          <a:ext cx="0" cy="0"/>
          <a:chOff x="0" y="0"/>
          <a:chExt cx="0" cy="0"/>
        </a:xfrm>
      </p:grpSpPr>
      <p:pic>
        <p:nvPicPr>
          <p:cNvPr id="9219" name="Picture 5" descr="B-1"/>
          <p:cNvPicPr>
            <a:picLocks noChangeAspect="1"/>
          </p:cNvPicPr>
          <p:nvPr userDrawn="1"/>
        </p:nvPicPr>
        <p:blipFill>
          <a:blip r:embed="rId2"/>
          <a:stretch>
            <a:fillRect/>
          </a:stretch>
        </p:blipFill>
        <p:spPr>
          <a:xfrm>
            <a:off x="0" y="-1587"/>
            <a:ext cx="12192000" cy="6859587"/>
          </a:xfrm>
          <a:prstGeom prst="rect">
            <a:avLst/>
          </a:prstGeom>
          <a:noFill/>
          <a:ln w="9525">
            <a:noFill/>
          </a:ln>
        </p:spPr>
      </p:pic>
      <p:pic>
        <p:nvPicPr>
          <p:cNvPr id="9220" name="Picture 4" descr="B-1"/>
          <p:cNvPicPr>
            <a:picLocks noChangeAspect="1"/>
          </p:cNvPicPr>
          <p:nvPr userDrawn="1"/>
        </p:nvPicPr>
        <p:blipFill>
          <a:blip r:embed="rId3"/>
          <a:stretch>
            <a:fillRect/>
          </a:stretch>
        </p:blipFill>
        <p:spPr>
          <a:xfrm>
            <a:off x="6383338" y="2133600"/>
            <a:ext cx="5376862" cy="863600"/>
          </a:xfrm>
          <a:prstGeom prst="rect">
            <a:avLst/>
          </a:prstGeom>
          <a:noFill/>
          <a:ln w="9525">
            <a:noFill/>
          </a:ln>
        </p:spPr>
      </p:pic>
      <p:sp>
        <p:nvSpPr>
          <p:cNvPr id="10"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44" name="矩形 43"/>
          <p:cNvSpPr/>
          <p:nvPr userDrawn="1"/>
        </p:nvSpPr>
        <p:spPr>
          <a:xfrm>
            <a:off x="0" y="0"/>
            <a:ext cx="12195740" cy="6858000"/>
          </a:xfrm>
          <a:prstGeom prst="rect">
            <a:avLst/>
          </a:prstGeom>
          <a:gradFill flip="none" rotWithShape="1">
            <a:gsLst>
              <a:gs pos="0">
                <a:srgbClr val="DCDCDC"/>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直角三角形 120"/>
          <p:cNvSpPr>
            <a:spLocks noChangeArrowheads="1"/>
          </p:cNvSpPr>
          <p:nvPr/>
        </p:nvSpPr>
        <p:spPr bwMode="auto">
          <a:xfrm rot="8990647">
            <a:off x="9022438" y="2795985"/>
            <a:ext cx="2226217" cy="1309049"/>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46" name="直角三角形 121"/>
          <p:cNvSpPr>
            <a:spLocks noChangeArrowheads="1"/>
          </p:cNvSpPr>
          <p:nvPr/>
        </p:nvSpPr>
        <p:spPr bwMode="auto">
          <a:xfrm rot="5358376">
            <a:off x="8416129" y="4001546"/>
            <a:ext cx="226459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47" name="直角三角形 122"/>
          <p:cNvSpPr>
            <a:spLocks noChangeArrowheads="1"/>
          </p:cNvSpPr>
          <p:nvPr/>
        </p:nvSpPr>
        <p:spPr bwMode="auto">
          <a:xfrm rot="1805345">
            <a:off x="9142418" y="5090165"/>
            <a:ext cx="226459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48" name="任意多边形 47"/>
          <p:cNvSpPr>
            <a:spLocks noChangeArrowheads="1"/>
          </p:cNvSpPr>
          <p:nvPr/>
        </p:nvSpPr>
        <p:spPr bwMode="auto">
          <a:xfrm rot="19790647">
            <a:off x="10527569" y="5226930"/>
            <a:ext cx="1597713" cy="1309049"/>
          </a:xfrm>
          <a:custGeom>
            <a:avLst/>
            <a:gdLst>
              <a:gd name="connsiteX0" fmla="*/ 0 w 1597713"/>
              <a:gd name="connsiteY0" fmla="*/ 0 h 1309049"/>
              <a:gd name="connsiteX1" fmla="*/ 1597713 w 1597713"/>
              <a:gd name="connsiteY1" fmla="*/ 939480 h 1309049"/>
              <a:gd name="connsiteX2" fmla="*/ 1382999 w 1597713"/>
              <a:gd name="connsiteY2" fmla="*/ 1309049 h 1309049"/>
              <a:gd name="connsiteX3" fmla="*/ 0 w 1597713"/>
              <a:gd name="connsiteY3" fmla="*/ 1309049 h 1309049"/>
            </a:gdLst>
            <a:ahLst/>
            <a:cxnLst>
              <a:cxn ang="0">
                <a:pos x="connsiteX0" y="connsiteY0"/>
              </a:cxn>
              <a:cxn ang="0">
                <a:pos x="connsiteX1" y="connsiteY1"/>
              </a:cxn>
              <a:cxn ang="0">
                <a:pos x="connsiteX2" y="connsiteY2"/>
              </a:cxn>
              <a:cxn ang="0">
                <a:pos x="connsiteX3" y="connsiteY3"/>
              </a:cxn>
            </a:cxnLst>
            <a:rect l="l" t="t" r="r" b="b"/>
            <a:pathLst>
              <a:path w="1597713" h="1309049">
                <a:moveTo>
                  <a:pt x="0" y="0"/>
                </a:moveTo>
                <a:lnTo>
                  <a:pt x="1597713" y="939480"/>
                </a:lnTo>
                <a:lnTo>
                  <a:pt x="1382999" y="1309049"/>
                </a:lnTo>
                <a:lnTo>
                  <a:pt x="0" y="1309049"/>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49" name="任意多边形 48"/>
          <p:cNvSpPr>
            <a:spLocks noChangeArrowheads="1"/>
          </p:cNvSpPr>
          <p:nvPr/>
        </p:nvSpPr>
        <p:spPr bwMode="auto">
          <a:xfrm rot="16084695">
            <a:off x="11349894" y="4860457"/>
            <a:ext cx="1056335" cy="600268"/>
          </a:xfrm>
          <a:custGeom>
            <a:avLst/>
            <a:gdLst>
              <a:gd name="connsiteX0" fmla="*/ 1056335 w 1056335"/>
              <a:gd name="connsiteY0" fmla="*/ 600268 h 600268"/>
              <a:gd name="connsiteX1" fmla="*/ 0 w 1056335"/>
              <a:gd name="connsiteY1" fmla="*/ 564825 h 600268"/>
              <a:gd name="connsiteX2" fmla="*/ 0 w 1056335"/>
              <a:gd name="connsiteY2" fmla="*/ 0 h 600268"/>
            </a:gdLst>
            <a:ahLst/>
            <a:cxnLst>
              <a:cxn ang="0">
                <a:pos x="connsiteX0" y="connsiteY0"/>
              </a:cxn>
              <a:cxn ang="0">
                <a:pos x="connsiteX1" y="connsiteY1"/>
              </a:cxn>
              <a:cxn ang="0">
                <a:pos x="connsiteX2" y="connsiteY2"/>
              </a:cxn>
            </a:cxnLst>
            <a:rect l="l" t="t" r="r" b="b"/>
            <a:pathLst>
              <a:path w="1056335" h="600268">
                <a:moveTo>
                  <a:pt x="1056335" y="600268"/>
                </a:moveTo>
                <a:lnTo>
                  <a:pt x="0" y="564825"/>
                </a:lnTo>
                <a:lnTo>
                  <a:pt x="0" y="0"/>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0" name="任意多边形 49"/>
          <p:cNvSpPr>
            <a:spLocks noChangeArrowheads="1"/>
          </p:cNvSpPr>
          <p:nvPr/>
        </p:nvSpPr>
        <p:spPr bwMode="auto">
          <a:xfrm rot="12590647">
            <a:off x="10324146" y="2796632"/>
            <a:ext cx="2264591" cy="1286867"/>
          </a:xfrm>
          <a:custGeom>
            <a:avLst/>
            <a:gdLst>
              <a:gd name="connsiteX0" fmla="*/ 2264591 w 2264591"/>
              <a:gd name="connsiteY0" fmla="*/ 1286867 h 1286867"/>
              <a:gd name="connsiteX1" fmla="*/ 689960 w 2264591"/>
              <a:gd name="connsiteY1" fmla="*/ 1286867 h 1286867"/>
              <a:gd name="connsiteX2" fmla="*/ 0 w 2264591"/>
              <a:gd name="connsiteY2" fmla="*/ 84277 h 1286867"/>
              <a:gd name="connsiteX3" fmla="*/ 0 w 2264591"/>
              <a:gd name="connsiteY3" fmla="*/ 0 h 1286867"/>
            </a:gdLst>
            <a:ahLst/>
            <a:cxnLst>
              <a:cxn ang="0">
                <a:pos x="connsiteX0" y="connsiteY0"/>
              </a:cxn>
              <a:cxn ang="0">
                <a:pos x="connsiteX1" y="connsiteY1"/>
              </a:cxn>
              <a:cxn ang="0">
                <a:pos x="connsiteX2" y="connsiteY2"/>
              </a:cxn>
              <a:cxn ang="0">
                <a:pos x="connsiteX3" y="connsiteY3"/>
              </a:cxn>
            </a:cxnLst>
            <a:rect l="l" t="t" r="r" b="b"/>
            <a:pathLst>
              <a:path w="2264591" h="1286867">
                <a:moveTo>
                  <a:pt x="2264591" y="1286867"/>
                </a:moveTo>
                <a:lnTo>
                  <a:pt x="689960" y="1286867"/>
                </a:lnTo>
                <a:lnTo>
                  <a:pt x="0" y="84277"/>
                </a:lnTo>
                <a:lnTo>
                  <a:pt x="0" y="0"/>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1" name="直角三角形 109"/>
          <p:cNvSpPr>
            <a:spLocks noChangeArrowheads="1"/>
          </p:cNvSpPr>
          <p:nvPr/>
        </p:nvSpPr>
        <p:spPr bwMode="auto">
          <a:xfrm rot="5358376">
            <a:off x="10267009" y="452309"/>
            <a:ext cx="2192089"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2" name="任意多边形 51"/>
          <p:cNvSpPr>
            <a:spLocks noChangeArrowheads="1"/>
          </p:cNvSpPr>
          <p:nvPr/>
        </p:nvSpPr>
        <p:spPr bwMode="auto">
          <a:xfrm rot="1805345">
            <a:off x="11002219" y="1334989"/>
            <a:ext cx="1587649" cy="1286867"/>
          </a:xfrm>
          <a:custGeom>
            <a:avLst/>
            <a:gdLst>
              <a:gd name="connsiteX0" fmla="*/ 0 w 1587649"/>
              <a:gd name="connsiteY0" fmla="*/ 0 h 1286867"/>
              <a:gd name="connsiteX1" fmla="*/ 1255342 w 1587649"/>
              <a:gd name="connsiteY1" fmla="*/ 713355 h 1286867"/>
              <a:gd name="connsiteX2" fmla="*/ 1587649 w 1587649"/>
              <a:gd name="connsiteY2" fmla="*/ 1286867 h 1286867"/>
              <a:gd name="connsiteX3" fmla="*/ 0 w 1587649"/>
              <a:gd name="connsiteY3" fmla="*/ 1286867 h 1286867"/>
            </a:gdLst>
            <a:ahLst/>
            <a:cxnLst>
              <a:cxn ang="0">
                <a:pos x="connsiteX0" y="connsiteY0"/>
              </a:cxn>
              <a:cxn ang="0">
                <a:pos x="connsiteX1" y="connsiteY1"/>
              </a:cxn>
              <a:cxn ang="0">
                <a:pos x="connsiteX2" y="connsiteY2"/>
              </a:cxn>
              <a:cxn ang="0">
                <a:pos x="connsiteX3" y="connsiteY3"/>
              </a:cxn>
            </a:cxnLst>
            <a:rect l="l" t="t" r="r" b="b"/>
            <a:pathLst>
              <a:path w="1587649" h="1286867">
                <a:moveTo>
                  <a:pt x="0" y="0"/>
                </a:moveTo>
                <a:lnTo>
                  <a:pt x="1255342" y="713355"/>
                </a:lnTo>
                <a:lnTo>
                  <a:pt x="1587649" y="1286867"/>
                </a:lnTo>
                <a:lnTo>
                  <a:pt x="0" y="1286867"/>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3" name="直角三角形 135"/>
          <p:cNvSpPr>
            <a:spLocks noChangeArrowheads="1"/>
          </p:cNvSpPr>
          <p:nvPr/>
        </p:nvSpPr>
        <p:spPr bwMode="auto">
          <a:xfrm rot="5358376">
            <a:off x="6199878" y="468191"/>
            <a:ext cx="2264591" cy="1274015"/>
          </a:xfrm>
          <a:custGeom>
            <a:avLst/>
            <a:gdLst>
              <a:gd name="connsiteX0" fmla="*/ 0 w 2264591"/>
              <a:gd name="connsiteY0" fmla="*/ 1286867 h 1286867"/>
              <a:gd name="connsiteX1" fmla="*/ 0 w 2264591"/>
              <a:gd name="connsiteY1" fmla="*/ 0 h 1286867"/>
              <a:gd name="connsiteX2" fmla="*/ 2264591 w 2264591"/>
              <a:gd name="connsiteY2" fmla="*/ 1286867 h 1286867"/>
              <a:gd name="connsiteX3" fmla="*/ 0 w 2264591"/>
              <a:gd name="connsiteY3" fmla="*/ 1286867 h 1286867"/>
              <a:gd name="connsiteX0-1" fmla="*/ 0 w 2264591"/>
              <a:gd name="connsiteY0-2" fmla="*/ 1274015 h 1274015"/>
              <a:gd name="connsiteX1-3" fmla="*/ 12545 w 2264591"/>
              <a:gd name="connsiteY1-4" fmla="*/ 0 h 1274015"/>
              <a:gd name="connsiteX2-5" fmla="*/ 2264591 w 2264591"/>
              <a:gd name="connsiteY2-6" fmla="*/ 1274015 h 1274015"/>
              <a:gd name="connsiteX3-7" fmla="*/ 0 w 2264591"/>
              <a:gd name="connsiteY3-8" fmla="*/ 1274015 h 1274015"/>
            </a:gdLst>
            <a:ahLst/>
            <a:cxnLst>
              <a:cxn ang="0">
                <a:pos x="connsiteX0-1" y="connsiteY0-2"/>
              </a:cxn>
              <a:cxn ang="0">
                <a:pos x="connsiteX1-3" y="connsiteY1-4"/>
              </a:cxn>
              <a:cxn ang="0">
                <a:pos x="connsiteX2-5" y="connsiteY2-6"/>
              </a:cxn>
              <a:cxn ang="0">
                <a:pos x="connsiteX3-7" y="connsiteY3-8"/>
              </a:cxn>
            </a:cxnLst>
            <a:rect l="l" t="t" r="r" b="b"/>
            <a:pathLst>
              <a:path w="2264591" h="1274015">
                <a:moveTo>
                  <a:pt x="0" y="1274015"/>
                </a:moveTo>
                <a:lnTo>
                  <a:pt x="12545" y="0"/>
                </a:lnTo>
                <a:lnTo>
                  <a:pt x="2264591" y="1274015"/>
                </a:lnTo>
                <a:lnTo>
                  <a:pt x="0" y="1274015"/>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4" name="直角三角形 136"/>
          <p:cNvSpPr>
            <a:spLocks noChangeArrowheads="1"/>
          </p:cNvSpPr>
          <p:nvPr/>
        </p:nvSpPr>
        <p:spPr bwMode="auto">
          <a:xfrm rot="1805345">
            <a:off x="6932593" y="1550306"/>
            <a:ext cx="226459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5" name="直角三角形 137"/>
          <p:cNvSpPr>
            <a:spLocks noChangeArrowheads="1"/>
          </p:cNvSpPr>
          <p:nvPr/>
        </p:nvSpPr>
        <p:spPr bwMode="auto">
          <a:xfrm rot="19790647">
            <a:off x="8275214" y="1529205"/>
            <a:ext cx="2226217" cy="1309049"/>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56" name="直角三角形 138"/>
          <p:cNvSpPr>
            <a:spLocks noChangeArrowheads="1"/>
          </p:cNvSpPr>
          <p:nvPr/>
        </p:nvSpPr>
        <p:spPr bwMode="auto">
          <a:xfrm rot="16084695">
            <a:off x="8904847" y="406536"/>
            <a:ext cx="2175462"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9" name="任意多边形 78"/>
          <p:cNvSpPr>
            <a:spLocks noChangeArrowheads="1"/>
          </p:cNvSpPr>
          <p:nvPr/>
        </p:nvSpPr>
        <p:spPr bwMode="auto">
          <a:xfrm rot="12590647">
            <a:off x="9278069" y="-353985"/>
            <a:ext cx="1045243" cy="1193652"/>
          </a:xfrm>
          <a:custGeom>
            <a:avLst/>
            <a:gdLst>
              <a:gd name="connsiteX0" fmla="*/ 1045243 w 1045243"/>
              <a:gd name="connsiteY0" fmla="*/ 593966 h 1193652"/>
              <a:gd name="connsiteX1" fmla="*/ 0 w 1045243"/>
              <a:gd name="connsiteY1" fmla="*/ 1193652 h 1193652"/>
              <a:gd name="connsiteX2" fmla="*/ 0 w 1045243"/>
              <a:gd name="connsiteY2" fmla="*/ 0 h 1193652"/>
            </a:gdLst>
            <a:ahLst/>
            <a:cxnLst>
              <a:cxn ang="0">
                <a:pos x="connsiteX0" y="connsiteY0"/>
              </a:cxn>
              <a:cxn ang="0">
                <a:pos x="connsiteX1" y="connsiteY1"/>
              </a:cxn>
              <a:cxn ang="0">
                <a:pos x="connsiteX2" y="connsiteY2"/>
              </a:cxn>
            </a:cxnLst>
            <a:rect l="l" t="t" r="r" b="b"/>
            <a:pathLst>
              <a:path w="1045243" h="1193652">
                <a:moveTo>
                  <a:pt x="1045243" y="593966"/>
                </a:moveTo>
                <a:lnTo>
                  <a:pt x="0" y="1193652"/>
                </a:lnTo>
                <a:lnTo>
                  <a:pt x="0" y="0"/>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 name="KSO_CT2"/>
          <p:cNvSpPr>
            <a:spLocks noGrp="1"/>
          </p:cNvSpPr>
          <p:nvPr userDrawn="1">
            <p:ph type="subTitle" idx="1" hasCustomPrompt="1"/>
          </p:nvPr>
        </p:nvSpPr>
        <p:spPr>
          <a:xfrm>
            <a:off x="689964" y="3666772"/>
            <a:ext cx="5873503" cy="474984"/>
          </a:xfrm>
          <a:noFill/>
        </p:spPr>
        <p:txBody>
          <a:bodyPr anchor="ctr">
            <a:normAutofit/>
          </a:bodyPr>
          <a:lstStyle>
            <a:lvl1pPr marL="0" indent="0" algn="r">
              <a:buNone/>
              <a:defRPr sz="1800" b="0" baseline="0">
                <a:solidFill>
                  <a:schemeClr val="tx1"/>
                </a:solidFill>
                <a:effectLst/>
                <a:latin typeface="+mn-lt"/>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单击此处添加您的副标题</a:t>
            </a:r>
            <a:endParaRPr lang="zh-CN" altLang="en-US" dirty="0" smtClean="0"/>
          </a:p>
        </p:txBody>
      </p:sp>
      <p:sp>
        <p:nvSpPr>
          <p:cNvPr id="7" name="KSO_CT1"/>
          <p:cNvSpPr>
            <a:spLocks noGrp="1"/>
          </p:cNvSpPr>
          <p:nvPr userDrawn="1">
            <p:ph type="title" hasCustomPrompt="1"/>
          </p:nvPr>
        </p:nvSpPr>
        <p:spPr>
          <a:xfrm>
            <a:off x="704850" y="2357075"/>
            <a:ext cx="5873503" cy="1159472"/>
          </a:xfrm>
        </p:spPr>
        <p:txBody>
          <a:bodyPr anchor="b">
            <a:normAutofit/>
          </a:bodyPr>
          <a:lstStyle>
            <a:lvl1pPr algn="r">
              <a:defRPr sz="3600" b="1" kern="1000" baseline="0">
                <a:solidFill>
                  <a:schemeClr val="accent1"/>
                </a:solidFill>
                <a:effectLst/>
                <a:latin typeface="+mj-lt"/>
                <a:ea typeface="+mj-ea"/>
              </a:defRPr>
            </a:lvl1pPr>
          </a:lstStyle>
          <a:p>
            <a:r>
              <a:rPr lang="zh-CN" altLang="en-US" dirty="0" smtClean="0"/>
              <a:t>单击此处添加您的标题文字</a:t>
            </a:r>
            <a:endParaRPr lang="zh-CN" altLang="en-US" dirty="0"/>
          </a:p>
        </p:txBody>
      </p:sp>
      <p:grpSp>
        <p:nvGrpSpPr>
          <p:cNvPr id="2" name="组合 1"/>
          <p:cNvGrpSpPr/>
          <p:nvPr userDrawn="1"/>
        </p:nvGrpSpPr>
        <p:grpSpPr>
          <a:xfrm>
            <a:off x="6804145" y="2011131"/>
            <a:ext cx="4018202" cy="2847547"/>
            <a:chOff x="8693539" y="2599117"/>
            <a:chExt cx="2422149" cy="1716485"/>
          </a:xfrm>
        </p:grpSpPr>
        <p:grpSp>
          <p:nvGrpSpPr>
            <p:cNvPr id="58" name="Group 10"/>
            <p:cNvGrpSpPr/>
            <p:nvPr userDrawn="1"/>
          </p:nvGrpSpPr>
          <p:grpSpPr bwMode="auto">
            <a:xfrm>
              <a:off x="8830267" y="2599117"/>
              <a:ext cx="1420561" cy="1568779"/>
              <a:chOff x="0" y="0"/>
              <a:chExt cx="1643999" cy="1784764"/>
            </a:xfrm>
            <a:solidFill>
              <a:schemeClr val="accent1"/>
            </a:solidFill>
          </p:grpSpPr>
          <p:sp>
            <p:nvSpPr>
              <p:cNvPr id="59" name="直角三角形 114"/>
              <p:cNvSpPr>
                <a:spLocks noChangeArrowheads="1"/>
              </p:cNvSpPr>
              <p:nvPr/>
            </p:nvSpPr>
            <p:spPr bwMode="auto">
              <a:xfrm rot="10800000">
                <a:off x="288925" y="0"/>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0" name="直角三角形 115"/>
              <p:cNvSpPr>
                <a:spLocks noChangeArrowheads="1"/>
              </p:cNvSpPr>
              <p:nvPr/>
            </p:nvSpPr>
            <p:spPr bwMode="auto">
              <a:xfrm rot="7167729">
                <a:off x="-212686" y="328472"/>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1" name="直角三角形 116"/>
              <p:cNvSpPr>
                <a:spLocks noChangeArrowheads="1"/>
              </p:cNvSpPr>
              <p:nvPr/>
            </p:nvSpPr>
            <p:spPr bwMode="auto">
              <a:xfrm rot="3614698">
                <a:off x="-175951" y="909918"/>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2" name="直角三角形 117"/>
              <p:cNvSpPr>
                <a:spLocks noChangeArrowheads="1"/>
              </p:cNvSpPr>
              <p:nvPr/>
            </p:nvSpPr>
            <p:spPr bwMode="auto">
              <a:xfrm>
                <a:off x="344517" y="1202024"/>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3" name="直角三角形 118"/>
              <p:cNvSpPr>
                <a:spLocks noChangeArrowheads="1"/>
              </p:cNvSpPr>
              <p:nvPr/>
            </p:nvSpPr>
            <p:spPr bwMode="auto">
              <a:xfrm rot="17894048">
                <a:off x="848573" y="883274"/>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4" name="直角三角形 119"/>
              <p:cNvSpPr>
                <a:spLocks noChangeArrowheads="1"/>
              </p:cNvSpPr>
              <p:nvPr/>
            </p:nvSpPr>
            <p:spPr bwMode="auto">
              <a:xfrm rot="14400000">
                <a:off x="808498" y="291371"/>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65" name="Group 10"/>
            <p:cNvGrpSpPr/>
            <p:nvPr userDrawn="1"/>
          </p:nvGrpSpPr>
          <p:grpSpPr bwMode="auto">
            <a:xfrm>
              <a:off x="10778425" y="3943150"/>
              <a:ext cx="337263" cy="372452"/>
              <a:chOff x="0" y="0"/>
              <a:chExt cx="1643999" cy="1784764"/>
            </a:xfrm>
            <a:solidFill>
              <a:schemeClr val="accent1"/>
            </a:solidFill>
          </p:grpSpPr>
          <p:sp>
            <p:nvSpPr>
              <p:cNvPr id="66" name="直角三角形 114"/>
              <p:cNvSpPr>
                <a:spLocks noChangeArrowheads="1"/>
              </p:cNvSpPr>
              <p:nvPr/>
            </p:nvSpPr>
            <p:spPr bwMode="auto">
              <a:xfrm rot="10800000">
                <a:off x="288925" y="0"/>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7" name="直角三角形 115"/>
              <p:cNvSpPr>
                <a:spLocks noChangeArrowheads="1"/>
              </p:cNvSpPr>
              <p:nvPr/>
            </p:nvSpPr>
            <p:spPr bwMode="auto">
              <a:xfrm rot="7167729">
                <a:off x="-212686" y="328472"/>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8" name="直角三角形 116"/>
              <p:cNvSpPr>
                <a:spLocks noChangeArrowheads="1"/>
              </p:cNvSpPr>
              <p:nvPr/>
            </p:nvSpPr>
            <p:spPr bwMode="auto">
              <a:xfrm rot="3614698">
                <a:off x="-175951" y="909918"/>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9" name="直角三角形 117"/>
              <p:cNvSpPr>
                <a:spLocks noChangeArrowheads="1"/>
              </p:cNvSpPr>
              <p:nvPr/>
            </p:nvSpPr>
            <p:spPr bwMode="auto">
              <a:xfrm>
                <a:off x="344517" y="1202024"/>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0" name="直角三角形 118"/>
              <p:cNvSpPr>
                <a:spLocks noChangeArrowheads="1"/>
              </p:cNvSpPr>
              <p:nvPr/>
            </p:nvSpPr>
            <p:spPr bwMode="auto">
              <a:xfrm rot="17894048">
                <a:off x="848573" y="883274"/>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1" name="直角三角形 119"/>
              <p:cNvSpPr>
                <a:spLocks noChangeArrowheads="1"/>
              </p:cNvSpPr>
              <p:nvPr/>
            </p:nvSpPr>
            <p:spPr bwMode="auto">
              <a:xfrm rot="14400000">
                <a:off x="808498" y="291371"/>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72" name="Group 10"/>
            <p:cNvGrpSpPr/>
            <p:nvPr userDrawn="1"/>
          </p:nvGrpSpPr>
          <p:grpSpPr bwMode="auto">
            <a:xfrm>
              <a:off x="8693539" y="3970970"/>
              <a:ext cx="154533" cy="170657"/>
              <a:chOff x="0" y="0"/>
              <a:chExt cx="1643999" cy="1784764"/>
            </a:xfrm>
            <a:solidFill>
              <a:schemeClr val="accent1"/>
            </a:solidFill>
          </p:grpSpPr>
          <p:sp>
            <p:nvSpPr>
              <p:cNvPr id="73" name="直角三角形 114"/>
              <p:cNvSpPr>
                <a:spLocks noChangeArrowheads="1"/>
              </p:cNvSpPr>
              <p:nvPr/>
            </p:nvSpPr>
            <p:spPr bwMode="auto">
              <a:xfrm rot="10800000">
                <a:off x="288925" y="0"/>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4" name="直角三角形 115"/>
              <p:cNvSpPr>
                <a:spLocks noChangeArrowheads="1"/>
              </p:cNvSpPr>
              <p:nvPr/>
            </p:nvSpPr>
            <p:spPr bwMode="auto">
              <a:xfrm rot="7167729">
                <a:off x="-212686" y="328472"/>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5" name="直角三角形 116"/>
              <p:cNvSpPr>
                <a:spLocks noChangeArrowheads="1"/>
              </p:cNvSpPr>
              <p:nvPr/>
            </p:nvSpPr>
            <p:spPr bwMode="auto">
              <a:xfrm rot="3614698">
                <a:off x="-175951" y="909918"/>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6" name="直角三角形 117"/>
              <p:cNvSpPr>
                <a:spLocks noChangeArrowheads="1"/>
              </p:cNvSpPr>
              <p:nvPr/>
            </p:nvSpPr>
            <p:spPr bwMode="auto">
              <a:xfrm>
                <a:off x="344517" y="1202024"/>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7" name="直角三角形 118"/>
              <p:cNvSpPr>
                <a:spLocks noChangeArrowheads="1"/>
              </p:cNvSpPr>
              <p:nvPr/>
            </p:nvSpPr>
            <p:spPr bwMode="auto">
              <a:xfrm rot="17894048">
                <a:off x="848573" y="883274"/>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78" name="直角三角形 119"/>
              <p:cNvSpPr>
                <a:spLocks noChangeArrowheads="1"/>
              </p:cNvSpPr>
              <p:nvPr/>
            </p:nvSpPr>
            <p:spPr bwMode="auto">
              <a:xfrm rot="14400000">
                <a:off x="808498" y="291371"/>
                <a:ext cx="1008112" cy="582740"/>
              </a:xfrm>
              <a:prstGeom prst="rtTriangle">
                <a:avLst/>
              </a:prstGeom>
              <a:grp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sp>
        <p:nvSpPr>
          <p:cNvPr id="4" name="日期占位符 3"/>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3200"/>
            </a:lvl1pPr>
          </a:lstStyle>
          <a:p>
            <a:r>
              <a:rPr lang="zh-CN" altLang="en-US" dirty="0" smtClean="0"/>
              <a:t>单击此处编辑母版标题样式</a:t>
            </a:r>
            <a:endParaRPr lang="en-US" dirty="0"/>
          </a:p>
        </p:txBody>
      </p:sp>
      <p:sp>
        <p:nvSpPr>
          <p:cNvPr id="3" name="KSO_BC1"/>
          <p:cNvSpPr>
            <a:spLocks noGrp="1"/>
          </p:cNvSpPr>
          <p:nvPr>
            <p:ph idx="1"/>
          </p:nvPr>
        </p:nvSpPr>
        <p:spPr/>
        <p:txBody>
          <a:bodyPr>
            <a:normAutofit/>
          </a:bodyPr>
          <a:lstStyle>
            <a:lvl1pPr>
              <a:lnSpc>
                <a:spcPct val="120000"/>
              </a:lnSpc>
              <a:spcBef>
                <a:spcPts val="0"/>
              </a:spcBef>
              <a:spcAft>
                <a:spcPts val="0"/>
              </a:spcAft>
              <a:defRPr sz="2400">
                <a:solidFill>
                  <a:schemeClr val="tx1"/>
                </a:solidFill>
              </a:defRPr>
            </a:lvl1pPr>
            <a:lvl2pPr>
              <a:defRPr sz="2000"/>
            </a:lvl2pPr>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530800" y="2937600"/>
            <a:ext cx="7812000" cy="849600"/>
          </a:xfrm>
        </p:spPr>
        <p:txBody>
          <a:bodyPr lIns="36000" tIns="0" rIns="0" bIns="0" anchor="ctr" anchorCtr="0">
            <a:normAutofit/>
          </a:bodyPr>
          <a:lstStyle>
            <a:lvl1pPr algn="l">
              <a:defRPr sz="3600">
                <a:solidFill>
                  <a:schemeClr val="accent1">
                    <a:lumMod val="75000"/>
                  </a:schemeClr>
                </a:solidFill>
                <a:effectLst/>
              </a:defRPr>
            </a:lvl1pPr>
          </a:lstStyle>
          <a:p>
            <a:r>
              <a:rPr lang="zh-CN" altLang="en-US" dirty="0" smtClean="0"/>
              <a:t>单击此处添加您的标题</a:t>
            </a:r>
            <a:endParaRPr lang="en-US" dirty="0"/>
          </a:p>
        </p:txBody>
      </p:sp>
      <p:grpSp>
        <p:nvGrpSpPr>
          <p:cNvPr id="10" name="组合 9"/>
          <p:cNvGrpSpPr/>
          <p:nvPr userDrawn="1"/>
        </p:nvGrpSpPr>
        <p:grpSpPr>
          <a:xfrm>
            <a:off x="2459233" y="2090057"/>
            <a:ext cx="804112" cy="1695551"/>
            <a:chOff x="2459233" y="2090057"/>
            <a:chExt cx="804112" cy="1695551"/>
          </a:xfrm>
        </p:grpSpPr>
        <p:cxnSp>
          <p:nvCxnSpPr>
            <p:cNvPr id="7" name="MH_Others_1"/>
            <p:cNvCxnSpPr/>
            <p:nvPr userDrawn="1">
              <p:custDataLst>
                <p:tags r:id="rId2"/>
              </p:custDataLst>
            </p:nvPr>
          </p:nvCxnSpPr>
          <p:spPr>
            <a:xfrm>
              <a:off x="2459233" y="2090057"/>
              <a:ext cx="0" cy="1695551"/>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MH_Number"/>
            <p:cNvSpPr/>
            <p:nvPr userDrawn="1">
              <p:custDataLst>
                <p:tags r:id="rId3"/>
              </p:custDataLst>
            </p:nvPr>
          </p:nvSpPr>
          <p:spPr>
            <a:xfrm>
              <a:off x="2530886" y="2100788"/>
              <a:ext cx="732459" cy="849652"/>
            </a:xfrm>
            <a:custGeom>
              <a:avLst/>
              <a:gdLst>
                <a:gd name="connsiteX0" fmla="*/ 0 w 682834"/>
                <a:gd name="connsiteY0" fmla="*/ 0 h 792088"/>
                <a:gd name="connsiteX1" fmla="*/ 682834 w 682834"/>
                <a:gd name="connsiteY1" fmla="*/ 396044 h 792088"/>
                <a:gd name="connsiteX2" fmla="*/ 0 w 682834"/>
                <a:gd name="connsiteY2" fmla="*/ 792088 h 792088"/>
              </a:gdLst>
              <a:ahLst/>
              <a:cxnLst>
                <a:cxn ang="0">
                  <a:pos x="connsiteX0" y="connsiteY0"/>
                </a:cxn>
                <a:cxn ang="0">
                  <a:pos x="connsiteX1" y="connsiteY1"/>
                </a:cxn>
                <a:cxn ang="0">
                  <a:pos x="connsiteX2" y="connsiteY2"/>
                </a:cxn>
              </a:cxnLst>
              <a:rect l="l" t="t" r="r" b="b"/>
              <a:pathLst>
                <a:path w="682834" h="792088">
                  <a:moveTo>
                    <a:pt x="0" y="0"/>
                  </a:moveTo>
                  <a:lnTo>
                    <a:pt x="682834" y="396044"/>
                  </a:lnTo>
                  <a:lnTo>
                    <a:pt x="0" y="792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ctr"/>
            <a:lstStyle/>
            <a:p>
              <a:endParaRPr lang="zh-CN" altLang="en-US" sz="3600" dirty="0">
                <a:solidFill>
                  <a:srgbClr val="FFFFFF"/>
                </a:solidFill>
                <a:cs typeface="Times New Roman" panose="02020603050405020304" pitchFamily="18" charset="0"/>
              </a:endParaRPr>
            </a:p>
          </p:txBody>
        </p:sp>
      </p:grpSp>
      <p:sp>
        <p:nvSpPr>
          <p:cNvPr id="3" name="日期占位符 2"/>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a:xfrm>
            <a:off x="622301" y="134544"/>
            <a:ext cx="10954459" cy="796011"/>
          </a:xfrm>
        </p:spPr>
        <p:txBody>
          <a:bodyPr/>
          <a:lstStyle/>
          <a:p>
            <a:r>
              <a:rPr lang="zh-CN" altLang="en-US" dirty="0" smtClean="0"/>
              <a:t>单击此处编辑母版标题样式</a:t>
            </a:r>
            <a:endParaRPr lang="en-US" dirty="0"/>
          </a:p>
        </p:txBody>
      </p:sp>
      <p:sp>
        <p:nvSpPr>
          <p:cNvPr id="3" name="KSO_BC1"/>
          <p:cNvSpPr>
            <a:spLocks noGrp="1"/>
          </p:cNvSpPr>
          <p:nvPr>
            <p:ph sz="half" idx="1"/>
          </p:nvPr>
        </p:nvSpPr>
        <p:spPr>
          <a:xfrm>
            <a:off x="622301" y="1244603"/>
            <a:ext cx="5080000" cy="4932363"/>
          </a:xfrm>
        </p:spPr>
        <p:txBody>
          <a:bodyPr>
            <a:normAutofit/>
          </a:bodyPr>
          <a:lstStyle>
            <a:lvl1pPr>
              <a:lnSpc>
                <a:spcPct val="120000"/>
              </a:lnSpc>
              <a:spcBef>
                <a:spcPts val="0"/>
              </a:spcBef>
              <a:spcAft>
                <a:spcPts val="0"/>
              </a:spcAft>
              <a:defRPr sz="2400">
                <a:solidFill>
                  <a:schemeClr val="tx1"/>
                </a:solidFill>
              </a:defRPr>
            </a:lvl1pPr>
            <a:lvl2pPr>
              <a:defRPr sz="2000"/>
            </a:lvl2pPr>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4" name="KSO_BC2"/>
          <p:cNvSpPr>
            <a:spLocks noGrp="1"/>
          </p:cNvSpPr>
          <p:nvPr>
            <p:ph sz="half" idx="2"/>
          </p:nvPr>
        </p:nvSpPr>
        <p:spPr>
          <a:xfrm>
            <a:off x="6482644" y="1244603"/>
            <a:ext cx="5094116" cy="4932363"/>
          </a:xfrm>
        </p:spPr>
        <p:txBody>
          <a:bodyPr>
            <a:normAutofit/>
          </a:bodyPr>
          <a:lstStyle>
            <a:lvl1pPr>
              <a:lnSpc>
                <a:spcPct val="120000"/>
              </a:lnSpc>
              <a:spcBef>
                <a:spcPts val="0"/>
              </a:spcBef>
              <a:spcAft>
                <a:spcPts val="0"/>
              </a:spcAft>
              <a:defRPr sz="2400">
                <a:solidFill>
                  <a:schemeClr val="tx1"/>
                </a:solidFill>
              </a:defRPr>
            </a:lvl1pPr>
            <a:lvl2pPr>
              <a:defRPr sz="2000"/>
            </a:lvl2pPr>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5" name="日期占位符 4"/>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846219" y="371749"/>
            <a:ext cx="10515597" cy="717022"/>
          </a:xfrm>
        </p:spPr>
        <p:txBody>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846219" y="1390430"/>
            <a:ext cx="5157787" cy="823912"/>
          </a:xfrm>
        </p:spPr>
        <p:txBody>
          <a:bodyPr anchor="b">
            <a:normAutofit/>
          </a:bodyPr>
          <a:lstStyle>
            <a:lvl1pPr marL="0" indent="0">
              <a:buNone/>
              <a:defRPr sz="32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KSO_BC1"/>
          <p:cNvSpPr>
            <a:spLocks noGrp="1"/>
          </p:cNvSpPr>
          <p:nvPr>
            <p:ph sz="half" idx="2"/>
          </p:nvPr>
        </p:nvSpPr>
        <p:spPr>
          <a:xfrm>
            <a:off x="846219" y="2214342"/>
            <a:ext cx="5157787" cy="3834766"/>
          </a:xfrm>
        </p:spPr>
        <p:txBody>
          <a:bodyPr>
            <a:normAutofit/>
          </a:bodyPr>
          <a:lstStyle>
            <a:lvl1pPr>
              <a:defRPr sz="2400">
                <a:solidFill>
                  <a:schemeClr val="tx1"/>
                </a:solidFill>
              </a:defRPr>
            </a:lvl1pPr>
            <a:lvl2pPr>
              <a:defRPr sz="2000"/>
            </a:lvl2pPr>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5" name="Text Placeholder 4"/>
          <p:cNvSpPr>
            <a:spLocks noGrp="1"/>
          </p:cNvSpPr>
          <p:nvPr>
            <p:ph type="body" sz="quarter" idx="3"/>
          </p:nvPr>
        </p:nvSpPr>
        <p:spPr>
          <a:xfrm>
            <a:off x="6178630" y="1390430"/>
            <a:ext cx="5183188" cy="823912"/>
          </a:xfrm>
        </p:spPr>
        <p:txBody>
          <a:bodyPr anchor="b">
            <a:normAutofit/>
          </a:bodyPr>
          <a:lstStyle>
            <a:lvl1pPr marL="0" indent="0">
              <a:buNone/>
              <a:defRPr sz="32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KSO_BC2"/>
          <p:cNvSpPr>
            <a:spLocks noGrp="1"/>
          </p:cNvSpPr>
          <p:nvPr>
            <p:ph sz="quarter" idx="4"/>
          </p:nvPr>
        </p:nvSpPr>
        <p:spPr>
          <a:xfrm>
            <a:off x="6178630" y="2214342"/>
            <a:ext cx="5183188" cy="3834766"/>
          </a:xfrm>
        </p:spPr>
        <p:txBody>
          <a:bodyPr>
            <a:normAutofit/>
          </a:bodyPr>
          <a:lstStyle>
            <a:lvl1pPr>
              <a:defRPr sz="2400">
                <a:solidFill>
                  <a:schemeClr val="tx1"/>
                </a:solidFill>
              </a:defRPr>
            </a:lvl1pPr>
            <a:lvl2pPr>
              <a:defRPr sz="2000"/>
            </a:lvl2pPr>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7" name="日期占位符 6"/>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KSO_BT1"/>
          <p:cNvSpPr>
            <a:spLocks noGrp="1"/>
          </p:cNvSpPr>
          <p:nvPr>
            <p:ph type="title" hasCustomPrompt="1"/>
          </p:nvPr>
        </p:nvSpPr>
        <p:spPr>
          <a:xfrm>
            <a:off x="3239146" y="1487837"/>
            <a:ext cx="5703376" cy="1414236"/>
          </a:xfrm>
        </p:spPr>
        <p:txBody>
          <a:bodyPr>
            <a:normAutofit/>
          </a:bodyPr>
          <a:lstStyle>
            <a:lvl1pPr algn="ctr">
              <a:defRPr sz="7200"/>
            </a:lvl1pPr>
          </a:lstStyle>
          <a:p>
            <a:r>
              <a:rPr lang="zh-CN" altLang="en-US" dirty="0" smtClean="0"/>
              <a:t>编辑标题</a:t>
            </a:r>
            <a:endParaRPr lang="en-US" dirty="0"/>
          </a:p>
        </p:txBody>
      </p:sp>
      <p:cxnSp>
        <p:nvCxnSpPr>
          <p:cNvPr id="3" name="直接连接符 2"/>
          <p:cNvCxnSpPr/>
          <p:nvPr userDrawn="1">
            <p:custDataLst>
              <p:tags r:id="rId2"/>
            </p:custDataLst>
          </p:nvPr>
        </p:nvCxnSpPr>
        <p:spPr>
          <a:xfrm>
            <a:off x="2558475" y="3067050"/>
            <a:ext cx="7056000" cy="0"/>
          </a:xfrm>
          <a:prstGeom prst="line">
            <a:avLst/>
          </a:prstGeom>
          <a:ln w="25400">
            <a:gradFill>
              <a:gsLst>
                <a:gs pos="0">
                  <a:schemeClr val="accent1">
                    <a:lumMod val="20000"/>
                    <a:lumOff val="80000"/>
                    <a:alpha val="0"/>
                  </a:schemeClr>
                </a:gs>
                <a:gs pos="49000">
                  <a:schemeClr val="accent1">
                    <a:lumMod val="45000"/>
                    <a:lumOff val="55000"/>
                  </a:schemeClr>
                </a:gs>
                <a:gs pos="100000">
                  <a:schemeClr val="accent1">
                    <a:lumMod val="20000"/>
                    <a:lumOff val="80000"/>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p:ph type="body" sz="quarter" idx="10" hasCustomPrompt="1"/>
          </p:nvPr>
        </p:nvSpPr>
        <p:spPr>
          <a:xfrm>
            <a:off x="4222800" y="3513600"/>
            <a:ext cx="3729600" cy="367200"/>
          </a:xfrm>
        </p:spPr>
        <p:txBody>
          <a:bodyPr>
            <a:normAutofit/>
          </a:bodyPr>
          <a:lstStyle>
            <a:lvl1pPr marL="0" indent="0" algn="ctr">
              <a:buNone/>
              <a:defRPr sz="2000"/>
            </a:lvl1pPr>
          </a:lstStyle>
          <a:p>
            <a:pPr lvl="0"/>
            <a:r>
              <a:rPr lang="zh-CN" altLang="en-US" dirty="0" smtClean="0"/>
              <a:t>编辑副标题</a:t>
            </a:r>
            <a:endParaRPr lang="zh-CN" altLang="en-US" dirty="0" smtClean="0"/>
          </a:p>
        </p:txBody>
      </p:sp>
      <p:sp>
        <p:nvSpPr>
          <p:cNvPr id="6" name="日期占位符 5"/>
          <p:cNvSpPr>
            <a:spLocks noGrp="1"/>
          </p:cNvSpPr>
          <p:nvPr>
            <p:ph type="dt" sz="half" idx="11"/>
          </p:nvPr>
        </p:nvSpPr>
        <p:spPr/>
        <p:txBody>
          <a:bodyPr/>
          <a:lstStyle/>
          <a:p>
            <a:fld id="{ED7A6815-1E28-4D82-8BC5-7C1D7E153426}" type="datetimeFigureOut">
              <a:rPr lang="zh-CN" altLang="en-US" smtClean="0"/>
            </a:fld>
            <a:endParaRPr lang="zh-CN" altLang="en-US"/>
          </a:p>
        </p:txBody>
      </p:sp>
      <p:sp>
        <p:nvSpPr>
          <p:cNvPr id="7" name="页脚占位符 6"/>
          <p:cNvSpPr>
            <a:spLocks noGrp="1"/>
          </p:cNvSpPr>
          <p:nvPr>
            <p:ph type="ftr" sz="quarter" idx="12"/>
          </p:nvPr>
        </p:nvSpPr>
        <p:spPr/>
        <p:txBody>
          <a:bodyPr/>
          <a:lstStyle/>
          <a:p>
            <a:endParaRPr lang="zh-CN" altLang="en-US"/>
          </a:p>
        </p:txBody>
      </p:sp>
      <p:sp>
        <p:nvSpPr>
          <p:cNvPr id="8" name="灯片编号占位符 7"/>
          <p:cNvSpPr>
            <a:spLocks noGrp="1"/>
          </p:cNvSpPr>
          <p:nvPr>
            <p:ph type="sldNum" sz="quarter" idx="13"/>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hasCustomPrompt="1"/>
          </p:nvPr>
        </p:nvSpPr>
        <p:spPr>
          <a:xfrm>
            <a:off x="1246192" y="987428"/>
            <a:ext cx="3932237" cy="1069971"/>
          </a:xfrm>
        </p:spPr>
        <p:txBody>
          <a:bodyPr anchor="b">
            <a:normAutofit/>
          </a:bodyPr>
          <a:lstStyle>
            <a:lvl1pPr>
              <a:defRPr sz="3600"/>
            </a:lvl1pPr>
          </a:lstStyle>
          <a:p>
            <a:r>
              <a:rPr lang="zh-CN" altLang="en-US" dirty="0" smtClean="0"/>
              <a:t>单击此处编辑标题</a:t>
            </a:r>
            <a:endParaRPr lang="en-US" dirty="0"/>
          </a:p>
        </p:txBody>
      </p:sp>
      <p:sp>
        <p:nvSpPr>
          <p:cNvPr id="3"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normAutofit/>
          </a:bodyPr>
          <a:lstStyle>
            <a:lvl1pPr marL="0" indent="0">
              <a:buNone/>
              <a:defRPr sz="18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514191" y="428625"/>
            <a:ext cx="1182511" cy="5811838"/>
          </a:xfrm>
        </p:spPr>
        <p:txBody>
          <a:bodyPr vert="eaVert"/>
          <a:lstStyle/>
          <a:p>
            <a:r>
              <a:rPr lang="zh-CN" altLang="en-US" dirty="0" smtClean="0"/>
              <a:t>单击此处编辑母版标题样式</a:t>
            </a:r>
            <a:endParaRPr lang="en-US" dirty="0"/>
          </a:p>
        </p:txBody>
      </p:sp>
      <p:sp>
        <p:nvSpPr>
          <p:cNvPr id="3" name="KSO_BC1"/>
          <p:cNvSpPr>
            <a:spLocks noGrp="1"/>
          </p:cNvSpPr>
          <p:nvPr>
            <p:ph type="body" orient="vert" idx="1"/>
          </p:nvPr>
        </p:nvSpPr>
        <p:spPr>
          <a:xfrm>
            <a:off x="558801" y="428625"/>
            <a:ext cx="9831212" cy="5811838"/>
          </a:xfrm>
        </p:spPr>
        <p:txBody>
          <a:bodyPr vert="eaVert">
            <a:normAutofit/>
          </a:bodyPr>
          <a:lstStyle>
            <a:lvl1pPr>
              <a:defRPr sz="2400">
                <a:solidFill>
                  <a:schemeClr val="tx1"/>
                </a:solidFill>
              </a:defRPr>
            </a:lvl1pPr>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EDFD76B-BF89-479F-AC44-E0B11B12AE5F}"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ED7A6815-1E28-4D82-8BC5-7C1D7E15342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EDFD76B-BF89-479F-AC44-E0B11B12AE5F}" type="slidenum">
              <a:rPr lang="zh-CN" altLang="en-US" smtClean="0"/>
            </a:fld>
            <a:endParaRPr lang="zh-CN" altLang="en-US"/>
          </a:p>
        </p:txBody>
      </p:sp>
      <p:sp>
        <p:nvSpPr>
          <p:cNvPr id="7" name="内容占位符 6"/>
          <p:cNvSpPr>
            <a:spLocks noGrp="1"/>
          </p:cNvSpPr>
          <p:nvPr>
            <p:ph sz="quarter" idx="13"/>
          </p:nvPr>
        </p:nvSpPr>
        <p:spPr>
          <a:xfrm>
            <a:off x="374650" y="342900"/>
            <a:ext cx="11442700" cy="6286500"/>
          </a:xfrm>
        </p:spPr>
        <p:txBody>
          <a:bodyPr/>
          <a:lstStyle>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image" Target="../media/image5.jpeg"/><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1" Type="http://schemas.openxmlformats.org/officeDocument/2006/relationships/theme" Target="../theme/theme3.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3074" name="Title Placeholder 1"/>
          <p:cNvSpPr>
            <a:spLocks noGrp="1"/>
          </p:cNvSpPr>
          <p:nvPr>
            <p:ph type="title"/>
          </p:nvPr>
        </p:nvSpPr>
        <p:spPr>
          <a:xfrm>
            <a:off x="838200" y="365125"/>
            <a:ext cx="10515600" cy="1325563"/>
          </a:xfrm>
          <a:prstGeom prst="rect">
            <a:avLst/>
          </a:prstGeom>
          <a:noFill/>
          <a:ln w="9525">
            <a:noFill/>
          </a:ln>
        </p:spPr>
        <p:txBody>
          <a:bodyPr vert="horz" lIns="91440" tIns="45720" rIns="91440" bIns="45720" anchor="ctr" anchorCtr="0"/>
          <a:p>
            <a:pPr lvl="0"/>
            <a:r>
              <a:rPr lang="zh-CN" altLang="en-US"/>
              <a:t>单击此处编辑母版标题样式</a:t>
            </a:r>
            <a:endParaRPr lang="en-US" altLang="zh-CN" dirty="0"/>
          </a:p>
        </p:txBody>
      </p:sp>
      <p:sp>
        <p:nvSpPr>
          <p:cNvPr id="3075" name="Text Placeholder 2"/>
          <p:cNvSpPr>
            <a:spLocks noGrp="1"/>
          </p:cNvSpPr>
          <p:nvPr>
            <p:ph type="body"/>
          </p:nvPr>
        </p:nvSpPr>
        <p:spPr>
          <a:xfrm>
            <a:off x="838200" y="1825625"/>
            <a:ext cx="10515600" cy="4351338"/>
          </a:xfrm>
          <a:prstGeom prst="rect">
            <a:avLst/>
          </a:prstGeom>
          <a:noFill/>
          <a:ln w="9525">
            <a:noFill/>
          </a:ln>
        </p:spPr>
        <p:txBody>
          <a:bodyPr vert="horz" lIns="91440" tIns="45720" rIns="91440" bIns="45720"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fld id="{770EA092-613D-4EBE-91D9-0CAFA04157B6}"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endParaRPr lang="zh-CN" altLang="en-US" strike="noStrike" noProof="1"/>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fld id="{354DD5AF-04CA-408A-B8EA-5753840BC0B3}"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pic>
        <p:nvPicPr>
          <p:cNvPr id="3079" name="图片 6"/>
          <p:cNvPicPr>
            <a:picLocks noChangeAspect="1"/>
          </p:cNvPicPr>
          <p:nvPr userDrawn="1"/>
        </p:nvPicPr>
        <p:blipFill>
          <a:blip r:embed="rId2"/>
          <a:stretch>
            <a:fillRect/>
          </a:stretch>
        </p:blipFill>
        <p:spPr>
          <a:xfrm>
            <a:off x="3267075" y="0"/>
            <a:ext cx="8924925" cy="6858000"/>
          </a:xfrm>
          <a:prstGeom prst="rect">
            <a:avLst/>
          </a:prstGeom>
          <a:noFill/>
          <a:ln w="9525">
            <a:noFill/>
          </a:ln>
        </p:spPr>
      </p:pic>
      <p:pic>
        <p:nvPicPr>
          <p:cNvPr id="3080" name="图片 8"/>
          <p:cNvPicPr>
            <a:picLocks noChangeAspect="1"/>
          </p:cNvPicPr>
          <p:nvPr userDrawn="1"/>
        </p:nvPicPr>
        <p:blipFill>
          <a:blip r:embed="rId2"/>
          <a:srcRect r="28757"/>
          <a:stretch>
            <a:fillRect/>
          </a:stretch>
        </p:blipFill>
        <p:spPr>
          <a:xfrm>
            <a:off x="0" y="0"/>
            <a:ext cx="6357938" cy="6858000"/>
          </a:xfrm>
          <a:prstGeom prst="rect">
            <a:avLst/>
          </a:prstGeom>
          <a:noFill/>
          <a:ln w="9525">
            <a:noFill/>
          </a:ln>
        </p:spPr>
      </p:pic>
      <p:pic>
        <p:nvPicPr>
          <p:cNvPr id="3081" name="图片 9"/>
          <p:cNvPicPr>
            <a:picLocks noChangeAspect="1"/>
          </p:cNvPicPr>
          <p:nvPr userDrawn="1"/>
        </p:nvPicPr>
        <p:blipFill>
          <a:blip r:embed="rId3"/>
          <a:stretch>
            <a:fillRect/>
          </a:stretch>
        </p:blipFill>
        <p:spPr>
          <a:xfrm>
            <a:off x="333375" y="1739900"/>
            <a:ext cx="4981575" cy="4981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2050" name="Picture 4" descr="B-1"/>
          <p:cNvPicPr>
            <a:picLocks noChangeAspect="1"/>
          </p:cNvPicPr>
          <p:nvPr/>
        </p:nvPicPr>
        <p:blipFill>
          <a:blip r:embed="rId4"/>
          <a:stretch>
            <a:fillRect/>
          </a:stretch>
        </p:blipFill>
        <p:spPr>
          <a:xfrm>
            <a:off x="0" y="0"/>
            <a:ext cx="12192000" cy="6858000"/>
          </a:xfrm>
          <a:prstGeom prst="rect">
            <a:avLst/>
          </a:prstGeom>
          <a:noFill/>
          <a:ln w="9525">
            <a:noFill/>
          </a:ln>
        </p:spPr>
      </p:pic>
      <p:sp>
        <p:nvSpPr>
          <p:cNvPr id="2051"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3"/>
          <p:cNvSpPr>
            <a:spLocks noGrp="1"/>
          </p:cNvSpPr>
          <p:nvPr>
            <p:ph type="body"/>
          </p:nvPr>
        </p:nvSpPr>
        <p:spPr>
          <a:xfrm>
            <a:off x="609600" y="1600200"/>
            <a:ext cx="10972800" cy="4525963"/>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5" name="组合 24"/>
          <p:cNvGrpSpPr/>
          <p:nvPr/>
        </p:nvGrpSpPr>
        <p:grpSpPr>
          <a:xfrm>
            <a:off x="0" y="-364728"/>
            <a:ext cx="12589868" cy="7222728"/>
            <a:chOff x="-2989942" y="-361224"/>
            <a:chExt cx="12589868" cy="7222728"/>
          </a:xfrm>
        </p:grpSpPr>
        <p:sp>
          <p:nvSpPr>
            <p:cNvPr id="26" name="矩形 25"/>
            <p:cNvSpPr/>
            <p:nvPr/>
          </p:nvSpPr>
          <p:spPr>
            <a:xfrm>
              <a:off x="-2989942" y="3504"/>
              <a:ext cx="12195740" cy="6858000"/>
            </a:xfrm>
            <a:prstGeom prst="rect">
              <a:avLst/>
            </a:prstGeom>
            <a:gradFill flip="none" rotWithShape="1">
              <a:gsLst>
                <a:gs pos="0">
                  <a:srgbClr val="DCDCDC"/>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直角三角形 120"/>
            <p:cNvSpPr>
              <a:spLocks noChangeArrowheads="1"/>
            </p:cNvSpPr>
            <p:nvPr/>
          </p:nvSpPr>
          <p:spPr bwMode="auto">
            <a:xfrm rot="8990647">
              <a:off x="6032496" y="2799489"/>
              <a:ext cx="2226217" cy="1309049"/>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8" name="直角三角形 121"/>
            <p:cNvSpPr>
              <a:spLocks noChangeArrowheads="1"/>
            </p:cNvSpPr>
            <p:nvPr/>
          </p:nvSpPr>
          <p:spPr bwMode="auto">
            <a:xfrm rot="5358376">
              <a:off x="5426187" y="4005050"/>
              <a:ext cx="226459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9" name="直角三角形 122"/>
            <p:cNvSpPr>
              <a:spLocks noChangeArrowheads="1"/>
            </p:cNvSpPr>
            <p:nvPr/>
          </p:nvSpPr>
          <p:spPr bwMode="auto">
            <a:xfrm rot="1805345">
              <a:off x="6152476" y="5093669"/>
              <a:ext cx="226459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0" name="任意多边形 29"/>
            <p:cNvSpPr>
              <a:spLocks noChangeArrowheads="1"/>
            </p:cNvSpPr>
            <p:nvPr/>
          </p:nvSpPr>
          <p:spPr bwMode="auto">
            <a:xfrm rot="19790647">
              <a:off x="7537627" y="5230434"/>
              <a:ext cx="1597713" cy="1309049"/>
            </a:xfrm>
            <a:custGeom>
              <a:avLst/>
              <a:gdLst>
                <a:gd name="connsiteX0" fmla="*/ 0 w 1597713"/>
                <a:gd name="connsiteY0" fmla="*/ 0 h 1309049"/>
                <a:gd name="connsiteX1" fmla="*/ 1597713 w 1597713"/>
                <a:gd name="connsiteY1" fmla="*/ 939480 h 1309049"/>
                <a:gd name="connsiteX2" fmla="*/ 1382999 w 1597713"/>
                <a:gd name="connsiteY2" fmla="*/ 1309049 h 1309049"/>
                <a:gd name="connsiteX3" fmla="*/ 0 w 1597713"/>
                <a:gd name="connsiteY3" fmla="*/ 1309049 h 1309049"/>
              </a:gdLst>
              <a:ahLst/>
              <a:cxnLst>
                <a:cxn ang="0">
                  <a:pos x="connsiteX0" y="connsiteY0"/>
                </a:cxn>
                <a:cxn ang="0">
                  <a:pos x="connsiteX1" y="connsiteY1"/>
                </a:cxn>
                <a:cxn ang="0">
                  <a:pos x="connsiteX2" y="connsiteY2"/>
                </a:cxn>
                <a:cxn ang="0">
                  <a:pos x="connsiteX3" y="connsiteY3"/>
                </a:cxn>
              </a:cxnLst>
              <a:rect l="l" t="t" r="r" b="b"/>
              <a:pathLst>
                <a:path w="1597713" h="1309049">
                  <a:moveTo>
                    <a:pt x="0" y="0"/>
                  </a:moveTo>
                  <a:lnTo>
                    <a:pt x="1597713" y="939480"/>
                  </a:lnTo>
                  <a:lnTo>
                    <a:pt x="1382999" y="1309049"/>
                  </a:lnTo>
                  <a:lnTo>
                    <a:pt x="0" y="1309049"/>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1" name="任意多边形 30"/>
            <p:cNvSpPr>
              <a:spLocks noChangeArrowheads="1"/>
            </p:cNvSpPr>
            <p:nvPr/>
          </p:nvSpPr>
          <p:spPr bwMode="auto">
            <a:xfrm rot="16084695">
              <a:off x="8359952" y="4863961"/>
              <a:ext cx="1056335" cy="600268"/>
            </a:xfrm>
            <a:custGeom>
              <a:avLst/>
              <a:gdLst>
                <a:gd name="connsiteX0" fmla="*/ 1056335 w 1056335"/>
                <a:gd name="connsiteY0" fmla="*/ 600268 h 600268"/>
                <a:gd name="connsiteX1" fmla="*/ 0 w 1056335"/>
                <a:gd name="connsiteY1" fmla="*/ 564825 h 600268"/>
                <a:gd name="connsiteX2" fmla="*/ 0 w 1056335"/>
                <a:gd name="connsiteY2" fmla="*/ 0 h 600268"/>
              </a:gdLst>
              <a:ahLst/>
              <a:cxnLst>
                <a:cxn ang="0">
                  <a:pos x="connsiteX0" y="connsiteY0"/>
                </a:cxn>
                <a:cxn ang="0">
                  <a:pos x="connsiteX1" y="connsiteY1"/>
                </a:cxn>
                <a:cxn ang="0">
                  <a:pos x="connsiteX2" y="connsiteY2"/>
                </a:cxn>
              </a:cxnLst>
              <a:rect l="l" t="t" r="r" b="b"/>
              <a:pathLst>
                <a:path w="1056335" h="600268">
                  <a:moveTo>
                    <a:pt x="1056335" y="600268"/>
                  </a:moveTo>
                  <a:lnTo>
                    <a:pt x="0" y="564825"/>
                  </a:lnTo>
                  <a:lnTo>
                    <a:pt x="0" y="0"/>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2" name="任意多边形 31"/>
            <p:cNvSpPr>
              <a:spLocks noChangeArrowheads="1"/>
            </p:cNvSpPr>
            <p:nvPr/>
          </p:nvSpPr>
          <p:spPr bwMode="auto">
            <a:xfrm rot="12590647">
              <a:off x="7334204" y="2800136"/>
              <a:ext cx="2264591" cy="1286867"/>
            </a:xfrm>
            <a:custGeom>
              <a:avLst/>
              <a:gdLst>
                <a:gd name="connsiteX0" fmla="*/ 2264591 w 2264591"/>
                <a:gd name="connsiteY0" fmla="*/ 1286867 h 1286867"/>
                <a:gd name="connsiteX1" fmla="*/ 689960 w 2264591"/>
                <a:gd name="connsiteY1" fmla="*/ 1286867 h 1286867"/>
                <a:gd name="connsiteX2" fmla="*/ 0 w 2264591"/>
                <a:gd name="connsiteY2" fmla="*/ 84277 h 1286867"/>
                <a:gd name="connsiteX3" fmla="*/ 0 w 2264591"/>
                <a:gd name="connsiteY3" fmla="*/ 0 h 1286867"/>
              </a:gdLst>
              <a:ahLst/>
              <a:cxnLst>
                <a:cxn ang="0">
                  <a:pos x="connsiteX0" y="connsiteY0"/>
                </a:cxn>
                <a:cxn ang="0">
                  <a:pos x="connsiteX1" y="connsiteY1"/>
                </a:cxn>
                <a:cxn ang="0">
                  <a:pos x="connsiteX2" y="connsiteY2"/>
                </a:cxn>
                <a:cxn ang="0">
                  <a:pos x="connsiteX3" y="connsiteY3"/>
                </a:cxn>
              </a:cxnLst>
              <a:rect l="l" t="t" r="r" b="b"/>
              <a:pathLst>
                <a:path w="2264591" h="1286867">
                  <a:moveTo>
                    <a:pt x="2264591" y="1286867"/>
                  </a:moveTo>
                  <a:lnTo>
                    <a:pt x="689960" y="1286867"/>
                  </a:lnTo>
                  <a:lnTo>
                    <a:pt x="0" y="84277"/>
                  </a:lnTo>
                  <a:lnTo>
                    <a:pt x="0" y="0"/>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3" name="直角三角形 109"/>
            <p:cNvSpPr>
              <a:spLocks noChangeArrowheads="1"/>
            </p:cNvSpPr>
            <p:nvPr/>
          </p:nvSpPr>
          <p:spPr bwMode="auto">
            <a:xfrm rot="5358376">
              <a:off x="7277203" y="455948"/>
              <a:ext cx="2191819"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4" name="任意多边形 33"/>
            <p:cNvSpPr>
              <a:spLocks noChangeArrowheads="1"/>
            </p:cNvSpPr>
            <p:nvPr/>
          </p:nvSpPr>
          <p:spPr bwMode="auto">
            <a:xfrm rot="1805345">
              <a:off x="8012277" y="1338493"/>
              <a:ext cx="1587649" cy="1286867"/>
            </a:xfrm>
            <a:custGeom>
              <a:avLst/>
              <a:gdLst>
                <a:gd name="connsiteX0" fmla="*/ 0 w 1587649"/>
                <a:gd name="connsiteY0" fmla="*/ 0 h 1286867"/>
                <a:gd name="connsiteX1" fmla="*/ 1255342 w 1587649"/>
                <a:gd name="connsiteY1" fmla="*/ 713355 h 1286867"/>
                <a:gd name="connsiteX2" fmla="*/ 1587649 w 1587649"/>
                <a:gd name="connsiteY2" fmla="*/ 1286867 h 1286867"/>
                <a:gd name="connsiteX3" fmla="*/ 0 w 1587649"/>
                <a:gd name="connsiteY3" fmla="*/ 1286867 h 1286867"/>
              </a:gdLst>
              <a:ahLst/>
              <a:cxnLst>
                <a:cxn ang="0">
                  <a:pos x="connsiteX0" y="connsiteY0"/>
                </a:cxn>
                <a:cxn ang="0">
                  <a:pos x="connsiteX1" y="connsiteY1"/>
                </a:cxn>
                <a:cxn ang="0">
                  <a:pos x="connsiteX2" y="connsiteY2"/>
                </a:cxn>
                <a:cxn ang="0">
                  <a:pos x="connsiteX3" y="connsiteY3"/>
                </a:cxn>
              </a:cxnLst>
              <a:rect l="l" t="t" r="r" b="b"/>
              <a:pathLst>
                <a:path w="1587649" h="1286867">
                  <a:moveTo>
                    <a:pt x="0" y="0"/>
                  </a:moveTo>
                  <a:lnTo>
                    <a:pt x="1255342" y="713355"/>
                  </a:lnTo>
                  <a:lnTo>
                    <a:pt x="1587649" y="1286867"/>
                  </a:lnTo>
                  <a:lnTo>
                    <a:pt x="0" y="1286867"/>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5" name="直角三角形 135"/>
            <p:cNvSpPr>
              <a:spLocks noChangeArrowheads="1"/>
            </p:cNvSpPr>
            <p:nvPr/>
          </p:nvSpPr>
          <p:spPr bwMode="auto">
            <a:xfrm rot="5358376">
              <a:off x="3216362" y="465191"/>
              <a:ext cx="226459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6" name="直角三角形 136"/>
            <p:cNvSpPr>
              <a:spLocks noChangeArrowheads="1"/>
            </p:cNvSpPr>
            <p:nvPr/>
          </p:nvSpPr>
          <p:spPr bwMode="auto">
            <a:xfrm rot="1805345">
              <a:off x="3942651" y="1553810"/>
              <a:ext cx="226459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7" name="直角三角形 137"/>
            <p:cNvSpPr>
              <a:spLocks noChangeArrowheads="1"/>
            </p:cNvSpPr>
            <p:nvPr/>
          </p:nvSpPr>
          <p:spPr bwMode="auto">
            <a:xfrm rot="19790647">
              <a:off x="5285272" y="1532709"/>
              <a:ext cx="2226217" cy="1309049"/>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8" name="直角三角形 138"/>
            <p:cNvSpPr>
              <a:spLocks noChangeArrowheads="1"/>
            </p:cNvSpPr>
            <p:nvPr/>
          </p:nvSpPr>
          <p:spPr bwMode="auto">
            <a:xfrm rot="16084695">
              <a:off x="5971362" y="464635"/>
              <a:ext cx="2066211" cy="1286867"/>
            </a:xfrm>
            <a:prstGeom prst="rtTriangle">
              <a:avLst/>
            </a:pr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39" name="任意多边形 38"/>
            <p:cNvSpPr>
              <a:spLocks noChangeArrowheads="1"/>
            </p:cNvSpPr>
            <p:nvPr/>
          </p:nvSpPr>
          <p:spPr bwMode="auto">
            <a:xfrm rot="12590647">
              <a:off x="6233784" y="-361224"/>
              <a:ext cx="1054318" cy="1204015"/>
            </a:xfrm>
            <a:custGeom>
              <a:avLst/>
              <a:gdLst>
                <a:gd name="connsiteX0" fmla="*/ 1054318 w 1054318"/>
                <a:gd name="connsiteY0" fmla="*/ 599122 h 1204015"/>
                <a:gd name="connsiteX1" fmla="*/ 0 w 1054318"/>
                <a:gd name="connsiteY1" fmla="*/ 1204015 h 1204015"/>
                <a:gd name="connsiteX2" fmla="*/ 0 w 1054318"/>
                <a:gd name="connsiteY2" fmla="*/ 0 h 1204015"/>
              </a:gdLst>
              <a:ahLst/>
              <a:cxnLst>
                <a:cxn ang="0">
                  <a:pos x="connsiteX0" y="connsiteY0"/>
                </a:cxn>
                <a:cxn ang="0">
                  <a:pos x="connsiteX1" y="connsiteY1"/>
                </a:cxn>
                <a:cxn ang="0">
                  <a:pos x="connsiteX2" y="connsiteY2"/>
                </a:cxn>
              </a:cxnLst>
              <a:rect l="l" t="t" r="r" b="b"/>
              <a:pathLst>
                <a:path w="1054318" h="1204015">
                  <a:moveTo>
                    <a:pt x="1054318" y="599122"/>
                  </a:moveTo>
                  <a:lnTo>
                    <a:pt x="0" y="1204015"/>
                  </a:lnTo>
                  <a:lnTo>
                    <a:pt x="0" y="0"/>
                  </a:lnTo>
                  <a:close/>
                </a:path>
              </a:pathLst>
            </a:custGeom>
            <a:solidFill>
              <a:srgbClr val="BFBFBF">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wrap="square" anchor="ctr">
              <a:noAutofit/>
            </a:bodyP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4" name="KSO_FD"/>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D7A6815-1E28-4D82-8BC5-7C1D7E153426}" type="datetimeFigureOut">
              <a:rPr lang="zh-CN" altLang="en-US" smtClean="0"/>
            </a:fld>
            <a:endParaRPr lang="zh-CN" altLang="en-US"/>
          </a:p>
        </p:txBody>
      </p:sp>
      <p:sp>
        <p:nvSpPr>
          <p:cNvPr id="5" name="KSO_FT"/>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EDFD76B-BF89-479F-AC44-E0B11B12AE5F}" type="slidenum">
              <a:rPr lang="zh-CN" altLang="en-US" smtClean="0"/>
            </a:fld>
            <a:endParaRPr lang="zh-CN" altLang="en-US"/>
          </a:p>
        </p:txBody>
      </p:sp>
      <p:sp>
        <p:nvSpPr>
          <p:cNvPr id="3" name="KSO_BC1"/>
          <p:cNvSpPr>
            <a:spLocks noGrp="1"/>
          </p:cNvSpPr>
          <p:nvPr>
            <p:ph type="body" idx="1"/>
          </p:nvPr>
        </p:nvSpPr>
        <p:spPr>
          <a:xfrm>
            <a:off x="622300" y="1082676"/>
            <a:ext cx="10954459" cy="5214442"/>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2" name="KSO_BT1"/>
          <p:cNvSpPr>
            <a:spLocks noGrp="1"/>
          </p:cNvSpPr>
          <p:nvPr>
            <p:ph type="title"/>
          </p:nvPr>
        </p:nvSpPr>
        <p:spPr>
          <a:xfrm>
            <a:off x="622301" y="134544"/>
            <a:ext cx="10954459" cy="7960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iming>
    <p:tnLst>
      <p:par>
        <p:cTn id="1" dur="indefinite" restart="never" nodeType="tmRoot"/>
      </p:par>
    </p:tnLst>
  </p:timing>
  <p:txStyles>
    <p:titleStyle>
      <a:lvl1pPr algn="l" defTabSz="685800" rtl="0" eaLnBrk="1" latinLnBrk="0" hangingPunct="1">
        <a:lnSpc>
          <a:spcPct val="90000"/>
        </a:lnSpc>
        <a:spcBef>
          <a:spcPct val="0"/>
        </a:spcBef>
        <a:buNone/>
        <a:defRPr sz="3200" b="1" i="0" kern="1200" baseline="0">
          <a:solidFill>
            <a:schemeClr val="accent1"/>
          </a:solidFill>
          <a:effectLst/>
          <a:latin typeface="+mj-lt"/>
          <a:ea typeface="+mj-ea"/>
          <a:cs typeface="+mj-cs"/>
        </a:defRPr>
      </a:lvl1pPr>
    </p:titleStyle>
    <p:bodyStyle>
      <a:lvl1pPr marL="361950" indent="-361950" algn="just" defTabSz="685800" rtl="0" eaLnBrk="1" latinLnBrk="0" hangingPunct="1">
        <a:lnSpc>
          <a:spcPct val="110000"/>
        </a:lnSpc>
        <a:spcBef>
          <a:spcPts val="1200"/>
        </a:spcBef>
        <a:spcAft>
          <a:spcPts val="0"/>
        </a:spcAft>
        <a:buClr>
          <a:schemeClr val="accent1"/>
        </a:buClr>
        <a:buSzPct val="60000"/>
        <a:buFont typeface="Wingdings 2" panose="05020102010507070707" pitchFamily="18" charset="2"/>
        <a:buChar char=""/>
        <a:defRPr lang="zh-CN" altLang="en-US" sz="2400" kern="1200" baseline="0" dirty="0" smtClean="0">
          <a:solidFill>
            <a:schemeClr val="tx1"/>
          </a:solidFill>
          <a:latin typeface="+mn-lt"/>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2000" kern="1200" baseline="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3.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image" Target="../media/image23.png"/><Relationship Id="rId2" Type="http://schemas.openxmlformats.org/officeDocument/2006/relationships/tags" Target="../tags/tag10.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3.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3.xml"/><Relationship Id="rId2" Type="http://schemas.openxmlformats.org/officeDocument/2006/relationships/image" Target="../media/image30.png"/><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3.xml"/><Relationship Id="rId2" Type="http://schemas.openxmlformats.org/officeDocument/2006/relationships/image" Target="../media/image32.png"/><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6.xml"/><Relationship Id="rId2" Type="http://schemas.openxmlformats.org/officeDocument/2006/relationships/image" Target="../media/image34.png"/><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标题 1"/>
          <p:cNvSpPr>
            <a:spLocks noGrp="1"/>
          </p:cNvSpPr>
          <p:nvPr>
            <p:ph type="ctrTitle"/>
          </p:nvPr>
        </p:nvSpPr>
        <p:spPr>
          <a:xfrm>
            <a:off x="925830" y="1023620"/>
            <a:ext cx="9351010" cy="1425575"/>
          </a:xfrm>
        </p:spPr>
        <p:txBody>
          <a:bodyPr vert="horz" lIns="91440" tIns="45720" rIns="91440" bIns="45720" anchor="b" anchorCtr="0">
            <a:normAutofit/>
          </a:bodyPr>
          <a:p>
            <a:pPr marL="0" marR="0" indent="0" algn="dist" defTabSz="914400" rtl="0" eaLnBrk="1" fontAlgn="auto" latinLnBrk="0" hangingPunct="1">
              <a:lnSpc>
                <a:spcPct val="110000"/>
              </a:lnSpc>
              <a:spcBef>
                <a:spcPct val="0"/>
              </a:spcBef>
              <a:spcAft>
                <a:spcPct val="0"/>
              </a:spcAft>
              <a:buClrTx/>
              <a:buSzTx/>
              <a:buFontTx/>
              <a:buNone/>
            </a:pPr>
            <a:r>
              <a:rPr lang="zh-CN" sz="6600" dirty="0">
                <a:sym typeface="+mn-ea"/>
              </a:rPr>
              <a:t>学位论文答辩工作指南</a:t>
            </a:r>
            <a:endParaRPr kumimoji="0" lang="zh-CN" altLang="en-US" sz="6600" b="1" i="0" u="none" strike="noStrike" kern="1200" cap="none" spc="0" normalizeH="0" baseline="0" noProof="1" dirty="0">
              <a:solidFill>
                <a:schemeClr val="bg1"/>
              </a:solidFill>
              <a:latin typeface="微软雅黑" panose="020B0503020204020204" charset="-122"/>
              <a:ea typeface="微软雅黑" panose="020B0503020204020204" charset="-122"/>
              <a:cs typeface="+mj-cs"/>
              <a:sym typeface="+mn-ea"/>
            </a:endParaRPr>
          </a:p>
        </p:txBody>
      </p:sp>
      <p:pic>
        <p:nvPicPr>
          <p:cNvPr id="12292" name="图片 2" descr="信工所logo"/>
          <p:cNvPicPr>
            <a:picLocks noChangeAspect="1"/>
          </p:cNvPicPr>
          <p:nvPr/>
        </p:nvPicPr>
        <p:blipFill>
          <a:blip r:embed="rId1"/>
          <a:stretch>
            <a:fillRect/>
          </a:stretch>
        </p:blipFill>
        <p:spPr>
          <a:xfrm>
            <a:off x="290513" y="3525838"/>
            <a:ext cx="5329237" cy="1258887"/>
          </a:xfrm>
          <a:prstGeom prst="rect">
            <a:avLst/>
          </a:prstGeom>
          <a:noFill/>
          <a:ln w="9525">
            <a:noFill/>
          </a:ln>
        </p:spPr>
      </p:pic>
      <p:sp>
        <p:nvSpPr>
          <p:cNvPr id="2" name="副标题 2"/>
          <p:cNvSpPr>
            <a:spLocks noGrp="1"/>
          </p:cNvSpPr>
          <p:nvPr/>
        </p:nvSpPr>
        <p:spPr>
          <a:xfrm>
            <a:off x="9307513" y="5597525"/>
            <a:ext cx="2733675" cy="1117600"/>
          </a:xfrm>
          <a:prstGeom prst="rect">
            <a:avLst/>
          </a:prstGeom>
          <a:noFill/>
          <a:ln w="9525">
            <a:noFill/>
          </a:ln>
        </p:spPr>
        <p:txBody>
          <a:bodyPr wrap="square" lIns="91440" tIns="45720" rIns="91440" bIns="45720" anchor="t" anchorCtr="0"/>
          <a:p>
            <a:pPr algn="ctr">
              <a:lnSpc>
                <a:spcPct val="180000"/>
              </a:lnSpc>
              <a:buFont typeface="Arial" panose="020B0604020202020204" pitchFamily="34" charset="0"/>
            </a:pPr>
            <a:r>
              <a:rPr lang="zh-CN" altLang="en-US" dirty="0">
                <a:latin typeface="微软雅黑" panose="020B0503020204020204" charset="-122"/>
                <a:ea typeface="微软雅黑" panose="020B0503020204020204" charset="-122"/>
                <a:sym typeface="Calibri" panose="020F0502020204030204" charset="0"/>
              </a:rPr>
              <a:t>学生教育处</a:t>
            </a:r>
            <a:endParaRPr lang="zh-CN" altLang="en-US" dirty="0">
              <a:latin typeface="微软雅黑" panose="020B0503020204020204" charset="-122"/>
              <a:ea typeface="微软雅黑" panose="020B0503020204020204" charset="-122"/>
              <a:sym typeface="Calibri" panose="020F0502020204030204" charset="0"/>
            </a:endParaRPr>
          </a:p>
          <a:p>
            <a:pPr algn="ctr">
              <a:lnSpc>
                <a:spcPct val="180000"/>
              </a:lnSpc>
              <a:buFont typeface="Arial" panose="020B0604020202020204" pitchFamily="34" charset="0"/>
            </a:pPr>
            <a:r>
              <a:rPr lang="en-US" altLang="zh-CN" dirty="0">
                <a:latin typeface="微软雅黑" panose="020B0503020204020204" charset="-122"/>
                <a:ea typeface="微软雅黑" panose="020B0503020204020204" charset="-122"/>
                <a:sym typeface="Calibri" panose="020F0502020204030204" charset="0"/>
              </a:rPr>
              <a:t>2026</a:t>
            </a:r>
            <a:r>
              <a:rPr lang="zh-CN" altLang="en-US" dirty="0">
                <a:latin typeface="微软雅黑" panose="020B0503020204020204" charset="-122"/>
                <a:ea typeface="微软雅黑" panose="020B0503020204020204" charset="-122"/>
                <a:sym typeface="Calibri" panose="020F0502020204030204" charset="0"/>
              </a:rPr>
              <a:t>年</a:t>
            </a:r>
            <a:r>
              <a:rPr lang="en-US" dirty="0">
                <a:latin typeface="微软雅黑" panose="020B0503020204020204" charset="-122"/>
                <a:ea typeface="微软雅黑" panose="020B0503020204020204" charset="-122"/>
                <a:sym typeface="Calibri" panose="020F0502020204030204" charset="0"/>
              </a:rPr>
              <a:t>1</a:t>
            </a:r>
            <a:r>
              <a:rPr lang="zh-CN" altLang="en-US" dirty="0">
                <a:latin typeface="微软雅黑" panose="020B0503020204020204" charset="-122"/>
                <a:ea typeface="微软雅黑" panose="020B0503020204020204" charset="-122"/>
                <a:sym typeface="Calibri" panose="020F0502020204030204" charset="0"/>
              </a:rPr>
              <a:t>月</a:t>
            </a:r>
            <a:endParaRPr lang="zh-CN" altLang="en-US" dirty="0">
              <a:latin typeface="微软雅黑" panose="020B0503020204020204" charset="-122"/>
              <a:ea typeface="微软雅黑" panose="020B0503020204020204" charset="-122"/>
              <a:sym typeface="Calibri" panose="020F0502020204030204" charset="0"/>
            </a:endParaRPr>
          </a:p>
        </p:txBody>
      </p:sp>
      <p:sp>
        <p:nvSpPr>
          <p:cNvPr id="3" name="学士帽"/>
          <p:cNvSpPr/>
          <p:nvPr/>
        </p:nvSpPr>
        <p:spPr>
          <a:xfrm>
            <a:off x="8488363" y="5778500"/>
            <a:ext cx="1089025" cy="755650"/>
          </a:xfrm>
          <a:custGeom>
            <a:avLst/>
            <a:gdLst/>
            <a:ahLst/>
            <a:cxnLst>
              <a:cxn ang="0">
                <a:pos x="386257179" y="186454921"/>
              </a:cxn>
              <a:cxn ang="0">
                <a:pos x="257039730" y="123144191"/>
              </a:cxn>
              <a:cxn ang="0">
                <a:pos x="111591123" y="186454921"/>
              </a:cxn>
              <a:cxn ang="0">
                <a:pos x="71012532" y="167186410"/>
              </a:cxn>
              <a:cxn ang="0">
                <a:pos x="71012532" y="223977660"/>
              </a:cxn>
              <a:cxn ang="0">
                <a:pos x="82044837" y="241362729"/>
              </a:cxn>
              <a:cxn ang="0">
                <a:pos x="70758916" y="258747799"/>
              </a:cxn>
              <a:cxn ang="0">
                <a:pos x="82805685" y="319885158"/>
              </a:cxn>
              <a:cxn ang="0">
                <a:pos x="47299419" y="319885158"/>
              </a:cxn>
              <a:cxn ang="0">
                <a:pos x="59472996" y="258457869"/>
              </a:cxn>
              <a:cxn ang="0">
                <a:pos x="49581965" y="241362729"/>
              </a:cxn>
              <a:cxn ang="0">
                <a:pos x="59092572" y="224412081"/>
              </a:cxn>
              <a:cxn ang="0">
                <a:pos x="59092572" y="161536089"/>
              </a:cxn>
              <a:cxn ang="0">
                <a:pos x="0" y="133285429"/>
              </a:cxn>
              <a:cxn ang="0">
                <a:pos x="259956317" y="0"/>
              </a:cxn>
              <a:cxn ang="0">
                <a:pos x="498482343" y="135024063"/>
              </a:cxn>
              <a:cxn ang="0">
                <a:pos x="386257179" y="186454921"/>
              </a:cxn>
              <a:cxn ang="0">
                <a:pos x="254123144" y="155306539"/>
              </a:cxn>
              <a:cxn ang="0">
                <a:pos x="371420632" y="200797461"/>
              </a:cxn>
              <a:cxn ang="0">
                <a:pos x="371420632" y="311047816"/>
              </a:cxn>
              <a:cxn ang="0">
                <a:pos x="248163441" y="346542307"/>
              </a:cxn>
              <a:cxn ang="0">
                <a:pos x="139362096" y="311047816"/>
              </a:cxn>
              <a:cxn ang="0">
                <a:pos x="139362096" y="200797461"/>
              </a:cxn>
              <a:cxn ang="0">
                <a:pos x="254123144" y="155306539"/>
              </a:cxn>
              <a:cxn ang="0">
                <a:pos x="252601447" y="326259831"/>
              </a:cxn>
              <a:cxn ang="0">
                <a:pos x="347200286" y="299312751"/>
              </a:cxn>
              <a:cxn ang="0">
                <a:pos x="252601447" y="272221181"/>
              </a:cxn>
              <a:cxn ang="0">
                <a:pos x="158129694" y="299312751"/>
              </a:cxn>
              <a:cxn ang="0">
                <a:pos x="252601447" y="326259831"/>
              </a:cxn>
            </a:cxnLst>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AEABAB"/>
          </a:solidFill>
          <a:ln w="9525">
            <a:noFill/>
          </a:ln>
        </p:spPr>
        <p:txBody>
          <a:bodyPr/>
          <a:p>
            <a:endParaRPr lang="zh-CN" altLang="en-US"/>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答辩相关材料提交要求：</a:t>
            </a:r>
            <a:endParaRPr lang="zh-CN" altLang="en-US" sz="4000" b="1" dirty="0">
              <a:latin typeface="微软雅黑" panose="020B0503020204020204" charset="-122"/>
              <a:ea typeface="微软雅黑" panose="020B0503020204020204" charset="-122"/>
            </a:endParaRPr>
          </a:p>
        </p:txBody>
      </p:sp>
      <p:sp>
        <p:nvSpPr>
          <p:cNvPr id="21" name="文本框 20"/>
          <p:cNvSpPr txBox="1"/>
          <p:nvPr>
            <p:custDataLst>
              <p:tags r:id="rId1"/>
            </p:custDataLst>
          </p:nvPr>
        </p:nvSpPr>
        <p:spPr>
          <a:xfrm>
            <a:off x="621665" y="1640840"/>
            <a:ext cx="10880090" cy="4485005"/>
          </a:xfrm>
          <a:prstGeom prst="rect">
            <a:avLst/>
          </a:prstGeom>
          <a:noFill/>
        </p:spPr>
        <p:txBody>
          <a:bodyPr wrap="square" rtlCol="0">
            <a:spAutoFit/>
          </a:bodyPr>
          <a:p>
            <a:pPr>
              <a:lnSpc>
                <a:spcPct val="170000"/>
              </a:lnSpc>
            </a:pPr>
            <a:r>
              <a:rPr sz="2800" b="1" dirty="0" smtClean="0">
                <a:latin typeface="微软雅黑" panose="020B0503020204020204" charset="-122"/>
                <a:ea typeface="微软雅黑" panose="020B0503020204020204" charset="-122"/>
              </a:rPr>
              <a:t>1、纸质版：每个学生为一份材料，用夹子夹好</a:t>
            </a:r>
            <a:r>
              <a:rPr lang="zh-CN" sz="2800" b="1" dirty="0" smtClean="0">
                <a:latin typeface="微软雅黑" panose="020B0503020204020204" charset="-122"/>
                <a:ea typeface="微软雅黑" panose="020B0503020204020204" charset="-122"/>
              </a:rPr>
              <a:t>，</a:t>
            </a:r>
            <a:r>
              <a:rPr sz="2800" b="1" dirty="0" smtClean="0">
                <a:latin typeface="微软雅黑" panose="020B0503020204020204" charset="-122"/>
                <a:ea typeface="微软雅黑" panose="020B0503020204020204" charset="-122"/>
              </a:rPr>
              <a:t>按</a:t>
            </a:r>
            <a:r>
              <a:rPr lang="en-US" sz="2800" b="1" dirty="0" smtClean="0">
                <a:latin typeface="微软雅黑" panose="020B0503020204020204" charset="-122"/>
                <a:ea typeface="微软雅黑" panose="020B0503020204020204" charset="-122"/>
              </a:rPr>
              <a:t>“2026年</a:t>
            </a:r>
            <a:r>
              <a:rPr lang="zh-CN" altLang="en-US" sz="2800" b="1" dirty="0" smtClean="0">
                <a:latin typeface="微软雅黑" panose="020B0503020204020204" charset="-122"/>
                <a:ea typeface="微软雅黑" panose="020B0503020204020204" charset="-122"/>
              </a:rPr>
              <a:t>夏</a:t>
            </a:r>
            <a:r>
              <a:rPr lang="en-US" sz="2800" b="1" dirty="0" smtClean="0">
                <a:latin typeface="微软雅黑" panose="020B0503020204020204" charset="-122"/>
                <a:ea typeface="微软雅黑" panose="020B0503020204020204" charset="-122"/>
              </a:rPr>
              <a:t>季学位申请人名单”</a:t>
            </a:r>
            <a:r>
              <a:rPr lang="zh-CN" altLang="en-US" sz="2800" b="1" dirty="0" smtClean="0">
                <a:latin typeface="微软雅黑" panose="020B0503020204020204" charset="-122"/>
                <a:ea typeface="微软雅黑" panose="020B0503020204020204" charset="-122"/>
              </a:rPr>
              <a:t>中</a:t>
            </a:r>
            <a:r>
              <a:rPr sz="2800" b="1" dirty="0" smtClean="0">
                <a:latin typeface="微软雅黑" panose="020B0503020204020204" charset="-122"/>
                <a:ea typeface="微软雅黑" panose="020B0503020204020204" charset="-122"/>
              </a:rPr>
              <a:t>序号从小到大排列；</a:t>
            </a:r>
            <a:endParaRPr sz="2800" b="1" dirty="0" smtClean="0">
              <a:latin typeface="微软雅黑" panose="020B0503020204020204" charset="-122"/>
              <a:ea typeface="微软雅黑" panose="020B0503020204020204" charset="-122"/>
            </a:endParaRPr>
          </a:p>
          <a:p>
            <a:pPr>
              <a:lnSpc>
                <a:spcPct val="170000"/>
              </a:lnSpc>
            </a:pPr>
            <a:r>
              <a:rPr sz="2800" b="1" dirty="0" smtClean="0">
                <a:latin typeface="微软雅黑" panose="020B0503020204020204" charset="-122"/>
                <a:ea typeface="微软雅黑" panose="020B0503020204020204" charset="-122"/>
              </a:rPr>
              <a:t>2、每份纸质版材料（单独一个学生的材料）按下面表格内顺序排列；</a:t>
            </a:r>
            <a:endParaRPr sz="2800" b="1" dirty="0" smtClean="0">
              <a:latin typeface="微软雅黑" panose="020B0503020204020204" charset="-122"/>
              <a:ea typeface="微软雅黑" panose="020B0503020204020204" charset="-122"/>
            </a:endParaRPr>
          </a:p>
          <a:p>
            <a:pPr>
              <a:lnSpc>
                <a:spcPct val="170000"/>
              </a:lnSpc>
            </a:pPr>
            <a:r>
              <a:rPr sz="2800" b="1" dirty="0" smtClean="0">
                <a:latin typeface="微软雅黑" panose="020B0503020204020204" charset="-122"/>
                <a:ea typeface="微软雅黑" panose="020B0503020204020204" charset="-122"/>
              </a:rPr>
              <a:t>3、请在每份复印件材料右上角标明“复印件”，档案袋封皮不用标注份数；</a:t>
            </a:r>
            <a:endParaRPr sz="2800" b="1" dirty="0" smtClean="0">
              <a:latin typeface="微软雅黑" panose="020B0503020204020204" charset="-122"/>
              <a:ea typeface="微软雅黑" panose="020B0503020204020204" charset="-122"/>
            </a:endParaRPr>
          </a:p>
          <a:p>
            <a:pPr>
              <a:lnSpc>
                <a:spcPct val="170000"/>
              </a:lnSpc>
            </a:pPr>
            <a:r>
              <a:rPr sz="2800" b="1" dirty="0" smtClean="0">
                <a:latin typeface="微软雅黑" panose="020B0503020204020204" charset="-122"/>
                <a:ea typeface="微软雅黑" panose="020B0503020204020204" charset="-122"/>
              </a:rPr>
              <a:t>4、请务必认真阅读《</a:t>
            </a:r>
            <a:r>
              <a:rPr lang="en-US" sz="2800" b="1" dirty="0" smtClean="0">
                <a:latin typeface="微软雅黑" panose="020B0503020204020204" charset="-122"/>
                <a:ea typeface="微软雅黑" panose="020B0503020204020204" charset="-122"/>
                <a:sym typeface="+mn-ea"/>
              </a:rPr>
              <a:t>2026年</a:t>
            </a:r>
            <a:r>
              <a:rPr lang="zh-CN" altLang="en-US" sz="2800" b="1" dirty="0" smtClean="0">
                <a:latin typeface="微软雅黑" panose="020B0503020204020204" charset="-122"/>
                <a:ea typeface="微软雅黑" panose="020B0503020204020204" charset="-122"/>
                <a:sym typeface="+mn-ea"/>
              </a:rPr>
              <a:t>夏</a:t>
            </a:r>
            <a:r>
              <a:rPr sz="2800" b="1" dirty="0" smtClean="0">
                <a:latin typeface="微软雅黑" panose="020B0503020204020204" charset="-122"/>
                <a:ea typeface="微软雅黑" panose="020B0503020204020204" charset="-122"/>
              </a:rPr>
              <a:t>季学位申请通知》</a:t>
            </a:r>
            <a:endParaRPr sz="2800" b="1" dirty="0" smtClean="0">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endParaRPr lang="zh-CN" altLang="en-US" sz="4000" b="1" dirty="0">
              <a:latin typeface="微软雅黑" panose="020B0503020204020204" charset="-122"/>
              <a:ea typeface="微软雅黑" panose="020B0503020204020204" charset="-122"/>
            </a:endParaRPr>
          </a:p>
        </p:txBody>
      </p:sp>
      <p:graphicFrame>
        <p:nvGraphicFramePr>
          <p:cNvPr id="2" name="表格 1"/>
          <p:cNvGraphicFramePr/>
          <p:nvPr>
            <p:custDataLst>
              <p:tags r:id="rId1"/>
            </p:custDataLst>
          </p:nvPr>
        </p:nvGraphicFramePr>
        <p:xfrm>
          <a:off x="622300" y="1405255"/>
          <a:ext cx="10299065" cy="5179695"/>
        </p:xfrm>
        <a:graphic>
          <a:graphicData uri="http://schemas.openxmlformats.org/drawingml/2006/table">
            <a:tbl>
              <a:tblPr firstRow="1" bandRow="1">
                <a:effectLst/>
                <a:tableStyleId>{5940675A-B579-460E-94D1-54222C63F5DA}</a:tableStyleId>
              </a:tblPr>
              <a:tblGrid>
                <a:gridCol w="3114675"/>
                <a:gridCol w="1489710"/>
                <a:gridCol w="713740"/>
                <a:gridCol w="987425"/>
                <a:gridCol w="3993515"/>
              </a:tblGrid>
              <a:tr h="340995">
                <a:tc>
                  <a:txBody>
                    <a:bodyPr/>
                    <a:p>
                      <a:pPr indent="0" algn="ctr">
                        <a:buNone/>
                      </a:pPr>
                      <a:r>
                        <a:rPr lang="en-US" sz="1600" b="1">
                          <a:solidFill>
                            <a:schemeClr val="tx1"/>
                          </a:solidFill>
                          <a:latin typeface="微软雅黑" panose="020B0503020204020204" charset="-122"/>
                          <a:ea typeface="微软雅黑" panose="020B0503020204020204" charset="-122"/>
                        </a:rPr>
                        <a:t>材料名称</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类型</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份数</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附件</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要求</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r>
              <a:tr h="382905">
                <a:tc>
                  <a:txBody>
                    <a:bodyPr/>
                    <a:p>
                      <a:pPr indent="0" algn="ctr">
                        <a:buNone/>
                      </a:pPr>
                      <a:r>
                        <a:rPr lang="zh-CN" altLang="en-US" sz="1600">
                          <a:solidFill>
                            <a:schemeClr val="tx1"/>
                          </a:solidFill>
                          <a:latin typeface="微软雅黑" panose="020B0503020204020204" charset="-122"/>
                          <a:ea typeface="微软雅黑" panose="020B0503020204020204" charset="-122"/>
                        </a:rPr>
                        <a:t>预答辩委员会成员审核表</a:t>
                      </a:r>
                      <a:endParaRPr lang="zh-CN"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电子版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1</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cs typeface="微软雅黑" panose="020B0503020204020204" charset="-122"/>
                        </a:rPr>
                        <a:t>附件4</a:t>
                      </a:r>
                      <a:endParaRPr lang="en-US" altLang="en-US" sz="160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buNone/>
                      </a:pPr>
                      <a:r>
                        <a:rPr lang="en-US" sz="1600">
                          <a:solidFill>
                            <a:schemeClr val="tx1"/>
                          </a:solidFill>
                          <a:latin typeface="微软雅黑" panose="020B0503020204020204" charset="-122"/>
                          <a:ea typeface="微软雅黑" panose="020B0503020204020204" charset="-122"/>
                        </a:rPr>
                        <a:t>预答辩前一周提交电子版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r>
              <a:tr h="383540">
                <a:tc>
                  <a:txBody>
                    <a:bodyPr/>
                    <a:p>
                      <a:pPr indent="0" algn="ctr">
                        <a:buNone/>
                      </a:pPr>
                      <a:r>
                        <a:rPr lang="zh-CN" altLang="en-US" sz="1600">
                          <a:solidFill>
                            <a:schemeClr val="tx1"/>
                          </a:solidFill>
                          <a:latin typeface="微软雅黑" panose="020B0503020204020204" charset="-122"/>
                          <a:ea typeface="微软雅黑" panose="020B0503020204020204" charset="-122"/>
                        </a:rPr>
                        <a:t>院系审定意见</a:t>
                      </a:r>
                      <a:endParaRPr lang="zh-CN"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电子版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1</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cs typeface="微软雅黑" panose="020B0503020204020204" charset="-122"/>
                        </a:rPr>
                        <a:t>附件1-1</a:t>
                      </a:r>
                      <a:endParaRPr lang="en-US" altLang="en-US" sz="160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buNone/>
                      </a:pPr>
                      <a:r>
                        <a:rPr lang="zh-CN" altLang="en-US" sz="1600">
                          <a:latin typeface="微软雅黑" panose="020B0503020204020204" charset="-122"/>
                          <a:ea typeface="微软雅黑" panose="020B0503020204020204" charset="-122"/>
                          <a:sym typeface="+mn-ea"/>
                        </a:rPr>
                        <a:t>按名单排序</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r>
              <a:tr h="332105">
                <a:tc>
                  <a:txBody>
                    <a:bodyPr/>
                    <a:p>
                      <a:pPr indent="0" algn="ctr">
                        <a:buNone/>
                      </a:pPr>
                      <a:r>
                        <a:rPr lang="en-US" sz="1600">
                          <a:solidFill>
                            <a:schemeClr val="tx1"/>
                          </a:solidFill>
                          <a:latin typeface="微软雅黑" panose="020B0503020204020204" charset="-122"/>
                          <a:ea typeface="微软雅黑" panose="020B0503020204020204" charset="-122"/>
                        </a:rPr>
                        <a:t>有效论文列表</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电子版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1</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cs typeface="微软雅黑" panose="020B0503020204020204" charset="-122"/>
                        </a:rPr>
                        <a:t>附件3</a:t>
                      </a:r>
                      <a:endParaRPr lang="en-US" altLang="en-US" sz="160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buNone/>
                      </a:pPr>
                      <a:r>
                        <a:rPr lang="zh-CN" altLang="en-US" sz="1600">
                          <a:solidFill>
                            <a:schemeClr val="tx1"/>
                          </a:solidFill>
                          <a:latin typeface="微软雅黑" panose="020B0503020204020204" charset="-122"/>
                          <a:ea typeface="微软雅黑" panose="020B0503020204020204" charset="-122"/>
                        </a:rPr>
                        <a:t>按名单排序，</a:t>
                      </a:r>
                      <a:r>
                        <a:rPr lang="en-US" sz="1600">
                          <a:solidFill>
                            <a:schemeClr val="tx1"/>
                          </a:solidFill>
                          <a:latin typeface="微软雅黑" panose="020B0503020204020204" charset="-122"/>
                          <a:ea typeface="微软雅黑" panose="020B0503020204020204" charset="-122"/>
                        </a:rPr>
                        <a:t>部门统一</a:t>
                      </a:r>
                      <a:r>
                        <a:rPr lang="zh-CN" altLang="en-US" sz="1600">
                          <a:solidFill>
                            <a:schemeClr val="tx1"/>
                          </a:solidFill>
                          <a:latin typeface="微软雅黑" panose="020B0503020204020204" charset="-122"/>
                          <a:ea typeface="微软雅黑" panose="020B0503020204020204" charset="-122"/>
                        </a:rPr>
                        <a:t>汇总</a:t>
                      </a:r>
                      <a:r>
                        <a:rPr lang="en-US" sz="1600">
                          <a:solidFill>
                            <a:schemeClr val="tx1"/>
                          </a:solidFill>
                          <a:latin typeface="微软雅黑" panose="020B0503020204020204" charset="-122"/>
                          <a:ea typeface="微软雅黑" panose="020B0503020204020204" charset="-122"/>
                        </a:rPr>
                        <a:t>提交</a:t>
                      </a:r>
                      <a:endParaRPr 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r>
              <a:tr h="355600">
                <a:tc>
                  <a:txBody>
                    <a:bodyPr/>
                    <a:p>
                      <a:pPr indent="0" algn="ctr">
                        <a:buNone/>
                      </a:pPr>
                      <a:r>
                        <a:rPr lang="en-US" sz="1600">
                          <a:solidFill>
                            <a:schemeClr val="tx1"/>
                          </a:solidFill>
                          <a:latin typeface="微软雅黑" panose="020B0503020204020204" charset="-122"/>
                          <a:ea typeface="微软雅黑" panose="020B0503020204020204" charset="-122"/>
                        </a:rPr>
                        <a:t>汇总表（评阅）</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电子版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rPr>
                        <a:t>1</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solidFill>
                            <a:schemeClr val="tx1"/>
                          </a:solidFill>
                          <a:latin typeface="微软雅黑" panose="020B0503020204020204" charset="-122"/>
                          <a:ea typeface="微软雅黑" panose="020B0503020204020204" charset="-122"/>
                          <a:cs typeface="微软雅黑" panose="020B0503020204020204" charset="-122"/>
                        </a:rPr>
                        <a:t>附件6</a:t>
                      </a:r>
                      <a:endParaRPr lang="en-US" altLang="en-US" sz="160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buNone/>
                      </a:pPr>
                      <a:r>
                        <a:rPr lang="zh-CN" altLang="en-US" sz="1600">
                          <a:latin typeface="微软雅黑" panose="020B0503020204020204" charset="-122"/>
                          <a:ea typeface="微软雅黑" panose="020B0503020204020204" charset="-122"/>
                          <a:sym typeface="+mn-ea"/>
                        </a:rPr>
                        <a:t>按名单排序，</a:t>
                      </a:r>
                      <a:r>
                        <a:rPr lang="en-US" sz="1600">
                          <a:solidFill>
                            <a:schemeClr val="tx1"/>
                          </a:solidFill>
                          <a:latin typeface="微软雅黑" panose="020B0503020204020204" charset="-122"/>
                          <a:ea typeface="微软雅黑" panose="020B0503020204020204" charset="-122"/>
                          <a:sym typeface="+mn-ea"/>
                        </a:rPr>
                        <a:t>部门统一</a:t>
                      </a:r>
                      <a:r>
                        <a:rPr lang="zh-CN" altLang="en-US" sz="1600">
                          <a:solidFill>
                            <a:schemeClr val="tx1"/>
                          </a:solidFill>
                          <a:latin typeface="微软雅黑" panose="020B0503020204020204" charset="-122"/>
                          <a:ea typeface="微软雅黑" panose="020B0503020204020204" charset="-122"/>
                          <a:sym typeface="+mn-ea"/>
                        </a:rPr>
                        <a:t>汇总</a:t>
                      </a:r>
                      <a:r>
                        <a:rPr lang="en-US" sz="1600">
                          <a:solidFill>
                            <a:schemeClr val="tx1"/>
                          </a:solidFill>
                          <a:latin typeface="微软雅黑" panose="020B0503020204020204" charset="-122"/>
                          <a:ea typeface="微软雅黑" panose="020B0503020204020204" charset="-122"/>
                          <a:sym typeface="+mn-ea"/>
                        </a:rPr>
                        <a:t>提交</a:t>
                      </a:r>
                      <a:endParaRPr lang="en-US" altLang="en-US" sz="1600">
                        <a:solidFill>
                          <a:schemeClr val="tx1"/>
                        </a:solidFill>
                        <a:latin typeface="微软雅黑" panose="020B0503020204020204" charset="-122"/>
                        <a:ea typeface="微软雅黑" panose="020B0503020204020204" charset="-122"/>
                        <a:sym typeface="+mn-ea"/>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r>
              <a:tr h="522605">
                <a:tc>
                  <a:txBody>
                    <a:bodyPr/>
                    <a:p>
                      <a:pPr indent="0" algn="ctr">
                        <a:buNone/>
                      </a:pPr>
                      <a:r>
                        <a:rPr lang="en-US" sz="1600">
                          <a:solidFill>
                            <a:schemeClr val="tx1"/>
                          </a:solidFill>
                          <a:latin typeface="微软雅黑" panose="020B0503020204020204" charset="-122"/>
                          <a:ea typeface="微软雅黑" panose="020B0503020204020204" charset="-122"/>
                        </a:rPr>
                        <a:t>研究生登记表</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rPr>
                        <a:t>纸质版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rPr>
                        <a:t>2</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rPr>
                        <a:t> </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en-US" sz="1600">
                          <a:solidFill>
                            <a:schemeClr val="tx1"/>
                          </a:solidFill>
                          <a:latin typeface="微软雅黑" panose="020B0503020204020204" charset="-122"/>
                          <a:ea typeface="微软雅黑" panose="020B0503020204020204" charset="-122"/>
                        </a:rPr>
                        <a:t>学生本人签字</a:t>
                      </a:r>
                      <a:r>
                        <a:rPr lang="zh-CN" altLang="en-US" sz="1600">
                          <a:solidFill>
                            <a:schemeClr val="tx1"/>
                          </a:solidFill>
                          <a:latin typeface="微软雅黑" panose="020B0503020204020204" charset="-122"/>
                          <a:ea typeface="微软雅黑" panose="020B0503020204020204" charset="-122"/>
                        </a:rPr>
                        <a:t>，</a:t>
                      </a:r>
                      <a:r>
                        <a:rPr lang="zh-CN" altLang="en-US" sz="1600" b="1">
                          <a:solidFill>
                            <a:srgbClr val="FF0000"/>
                          </a:solidFill>
                          <a:latin typeface="微软雅黑" panose="020B0503020204020204" charset="-122"/>
                          <a:ea typeface="微软雅黑" panose="020B0503020204020204" charset="-122"/>
                        </a:rPr>
                        <a:t>日期填写入学年度的</a:t>
                      </a:r>
                      <a:r>
                        <a:rPr lang="en-US" altLang="zh-CN" sz="1600" b="1">
                          <a:solidFill>
                            <a:srgbClr val="FF0000"/>
                          </a:solidFill>
                          <a:latin typeface="微软雅黑" panose="020B0503020204020204" charset="-122"/>
                          <a:ea typeface="微软雅黑" panose="020B0503020204020204" charset="-122"/>
                        </a:rPr>
                        <a:t>10</a:t>
                      </a:r>
                      <a:r>
                        <a:rPr lang="zh-CN" altLang="en-US" sz="1600" b="1">
                          <a:solidFill>
                            <a:srgbClr val="FF0000"/>
                          </a:solidFill>
                          <a:latin typeface="微软雅黑" panose="020B0503020204020204" charset="-122"/>
                          <a:ea typeface="微软雅黑" panose="020B0503020204020204" charset="-122"/>
                        </a:rPr>
                        <a:t>月</a:t>
                      </a:r>
                      <a:r>
                        <a:rPr lang="en-US" altLang="zh-CN" sz="1600" b="1">
                          <a:solidFill>
                            <a:srgbClr val="FF0000"/>
                          </a:solidFill>
                          <a:latin typeface="微软雅黑" panose="020B0503020204020204" charset="-122"/>
                          <a:ea typeface="微软雅黑" panose="020B0503020204020204" charset="-122"/>
                        </a:rPr>
                        <a:t>30</a:t>
                      </a:r>
                      <a:r>
                        <a:rPr lang="zh-CN" altLang="en-US" sz="1600" b="1">
                          <a:solidFill>
                            <a:srgbClr val="FF0000"/>
                          </a:solidFill>
                          <a:latin typeface="微软雅黑" panose="020B0503020204020204" charset="-122"/>
                          <a:ea typeface="微软雅黑" panose="020B0503020204020204" charset="-122"/>
                        </a:rPr>
                        <a:t>日</a:t>
                      </a:r>
                      <a:r>
                        <a:rPr lang="en-US" sz="1600">
                          <a:solidFill>
                            <a:schemeClr val="tx1"/>
                          </a:solidFill>
                          <a:latin typeface="微软雅黑" panose="020B0503020204020204" charset="-122"/>
                          <a:ea typeface="微软雅黑" panose="020B0503020204020204" charset="-122"/>
                        </a:rPr>
                        <a:t>（硕博连读4份）</a:t>
                      </a:r>
                      <a:endParaRPr 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534670">
                <a:tc>
                  <a:txBody>
                    <a:bodyPr/>
                    <a:p>
                      <a:pPr indent="0" algn="ctr">
                        <a:buNone/>
                      </a:pPr>
                      <a:r>
                        <a:rPr lang="zh-CN" altLang="en-US" sz="1600" b="0">
                          <a:solidFill>
                            <a:schemeClr val="tx1"/>
                          </a:solidFill>
                          <a:latin typeface="微软雅黑" panose="020B0503020204020204" charset="-122"/>
                          <a:ea typeface="微软雅黑" panose="020B0503020204020204" charset="-122"/>
                        </a:rPr>
                        <a:t>毕业生登记表</a:t>
                      </a:r>
                      <a:endParaRPr lang="zh-CN" altLang="en-US" sz="1600" b="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b="0">
                          <a:solidFill>
                            <a:schemeClr val="tx1"/>
                          </a:solidFill>
                          <a:latin typeface="微软雅黑" panose="020B0503020204020204" charset="-122"/>
                          <a:ea typeface="微软雅黑" panose="020B0503020204020204" charset="-122"/>
                          <a:sym typeface="黑体" panose="02010609060101010101" charset="-122"/>
                        </a:rPr>
                        <a:t>纸质版</a:t>
                      </a:r>
                      <a:endParaRPr lang="en-US" altLang="en-US" sz="1600" b="0">
                        <a:solidFill>
                          <a:schemeClr val="tx1"/>
                        </a:solidFill>
                        <a:latin typeface="微软雅黑" panose="020B0503020204020204" charset="-122"/>
                        <a:ea typeface="微软雅黑" panose="020B0503020204020204" charset="-122"/>
                        <a:sym typeface="黑体" panose="02010609060101010101"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altLang="en-US" sz="1600" b="0">
                          <a:solidFill>
                            <a:schemeClr val="tx1"/>
                          </a:solidFill>
                          <a:latin typeface="微软雅黑" panose="020B0503020204020204" charset="-122"/>
                          <a:ea typeface="微软雅黑" panose="020B0503020204020204" charset="-122"/>
                        </a:rPr>
                        <a:t>2</a:t>
                      </a:r>
                      <a:endParaRPr lang="en-US" altLang="en-US" sz="1600" b="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zh-CN" altLang="en-US" sz="1600" b="0">
                          <a:solidFill>
                            <a:schemeClr val="tx1"/>
                          </a:solidFill>
                          <a:latin typeface="微软雅黑" panose="020B0503020204020204" charset="-122"/>
                          <a:ea typeface="微软雅黑" panose="020B0503020204020204" charset="-122"/>
                          <a:cs typeface="微软雅黑" panose="020B0503020204020204" charset="-122"/>
                        </a:rPr>
                        <a:t>附件</a:t>
                      </a:r>
                      <a:r>
                        <a:rPr lang="en-US" altLang="zh-CN" sz="1600" b="0">
                          <a:solidFill>
                            <a:schemeClr val="tx1"/>
                          </a:solidFill>
                          <a:latin typeface="微软雅黑" panose="020B0503020204020204" charset="-122"/>
                          <a:ea typeface="微软雅黑" panose="020B0503020204020204" charset="-122"/>
                          <a:cs typeface="微软雅黑" panose="020B0503020204020204" charset="-122"/>
                        </a:rPr>
                        <a:t>16</a:t>
                      </a:r>
                      <a:endParaRPr lang="en-US" altLang="zh-CN"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en-US" sz="1600">
                          <a:solidFill>
                            <a:schemeClr val="tx1"/>
                          </a:solidFill>
                          <a:latin typeface="微软雅黑" panose="020B0503020204020204" charset="-122"/>
                          <a:ea typeface="微软雅黑" panose="020B0503020204020204" charset="-122"/>
                        </a:rPr>
                        <a:t>贴照片，签字齐全</a:t>
                      </a:r>
                      <a:endParaRPr lang="en-US" sz="1600">
                        <a:solidFill>
                          <a:schemeClr val="tx1"/>
                        </a:solidFill>
                        <a:latin typeface="微软雅黑" panose="020B0503020204020204" charset="-122"/>
                        <a:ea typeface="微软雅黑" panose="020B0503020204020204" charset="-122"/>
                      </a:endParaRPr>
                    </a:p>
                    <a:p>
                      <a:pPr indent="0">
                        <a:buNone/>
                      </a:pPr>
                      <a:r>
                        <a:rPr lang="en-US" sz="1600">
                          <a:solidFill>
                            <a:schemeClr val="tx1"/>
                          </a:solidFill>
                          <a:latin typeface="微软雅黑" panose="020B0503020204020204" charset="-122"/>
                          <a:ea typeface="微软雅黑" panose="020B0503020204020204" charset="-122"/>
                        </a:rPr>
                        <a:t>日期建议写2026年5月28日</a:t>
                      </a:r>
                      <a:endParaRPr 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487680">
                <a:tc>
                  <a:txBody>
                    <a:bodyPr/>
                    <a:p>
                      <a:pPr indent="0" algn="ctr">
                        <a:buNone/>
                      </a:pPr>
                      <a:r>
                        <a:rPr lang="en-US" sz="1600">
                          <a:solidFill>
                            <a:schemeClr val="tx1"/>
                          </a:solidFill>
                          <a:latin typeface="微软雅黑" panose="020B0503020204020204" charset="-122"/>
                          <a:ea typeface="微软雅黑" panose="020B0503020204020204" charset="-122"/>
                        </a:rPr>
                        <a:t>答辩申请书</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rPr>
                        <a:t>纸质版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rPr>
                        <a:t>1</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cs typeface="微软雅黑" panose="020B0503020204020204" charset="-122"/>
                        </a:rPr>
                        <a:t>附件1</a:t>
                      </a:r>
                      <a:endParaRPr lang="en-US" altLang="en-US" sz="160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en-US" sz="1600" b="1">
                          <a:solidFill>
                            <a:srgbClr val="FF0000"/>
                          </a:solidFill>
                          <a:latin typeface="微软雅黑" panose="020B0503020204020204" charset="-122"/>
                          <a:ea typeface="微软雅黑" panose="020B0503020204020204" charset="-122"/>
                        </a:rPr>
                        <a:t>不装订，单面打印</a:t>
                      </a:r>
                      <a:r>
                        <a:rPr lang="en-US" sz="1600">
                          <a:solidFill>
                            <a:schemeClr val="tx1"/>
                          </a:solidFill>
                          <a:latin typeface="微软雅黑" panose="020B0503020204020204" charset="-122"/>
                          <a:ea typeface="微软雅黑" panose="020B0503020204020204" charset="-122"/>
                        </a:rPr>
                        <a:t>，签字齐全</a:t>
                      </a:r>
                      <a:r>
                        <a:rPr lang="zh-CN" altLang="en-US" sz="1600">
                          <a:solidFill>
                            <a:schemeClr val="tx1"/>
                          </a:solidFill>
                          <a:latin typeface="微软雅黑" panose="020B0503020204020204" charset="-122"/>
                          <a:ea typeface="微软雅黑" panose="020B0503020204020204" charset="-122"/>
                        </a:rPr>
                        <a:t>；</a:t>
                      </a:r>
                      <a:r>
                        <a:rPr lang="zh-CN" altLang="en-US" sz="1600" b="1">
                          <a:solidFill>
                            <a:srgbClr val="FF0000"/>
                          </a:solidFill>
                          <a:latin typeface="微软雅黑" panose="020B0503020204020204" charset="-122"/>
                          <a:ea typeface="微软雅黑" panose="020B0503020204020204" charset="-122"/>
                        </a:rPr>
                        <a:t>成绩页系统导出打印</a:t>
                      </a:r>
                      <a:endParaRPr lang="zh-CN" altLang="en-US" sz="1600" b="1">
                        <a:solidFill>
                          <a:srgbClr val="FF0000"/>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384810">
                <a:tc>
                  <a:txBody>
                    <a:bodyPr/>
                    <a:p>
                      <a:pPr algn="ctr">
                        <a:buClrTx/>
                        <a:buSzTx/>
                        <a:buFontTx/>
                        <a:buNone/>
                      </a:pPr>
                      <a:r>
                        <a:rPr lang="zh-CN" altLang="en-US" sz="1600" b="0">
                          <a:solidFill>
                            <a:schemeClr val="tx1"/>
                          </a:solidFill>
                          <a:latin typeface="微软雅黑" panose="020B0503020204020204" charset="-122"/>
                          <a:ea typeface="微软雅黑" panose="020B0503020204020204" charset="-122"/>
                        </a:rPr>
                        <a:t>科研成果证明材料</a:t>
                      </a:r>
                      <a:endParaRPr lang="zh-CN" altLang="en-US" sz="1600" b="0">
                        <a:solidFill>
                          <a:schemeClr val="tx1"/>
                        </a:solidFill>
                        <a:latin typeface="微软雅黑" panose="020B0503020204020204" charset="-122"/>
                        <a:ea typeface="微软雅黑" panose="020B0503020204020204"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algn="ctr">
                        <a:buClrTx/>
                        <a:buSzTx/>
                        <a:buFontTx/>
                        <a:buNone/>
                      </a:pPr>
                      <a:r>
                        <a:rPr lang="en-US" sz="1600" b="0">
                          <a:solidFill>
                            <a:schemeClr val="tx1"/>
                          </a:solidFill>
                          <a:latin typeface="微软雅黑" panose="020B0503020204020204" charset="-122"/>
                          <a:ea typeface="微软雅黑" panose="020B0503020204020204" charset="-122"/>
                        </a:rPr>
                        <a:t>纸质版</a:t>
                      </a:r>
                      <a:endParaRPr lang="en-US" sz="1600" b="0">
                        <a:solidFill>
                          <a:schemeClr val="tx1"/>
                        </a:solidFill>
                        <a:latin typeface="微软雅黑" panose="020B0503020204020204" charset="-122"/>
                        <a:ea typeface="微软雅黑" panose="020B0503020204020204"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algn="ctr">
                        <a:buClrTx/>
                        <a:buSzTx/>
                        <a:buFontTx/>
                        <a:buNone/>
                      </a:pPr>
                      <a:r>
                        <a:rPr lang="en-US" sz="1600" b="0">
                          <a:solidFill>
                            <a:schemeClr val="tx1"/>
                          </a:solidFill>
                          <a:latin typeface="微软雅黑" panose="020B0503020204020204" charset="-122"/>
                          <a:ea typeface="微软雅黑" panose="020B0503020204020204" charset="-122"/>
                        </a:rPr>
                        <a:t>1</a:t>
                      </a:r>
                      <a:endParaRPr lang="en-US" sz="1600" b="0">
                        <a:solidFill>
                          <a:schemeClr val="tx1"/>
                        </a:solidFill>
                        <a:latin typeface="微软雅黑" panose="020B0503020204020204" charset="-122"/>
                        <a:ea typeface="微软雅黑" panose="020B0503020204020204"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algn="ctr">
                        <a:buClrTx/>
                        <a:buSzTx/>
                        <a:buFontTx/>
                        <a:buNone/>
                      </a:pPr>
                      <a:r>
                        <a:rPr lang="en-US" sz="1600" b="0">
                          <a:solidFill>
                            <a:schemeClr val="tx1"/>
                          </a:solidFill>
                          <a:latin typeface="微软雅黑" panose="020B0503020204020204" charset="-122"/>
                          <a:ea typeface="微软雅黑" panose="020B0503020204020204" charset="-122"/>
                        </a:rPr>
                        <a:t>附件19</a:t>
                      </a:r>
                      <a:endParaRPr lang="en-US" sz="1600" b="0">
                        <a:solidFill>
                          <a:schemeClr val="tx1"/>
                        </a:solidFill>
                        <a:latin typeface="微软雅黑" panose="020B0503020204020204" charset="-122"/>
                        <a:ea typeface="微软雅黑" panose="020B0503020204020204"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algn="l">
                        <a:buClrTx/>
                        <a:buSzTx/>
                        <a:buFontTx/>
                        <a:buNone/>
                      </a:pPr>
                      <a:r>
                        <a:rPr lang="en-US" sz="1600" b="0">
                          <a:solidFill>
                            <a:schemeClr val="tx1"/>
                          </a:solidFill>
                          <a:latin typeface="微软雅黑" panose="020B0503020204020204" charset="-122"/>
                          <a:ea typeface="微软雅黑" panose="020B0503020204020204" charset="-122"/>
                        </a:rPr>
                        <a:t>按照模板及通知要求装订成册</a:t>
                      </a:r>
                      <a:endParaRPr lang="en-US" sz="1600" b="0">
                        <a:solidFill>
                          <a:schemeClr val="tx1"/>
                        </a:solidFill>
                        <a:latin typeface="微软雅黑" panose="020B0503020204020204" charset="-122"/>
                        <a:ea typeface="微软雅黑" panose="020B0503020204020204"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361950">
                <a:tc>
                  <a:txBody>
                    <a:bodyPr/>
                    <a:p>
                      <a:pPr indent="0" algn="ctr">
                        <a:buNone/>
                      </a:pPr>
                      <a:r>
                        <a:rPr lang="zh-CN" altLang="en-US" sz="1600">
                          <a:solidFill>
                            <a:schemeClr val="tx1"/>
                          </a:solidFill>
                          <a:latin typeface="微软雅黑" panose="020B0503020204020204" charset="-122"/>
                          <a:ea typeface="微软雅黑" panose="020B0503020204020204" charset="-122"/>
                        </a:rPr>
                        <a:t>学位论文预答辩审查表</a:t>
                      </a:r>
                      <a:endParaRPr lang="zh-CN"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rPr>
                        <a:t>纸质版</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rPr>
                        <a:t>1</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cs typeface="微软雅黑" panose="020B0503020204020204" charset="-122"/>
                        </a:rPr>
                        <a:t>附件5</a:t>
                      </a:r>
                      <a:endParaRPr lang="en-US" altLang="en-US" sz="160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en-US" sz="1600">
                          <a:solidFill>
                            <a:schemeClr val="tx1"/>
                          </a:solidFill>
                          <a:latin typeface="微软雅黑" panose="020B0503020204020204" charset="-122"/>
                          <a:ea typeface="微软雅黑" panose="020B0503020204020204" charset="-122"/>
                        </a:rPr>
                        <a:t>审查过程记录详细，签字齐全</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382270">
                <a:tc>
                  <a:txBody>
                    <a:bodyPr/>
                    <a:p>
                      <a:pPr indent="0" algn="ctr">
                        <a:buNone/>
                      </a:pPr>
                      <a:r>
                        <a:rPr lang="en-US" altLang="en-US" sz="1600">
                          <a:solidFill>
                            <a:schemeClr val="tx1"/>
                          </a:solidFill>
                          <a:latin typeface="微软雅黑" panose="020B0503020204020204" charset="-122"/>
                          <a:ea typeface="微软雅黑" panose="020B0503020204020204" charset="-122"/>
                        </a:rPr>
                        <a:t>预答辩后修改说明</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sym typeface="黑体" panose="02010609060101010101" charset="-122"/>
                        </a:rPr>
                        <a:t>纸质版</a:t>
                      </a:r>
                      <a:endParaRPr lang="en-US" altLang="en-US" sz="1600">
                        <a:solidFill>
                          <a:schemeClr val="tx1"/>
                        </a:solidFill>
                        <a:latin typeface="微软雅黑" panose="020B0503020204020204" charset="-122"/>
                        <a:ea typeface="微软雅黑" panose="020B0503020204020204" charset="-122"/>
                        <a:sym typeface="黑体" panose="02010609060101010101"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altLang="en-US" sz="1600">
                          <a:solidFill>
                            <a:schemeClr val="tx1"/>
                          </a:solidFill>
                          <a:latin typeface="微软雅黑" panose="020B0503020204020204" charset="-122"/>
                          <a:ea typeface="微软雅黑" panose="020B0503020204020204" charset="-122"/>
                        </a:rPr>
                        <a:t>1</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zh-CN" altLang="en-US" sz="1600">
                          <a:solidFill>
                            <a:schemeClr val="tx1"/>
                          </a:solidFill>
                          <a:latin typeface="微软雅黑" panose="020B0503020204020204" charset="-122"/>
                          <a:ea typeface="微软雅黑" panose="020B0503020204020204" charset="-122"/>
                        </a:rPr>
                        <a:t>附件</a:t>
                      </a:r>
                      <a:r>
                        <a:rPr lang="en-US" altLang="zh-CN" sz="1600">
                          <a:solidFill>
                            <a:schemeClr val="tx1"/>
                          </a:solidFill>
                          <a:latin typeface="微软雅黑" panose="020B0503020204020204" charset="-122"/>
                          <a:ea typeface="微软雅黑" panose="020B0503020204020204" charset="-122"/>
                        </a:rPr>
                        <a:t>2</a:t>
                      </a:r>
                      <a:endParaRPr lang="en-US" altLang="zh-CN"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en-US" altLang="en-US" sz="1600">
                          <a:solidFill>
                            <a:schemeClr val="tx1"/>
                          </a:solidFill>
                          <a:latin typeface="微软雅黑" panose="020B0503020204020204" charset="-122"/>
                          <a:ea typeface="微软雅黑" panose="020B0503020204020204" charset="-122"/>
                        </a:rPr>
                        <a:t>学生本人、导师签字</a:t>
                      </a: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334645">
                <a:tc>
                  <a:txBody>
                    <a:bodyPr/>
                    <a:p>
                      <a:pPr indent="0" algn="ctr">
                        <a:buNone/>
                      </a:pPr>
                      <a:r>
                        <a:rPr lang="en-US" sz="1600" b="0">
                          <a:solidFill>
                            <a:schemeClr val="tx1"/>
                          </a:solidFill>
                          <a:latin typeface="微软雅黑" panose="020B0503020204020204" charset="-122"/>
                          <a:ea typeface="微软雅黑" panose="020B0503020204020204" charset="-122"/>
                          <a:cs typeface="仿宋_GB2312" panose="02010609030101010101" charset="-122"/>
                        </a:rPr>
                        <a:t>学位论文查重报告</a:t>
                      </a:r>
                      <a:endParaRPr lang="en-US" altLang="en-US" sz="1600" b="0">
                        <a:solidFill>
                          <a:schemeClr val="tx1"/>
                        </a:solidFill>
                        <a:latin typeface="微软雅黑" panose="020B0503020204020204" charset="-122"/>
                        <a:ea typeface="微软雅黑" panose="020B0503020204020204" charset="-122"/>
                        <a:cs typeface="仿宋_GB2312" panose="02010609030101010101"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b="0">
                          <a:solidFill>
                            <a:schemeClr val="tx1"/>
                          </a:solidFill>
                          <a:latin typeface="微软雅黑" panose="020B0503020204020204" charset="-122"/>
                          <a:ea typeface="微软雅黑" panose="020B0503020204020204" charset="-122"/>
                          <a:cs typeface="仿宋_GB2312" panose="02010609030101010101" charset="-122"/>
                        </a:rPr>
                        <a:t>纸质版</a:t>
                      </a:r>
                      <a:endParaRPr lang="en-US" altLang="en-US" sz="1600" b="0">
                        <a:solidFill>
                          <a:schemeClr val="tx1"/>
                        </a:solidFill>
                        <a:latin typeface="微软雅黑" panose="020B0503020204020204" charset="-122"/>
                        <a:ea typeface="微软雅黑" panose="020B0503020204020204" charset="-122"/>
                        <a:cs typeface="仿宋_GB2312" panose="02010609030101010101"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b="0">
                          <a:solidFill>
                            <a:schemeClr val="tx1"/>
                          </a:solidFill>
                          <a:latin typeface="微软雅黑" panose="020B0503020204020204" charset="-122"/>
                          <a:ea typeface="微软雅黑" panose="020B0503020204020204" charset="-122"/>
                          <a:cs typeface="仿宋_GB2312" panose="02010609030101010101" charset="-122"/>
                        </a:rPr>
                        <a:t>1</a:t>
                      </a:r>
                      <a:endParaRPr lang="en-US" altLang="en-US" sz="1600" b="0">
                        <a:solidFill>
                          <a:schemeClr val="tx1"/>
                        </a:solidFill>
                        <a:latin typeface="微软雅黑" panose="020B0503020204020204" charset="-122"/>
                        <a:ea typeface="微软雅黑" panose="020B0503020204020204" charset="-122"/>
                        <a:cs typeface="仿宋_GB2312" panose="02010609030101010101"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b="0">
                          <a:solidFill>
                            <a:schemeClr val="tx1"/>
                          </a:solidFill>
                          <a:latin typeface="微软雅黑" panose="020B0503020204020204" charset="-122"/>
                          <a:ea typeface="微软雅黑" panose="020B0503020204020204" charset="-122"/>
                          <a:cs typeface="Times New Roman" panose="02020603050405020304" pitchFamily="18" charset="0"/>
                        </a:rPr>
                        <a:t> </a:t>
                      </a:r>
                      <a:endParaRPr lang="en-US" altLang="en-US" sz="1600" b="0">
                        <a:solidFill>
                          <a:schemeClr val="tx1"/>
                        </a:solidFill>
                        <a:latin typeface="微软雅黑" panose="020B0503020204020204" charset="-122"/>
                        <a:ea typeface="微软雅黑" panose="020B0503020204020204" charset="-122"/>
                        <a:cs typeface="Times New Roman" panose="02020603050405020304" pitchFamily="18" charset="0"/>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en-US" sz="1600" b="0">
                          <a:solidFill>
                            <a:schemeClr val="tx1"/>
                          </a:solidFill>
                          <a:latin typeface="微软雅黑" panose="020B0503020204020204" charset="-122"/>
                          <a:ea typeface="微软雅黑" panose="020B0503020204020204" charset="-122"/>
                          <a:cs typeface="仿宋_GB2312" panose="02010609030101010101" charset="-122"/>
                        </a:rPr>
                        <a:t>导师在含有总相似比的页面签字</a:t>
                      </a:r>
                      <a:endParaRPr lang="en-US" altLang="en-US" sz="1600" b="0">
                        <a:solidFill>
                          <a:schemeClr val="tx1"/>
                        </a:solidFill>
                        <a:latin typeface="微软雅黑" panose="020B0503020204020204" charset="-122"/>
                        <a:ea typeface="微软雅黑" panose="020B0503020204020204" charset="-122"/>
                        <a:cs typeface="仿宋_GB2312" panose="02010609030101010101"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375920">
                <a:tc>
                  <a:txBody>
                    <a:bodyPr/>
                    <a:p>
                      <a:pPr indent="0" algn="ctr">
                        <a:buNone/>
                      </a:pPr>
                      <a:r>
                        <a:rPr lang="zh-CN" altLang="en-US" sz="1600">
                          <a:solidFill>
                            <a:schemeClr val="tx1"/>
                          </a:solidFill>
                          <a:latin typeface="微软雅黑" panose="020B0503020204020204" charset="-122"/>
                          <a:ea typeface="微软雅黑" panose="020B0503020204020204" charset="-122"/>
                        </a:rPr>
                        <a:t>研究生专业实践登记表</a:t>
                      </a:r>
                      <a:endParaRPr lang="zh-CN"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b="0">
                          <a:solidFill>
                            <a:schemeClr val="tx1"/>
                          </a:solidFill>
                          <a:latin typeface="微软雅黑" panose="020B0503020204020204" charset="-122"/>
                          <a:ea typeface="微软雅黑" panose="020B0503020204020204" charset="-122"/>
                          <a:cs typeface="仿宋_GB2312" panose="02010609030101010101" charset="-122"/>
                        </a:rPr>
                        <a:t>纸质版</a:t>
                      </a:r>
                      <a:endParaRPr lang="en-US" altLang="en-US" sz="1600" b="0">
                        <a:solidFill>
                          <a:schemeClr val="tx1"/>
                        </a:solidFill>
                        <a:latin typeface="微软雅黑" panose="020B0503020204020204" charset="-122"/>
                        <a:ea typeface="微软雅黑" panose="020B0503020204020204" charset="-122"/>
                        <a:cs typeface="仿宋_GB2312" panose="02010609030101010101"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b="0">
                          <a:solidFill>
                            <a:schemeClr val="tx1"/>
                          </a:solidFill>
                          <a:latin typeface="微软雅黑" panose="020B0503020204020204" charset="-122"/>
                          <a:ea typeface="微软雅黑" panose="020B0503020204020204" charset="-122"/>
                          <a:cs typeface="仿宋_GB2312" panose="02010609030101010101" charset="-122"/>
                        </a:rPr>
                        <a:t>1</a:t>
                      </a:r>
                      <a:endParaRPr lang="en-US" altLang="en-US" sz="1600" b="0">
                        <a:solidFill>
                          <a:schemeClr val="tx1"/>
                        </a:solidFill>
                        <a:latin typeface="微软雅黑" panose="020B0503020204020204" charset="-122"/>
                        <a:ea typeface="微软雅黑" panose="020B0503020204020204" charset="-122"/>
                        <a:cs typeface="仿宋_GB2312" panose="02010609030101010101" charset="-122"/>
                      </a:endParaRPr>
                    </a:p>
                  </a:txBody>
                  <a:tcPr marL="68580" marR="68580" marT="0" marB="0" vert="horz" anchor="ctr" anchorCtr="0">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solidFill>
                            <a:schemeClr val="tx1"/>
                          </a:solidFill>
                          <a:latin typeface="微软雅黑" panose="020B0503020204020204" charset="-122"/>
                          <a:ea typeface="微软雅黑" panose="020B0503020204020204" charset="-122"/>
                          <a:sym typeface="黑体" panose="02010609060101010101" charset="-122"/>
                        </a:rPr>
                        <a:t>附件22</a:t>
                      </a:r>
                      <a:endParaRPr lang="en-US" altLang="en-US" sz="1600">
                        <a:solidFill>
                          <a:schemeClr val="tx1"/>
                        </a:solidFill>
                        <a:latin typeface="微软雅黑" panose="020B0503020204020204" charset="-122"/>
                        <a:ea typeface="微软雅黑" panose="020B0503020204020204" charset="-122"/>
                        <a:cs typeface="微软雅黑" panose="020B0503020204020204" charset="-122"/>
                        <a:sym typeface="黑体" panose="02010609060101010101"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endParaRPr lang="en-US" altLang="en-US" sz="1600">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研究生登记表（</a:t>
            </a:r>
            <a:r>
              <a:rPr lang="zh-CN" altLang="en-US" sz="4000" b="1" dirty="0">
                <a:latin typeface="微软雅黑" panose="020B0503020204020204" charset="-122"/>
                <a:ea typeface="微软雅黑" panose="020B0503020204020204" charset="-122"/>
              </a:rPr>
              <a:t>一式两份）</a:t>
            </a:r>
            <a:endParaRPr lang="zh-CN" altLang="en-US" sz="4000" b="1"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1"/>
          <a:stretch>
            <a:fillRect/>
          </a:stretch>
        </p:blipFill>
        <p:spPr>
          <a:xfrm>
            <a:off x="6590665" y="1242060"/>
            <a:ext cx="3970655" cy="5578475"/>
          </a:xfrm>
          <a:prstGeom prst="rect">
            <a:avLst/>
          </a:prstGeom>
        </p:spPr>
      </p:pic>
      <p:pic>
        <p:nvPicPr>
          <p:cNvPr id="6" name="图片 5"/>
          <p:cNvPicPr>
            <a:picLocks noChangeAspect="1"/>
          </p:cNvPicPr>
          <p:nvPr/>
        </p:nvPicPr>
        <p:blipFill>
          <a:blip r:embed="rId2"/>
          <a:stretch>
            <a:fillRect/>
          </a:stretch>
        </p:blipFill>
        <p:spPr>
          <a:xfrm>
            <a:off x="701675" y="1343660"/>
            <a:ext cx="4018280" cy="5356225"/>
          </a:xfrm>
          <a:prstGeom prst="rect">
            <a:avLst/>
          </a:prstGeom>
        </p:spPr>
      </p:pic>
      <p:sp>
        <p:nvSpPr>
          <p:cNvPr id="10" name="矩形 9"/>
          <p:cNvSpPr/>
          <p:nvPr/>
        </p:nvSpPr>
        <p:spPr>
          <a:xfrm>
            <a:off x="3664585" y="1343660"/>
            <a:ext cx="960755" cy="117602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11" name=" 220"/>
          <p:cNvSpPr/>
          <p:nvPr/>
        </p:nvSpPr>
        <p:spPr>
          <a:xfrm flipH="1">
            <a:off x="4718050" y="1751330"/>
            <a:ext cx="1704975" cy="571500"/>
          </a:xfrm>
          <a:prstGeom prst="homePlate">
            <a:avLst/>
          </a:prstGeom>
          <a:solidFill>
            <a:srgbClr val="DC5C31"/>
          </a:solidFill>
          <a:ln w="12700" cap="flat" cmpd="sng" algn="ctr">
            <a:noFill/>
            <a:prstDash val="solid"/>
            <a:miter lim="800000"/>
          </a:ln>
          <a:effectLst/>
        </p:spPr>
        <p:txBody>
          <a:bodyPr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a:solidFill>
                <a:srgbClr val="FFFFFF"/>
              </a:solidFill>
              <a:latin typeface="Arial" panose="020B0604020202020204" pitchFamily="34" charset="0"/>
              <a:ea typeface="黑体" panose="02010609060101010101" charset="-122"/>
            </a:endParaRPr>
          </a:p>
        </p:txBody>
      </p:sp>
      <p:sp>
        <p:nvSpPr>
          <p:cNvPr id="12" name="文本框 11"/>
          <p:cNvSpPr txBox="1"/>
          <p:nvPr/>
        </p:nvSpPr>
        <p:spPr>
          <a:xfrm>
            <a:off x="5093335" y="1710690"/>
            <a:ext cx="1209675" cy="566420"/>
          </a:xfrm>
          <a:prstGeom prst="rect">
            <a:avLst/>
          </a:prstGeom>
          <a:noFill/>
        </p:spPr>
        <p:txBody>
          <a:bodyPr wrap="square" rtlCol="0">
            <a:spAutoFit/>
          </a:bodyPr>
          <a:p>
            <a:pPr algn="dist">
              <a:lnSpc>
                <a:spcPct val="130000"/>
              </a:lnSpc>
            </a:pPr>
            <a:r>
              <a:rPr lang="zh-CN" altLang="en-US" sz="2400" b="1" dirty="0" smtClean="0">
                <a:solidFill>
                  <a:srgbClr val="FFFFFF"/>
                </a:solidFill>
                <a:latin typeface="Arial" panose="020B0604020202020204" pitchFamily="34" charset="0"/>
                <a:ea typeface="微软雅黑" panose="020B0503020204020204" charset="-122"/>
              </a:rPr>
              <a:t>可打印</a:t>
            </a:r>
            <a:endParaRPr lang="zh-CN" altLang="en-US" sz="2400" b="1" dirty="0" smtClean="0">
              <a:solidFill>
                <a:srgbClr val="FFFFFF"/>
              </a:solidFill>
              <a:latin typeface="Arial" panose="020B0604020202020204" pitchFamily="34" charset="0"/>
              <a:ea typeface="微软雅黑" panose="020B0503020204020204" charset="-122"/>
            </a:endParaRPr>
          </a:p>
        </p:txBody>
      </p:sp>
      <p:sp>
        <p:nvSpPr>
          <p:cNvPr id="13" name="矩形 12"/>
          <p:cNvSpPr/>
          <p:nvPr/>
        </p:nvSpPr>
        <p:spPr>
          <a:xfrm>
            <a:off x="7284085" y="6017895"/>
            <a:ext cx="3277235" cy="24701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14" name=" 231"/>
          <p:cNvSpPr/>
          <p:nvPr/>
        </p:nvSpPr>
        <p:spPr>
          <a:xfrm>
            <a:off x="9505315" y="4476115"/>
            <a:ext cx="2194560" cy="1368425"/>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15" name="文本框 14"/>
          <p:cNvSpPr txBox="1"/>
          <p:nvPr/>
        </p:nvSpPr>
        <p:spPr>
          <a:xfrm>
            <a:off x="9608185" y="4476115"/>
            <a:ext cx="2091690" cy="1041400"/>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两份均需本人签字</a:t>
            </a:r>
            <a:endParaRPr lang="zh-CN" altLang="en-US" sz="2400" b="1" dirty="0" smtClean="0">
              <a:solidFill>
                <a:srgbClr val="FFFFFF"/>
              </a:solidFill>
              <a:latin typeface="Arial" panose="020B0604020202020204" pitchFamily="34" charset="0"/>
              <a:ea typeface="微软雅黑" panose="020B0503020204020204" charset="-122"/>
            </a:endParaRPr>
          </a:p>
        </p:txBody>
      </p:sp>
      <p:sp>
        <p:nvSpPr>
          <p:cNvPr id="16" name="线形标注 1 15"/>
          <p:cNvSpPr/>
          <p:nvPr/>
        </p:nvSpPr>
        <p:spPr>
          <a:xfrm>
            <a:off x="4720590" y="4065905"/>
            <a:ext cx="2077720" cy="2153285"/>
          </a:xfrm>
          <a:prstGeom prst="borderCallout1">
            <a:avLst>
              <a:gd name="adj1" fmla="val 52289"/>
              <a:gd name="adj2" fmla="val 108753"/>
              <a:gd name="adj3" fmla="val 84203"/>
              <a:gd name="adj4" fmla="val 217592"/>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4" name="文本框 33"/>
          <p:cNvSpPr txBox="1"/>
          <p:nvPr/>
        </p:nvSpPr>
        <p:spPr>
          <a:xfrm>
            <a:off x="4788535" y="4136390"/>
            <a:ext cx="1905635" cy="2047875"/>
          </a:xfrm>
          <a:prstGeom prst="rect">
            <a:avLst/>
          </a:prstGeom>
          <a:noFill/>
        </p:spPr>
        <p:txBody>
          <a:bodyPr wrap="square" rtlCol="0">
            <a:spAutoFit/>
          </a:bodyPr>
          <a:p>
            <a:pPr>
              <a:lnSpc>
                <a:spcPct val="130000"/>
              </a:lnSpc>
            </a:pPr>
            <a:r>
              <a:rPr lang="zh-CN" altLang="en-US" sz="1400" b="1" dirty="0" smtClean="0">
                <a:latin typeface="Arial" panose="020B0604020202020204" pitchFamily="34" charset="0"/>
                <a:ea typeface="微软雅黑" panose="020B0503020204020204" charset="-122"/>
              </a:rPr>
              <a:t>日期填写入学年度的</a:t>
            </a:r>
            <a:r>
              <a:rPr lang="en-US" altLang="zh-CN" sz="1400" b="1" dirty="0" smtClean="0">
                <a:latin typeface="Arial" panose="020B0604020202020204" pitchFamily="34" charset="0"/>
                <a:ea typeface="微软雅黑" panose="020B0503020204020204" charset="-122"/>
              </a:rPr>
              <a:t>10</a:t>
            </a:r>
            <a:r>
              <a:rPr lang="zh-CN" altLang="en-US" sz="1400" b="1" dirty="0" smtClean="0">
                <a:latin typeface="Arial" panose="020B0604020202020204" pitchFamily="34" charset="0"/>
                <a:ea typeface="微软雅黑" panose="020B0503020204020204" charset="-122"/>
              </a:rPr>
              <a:t>月</a:t>
            </a:r>
            <a:r>
              <a:rPr lang="en-US" altLang="zh-CN" sz="1400" b="1" dirty="0" smtClean="0">
                <a:latin typeface="Arial" panose="020B0604020202020204" pitchFamily="34" charset="0"/>
                <a:ea typeface="微软雅黑" panose="020B0503020204020204" charset="-122"/>
              </a:rPr>
              <a:t>30</a:t>
            </a:r>
            <a:r>
              <a:rPr lang="zh-CN" altLang="en-US" sz="1400" b="1" dirty="0" smtClean="0">
                <a:latin typeface="Arial" panose="020B0604020202020204" pitchFamily="34" charset="0"/>
                <a:ea typeface="微软雅黑" panose="020B0503020204020204" charset="-122"/>
              </a:rPr>
              <a:t>日</a:t>
            </a:r>
            <a:endParaRPr lang="zh-CN" altLang="en-US" sz="1400" b="1" dirty="0" smtClean="0">
              <a:latin typeface="Arial" panose="020B0604020202020204" pitchFamily="34" charset="0"/>
              <a:ea typeface="微软雅黑" panose="020B0503020204020204" charset="-122"/>
            </a:endParaRPr>
          </a:p>
          <a:p>
            <a:pPr>
              <a:lnSpc>
                <a:spcPct val="130000"/>
              </a:lnSpc>
            </a:pPr>
            <a:r>
              <a:rPr lang="zh-CN" altLang="en-US" sz="1400" b="1" dirty="0" smtClean="0">
                <a:latin typeface="Arial" panose="020B0604020202020204" pitchFamily="34" charset="0"/>
                <a:ea typeface="微软雅黑" panose="020B0503020204020204" charset="-122"/>
              </a:rPr>
              <a:t>注：硕博连读生需提供硕士期间《研究生登记表》以及博士期间《研究生登记表》，各一式两份，共四份。</a:t>
            </a:r>
            <a:endParaRPr lang="zh-CN" altLang="en-US" sz="1400" b="1" dirty="0" smtClean="0">
              <a:latin typeface="Arial" panose="020B0604020202020204" pitchFamily="34" charset="0"/>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 name="图片 31"/>
          <p:cNvPicPr>
            <a:picLocks noChangeAspect="1"/>
          </p:cNvPicPr>
          <p:nvPr/>
        </p:nvPicPr>
        <p:blipFill>
          <a:blip r:embed="rId1"/>
          <a:stretch>
            <a:fillRect/>
          </a:stretch>
        </p:blipFill>
        <p:spPr>
          <a:xfrm>
            <a:off x="6450330" y="1420495"/>
            <a:ext cx="4648200" cy="4197985"/>
          </a:xfrm>
          <a:prstGeom prst="rect">
            <a:avLst/>
          </a:prstGeom>
        </p:spPr>
      </p:pic>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毕业</a:t>
            </a:r>
            <a:r>
              <a:rPr lang="zh-CN" altLang="en-US" sz="4000" b="1" dirty="0">
                <a:latin typeface="微软雅黑" panose="020B0503020204020204" charset="-122"/>
                <a:ea typeface="微软雅黑" panose="020B0503020204020204" charset="-122"/>
              </a:rPr>
              <a:t>生登记表（</a:t>
            </a:r>
            <a:r>
              <a:rPr lang="zh-CN" altLang="en-US" sz="4000" b="1" dirty="0">
                <a:latin typeface="微软雅黑" panose="020B0503020204020204" charset="-122"/>
                <a:ea typeface="微软雅黑" panose="020B0503020204020204" charset="-122"/>
              </a:rPr>
              <a:t>一式两份）</a:t>
            </a:r>
            <a:endParaRPr lang="zh-CN" altLang="en-US" sz="4000" b="1" dirty="0">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713740" y="4070985"/>
            <a:ext cx="3890010" cy="1539240"/>
          </a:xfrm>
          <a:prstGeom prst="rect">
            <a:avLst/>
          </a:prstGeom>
        </p:spPr>
      </p:pic>
      <p:pic>
        <p:nvPicPr>
          <p:cNvPr id="3" name="图片 2"/>
          <p:cNvPicPr>
            <a:picLocks noChangeAspect="1"/>
          </p:cNvPicPr>
          <p:nvPr/>
        </p:nvPicPr>
        <p:blipFill>
          <a:blip r:embed="rId3"/>
          <a:srcRect b="68959"/>
          <a:stretch>
            <a:fillRect/>
          </a:stretch>
        </p:blipFill>
        <p:spPr>
          <a:xfrm>
            <a:off x="713740" y="1698625"/>
            <a:ext cx="3893185" cy="1673860"/>
          </a:xfrm>
          <a:prstGeom prst="rect">
            <a:avLst/>
          </a:prstGeom>
        </p:spPr>
      </p:pic>
      <p:sp>
        <p:nvSpPr>
          <p:cNvPr id="4" name="矩形 3"/>
          <p:cNvSpPr/>
          <p:nvPr/>
        </p:nvSpPr>
        <p:spPr>
          <a:xfrm>
            <a:off x="3750310" y="1543050"/>
            <a:ext cx="846455" cy="136017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5" name="组合 4"/>
          <p:cNvGrpSpPr/>
          <p:nvPr/>
        </p:nvGrpSpPr>
        <p:grpSpPr>
          <a:xfrm>
            <a:off x="4094480" y="2573020"/>
            <a:ext cx="1704340" cy="612140"/>
            <a:chOff x="7238" y="4310"/>
            <a:chExt cx="2684" cy="964"/>
          </a:xfrm>
        </p:grpSpPr>
        <p:sp>
          <p:nvSpPr>
            <p:cNvPr id="220" name=" 220"/>
            <p:cNvSpPr/>
            <p:nvPr/>
          </p:nvSpPr>
          <p:spPr>
            <a:xfrm flipH="1">
              <a:off x="7238" y="4374"/>
              <a:ext cx="2685" cy="900"/>
            </a:xfrm>
            <a:prstGeom prst="homePlate">
              <a:avLst/>
            </a:prstGeom>
            <a:solidFill>
              <a:srgbClr val="DC5C31"/>
            </a:solidFill>
            <a:ln w="12700" cap="flat" cmpd="sng" algn="ctr">
              <a:noFill/>
              <a:prstDash val="solid"/>
              <a:miter lim="800000"/>
            </a:ln>
            <a:effectLst/>
          </p:spPr>
          <p:txBody>
            <a:bodyPr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a:solidFill>
                  <a:srgbClr val="FFFFFF"/>
                </a:solidFill>
                <a:latin typeface="Arial" panose="020B0604020202020204" pitchFamily="34" charset="0"/>
                <a:ea typeface="黑体" panose="02010609060101010101" charset="-122"/>
              </a:endParaRPr>
            </a:p>
          </p:txBody>
        </p:sp>
        <p:sp>
          <p:nvSpPr>
            <p:cNvPr id="7" name="文本框 6"/>
            <p:cNvSpPr txBox="1"/>
            <p:nvPr/>
          </p:nvSpPr>
          <p:spPr>
            <a:xfrm>
              <a:off x="7749" y="4310"/>
              <a:ext cx="1905" cy="899"/>
            </a:xfrm>
            <a:prstGeom prst="rect">
              <a:avLst/>
            </a:prstGeom>
            <a:noFill/>
          </p:spPr>
          <p:txBody>
            <a:bodyPr wrap="square" rtlCol="0">
              <a:spAutoFit/>
            </a:bodyPr>
            <a:p>
              <a:pPr algn="dist">
                <a:lnSpc>
                  <a:spcPct val="130000"/>
                </a:lnSpc>
              </a:pPr>
              <a:r>
                <a:rPr lang="zh-CN" altLang="en-US" sz="2400" b="1" dirty="0" smtClean="0">
                  <a:solidFill>
                    <a:srgbClr val="FFFFFF"/>
                  </a:solidFill>
                  <a:latin typeface="Arial" panose="020B0604020202020204" pitchFamily="34" charset="0"/>
                  <a:ea typeface="微软雅黑" panose="020B0503020204020204" charset="-122"/>
                </a:rPr>
                <a:t>贴照片</a:t>
              </a:r>
              <a:endParaRPr lang="zh-CN" altLang="en-US" sz="2400" b="1" dirty="0" smtClean="0">
                <a:solidFill>
                  <a:srgbClr val="FFFFFF"/>
                </a:solidFill>
                <a:latin typeface="Arial" panose="020B0604020202020204" pitchFamily="34" charset="0"/>
                <a:ea typeface="微软雅黑" panose="020B0503020204020204" charset="-122"/>
              </a:endParaRPr>
            </a:p>
          </p:txBody>
        </p:sp>
      </p:grpSp>
      <p:grpSp>
        <p:nvGrpSpPr>
          <p:cNvPr id="9" name="组合 8"/>
          <p:cNvGrpSpPr/>
          <p:nvPr/>
        </p:nvGrpSpPr>
        <p:grpSpPr>
          <a:xfrm>
            <a:off x="2985135" y="3738245"/>
            <a:ext cx="2194560" cy="1384300"/>
            <a:chOff x="4701" y="6245"/>
            <a:chExt cx="3456" cy="2180"/>
          </a:xfrm>
        </p:grpSpPr>
        <p:sp>
          <p:nvSpPr>
            <p:cNvPr id="231" name=" 231"/>
            <p:cNvSpPr/>
            <p:nvPr/>
          </p:nvSpPr>
          <p:spPr>
            <a:xfrm>
              <a:off x="4701" y="6271"/>
              <a:ext cx="3456" cy="2155"/>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17" name="文本框 16"/>
            <p:cNvSpPr txBox="1"/>
            <p:nvPr/>
          </p:nvSpPr>
          <p:spPr>
            <a:xfrm>
              <a:off x="4721" y="6245"/>
              <a:ext cx="3294" cy="1640"/>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两份均需本人签字</a:t>
              </a:r>
              <a:endParaRPr lang="zh-CN" altLang="en-US" sz="2400" b="1" dirty="0" smtClean="0">
                <a:solidFill>
                  <a:srgbClr val="FFFFFF"/>
                </a:solidFill>
                <a:latin typeface="Arial" panose="020B0604020202020204" pitchFamily="34" charset="0"/>
                <a:ea typeface="微软雅黑" panose="020B0503020204020204" charset="-122"/>
              </a:endParaRPr>
            </a:p>
          </p:txBody>
        </p:sp>
      </p:grpSp>
      <p:sp>
        <p:nvSpPr>
          <p:cNvPr id="18" name="矩形 17"/>
          <p:cNvSpPr/>
          <p:nvPr/>
        </p:nvSpPr>
        <p:spPr>
          <a:xfrm>
            <a:off x="8717915" y="2973070"/>
            <a:ext cx="1229360" cy="37592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19" name="组合 18"/>
          <p:cNvGrpSpPr/>
          <p:nvPr/>
        </p:nvGrpSpPr>
        <p:grpSpPr>
          <a:xfrm>
            <a:off x="9246235" y="1736090"/>
            <a:ext cx="1852295" cy="1309370"/>
            <a:chOff x="4701" y="6245"/>
            <a:chExt cx="3456" cy="2181"/>
          </a:xfrm>
        </p:grpSpPr>
        <p:sp>
          <p:nvSpPr>
            <p:cNvPr id="20" name=" 231"/>
            <p:cNvSpPr/>
            <p:nvPr/>
          </p:nvSpPr>
          <p:spPr>
            <a:xfrm>
              <a:off x="4701" y="6271"/>
              <a:ext cx="3456" cy="2155"/>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21" name="文本框 20"/>
            <p:cNvSpPr txBox="1"/>
            <p:nvPr/>
          </p:nvSpPr>
          <p:spPr>
            <a:xfrm>
              <a:off x="4721" y="6245"/>
              <a:ext cx="3294" cy="1749"/>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学籍导师</a:t>
              </a:r>
              <a:endParaRPr lang="zh-CN" altLang="en-US" sz="2400" b="1" dirty="0" smtClean="0">
                <a:solidFill>
                  <a:srgbClr val="FFFFFF"/>
                </a:solidFill>
                <a:latin typeface="Arial" panose="020B0604020202020204" pitchFamily="34" charset="0"/>
                <a:ea typeface="微软雅黑" panose="020B0503020204020204" charset="-122"/>
              </a:endParaRPr>
            </a:p>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签字</a:t>
              </a:r>
              <a:endParaRPr lang="zh-CN" altLang="en-US" sz="2400" b="1" dirty="0" smtClean="0">
                <a:solidFill>
                  <a:srgbClr val="FFFFFF"/>
                </a:solidFill>
                <a:latin typeface="Arial" panose="020B0604020202020204" pitchFamily="34" charset="0"/>
                <a:ea typeface="微软雅黑" panose="020B0503020204020204" charset="-122"/>
              </a:endParaRPr>
            </a:p>
          </p:txBody>
        </p:sp>
      </p:grpSp>
      <p:grpSp>
        <p:nvGrpSpPr>
          <p:cNvPr id="22" name="组合 21"/>
          <p:cNvGrpSpPr/>
          <p:nvPr/>
        </p:nvGrpSpPr>
        <p:grpSpPr>
          <a:xfrm>
            <a:off x="8490585" y="3706495"/>
            <a:ext cx="3297555" cy="1309383"/>
            <a:chOff x="4701" y="6245"/>
            <a:chExt cx="3456" cy="2181"/>
          </a:xfrm>
        </p:grpSpPr>
        <p:sp>
          <p:nvSpPr>
            <p:cNvPr id="23" name=" 231"/>
            <p:cNvSpPr/>
            <p:nvPr/>
          </p:nvSpPr>
          <p:spPr>
            <a:xfrm>
              <a:off x="4701" y="6271"/>
              <a:ext cx="3456" cy="2155"/>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24" name="文本框 23"/>
            <p:cNvSpPr txBox="1"/>
            <p:nvPr/>
          </p:nvSpPr>
          <p:spPr>
            <a:xfrm>
              <a:off x="4721" y="6245"/>
              <a:ext cx="3294" cy="1749"/>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学籍所在部门负责人</a:t>
              </a:r>
              <a:endParaRPr lang="zh-CN" altLang="en-US" sz="2400" b="1" dirty="0" smtClean="0">
                <a:solidFill>
                  <a:srgbClr val="FFFFFF"/>
                </a:solidFill>
                <a:latin typeface="Arial" panose="020B0604020202020204" pitchFamily="34" charset="0"/>
                <a:ea typeface="微软雅黑" panose="020B0503020204020204" charset="-122"/>
              </a:endParaRPr>
            </a:p>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签字</a:t>
              </a:r>
              <a:endParaRPr lang="zh-CN" altLang="en-US" sz="2400" b="1" dirty="0" smtClean="0">
                <a:solidFill>
                  <a:srgbClr val="FFFFFF"/>
                </a:solidFill>
                <a:latin typeface="Arial" panose="020B0604020202020204" pitchFamily="34" charset="0"/>
                <a:ea typeface="微软雅黑" panose="020B0503020204020204" charset="-122"/>
              </a:endParaRPr>
            </a:p>
          </p:txBody>
        </p:sp>
      </p:grpSp>
      <p:sp>
        <p:nvSpPr>
          <p:cNvPr id="25" name="矩形 24"/>
          <p:cNvSpPr/>
          <p:nvPr/>
        </p:nvSpPr>
        <p:spPr>
          <a:xfrm>
            <a:off x="8509635" y="4756785"/>
            <a:ext cx="1229360" cy="37592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26" name="组合 25"/>
          <p:cNvGrpSpPr/>
          <p:nvPr/>
        </p:nvGrpSpPr>
        <p:grpSpPr>
          <a:xfrm rot="0">
            <a:off x="8084820" y="5837555"/>
            <a:ext cx="3818255" cy="714986"/>
            <a:chOff x="12039" y="5762"/>
            <a:chExt cx="2902" cy="11191"/>
          </a:xfrm>
        </p:grpSpPr>
        <p:sp>
          <p:nvSpPr>
            <p:cNvPr id="27" name="矩形 26"/>
            <p:cNvSpPr/>
            <p:nvPr/>
          </p:nvSpPr>
          <p:spPr>
            <a:xfrm>
              <a:off x="12039" y="5762"/>
              <a:ext cx="2902" cy="11191"/>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8" name="文本框 27"/>
            <p:cNvSpPr txBox="1"/>
            <p:nvPr/>
          </p:nvSpPr>
          <p:spPr>
            <a:xfrm>
              <a:off x="12165" y="8237"/>
              <a:ext cx="2684" cy="6242"/>
            </a:xfrm>
            <a:prstGeom prst="rect">
              <a:avLst/>
            </a:prstGeom>
            <a:noFill/>
          </p:spPr>
          <p:txBody>
            <a:bodyPr wrap="square" rtlCol="0">
              <a:spAutoFit/>
            </a:bodyPr>
            <a:p>
              <a:pPr indent="0">
                <a:buNone/>
              </a:pPr>
              <a:r>
                <a:rPr lang="zh-CN" altLang="en-US" sz="2000" b="1">
                  <a:solidFill>
                    <a:srgbClr val="C00000"/>
                  </a:solidFill>
                  <a:latin typeface="微软雅黑" panose="020B0503020204020204" charset="-122"/>
                  <a:ea typeface="微软雅黑" panose="020B0503020204020204" charset="-122"/>
                  <a:sym typeface="黑体" panose="02010609060101010101" charset="-122"/>
                </a:rPr>
                <a:t>日期建议写</a:t>
              </a:r>
              <a:r>
                <a:rPr lang="en-US" altLang="zh-CN" sz="2000" b="1">
                  <a:solidFill>
                    <a:srgbClr val="C00000"/>
                  </a:solidFill>
                  <a:latin typeface="微软雅黑" panose="020B0503020204020204" charset="-122"/>
                  <a:ea typeface="微软雅黑" panose="020B0503020204020204" charset="-122"/>
                  <a:sym typeface="黑体" panose="02010609060101010101" charset="-122"/>
                </a:rPr>
                <a:t>2026</a:t>
              </a:r>
              <a:r>
                <a:rPr lang="zh-CN" altLang="en-US" sz="2000" b="1">
                  <a:solidFill>
                    <a:srgbClr val="C00000"/>
                  </a:solidFill>
                  <a:latin typeface="微软雅黑" panose="020B0503020204020204" charset="-122"/>
                  <a:ea typeface="微软雅黑" panose="020B0503020204020204" charset="-122"/>
                  <a:sym typeface="黑体" panose="02010609060101010101" charset="-122"/>
                </a:rPr>
                <a:t>年</a:t>
              </a:r>
              <a:r>
                <a:rPr lang="en-US" altLang="zh-CN" sz="2000" b="1">
                  <a:solidFill>
                    <a:srgbClr val="C00000"/>
                  </a:solidFill>
                  <a:latin typeface="微软雅黑" panose="020B0503020204020204" charset="-122"/>
                  <a:ea typeface="微软雅黑" panose="020B0503020204020204" charset="-122"/>
                  <a:sym typeface="黑体" panose="02010609060101010101" charset="-122"/>
                </a:rPr>
                <a:t>5</a:t>
              </a:r>
              <a:r>
                <a:rPr lang="zh-CN" altLang="en-US" sz="2000" b="1">
                  <a:solidFill>
                    <a:srgbClr val="C00000"/>
                  </a:solidFill>
                  <a:latin typeface="微软雅黑" panose="020B0503020204020204" charset="-122"/>
                  <a:ea typeface="微软雅黑" panose="020B0503020204020204" charset="-122"/>
                  <a:sym typeface="黑体" panose="02010609060101010101" charset="-122"/>
                </a:rPr>
                <a:t>月</a:t>
              </a:r>
              <a:r>
                <a:rPr lang="en-US" altLang="zh-CN" sz="2000" b="1">
                  <a:solidFill>
                    <a:srgbClr val="C00000"/>
                  </a:solidFill>
                  <a:latin typeface="微软雅黑" panose="020B0503020204020204" charset="-122"/>
                  <a:ea typeface="微软雅黑" panose="020B0503020204020204" charset="-122"/>
                  <a:sym typeface="黑体" panose="02010609060101010101" charset="-122"/>
                </a:rPr>
                <a:t>28</a:t>
              </a:r>
              <a:r>
                <a:rPr lang="zh-CN" altLang="en-US" sz="2000" b="1">
                  <a:solidFill>
                    <a:srgbClr val="C00000"/>
                  </a:solidFill>
                  <a:latin typeface="微软雅黑" panose="020B0503020204020204" charset="-122"/>
                  <a:ea typeface="微软雅黑" panose="020B0503020204020204" charset="-122"/>
                  <a:sym typeface="黑体" panose="02010609060101010101" charset="-122"/>
                </a:rPr>
                <a:t>日</a:t>
              </a:r>
              <a:endParaRPr lang="zh-CN" altLang="en-US" sz="2000" b="1" dirty="0" smtClean="0">
                <a:solidFill>
                  <a:srgbClr val="C00000"/>
                </a:solidFill>
                <a:latin typeface="微软雅黑" panose="020B0503020204020204" charset="-122"/>
                <a:ea typeface="微软雅黑" panose="020B0503020204020204" charset="-122"/>
                <a:sym typeface="黑体" panose="02010609060101010101" charset="-122"/>
              </a:endParaRPr>
            </a:p>
          </p:txBody>
        </p:sp>
      </p:grpSp>
      <p:grpSp>
        <p:nvGrpSpPr>
          <p:cNvPr id="29" name="组合 28"/>
          <p:cNvGrpSpPr/>
          <p:nvPr/>
        </p:nvGrpSpPr>
        <p:grpSpPr>
          <a:xfrm>
            <a:off x="5379085" y="3801745"/>
            <a:ext cx="1956684" cy="1214755"/>
            <a:chOff x="15484" y="6626"/>
            <a:chExt cx="2803" cy="1913"/>
          </a:xfrm>
        </p:grpSpPr>
        <p:sp>
          <p:nvSpPr>
            <p:cNvPr id="30" name="线形标注 1 29"/>
            <p:cNvSpPr/>
            <p:nvPr>
              <p:custDataLst>
                <p:tags r:id="rId4"/>
              </p:custDataLst>
            </p:nvPr>
          </p:nvSpPr>
          <p:spPr>
            <a:xfrm>
              <a:off x="15484" y="6626"/>
              <a:ext cx="2803" cy="1913"/>
            </a:xfrm>
            <a:prstGeom prst="borderCallout1">
              <a:avLst>
                <a:gd name="adj1" fmla="val 53023"/>
                <a:gd name="adj2" fmla="val 103715"/>
                <a:gd name="adj3" fmla="val -71688"/>
                <a:gd name="adj4" fmla="val 132648"/>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1" name="文本框 30"/>
            <p:cNvSpPr txBox="1"/>
            <p:nvPr>
              <p:custDataLst>
                <p:tags r:id="rId5"/>
              </p:custDataLst>
            </p:nvPr>
          </p:nvSpPr>
          <p:spPr>
            <a:xfrm>
              <a:off x="15609" y="6788"/>
              <a:ext cx="2546" cy="1464"/>
            </a:xfrm>
            <a:prstGeom prst="rect">
              <a:avLst/>
            </a:prstGeom>
            <a:noFill/>
          </p:spPr>
          <p:txBody>
            <a:bodyPr wrap="square" rtlCol="0">
              <a:spAutoFit/>
            </a:bodyPr>
            <a:p>
              <a:pPr>
                <a:lnSpc>
                  <a:spcPct val="130000"/>
                </a:lnSpc>
              </a:pPr>
              <a:r>
                <a:rPr sz="1400" b="1" dirty="0" smtClean="0">
                  <a:latin typeface="Arial" panose="020B0604020202020204" pitchFamily="34" charset="0"/>
                  <a:ea typeface="微软雅黑" panose="020B0503020204020204" charset="-122"/>
                </a:rPr>
                <a:t>导师应做出具体评价，不可只写“同意”或“同意毕业”</a:t>
              </a:r>
              <a:endParaRPr sz="1400" b="1" dirty="0" smtClean="0">
                <a:latin typeface="Arial" panose="020B0604020202020204" pitchFamily="34" charset="0"/>
                <a:ea typeface="微软雅黑" panose="020B0503020204020204"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答辩申请书（</a:t>
            </a:r>
            <a:r>
              <a:rPr lang="zh-CN" altLang="en-US" sz="4000" b="1" dirty="0">
                <a:solidFill>
                  <a:srgbClr val="FF0000"/>
                </a:solidFill>
                <a:latin typeface="微软雅黑" panose="020B0503020204020204" charset="-122"/>
                <a:ea typeface="微软雅黑" panose="020B0503020204020204" charset="-122"/>
              </a:rPr>
              <a:t>此阶段</a:t>
            </a:r>
            <a:r>
              <a:rPr lang="zh-CN" altLang="en-US" sz="4000" b="1" dirty="0">
                <a:latin typeface="微软雅黑" panose="020B0503020204020204" charset="-122"/>
                <a:ea typeface="微软雅黑" panose="020B0503020204020204" charset="-122"/>
              </a:rPr>
              <a:t>不装订）</a:t>
            </a:r>
            <a:endParaRPr lang="zh-CN" altLang="en-US" sz="4000" b="1" dirty="0">
              <a:latin typeface="微软雅黑" panose="020B0503020204020204" charset="-122"/>
              <a:ea typeface="微软雅黑" panose="020B0503020204020204" charset="-122"/>
            </a:endParaRPr>
          </a:p>
        </p:txBody>
      </p:sp>
      <p:pic>
        <p:nvPicPr>
          <p:cNvPr id="10" name="图片 9"/>
          <p:cNvPicPr>
            <a:picLocks noChangeAspect="1"/>
          </p:cNvPicPr>
          <p:nvPr/>
        </p:nvPicPr>
        <p:blipFill>
          <a:blip r:embed="rId1"/>
          <a:srcRect b="3599"/>
          <a:stretch>
            <a:fillRect/>
          </a:stretch>
        </p:blipFill>
        <p:spPr>
          <a:xfrm>
            <a:off x="398780" y="1623695"/>
            <a:ext cx="3711575" cy="4914900"/>
          </a:xfrm>
          <a:prstGeom prst="rect">
            <a:avLst/>
          </a:prstGeom>
        </p:spPr>
      </p:pic>
      <p:sp>
        <p:nvSpPr>
          <p:cNvPr id="11" name="矩形 10"/>
          <p:cNvSpPr/>
          <p:nvPr/>
        </p:nvSpPr>
        <p:spPr>
          <a:xfrm>
            <a:off x="3260725" y="1623695"/>
            <a:ext cx="745490" cy="81661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12" name=" 220"/>
          <p:cNvSpPr/>
          <p:nvPr/>
        </p:nvSpPr>
        <p:spPr>
          <a:xfrm flipH="1">
            <a:off x="4171315" y="1807210"/>
            <a:ext cx="2667635" cy="1122680"/>
          </a:xfrm>
          <a:prstGeom prst="homePlate">
            <a:avLst/>
          </a:prstGeom>
          <a:solidFill>
            <a:srgbClr val="DC5C31"/>
          </a:solidFill>
          <a:ln w="12700" cap="flat" cmpd="sng" algn="ctr">
            <a:noFill/>
            <a:prstDash val="solid"/>
            <a:miter lim="800000"/>
          </a:ln>
          <a:effectLst/>
        </p:spPr>
        <p:txBody>
          <a:bodyPr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a:solidFill>
                <a:srgbClr val="FFFFFF"/>
              </a:solidFill>
              <a:latin typeface="Arial" panose="020B0604020202020204" pitchFamily="34" charset="0"/>
              <a:ea typeface="黑体" panose="02010609060101010101" charset="-122"/>
            </a:endParaRPr>
          </a:p>
        </p:txBody>
      </p:sp>
      <p:sp>
        <p:nvSpPr>
          <p:cNvPr id="13" name="文本框 12"/>
          <p:cNvSpPr txBox="1"/>
          <p:nvPr/>
        </p:nvSpPr>
        <p:spPr>
          <a:xfrm>
            <a:off x="4669155" y="1847850"/>
            <a:ext cx="2026285" cy="1050290"/>
          </a:xfrm>
          <a:prstGeom prst="rect">
            <a:avLst/>
          </a:prstGeom>
          <a:noFill/>
        </p:spPr>
        <p:txBody>
          <a:bodyPr wrap="square" rtlCol="0">
            <a:spAutoFit/>
          </a:bodyPr>
          <a:p>
            <a:pPr algn="l">
              <a:lnSpc>
                <a:spcPct val="130000"/>
              </a:lnSpc>
            </a:pPr>
            <a:r>
              <a:rPr lang="en-US" altLang="zh-CN" sz="2400" b="1" dirty="0" smtClean="0">
                <a:solidFill>
                  <a:srgbClr val="FFFFFF"/>
                </a:solidFill>
                <a:latin typeface="Arial" panose="020B0604020202020204" pitchFamily="34" charset="0"/>
                <a:ea typeface="微软雅黑" panose="020B0503020204020204" charset="-122"/>
              </a:rPr>
              <a:t>1</a:t>
            </a:r>
            <a:r>
              <a:rPr lang="zh-CN" altLang="en-US" sz="2400" b="1" dirty="0" smtClean="0">
                <a:solidFill>
                  <a:srgbClr val="FFFFFF"/>
                </a:solidFill>
                <a:latin typeface="Arial" panose="020B0604020202020204" pitchFamily="34" charset="0"/>
                <a:ea typeface="微软雅黑" panose="020B0503020204020204" charset="-122"/>
              </a:rPr>
              <a:t>寸彩色照片（或彩打）</a:t>
            </a:r>
            <a:endParaRPr lang="zh-CN" altLang="en-US" sz="2400" b="1" dirty="0" smtClean="0">
              <a:solidFill>
                <a:srgbClr val="FFFFFF"/>
              </a:solidFill>
              <a:latin typeface="Arial" panose="020B0604020202020204" pitchFamily="34" charset="0"/>
              <a:ea typeface="微软雅黑" panose="020B0503020204020204" charset="-122"/>
            </a:endParaRPr>
          </a:p>
        </p:txBody>
      </p:sp>
      <p:sp>
        <p:nvSpPr>
          <p:cNvPr id="14" name="矩形 13"/>
          <p:cNvSpPr/>
          <p:nvPr/>
        </p:nvSpPr>
        <p:spPr>
          <a:xfrm>
            <a:off x="2050415" y="5915660"/>
            <a:ext cx="1062355" cy="24701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15" name=" 231"/>
          <p:cNvSpPr/>
          <p:nvPr/>
        </p:nvSpPr>
        <p:spPr>
          <a:xfrm>
            <a:off x="1066165" y="4937760"/>
            <a:ext cx="2194560" cy="814705"/>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16" name="文本框 15"/>
          <p:cNvSpPr txBox="1"/>
          <p:nvPr/>
        </p:nvSpPr>
        <p:spPr>
          <a:xfrm>
            <a:off x="1117600" y="4937760"/>
            <a:ext cx="2091690" cy="566420"/>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学生本人签字</a:t>
            </a:r>
            <a:endParaRPr lang="zh-CN" altLang="en-US" sz="2400" b="1" dirty="0" smtClean="0">
              <a:solidFill>
                <a:srgbClr val="FFFFFF"/>
              </a:solidFill>
              <a:latin typeface="Arial" panose="020B0604020202020204" pitchFamily="34" charset="0"/>
              <a:ea typeface="微软雅黑" panose="020B0503020204020204" charset="-122"/>
            </a:endParaRPr>
          </a:p>
        </p:txBody>
      </p:sp>
      <p:pic>
        <p:nvPicPr>
          <p:cNvPr id="6" name="图片 5"/>
          <p:cNvPicPr>
            <a:picLocks noChangeAspect="1"/>
          </p:cNvPicPr>
          <p:nvPr/>
        </p:nvPicPr>
        <p:blipFill>
          <a:blip r:embed="rId2"/>
          <a:stretch>
            <a:fillRect/>
          </a:stretch>
        </p:blipFill>
        <p:spPr>
          <a:xfrm>
            <a:off x="4551045" y="3103245"/>
            <a:ext cx="6180455" cy="3322320"/>
          </a:xfrm>
          <a:prstGeom prst="rect">
            <a:avLst/>
          </a:prstGeom>
        </p:spPr>
      </p:pic>
      <p:sp>
        <p:nvSpPr>
          <p:cNvPr id="8" name=" 231"/>
          <p:cNvSpPr/>
          <p:nvPr/>
        </p:nvSpPr>
        <p:spPr>
          <a:xfrm>
            <a:off x="8090535" y="1807210"/>
            <a:ext cx="2277110" cy="1376680"/>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33" name="文本框 32"/>
          <p:cNvSpPr txBox="1"/>
          <p:nvPr/>
        </p:nvSpPr>
        <p:spPr>
          <a:xfrm>
            <a:off x="8193405" y="1797050"/>
            <a:ext cx="2051050" cy="1041400"/>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只填写申请学位有效论文</a:t>
            </a:r>
            <a:endParaRPr lang="zh-CN" altLang="en-US" sz="2400" b="1" dirty="0" smtClean="0">
              <a:solidFill>
                <a:srgbClr val="FFFFFF"/>
              </a:solidFill>
              <a:latin typeface="Arial" panose="020B0604020202020204" pitchFamily="34" charset="0"/>
              <a:ea typeface="微软雅黑" panose="020B0503020204020204" charset="-122"/>
            </a:endParaRPr>
          </a:p>
        </p:txBody>
      </p:sp>
      <p:sp>
        <p:nvSpPr>
          <p:cNvPr id="34" name="矩形 33"/>
          <p:cNvSpPr/>
          <p:nvPr/>
        </p:nvSpPr>
        <p:spPr>
          <a:xfrm>
            <a:off x="7915910" y="6093460"/>
            <a:ext cx="1062355" cy="24701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35" name=" 231"/>
          <p:cNvSpPr/>
          <p:nvPr/>
        </p:nvSpPr>
        <p:spPr>
          <a:xfrm>
            <a:off x="7400290" y="5100955"/>
            <a:ext cx="1561465" cy="814705"/>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36" name="文本框 35"/>
          <p:cNvSpPr txBox="1"/>
          <p:nvPr/>
        </p:nvSpPr>
        <p:spPr>
          <a:xfrm>
            <a:off x="7400925" y="5100955"/>
            <a:ext cx="1576705" cy="566420"/>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导师签字</a:t>
            </a:r>
            <a:endParaRPr lang="zh-CN" altLang="en-US" sz="2400" b="1" dirty="0" smtClean="0">
              <a:solidFill>
                <a:srgbClr val="FFFFFF"/>
              </a:solidFill>
              <a:latin typeface="Arial" panose="020B0604020202020204" pitchFamily="34" charset="0"/>
              <a:ea typeface="微软雅黑" panose="020B0503020204020204" charset="-122"/>
            </a:endParaRPr>
          </a:p>
        </p:txBody>
      </p:sp>
      <p:grpSp>
        <p:nvGrpSpPr>
          <p:cNvPr id="37" name="组合 36"/>
          <p:cNvGrpSpPr/>
          <p:nvPr/>
        </p:nvGrpSpPr>
        <p:grpSpPr>
          <a:xfrm>
            <a:off x="9692640" y="3543300"/>
            <a:ext cx="2256155" cy="1961515"/>
            <a:chOff x="15484" y="6626"/>
            <a:chExt cx="3232" cy="3089"/>
          </a:xfrm>
        </p:grpSpPr>
        <p:sp>
          <p:nvSpPr>
            <p:cNvPr id="38" name="线形标注 1 37"/>
            <p:cNvSpPr/>
            <p:nvPr/>
          </p:nvSpPr>
          <p:spPr>
            <a:xfrm>
              <a:off x="15484" y="6626"/>
              <a:ext cx="3232" cy="3089"/>
            </a:xfrm>
            <a:prstGeom prst="borderCallout1">
              <a:avLst>
                <a:gd name="adj1" fmla="val 56204"/>
                <a:gd name="adj2" fmla="val -4390"/>
                <a:gd name="adj3" fmla="val 96890"/>
                <a:gd name="adj4" fmla="val -26169"/>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9" name="文本框 38"/>
            <p:cNvSpPr txBox="1"/>
            <p:nvPr/>
          </p:nvSpPr>
          <p:spPr>
            <a:xfrm>
              <a:off x="15484" y="6702"/>
              <a:ext cx="3086" cy="2785"/>
            </a:xfrm>
            <a:prstGeom prst="rect">
              <a:avLst/>
            </a:prstGeom>
            <a:noFill/>
          </p:spPr>
          <p:txBody>
            <a:bodyPr wrap="square" rtlCol="0">
              <a:spAutoFit/>
            </a:bodyPr>
            <a:p>
              <a:pPr>
                <a:lnSpc>
                  <a:spcPct val="130000"/>
                </a:lnSpc>
              </a:pPr>
              <a:r>
                <a:rPr lang="en-US" altLang="zh-CN" sz="1400" b="1" dirty="0" smtClean="0">
                  <a:latin typeface="Arial" panose="020B0604020202020204" pitchFamily="34" charset="0"/>
                  <a:ea typeface="微软雅黑" panose="020B0503020204020204" charset="-122"/>
                </a:rPr>
                <a:t>1</a:t>
              </a:r>
              <a:r>
                <a:rPr lang="zh-CN" altLang="en-US" sz="1400" b="1" dirty="0" smtClean="0">
                  <a:latin typeface="Arial" panose="020B0604020202020204" pitchFamily="34" charset="0"/>
                  <a:ea typeface="微软雅黑" panose="020B0503020204020204" charset="-122"/>
                </a:rPr>
                <a:t>、只能学籍系统中导师签字，代签无效</a:t>
              </a:r>
              <a:endParaRPr lang="zh-CN" altLang="en-US" sz="1400" b="1" dirty="0" smtClean="0">
                <a:latin typeface="Arial" panose="020B0604020202020204" pitchFamily="34" charset="0"/>
                <a:ea typeface="微软雅黑" panose="020B0503020204020204" charset="-122"/>
              </a:endParaRPr>
            </a:p>
            <a:p>
              <a:pPr>
                <a:lnSpc>
                  <a:spcPct val="130000"/>
                </a:lnSpc>
              </a:pPr>
              <a:r>
                <a:rPr lang="en-US" altLang="zh-CN" sz="1400" b="1" dirty="0" smtClean="0">
                  <a:latin typeface="Arial" panose="020B0604020202020204" pitchFamily="34" charset="0"/>
                  <a:ea typeface="微软雅黑" panose="020B0503020204020204" charset="-122"/>
                </a:rPr>
                <a:t>2</a:t>
              </a:r>
              <a:r>
                <a:rPr lang="zh-CN" altLang="en-US" sz="1400" b="1" dirty="0" smtClean="0">
                  <a:latin typeface="Arial" panose="020B0604020202020204" pitchFamily="34" charset="0"/>
                  <a:ea typeface="微软雅黑" panose="020B0503020204020204" charset="-122"/>
                </a:rPr>
                <a:t>、表格内无论是否填写内容，均需要导师签字</a:t>
              </a:r>
              <a:endParaRPr lang="zh-CN" altLang="en-US" sz="1400" b="1" dirty="0" smtClean="0">
                <a:latin typeface="Arial" panose="020B0604020202020204" pitchFamily="34" charset="0"/>
                <a:ea typeface="微软雅黑" panose="020B0503020204020204" charset="-122"/>
              </a:endParaRPr>
            </a:p>
            <a:p>
              <a:pPr>
                <a:lnSpc>
                  <a:spcPct val="130000"/>
                </a:lnSpc>
              </a:pPr>
              <a:r>
                <a:rPr lang="en-US" altLang="zh-CN" sz="1400" b="1" dirty="0" smtClean="0">
                  <a:latin typeface="Arial" panose="020B0604020202020204" pitchFamily="34" charset="0"/>
                  <a:ea typeface="微软雅黑" panose="020B0503020204020204" charset="-122"/>
                </a:rPr>
                <a:t>3</a:t>
              </a:r>
              <a:r>
                <a:rPr lang="zh-CN" altLang="en-US" sz="1400" b="1" dirty="0" smtClean="0">
                  <a:latin typeface="Arial" panose="020B0604020202020204" pitchFamily="34" charset="0"/>
                  <a:ea typeface="微软雅黑" panose="020B0503020204020204" charset="-122"/>
                </a:rPr>
                <a:t>、调整好格式，审核内容和导师签字在一页</a:t>
              </a:r>
              <a:endParaRPr lang="zh-CN" altLang="en-US" sz="1400" b="1" dirty="0" smtClean="0">
                <a:latin typeface="Arial" panose="020B0604020202020204" pitchFamily="34" charset="0"/>
                <a:ea typeface="微软雅黑" panose="020B050302020402020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答辩申请书（</a:t>
            </a:r>
            <a:r>
              <a:rPr lang="zh-CN" altLang="en-US" sz="4000" b="1" dirty="0">
                <a:solidFill>
                  <a:srgbClr val="FF0000"/>
                </a:solidFill>
                <a:latin typeface="微软雅黑" panose="020B0503020204020204" charset="-122"/>
                <a:ea typeface="微软雅黑" panose="020B0503020204020204" charset="-122"/>
              </a:rPr>
              <a:t>此阶段</a:t>
            </a:r>
            <a:r>
              <a:rPr lang="zh-CN" altLang="en-US" sz="4000" b="1" dirty="0">
                <a:latin typeface="微软雅黑" panose="020B0503020204020204" charset="-122"/>
                <a:ea typeface="微软雅黑" panose="020B0503020204020204" charset="-122"/>
              </a:rPr>
              <a:t>不装订）</a:t>
            </a:r>
            <a:endParaRPr lang="zh-CN" altLang="en-US" sz="4000" b="1" dirty="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stretch>
            <a:fillRect/>
          </a:stretch>
        </p:blipFill>
        <p:spPr>
          <a:xfrm>
            <a:off x="920115" y="1911985"/>
            <a:ext cx="6073775" cy="3268980"/>
          </a:xfrm>
          <a:prstGeom prst="rect">
            <a:avLst/>
          </a:prstGeom>
        </p:spPr>
      </p:pic>
      <p:grpSp>
        <p:nvGrpSpPr>
          <p:cNvPr id="4" name="组合 3"/>
          <p:cNvGrpSpPr/>
          <p:nvPr/>
        </p:nvGrpSpPr>
        <p:grpSpPr>
          <a:xfrm>
            <a:off x="1014222" y="3941445"/>
            <a:ext cx="4105783" cy="2585720"/>
            <a:chOff x="7796" y="8339"/>
            <a:chExt cx="6466" cy="4072"/>
          </a:xfrm>
        </p:grpSpPr>
        <p:sp>
          <p:nvSpPr>
            <p:cNvPr id="20" name="矩形 19"/>
            <p:cNvSpPr/>
            <p:nvPr/>
          </p:nvSpPr>
          <p:spPr>
            <a:xfrm>
              <a:off x="12589" y="9902"/>
              <a:ext cx="1673" cy="389"/>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21" name=" 231"/>
            <p:cNvSpPr/>
            <p:nvPr/>
          </p:nvSpPr>
          <p:spPr>
            <a:xfrm>
              <a:off x="11777" y="8339"/>
              <a:ext cx="2459" cy="1283"/>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22" name="文本框 21"/>
            <p:cNvSpPr txBox="1"/>
            <p:nvPr/>
          </p:nvSpPr>
          <p:spPr>
            <a:xfrm>
              <a:off x="11778" y="8339"/>
              <a:ext cx="2483" cy="892"/>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导师签字</a:t>
              </a:r>
              <a:endParaRPr lang="zh-CN" altLang="en-US" sz="2400" b="1" dirty="0" smtClean="0">
                <a:solidFill>
                  <a:srgbClr val="FFFFFF"/>
                </a:solidFill>
                <a:latin typeface="Arial" panose="020B0604020202020204" pitchFamily="34" charset="0"/>
                <a:ea typeface="微软雅黑" panose="020B0503020204020204" charset="-122"/>
              </a:endParaRPr>
            </a:p>
          </p:txBody>
        </p:sp>
        <p:grpSp>
          <p:nvGrpSpPr>
            <p:cNvPr id="25" name="组合 24"/>
            <p:cNvGrpSpPr/>
            <p:nvPr/>
          </p:nvGrpSpPr>
          <p:grpSpPr>
            <a:xfrm>
              <a:off x="7796" y="9622"/>
              <a:ext cx="3554" cy="2789"/>
              <a:chOff x="8579" y="10362"/>
              <a:chExt cx="3233" cy="2789"/>
            </a:xfrm>
          </p:grpSpPr>
          <p:sp>
            <p:nvSpPr>
              <p:cNvPr id="23" name="线形标注 1 22"/>
              <p:cNvSpPr/>
              <p:nvPr/>
            </p:nvSpPr>
            <p:spPr>
              <a:xfrm>
                <a:off x="8580" y="10362"/>
                <a:ext cx="3232" cy="2763"/>
              </a:xfrm>
              <a:prstGeom prst="borderCallout1">
                <a:avLst>
                  <a:gd name="adj1" fmla="val -27542"/>
                  <a:gd name="adj2" fmla="val 106014"/>
                  <a:gd name="adj3" fmla="val -7654"/>
                  <a:gd name="adj4" fmla="val 53889"/>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4" name="文本框 23"/>
              <p:cNvSpPr txBox="1"/>
              <p:nvPr/>
            </p:nvSpPr>
            <p:spPr>
              <a:xfrm>
                <a:off x="8579" y="10366"/>
                <a:ext cx="3086" cy="2785"/>
              </a:xfrm>
              <a:prstGeom prst="rect">
                <a:avLst/>
              </a:prstGeom>
              <a:noFill/>
            </p:spPr>
            <p:txBody>
              <a:bodyPr wrap="square" rtlCol="0">
                <a:spAutoFit/>
              </a:bodyPr>
              <a:p>
                <a:pPr>
                  <a:lnSpc>
                    <a:spcPct val="130000"/>
                  </a:lnSpc>
                </a:pPr>
                <a:r>
                  <a:rPr lang="en-US" altLang="zh-CN" sz="1400" b="1" dirty="0" smtClean="0">
                    <a:latin typeface="Arial" panose="020B0604020202020204" pitchFamily="34" charset="0"/>
                    <a:ea typeface="微软雅黑" panose="020B0503020204020204" charset="-122"/>
                  </a:rPr>
                  <a:t>1</a:t>
                </a:r>
                <a:r>
                  <a:rPr lang="zh-CN" altLang="en-US" sz="1400" b="1" dirty="0" smtClean="0">
                    <a:latin typeface="Arial" panose="020B0604020202020204" pitchFamily="34" charset="0"/>
                    <a:ea typeface="微软雅黑" panose="020B0503020204020204" charset="-122"/>
                  </a:rPr>
                  <a:t>、只能学籍系统中导师签字，代签无效</a:t>
                </a:r>
                <a:endParaRPr lang="zh-CN" altLang="en-US" sz="1400" b="1" dirty="0" smtClean="0">
                  <a:latin typeface="Arial" panose="020B0604020202020204" pitchFamily="34" charset="0"/>
                  <a:ea typeface="微软雅黑" panose="020B0503020204020204" charset="-122"/>
                </a:endParaRPr>
              </a:p>
              <a:p>
                <a:pPr>
                  <a:lnSpc>
                    <a:spcPct val="130000"/>
                  </a:lnSpc>
                </a:pPr>
                <a:r>
                  <a:rPr lang="en-US" altLang="zh-CN" sz="1400" b="1" dirty="0" smtClean="0">
                    <a:latin typeface="Arial" panose="020B0604020202020204" pitchFamily="34" charset="0"/>
                    <a:ea typeface="微软雅黑" panose="020B0503020204020204" charset="-122"/>
                  </a:rPr>
                  <a:t>2</a:t>
                </a:r>
                <a:r>
                  <a:rPr lang="zh-CN" altLang="en-US" sz="1400" b="1" dirty="0" smtClean="0">
                    <a:latin typeface="Arial" panose="020B0604020202020204" pitchFamily="34" charset="0"/>
                    <a:ea typeface="微软雅黑" panose="020B0503020204020204" charset="-122"/>
                  </a:rPr>
                  <a:t>、表格内无论是否填写内容，均需要导师签字</a:t>
                </a:r>
                <a:endParaRPr lang="zh-CN" altLang="en-US" sz="1400" b="1" dirty="0" smtClean="0">
                  <a:latin typeface="Arial" panose="020B0604020202020204" pitchFamily="34" charset="0"/>
                  <a:ea typeface="微软雅黑" panose="020B0503020204020204" charset="-122"/>
                </a:endParaRPr>
              </a:p>
              <a:p>
                <a:pPr>
                  <a:lnSpc>
                    <a:spcPct val="130000"/>
                  </a:lnSpc>
                </a:pPr>
                <a:r>
                  <a:rPr lang="en-US" altLang="zh-CN" sz="1400" b="1" dirty="0" smtClean="0">
                    <a:latin typeface="Arial" panose="020B0604020202020204" pitchFamily="34" charset="0"/>
                    <a:ea typeface="微软雅黑" panose="020B0503020204020204" charset="-122"/>
                    <a:sym typeface="黑体" panose="02010609060101010101" charset="-122"/>
                  </a:rPr>
                  <a:t>3</a:t>
                </a:r>
                <a:r>
                  <a:rPr lang="zh-CN" altLang="en-US" sz="1400" b="1" dirty="0" smtClean="0">
                    <a:latin typeface="Arial" panose="020B0604020202020204" pitchFamily="34" charset="0"/>
                    <a:ea typeface="微软雅黑" panose="020B0503020204020204" charset="-122"/>
                    <a:sym typeface="黑体" panose="02010609060101010101" charset="-122"/>
                  </a:rPr>
                  <a:t>、调整好格式，审核内容和导师签字在一页</a:t>
                </a:r>
                <a:endParaRPr lang="zh-CN" altLang="en-US" sz="1400" b="1" dirty="0" smtClean="0">
                  <a:latin typeface="Arial" panose="020B0604020202020204" pitchFamily="34" charset="0"/>
                  <a:ea typeface="微软雅黑" panose="020B0503020204020204" charset="-122"/>
                </a:endParaRPr>
              </a:p>
            </p:txBody>
          </p:sp>
        </p:grpSp>
      </p:grpSp>
      <p:pic>
        <p:nvPicPr>
          <p:cNvPr id="5" name="图片 4"/>
          <p:cNvPicPr>
            <a:picLocks noChangeAspect="1"/>
          </p:cNvPicPr>
          <p:nvPr/>
        </p:nvPicPr>
        <p:blipFill>
          <a:blip r:embed="rId2"/>
          <a:stretch>
            <a:fillRect/>
          </a:stretch>
        </p:blipFill>
        <p:spPr>
          <a:xfrm>
            <a:off x="7526655" y="1331595"/>
            <a:ext cx="4125595" cy="5323205"/>
          </a:xfrm>
          <a:prstGeom prst="rect">
            <a:avLst/>
          </a:prstGeom>
        </p:spPr>
      </p:pic>
      <p:sp>
        <p:nvSpPr>
          <p:cNvPr id="2" name="矩形 1"/>
          <p:cNvSpPr/>
          <p:nvPr/>
        </p:nvSpPr>
        <p:spPr>
          <a:xfrm>
            <a:off x="7525385" y="5313045"/>
            <a:ext cx="4125595" cy="69278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26" name="组合 25"/>
          <p:cNvGrpSpPr/>
          <p:nvPr/>
        </p:nvGrpSpPr>
        <p:grpSpPr>
          <a:xfrm>
            <a:off x="4705985" y="5461635"/>
            <a:ext cx="2503805" cy="1155700"/>
            <a:chOff x="8247" y="9413"/>
            <a:chExt cx="3378" cy="949"/>
          </a:xfrm>
        </p:grpSpPr>
        <p:sp>
          <p:nvSpPr>
            <p:cNvPr id="220" name=" 220"/>
            <p:cNvSpPr/>
            <p:nvPr/>
          </p:nvSpPr>
          <p:spPr>
            <a:xfrm>
              <a:off x="8247" y="9413"/>
              <a:ext cx="3378" cy="949"/>
            </a:xfrm>
            <a:prstGeom prst="homePlate">
              <a:avLst/>
            </a:prstGeom>
            <a:solidFill>
              <a:srgbClr val="DC5C31"/>
            </a:solidFill>
            <a:ln w="12700" cap="flat" cmpd="sng" algn="ctr">
              <a:noFill/>
              <a:prstDash val="solid"/>
              <a:miter lim="800000"/>
            </a:ln>
            <a:effectLst/>
          </p:spPr>
          <p:txBody>
            <a:bodyPr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a:solidFill>
                  <a:srgbClr val="FFFFFF"/>
                </a:solidFill>
                <a:latin typeface="Arial" panose="020B0604020202020204" pitchFamily="34" charset="0"/>
                <a:ea typeface="黑体" panose="02010609060101010101" charset="-122"/>
              </a:endParaRPr>
            </a:p>
          </p:txBody>
        </p:sp>
        <p:sp>
          <p:nvSpPr>
            <p:cNvPr id="9" name="文本框 8"/>
            <p:cNvSpPr txBox="1"/>
            <p:nvPr/>
          </p:nvSpPr>
          <p:spPr>
            <a:xfrm>
              <a:off x="8247" y="9413"/>
              <a:ext cx="2981" cy="862"/>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不填写意见</a:t>
              </a:r>
              <a:endParaRPr lang="zh-CN" altLang="en-US" sz="2400" b="1" dirty="0" smtClean="0">
                <a:solidFill>
                  <a:srgbClr val="FFFFFF"/>
                </a:solidFill>
                <a:latin typeface="Arial" panose="020B0604020202020204" pitchFamily="34" charset="0"/>
                <a:ea typeface="微软雅黑" panose="020B0503020204020204" charset="-122"/>
              </a:endParaRPr>
            </a:p>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由教育处审核</a:t>
              </a:r>
              <a:endParaRPr lang="zh-CN" altLang="en-US" sz="2400" b="1" dirty="0" smtClean="0">
                <a:solidFill>
                  <a:srgbClr val="FFFFFF"/>
                </a:solidFill>
                <a:latin typeface="Arial" panose="020B0604020202020204" pitchFamily="34" charset="0"/>
                <a:ea typeface="微软雅黑" panose="020B0503020204020204" charset="-122"/>
              </a:endParaRPr>
            </a:p>
          </p:txBody>
        </p:sp>
      </p:grpSp>
      <p:sp>
        <p:nvSpPr>
          <p:cNvPr id="27" name="矩形 26"/>
          <p:cNvSpPr/>
          <p:nvPr/>
        </p:nvSpPr>
        <p:spPr>
          <a:xfrm>
            <a:off x="7880350" y="6264275"/>
            <a:ext cx="1062355" cy="24701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28" name=" 231"/>
          <p:cNvSpPr/>
          <p:nvPr/>
        </p:nvSpPr>
        <p:spPr>
          <a:xfrm>
            <a:off x="8009890" y="3739515"/>
            <a:ext cx="3031490" cy="1573530"/>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29" name="文本框 28"/>
          <p:cNvSpPr txBox="1"/>
          <p:nvPr/>
        </p:nvSpPr>
        <p:spPr>
          <a:xfrm>
            <a:off x="8060690" y="3739515"/>
            <a:ext cx="2929890" cy="1050290"/>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此页从系统导出打印</a:t>
            </a:r>
            <a:endParaRPr lang="zh-CN" altLang="en-US" sz="2400" b="1" dirty="0" smtClean="0">
              <a:solidFill>
                <a:srgbClr val="FFFFFF"/>
              </a:solidFill>
              <a:latin typeface="Arial" panose="020B0604020202020204" pitchFamily="34" charset="0"/>
              <a:ea typeface="微软雅黑" panose="020B0503020204020204" charset="-122"/>
            </a:endParaRPr>
          </a:p>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学分完整</a:t>
            </a:r>
            <a:endParaRPr lang="zh-CN" altLang="en-US" sz="2400" b="1" dirty="0" smtClean="0">
              <a:solidFill>
                <a:srgbClr val="FFFFFF"/>
              </a:solidFill>
              <a:latin typeface="Arial" panose="020B0604020202020204" pitchFamily="34" charset="0"/>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答辩申请书（</a:t>
            </a:r>
            <a:r>
              <a:rPr lang="zh-CN" altLang="en-US" sz="4000" b="1" dirty="0">
                <a:solidFill>
                  <a:srgbClr val="FF0000"/>
                </a:solidFill>
                <a:latin typeface="微软雅黑" panose="020B0503020204020204" charset="-122"/>
                <a:ea typeface="微软雅黑" panose="020B0503020204020204" charset="-122"/>
              </a:rPr>
              <a:t>此阶段</a:t>
            </a:r>
            <a:r>
              <a:rPr lang="zh-CN" altLang="en-US" sz="4000" b="1" dirty="0">
                <a:latin typeface="微软雅黑" panose="020B0503020204020204" charset="-122"/>
                <a:ea typeface="微软雅黑" panose="020B0503020204020204" charset="-122"/>
              </a:rPr>
              <a:t>不装订）</a:t>
            </a:r>
            <a:endParaRPr lang="zh-CN" altLang="en-US" sz="4000" b="1" dirty="0">
              <a:latin typeface="微软雅黑" panose="020B0503020204020204" charset="-122"/>
              <a:ea typeface="微软雅黑" panose="020B0503020204020204" charset="-122"/>
            </a:endParaRPr>
          </a:p>
        </p:txBody>
      </p:sp>
      <p:pic>
        <p:nvPicPr>
          <p:cNvPr id="30" name="图片 29"/>
          <p:cNvPicPr>
            <a:picLocks noChangeAspect="1"/>
          </p:cNvPicPr>
          <p:nvPr/>
        </p:nvPicPr>
        <p:blipFill>
          <a:blip r:embed="rId1"/>
          <a:stretch>
            <a:fillRect/>
          </a:stretch>
        </p:blipFill>
        <p:spPr>
          <a:xfrm>
            <a:off x="7874000" y="1290320"/>
            <a:ext cx="3627120" cy="5365115"/>
          </a:xfrm>
          <a:prstGeom prst="rect">
            <a:avLst/>
          </a:prstGeom>
        </p:spPr>
      </p:pic>
      <p:sp>
        <p:nvSpPr>
          <p:cNvPr id="31" name="线形标注 1 30"/>
          <p:cNvSpPr/>
          <p:nvPr/>
        </p:nvSpPr>
        <p:spPr>
          <a:xfrm>
            <a:off x="5420995" y="2379345"/>
            <a:ext cx="2172970" cy="2407920"/>
          </a:xfrm>
          <a:prstGeom prst="borderCallout1">
            <a:avLst>
              <a:gd name="adj1" fmla="val 52289"/>
              <a:gd name="adj2" fmla="val 108753"/>
              <a:gd name="adj3" fmla="val 27985"/>
              <a:gd name="adj4" fmla="val 190561"/>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pic>
        <p:nvPicPr>
          <p:cNvPr id="35" name="图片 34"/>
          <p:cNvPicPr>
            <a:picLocks noChangeAspect="1"/>
          </p:cNvPicPr>
          <p:nvPr/>
        </p:nvPicPr>
        <p:blipFill>
          <a:blip r:embed="rId2"/>
          <a:stretch>
            <a:fillRect/>
          </a:stretch>
        </p:blipFill>
        <p:spPr>
          <a:xfrm>
            <a:off x="1166495" y="1570990"/>
            <a:ext cx="3584575" cy="5184775"/>
          </a:xfrm>
          <a:prstGeom prst="rect">
            <a:avLst/>
          </a:prstGeom>
        </p:spPr>
      </p:pic>
      <p:sp>
        <p:nvSpPr>
          <p:cNvPr id="37" name="矩形 36"/>
          <p:cNvSpPr/>
          <p:nvPr/>
        </p:nvSpPr>
        <p:spPr>
          <a:xfrm>
            <a:off x="2630805" y="6292215"/>
            <a:ext cx="1062355" cy="24701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38" name=" 220"/>
          <p:cNvSpPr/>
          <p:nvPr/>
        </p:nvSpPr>
        <p:spPr>
          <a:xfrm rot="10800000" flipH="1">
            <a:off x="750570" y="5980430"/>
            <a:ext cx="1704975" cy="571500"/>
          </a:xfrm>
          <a:prstGeom prst="homePlate">
            <a:avLst/>
          </a:prstGeom>
          <a:solidFill>
            <a:srgbClr val="DC5C31"/>
          </a:solidFill>
          <a:ln w="12700" cap="flat" cmpd="sng" algn="ctr">
            <a:noFill/>
            <a:prstDash val="solid"/>
            <a:miter lim="800000"/>
          </a:ln>
          <a:effectLst/>
        </p:spPr>
        <p:txBody>
          <a:bodyPr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a:solidFill>
                <a:srgbClr val="FFFFFF"/>
              </a:solidFill>
              <a:latin typeface="Arial" panose="020B0604020202020204" pitchFamily="34" charset="0"/>
              <a:ea typeface="黑体" panose="02010609060101010101" charset="-122"/>
            </a:endParaRPr>
          </a:p>
        </p:txBody>
      </p:sp>
      <p:sp>
        <p:nvSpPr>
          <p:cNvPr id="39" name="文本框 38"/>
          <p:cNvSpPr txBox="1"/>
          <p:nvPr/>
        </p:nvSpPr>
        <p:spPr>
          <a:xfrm>
            <a:off x="780415" y="5939790"/>
            <a:ext cx="1462405" cy="566420"/>
          </a:xfrm>
          <a:prstGeom prst="rect">
            <a:avLst/>
          </a:prstGeom>
          <a:noFill/>
        </p:spPr>
        <p:txBody>
          <a:bodyPr wrap="square" rtlCol="0">
            <a:spAutoFit/>
          </a:bodyPr>
          <a:p>
            <a:pPr algn="dist">
              <a:lnSpc>
                <a:spcPct val="130000"/>
              </a:lnSpc>
            </a:pPr>
            <a:r>
              <a:rPr lang="zh-CN" altLang="en-US" sz="2400" b="1" dirty="0" smtClean="0">
                <a:solidFill>
                  <a:srgbClr val="FFFFFF"/>
                </a:solidFill>
                <a:latin typeface="Arial" panose="020B0604020202020204" pitchFamily="34" charset="0"/>
                <a:ea typeface="微软雅黑" panose="020B0503020204020204" charset="-122"/>
              </a:rPr>
              <a:t>导师签字</a:t>
            </a:r>
            <a:endParaRPr lang="zh-CN" altLang="en-US" sz="2400" b="1" dirty="0" smtClean="0">
              <a:solidFill>
                <a:srgbClr val="FFFFFF"/>
              </a:solidFill>
              <a:latin typeface="Arial" panose="020B0604020202020204" pitchFamily="34" charset="0"/>
              <a:ea typeface="微软雅黑" panose="020B0503020204020204" charset="-122"/>
            </a:endParaRPr>
          </a:p>
        </p:txBody>
      </p:sp>
      <p:sp>
        <p:nvSpPr>
          <p:cNvPr id="40" name="矩形 39"/>
          <p:cNvSpPr/>
          <p:nvPr/>
        </p:nvSpPr>
        <p:spPr>
          <a:xfrm>
            <a:off x="2686050" y="5980430"/>
            <a:ext cx="1062355" cy="24701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41" name=" 231"/>
          <p:cNvSpPr/>
          <p:nvPr/>
        </p:nvSpPr>
        <p:spPr>
          <a:xfrm>
            <a:off x="2028825" y="4366895"/>
            <a:ext cx="2266315" cy="1453515"/>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42" name="文本框 41"/>
          <p:cNvSpPr txBox="1"/>
          <p:nvPr/>
        </p:nvSpPr>
        <p:spPr>
          <a:xfrm>
            <a:off x="2074545" y="4366895"/>
            <a:ext cx="2143760" cy="1041400"/>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勾画</a:t>
            </a:r>
            <a:r>
              <a:rPr lang="en-US" altLang="zh-CN" sz="2400" b="1" dirty="0" smtClean="0">
                <a:solidFill>
                  <a:srgbClr val="FFFFFF"/>
                </a:solidFill>
                <a:latin typeface="Arial" panose="020B0604020202020204" pitchFamily="34" charset="0"/>
                <a:ea typeface="微软雅黑" panose="020B0503020204020204" charset="-122"/>
              </a:rPr>
              <a:t>“</a:t>
            </a:r>
            <a:r>
              <a:rPr lang="zh-CN" altLang="en-US" sz="2400" b="1" dirty="0" smtClean="0">
                <a:solidFill>
                  <a:srgbClr val="FFFFFF"/>
                </a:solidFill>
                <a:latin typeface="Arial" panose="020B0604020202020204" pitchFamily="34" charset="0"/>
                <a:ea typeface="微软雅黑" panose="020B0503020204020204" charset="-122"/>
              </a:rPr>
              <a:t>同意</a:t>
            </a:r>
            <a:r>
              <a:rPr lang="en-US" altLang="zh-CN" sz="2400" b="1" dirty="0" smtClean="0">
                <a:solidFill>
                  <a:srgbClr val="FFFFFF"/>
                </a:solidFill>
                <a:latin typeface="Arial" panose="020B0604020202020204" pitchFamily="34" charset="0"/>
                <a:ea typeface="微软雅黑" panose="020B0503020204020204" charset="-122"/>
              </a:rPr>
              <a:t>”</a:t>
            </a:r>
            <a:r>
              <a:rPr lang="zh-CN" altLang="en-US" sz="2400" b="1" dirty="0" smtClean="0">
                <a:solidFill>
                  <a:srgbClr val="FFFFFF"/>
                </a:solidFill>
                <a:latin typeface="Arial" panose="020B0604020202020204" pitchFamily="34" charset="0"/>
                <a:ea typeface="微软雅黑" panose="020B0503020204020204" charset="-122"/>
              </a:rPr>
              <a:t>或</a:t>
            </a:r>
            <a:r>
              <a:rPr lang="en-US" altLang="zh-CN" sz="2400" b="1" dirty="0" smtClean="0">
                <a:solidFill>
                  <a:srgbClr val="FFFFFF"/>
                </a:solidFill>
                <a:latin typeface="Arial" panose="020B0604020202020204" pitchFamily="34" charset="0"/>
                <a:ea typeface="微软雅黑" panose="020B0503020204020204" charset="-122"/>
              </a:rPr>
              <a:t>“</a:t>
            </a:r>
            <a:r>
              <a:rPr lang="zh-CN" altLang="en-US" sz="2400" b="1" dirty="0" smtClean="0">
                <a:solidFill>
                  <a:srgbClr val="FFFFFF"/>
                </a:solidFill>
                <a:latin typeface="Arial" panose="020B0604020202020204" pitchFamily="34" charset="0"/>
                <a:ea typeface="微软雅黑" panose="020B0503020204020204" charset="-122"/>
              </a:rPr>
              <a:t>不同意</a:t>
            </a:r>
            <a:r>
              <a:rPr lang="en-US" altLang="zh-CN" sz="2400" b="1" dirty="0" smtClean="0">
                <a:solidFill>
                  <a:srgbClr val="FFFFFF"/>
                </a:solidFill>
                <a:latin typeface="Arial" panose="020B0604020202020204" pitchFamily="34" charset="0"/>
                <a:ea typeface="微软雅黑" panose="020B0503020204020204" charset="-122"/>
              </a:rPr>
              <a:t>”</a:t>
            </a:r>
            <a:endParaRPr lang="en-US" altLang="zh-CN" sz="2400" b="1" dirty="0" smtClean="0">
              <a:solidFill>
                <a:srgbClr val="FFFFFF"/>
              </a:solidFill>
              <a:latin typeface="Arial" panose="020B0604020202020204" pitchFamily="34" charset="0"/>
              <a:ea typeface="微软雅黑" panose="020B0503020204020204" charset="-122"/>
            </a:endParaRPr>
          </a:p>
        </p:txBody>
      </p:sp>
      <p:sp>
        <p:nvSpPr>
          <p:cNvPr id="43" name="矩形 42"/>
          <p:cNvSpPr/>
          <p:nvPr/>
        </p:nvSpPr>
        <p:spPr>
          <a:xfrm>
            <a:off x="8060055" y="5980430"/>
            <a:ext cx="1062355" cy="24701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44" name="组合 43"/>
          <p:cNvGrpSpPr/>
          <p:nvPr/>
        </p:nvGrpSpPr>
        <p:grpSpPr>
          <a:xfrm>
            <a:off x="4888865" y="5270500"/>
            <a:ext cx="3013075" cy="1073785"/>
            <a:chOff x="7081" y="9541"/>
            <a:chExt cx="5280" cy="1222"/>
          </a:xfrm>
        </p:grpSpPr>
        <p:sp>
          <p:nvSpPr>
            <p:cNvPr id="45" name="文本框 44"/>
            <p:cNvSpPr txBox="1"/>
            <p:nvPr/>
          </p:nvSpPr>
          <p:spPr>
            <a:xfrm>
              <a:off x="8360" y="9567"/>
              <a:ext cx="2981" cy="1195"/>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人教处签字</a:t>
              </a:r>
              <a:endParaRPr lang="zh-CN" altLang="en-US" sz="2400" b="1" dirty="0" smtClean="0">
                <a:solidFill>
                  <a:srgbClr val="FFFFFF"/>
                </a:solidFill>
                <a:latin typeface="Arial" panose="020B0604020202020204" pitchFamily="34" charset="0"/>
                <a:ea typeface="微软雅黑" panose="020B0503020204020204" charset="-122"/>
              </a:endParaRPr>
            </a:p>
          </p:txBody>
        </p:sp>
        <p:grpSp>
          <p:nvGrpSpPr>
            <p:cNvPr id="46" name="组合 45"/>
            <p:cNvGrpSpPr/>
            <p:nvPr/>
          </p:nvGrpSpPr>
          <p:grpSpPr>
            <a:xfrm>
              <a:off x="7081" y="9541"/>
              <a:ext cx="5280" cy="1222"/>
              <a:chOff x="6968" y="9387"/>
              <a:chExt cx="5280" cy="1222"/>
            </a:xfrm>
          </p:grpSpPr>
          <p:sp>
            <p:nvSpPr>
              <p:cNvPr id="47" name=" 220"/>
              <p:cNvSpPr/>
              <p:nvPr/>
            </p:nvSpPr>
            <p:spPr>
              <a:xfrm>
                <a:off x="6969" y="9413"/>
                <a:ext cx="5279" cy="1196"/>
              </a:xfrm>
              <a:prstGeom prst="homePlate">
                <a:avLst/>
              </a:prstGeom>
              <a:solidFill>
                <a:srgbClr val="DC5C31"/>
              </a:solidFill>
              <a:ln w="12700" cap="flat" cmpd="sng" algn="ctr">
                <a:noFill/>
                <a:prstDash val="solid"/>
                <a:miter lim="800000"/>
              </a:ln>
              <a:effectLst/>
            </p:spPr>
            <p:txBody>
              <a:bodyPr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a:solidFill>
                    <a:srgbClr val="FFFFFF"/>
                  </a:solidFill>
                  <a:latin typeface="Arial" panose="020B0604020202020204" pitchFamily="34" charset="0"/>
                  <a:ea typeface="黑体" panose="02010609060101010101" charset="-122"/>
                </a:endParaRPr>
              </a:p>
            </p:txBody>
          </p:sp>
          <p:sp>
            <p:nvSpPr>
              <p:cNvPr id="48" name="文本框 47"/>
              <p:cNvSpPr txBox="1"/>
              <p:nvPr/>
            </p:nvSpPr>
            <p:spPr>
              <a:xfrm>
                <a:off x="6968" y="9387"/>
                <a:ext cx="4501" cy="1195"/>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部门负责人签字（可用签名章）</a:t>
                </a:r>
                <a:endParaRPr lang="zh-CN" altLang="en-US" sz="2400" b="1" dirty="0" smtClean="0">
                  <a:solidFill>
                    <a:srgbClr val="FFFFFF"/>
                  </a:solidFill>
                  <a:latin typeface="Arial" panose="020B0604020202020204" pitchFamily="34" charset="0"/>
                  <a:ea typeface="微软雅黑" panose="020B0503020204020204" charset="-122"/>
                </a:endParaRPr>
              </a:p>
            </p:txBody>
          </p:sp>
        </p:grpSp>
      </p:grpSp>
      <p:sp>
        <p:nvSpPr>
          <p:cNvPr id="49" name="文本框 48"/>
          <p:cNvSpPr txBox="1"/>
          <p:nvPr/>
        </p:nvSpPr>
        <p:spPr>
          <a:xfrm>
            <a:off x="5563870" y="2405380"/>
            <a:ext cx="1905635" cy="2286635"/>
          </a:xfrm>
          <a:prstGeom prst="rect">
            <a:avLst/>
          </a:prstGeom>
          <a:noFill/>
        </p:spPr>
        <p:txBody>
          <a:bodyPr wrap="square" rtlCol="0">
            <a:spAutoFit/>
          </a:bodyPr>
          <a:p>
            <a:pPr>
              <a:lnSpc>
                <a:spcPct val="140000"/>
              </a:lnSpc>
            </a:pPr>
            <a:r>
              <a:rPr lang="zh-CN" sz="1600" b="1" dirty="0" smtClean="0">
                <a:solidFill>
                  <a:srgbClr val="FF0000"/>
                </a:solidFill>
                <a:latin typeface="Arial" panose="020B0604020202020204" pitchFamily="34" charset="0"/>
                <a:ea typeface="微软雅黑" panose="020B0503020204020204" charset="-122"/>
              </a:rPr>
              <a:t>内容须含思想政治表现鉴定</a:t>
            </a:r>
            <a:endParaRPr lang="zh-CN" sz="1600" b="1" dirty="0" smtClean="0">
              <a:solidFill>
                <a:srgbClr val="FF0000"/>
              </a:solidFill>
              <a:latin typeface="Arial" panose="020B0604020202020204" pitchFamily="34" charset="0"/>
              <a:ea typeface="微软雅黑" panose="020B0503020204020204" charset="-122"/>
            </a:endParaRPr>
          </a:p>
          <a:p>
            <a:pPr>
              <a:lnSpc>
                <a:spcPct val="140000"/>
              </a:lnSpc>
            </a:pPr>
            <a:r>
              <a:rPr lang="zh-CN" sz="1400" b="1" dirty="0" smtClean="0">
                <a:latin typeface="Arial" panose="020B0604020202020204" pitchFamily="34" charset="0"/>
                <a:ea typeface="微软雅黑" panose="020B0503020204020204" charset="-122"/>
              </a:rPr>
              <a:t>部门</a:t>
            </a:r>
            <a:r>
              <a:rPr sz="1400" b="1" dirty="0" smtClean="0">
                <a:latin typeface="Arial" panose="020B0604020202020204" pitchFamily="34" charset="0"/>
                <a:ea typeface="微软雅黑" panose="020B0503020204020204" charset="-122"/>
              </a:rPr>
              <a:t>填写意见并</a:t>
            </a:r>
            <a:r>
              <a:rPr lang="zh-CN" sz="1400" b="1" dirty="0" smtClean="0">
                <a:latin typeface="Arial" panose="020B0604020202020204" pitchFamily="34" charset="0"/>
                <a:ea typeface="微软雅黑" panose="020B0503020204020204" charset="-122"/>
              </a:rPr>
              <a:t>汇总到附件</a:t>
            </a:r>
            <a:r>
              <a:rPr lang="en-US" altLang="zh-CN" sz="1400" b="1" dirty="0" smtClean="0">
                <a:latin typeface="Arial" panose="020B0604020202020204" pitchFamily="34" charset="0"/>
                <a:ea typeface="微软雅黑" panose="020B0503020204020204" charset="-122"/>
              </a:rPr>
              <a:t>1-1</a:t>
            </a:r>
            <a:r>
              <a:rPr lang="zh-CN" sz="1400" b="1" dirty="0" smtClean="0">
                <a:latin typeface="Arial" panose="020B0604020202020204" pitchFamily="34" charset="0"/>
                <a:ea typeface="微软雅黑" panose="020B0503020204020204" charset="-122"/>
              </a:rPr>
              <a:t>，</a:t>
            </a:r>
            <a:r>
              <a:rPr sz="1400" b="1" dirty="0" smtClean="0">
                <a:latin typeface="Arial" panose="020B0604020202020204" pitchFamily="34" charset="0"/>
                <a:ea typeface="微软雅黑" panose="020B0503020204020204" charset="-122"/>
              </a:rPr>
              <a:t>每段意见前注明该学生姓名，发至人</a:t>
            </a:r>
            <a:r>
              <a:rPr lang="zh-CN" sz="1400" b="1" dirty="0" smtClean="0">
                <a:latin typeface="Arial" panose="020B0604020202020204" pitchFamily="34" charset="0"/>
                <a:ea typeface="微软雅黑" panose="020B0503020204020204" charset="-122"/>
              </a:rPr>
              <a:t>学生教育</a:t>
            </a:r>
            <a:r>
              <a:rPr sz="1400" b="1" dirty="0" smtClean="0">
                <a:latin typeface="Arial" panose="020B0604020202020204" pitchFamily="34" charset="0"/>
                <a:ea typeface="微软雅黑" panose="020B0503020204020204" charset="-122"/>
              </a:rPr>
              <a:t>处邮箱lige@iie.ac.cn</a:t>
            </a:r>
            <a:endParaRPr lang="zh-CN" altLang="en-US" sz="1400" b="1" dirty="0" smtClean="0">
              <a:latin typeface="Arial" panose="020B0604020202020204" pitchFamily="34" charset="0"/>
              <a:ea typeface="微软雅黑" panose="020B0503020204020204" charset="-122"/>
            </a:endParaRPr>
          </a:p>
        </p:txBody>
      </p:sp>
      <p:sp>
        <p:nvSpPr>
          <p:cNvPr id="50" name="文本框 49"/>
          <p:cNvSpPr txBox="1"/>
          <p:nvPr/>
        </p:nvSpPr>
        <p:spPr>
          <a:xfrm>
            <a:off x="8060055" y="1980565"/>
            <a:ext cx="3232785" cy="650240"/>
          </a:xfrm>
          <a:prstGeom prst="rect">
            <a:avLst/>
          </a:prstGeom>
          <a:noFill/>
        </p:spPr>
        <p:txBody>
          <a:bodyPr wrap="square" rtlCol="0">
            <a:spAutoFit/>
          </a:bodyPr>
          <a:p>
            <a:pPr algn="l">
              <a:lnSpc>
                <a:spcPct val="130000"/>
              </a:lnSpc>
            </a:pPr>
            <a:r>
              <a:rPr lang="zh-CN" altLang="en-US" sz="1400" dirty="0" smtClean="0">
                <a:latin typeface="Arial" panose="020B0604020202020204" pitchFamily="34" charset="0"/>
                <a:ea typeface="微软雅黑" panose="020B0503020204020204" charset="-122"/>
              </a:rPr>
              <a:t>意见第一句话请写清答辩申请人姓名</a:t>
            </a:r>
            <a:endParaRPr lang="zh-CN" altLang="en-US" sz="1400" dirty="0" smtClean="0">
              <a:latin typeface="Arial" panose="020B0604020202020204" pitchFamily="34" charset="0"/>
              <a:ea typeface="微软雅黑" panose="020B0503020204020204" charset="-122"/>
            </a:endParaRPr>
          </a:p>
          <a:p>
            <a:pPr algn="l">
              <a:lnSpc>
                <a:spcPct val="130000"/>
              </a:lnSpc>
            </a:pPr>
            <a:r>
              <a:rPr lang="zh-CN" altLang="en-US" sz="1400" dirty="0" smtClean="0">
                <a:latin typeface="Arial" panose="020B0604020202020204" pitchFamily="34" charset="0"/>
                <a:ea typeface="微软雅黑" panose="020B0503020204020204" charset="-122"/>
              </a:rPr>
              <a:t>如：X</a:t>
            </a:r>
            <a:r>
              <a:rPr lang="en-US" altLang="zh-CN" sz="1400" dirty="0" smtClean="0">
                <a:latin typeface="Arial" panose="020B0604020202020204" pitchFamily="34" charset="0"/>
                <a:ea typeface="微软雅黑" panose="020B0503020204020204" charset="-122"/>
              </a:rPr>
              <a:t>X</a:t>
            </a:r>
            <a:r>
              <a:rPr lang="zh-CN" altLang="en-US" sz="1400" dirty="0" smtClean="0">
                <a:latin typeface="Arial" panose="020B0604020202020204" pitchFamily="34" charset="0"/>
                <a:ea typeface="微软雅黑" panose="020B0503020204020204" charset="-122"/>
              </a:rPr>
              <a:t>同学.....，</a:t>
            </a:r>
            <a:r>
              <a:rPr lang="zh-CN" altLang="en-US" sz="1400" b="1" dirty="0" smtClean="0">
                <a:solidFill>
                  <a:srgbClr val="FF0000"/>
                </a:solidFill>
                <a:latin typeface="Arial" panose="020B0604020202020204" pitchFamily="34" charset="0"/>
                <a:ea typeface="微软雅黑" panose="020B0503020204020204" charset="-122"/>
              </a:rPr>
              <a:t>同意该生的答辩申请</a:t>
            </a:r>
            <a:endParaRPr lang="zh-CN" altLang="en-US" sz="1400" b="1" dirty="0" smtClean="0">
              <a:solidFill>
                <a:srgbClr val="FF0000"/>
              </a:solidFill>
              <a:latin typeface="Arial" panose="020B0604020202020204" pitchFamily="34" charset="0"/>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科研成果证明材料（装订）</a:t>
            </a:r>
            <a:endParaRPr lang="zh-CN" altLang="en-US" sz="4000" b="1" dirty="0">
              <a:latin typeface="微软雅黑" panose="020B0503020204020204" charset="-122"/>
              <a:ea typeface="微软雅黑" panose="020B0503020204020204" charset="-122"/>
            </a:endParaRPr>
          </a:p>
        </p:txBody>
      </p:sp>
      <p:sp>
        <p:nvSpPr>
          <p:cNvPr id="8" name="文本框 7"/>
          <p:cNvSpPr txBox="1"/>
          <p:nvPr/>
        </p:nvSpPr>
        <p:spPr>
          <a:xfrm>
            <a:off x="664210" y="1266825"/>
            <a:ext cx="10659110" cy="5015865"/>
          </a:xfrm>
          <a:prstGeom prst="rect">
            <a:avLst/>
          </a:prstGeom>
          <a:noFill/>
        </p:spPr>
        <p:txBody>
          <a:bodyPr wrap="square" rtlCol="0">
            <a:spAutoFit/>
          </a:bodyPr>
          <a:p>
            <a:pPr>
              <a:lnSpc>
                <a:spcPct val="160000"/>
              </a:lnSpc>
            </a:pPr>
            <a:r>
              <a:rPr lang="en-US" altLang="zh-CN" sz="2000" b="1" dirty="0" smtClean="0">
                <a:solidFill>
                  <a:srgbClr val="FF0000"/>
                </a:solidFill>
                <a:latin typeface="微软雅黑" panose="020B0503020204020204" charset="-122"/>
                <a:ea typeface="微软雅黑" panose="020B0503020204020204" charset="-122"/>
              </a:rPr>
              <a:t>     </a:t>
            </a:r>
            <a:r>
              <a:rPr lang="zh-CN" sz="2000" b="1" dirty="0" smtClean="0">
                <a:solidFill>
                  <a:srgbClr val="FF0000"/>
                </a:solidFill>
                <a:latin typeface="微软雅黑" panose="020B0503020204020204" charset="-122"/>
                <a:ea typeface="微软雅黑" panose="020B0503020204020204" charset="-122"/>
              </a:rPr>
              <a:t>录用通知、接收函等均需导师签字，要求系统上传导师签字的扫描件，</a:t>
            </a:r>
            <a:r>
              <a:rPr sz="2000" b="1" dirty="0" smtClean="0">
                <a:solidFill>
                  <a:srgbClr val="FF0000"/>
                </a:solidFill>
                <a:latin typeface="微软雅黑" panose="020B0503020204020204" charset="-122"/>
                <a:ea typeface="微软雅黑" panose="020B0503020204020204" charset="-122"/>
              </a:rPr>
              <a:t>证明材料装订成册，并形成目录，模板见附件</a:t>
            </a:r>
            <a:r>
              <a:rPr lang="en-US" sz="2000" b="1" dirty="0" smtClean="0">
                <a:solidFill>
                  <a:srgbClr val="FF0000"/>
                </a:solidFill>
                <a:latin typeface="微软雅黑" panose="020B0503020204020204" charset="-122"/>
                <a:ea typeface="微软雅黑" panose="020B0503020204020204" charset="-122"/>
              </a:rPr>
              <a:t>19</a:t>
            </a:r>
            <a:endParaRPr sz="2000" b="1" dirty="0" smtClean="0">
              <a:solidFill>
                <a:srgbClr val="FF0000"/>
              </a:solidFill>
              <a:latin typeface="微软雅黑" panose="020B0503020204020204" charset="-122"/>
              <a:ea typeface="微软雅黑" panose="020B0503020204020204" charset="-122"/>
            </a:endParaRPr>
          </a:p>
          <a:p>
            <a:pPr>
              <a:lnSpc>
                <a:spcPct val="160000"/>
              </a:lnSpc>
            </a:pPr>
            <a:r>
              <a:rPr sz="2000" b="1" dirty="0" smtClean="0">
                <a:latin typeface="微软雅黑" panose="020B0503020204020204" charset="-122"/>
                <a:ea typeface="微软雅黑" panose="020B0503020204020204" charset="-122"/>
              </a:rPr>
              <a:t>（1）论文录用通知：</a:t>
            </a:r>
            <a:r>
              <a:rPr sz="2000" b="1" dirty="0" smtClean="0">
                <a:solidFill>
                  <a:srgbClr val="FF0000"/>
                </a:solidFill>
                <a:latin typeface="微软雅黑" panose="020B0503020204020204" charset="-122"/>
                <a:ea typeface="微软雅黑" panose="020B0503020204020204" charset="-122"/>
                <a:sym typeface="+mn-ea"/>
              </a:rPr>
              <a:t>导师签字</a:t>
            </a:r>
            <a:r>
              <a:rPr sz="2000" dirty="0" smtClean="0">
                <a:latin typeface="微软雅黑" panose="020B0503020204020204" charset="-122"/>
                <a:ea typeface="微软雅黑" panose="020B0503020204020204" charset="-122"/>
                <a:sym typeface="+mn-ea"/>
              </a:rPr>
              <a:t>，</a:t>
            </a:r>
            <a:r>
              <a:rPr sz="2000" dirty="0" smtClean="0">
                <a:latin typeface="微软雅黑" panose="020B0503020204020204" charset="-122"/>
                <a:ea typeface="微软雅黑" panose="020B0503020204020204" charset="-122"/>
              </a:rPr>
              <a:t>请用记号笔标明作者姓名、论文题目、会议名称，如期刊未建刊还需标明DOI号、Online Publish Date</a:t>
            </a:r>
            <a:endParaRPr sz="2000" dirty="0" smtClean="0">
              <a:latin typeface="微软雅黑" panose="020B0503020204020204" charset="-122"/>
              <a:ea typeface="微软雅黑" panose="020B0503020204020204" charset="-122"/>
            </a:endParaRPr>
          </a:p>
          <a:p>
            <a:pPr>
              <a:lnSpc>
                <a:spcPct val="160000"/>
              </a:lnSpc>
            </a:pPr>
            <a:r>
              <a:rPr sz="2000" b="1" dirty="0" smtClean="0">
                <a:latin typeface="微软雅黑" panose="020B0503020204020204" charset="-122"/>
                <a:ea typeface="微软雅黑" panose="020B0503020204020204" charset="-122"/>
              </a:rPr>
              <a:t>（2）刊物或论文集封面、目录</a:t>
            </a:r>
            <a:r>
              <a:rPr sz="2000" dirty="0" smtClean="0">
                <a:latin typeface="微软雅黑" panose="020B0503020204020204" charset="-122"/>
                <a:ea typeface="微软雅黑" panose="020B0503020204020204" charset="-122"/>
              </a:rPr>
              <a:t>：</a:t>
            </a:r>
            <a:r>
              <a:rPr lang="zh-CN" altLang="en-US" sz="2000" dirty="0" smtClean="0">
                <a:latin typeface="微软雅黑" panose="020B0503020204020204" charset="-122"/>
                <a:ea typeface="微软雅黑" panose="020B0503020204020204" charset="-122"/>
              </a:rPr>
              <a:t>目录仅需论文所在页（未正式发表或未见刊可不提供）</a:t>
            </a:r>
            <a:endParaRPr lang="zh-CN" altLang="en-US" sz="2000" b="1" dirty="0" smtClean="0">
              <a:latin typeface="微软雅黑" panose="020B0503020204020204" charset="-122"/>
              <a:ea typeface="微软雅黑" panose="020B0503020204020204" charset="-122"/>
            </a:endParaRPr>
          </a:p>
          <a:p>
            <a:pPr>
              <a:lnSpc>
                <a:spcPct val="160000"/>
              </a:lnSpc>
            </a:pPr>
            <a:r>
              <a:rPr sz="2000" b="1" dirty="0" smtClean="0">
                <a:latin typeface="微软雅黑" panose="020B0503020204020204" charset="-122"/>
                <a:ea typeface="微软雅黑" panose="020B0503020204020204" charset="-122"/>
              </a:rPr>
              <a:t>（3）论文全文：</a:t>
            </a:r>
            <a:r>
              <a:rPr sz="2000" dirty="0" smtClean="0">
                <a:latin typeface="微软雅黑" panose="020B0503020204020204" charset="-122"/>
                <a:ea typeface="微软雅黑" panose="020B0503020204020204" charset="-122"/>
              </a:rPr>
              <a:t>论文首页需</a:t>
            </a:r>
            <a:r>
              <a:rPr sz="2000" b="1" dirty="0" smtClean="0">
                <a:solidFill>
                  <a:srgbClr val="FF0000"/>
                </a:solidFill>
                <a:latin typeface="微软雅黑" panose="020B0503020204020204" charset="-122"/>
                <a:ea typeface="微软雅黑" panose="020B0503020204020204" charset="-122"/>
              </a:rPr>
              <a:t>导师签字</a:t>
            </a:r>
            <a:r>
              <a:rPr sz="2000" dirty="0" smtClean="0">
                <a:latin typeface="微软雅黑" panose="020B0503020204020204" charset="-122"/>
                <a:ea typeface="微软雅黑" panose="020B0503020204020204" charset="-122"/>
              </a:rPr>
              <a:t>，正文需用记号笔标出作者姓名、国科大署名</a:t>
            </a:r>
            <a:endParaRPr sz="2000" dirty="0" smtClean="0">
              <a:latin typeface="微软雅黑" panose="020B0503020204020204" charset="-122"/>
              <a:ea typeface="微软雅黑" panose="020B0503020204020204" charset="-122"/>
            </a:endParaRPr>
          </a:p>
          <a:p>
            <a:pPr>
              <a:lnSpc>
                <a:spcPct val="160000"/>
              </a:lnSpc>
            </a:pPr>
            <a:r>
              <a:rPr sz="2000" b="1" dirty="0" smtClean="0">
                <a:solidFill>
                  <a:srgbClr val="FF0000"/>
                </a:solidFill>
                <a:latin typeface="微软雅黑" panose="020B0503020204020204" charset="-122"/>
                <a:ea typeface="微软雅黑" panose="020B0503020204020204" charset="-122"/>
              </a:rPr>
              <a:t>（4）</a:t>
            </a:r>
            <a:r>
              <a:rPr lang="zh-CN" sz="2000" b="1" dirty="0" smtClean="0">
                <a:solidFill>
                  <a:srgbClr val="FF0000"/>
                </a:solidFill>
                <a:latin typeface="微软雅黑" panose="020B0503020204020204" charset="-122"/>
                <a:ea typeface="微软雅黑" panose="020B0503020204020204" charset="-122"/>
              </a:rPr>
              <a:t>长文证明：</a:t>
            </a:r>
            <a:r>
              <a:rPr sz="2000" b="1" dirty="0" smtClean="0">
                <a:solidFill>
                  <a:srgbClr val="FF0000"/>
                </a:solidFill>
                <a:latin typeface="微软雅黑" panose="020B0503020204020204" charset="-122"/>
                <a:ea typeface="微软雅黑" panose="020B0503020204020204" charset="-122"/>
              </a:rPr>
              <a:t>导师签字</a:t>
            </a:r>
            <a:endParaRPr lang="zh-CN" sz="2000" dirty="0" smtClean="0">
              <a:solidFill>
                <a:schemeClr val="tx1">
                  <a:lumMod val="75000"/>
                </a:schemeClr>
              </a:solidFill>
              <a:latin typeface="微软雅黑" panose="020B0503020204020204" charset="-122"/>
              <a:ea typeface="微软雅黑" panose="020B0503020204020204" charset="-122"/>
            </a:endParaRPr>
          </a:p>
          <a:p>
            <a:pPr>
              <a:lnSpc>
                <a:spcPct val="160000"/>
              </a:lnSpc>
            </a:pPr>
            <a:r>
              <a:rPr lang="zh-CN" sz="2000" dirty="0" smtClean="0">
                <a:solidFill>
                  <a:schemeClr val="tx1">
                    <a:lumMod val="75000"/>
                  </a:schemeClr>
                </a:solidFill>
                <a:latin typeface="微软雅黑" panose="020B0503020204020204" charset="-122"/>
                <a:ea typeface="微软雅黑" panose="020B0503020204020204" charset="-122"/>
              </a:rPr>
              <a:t>常见的长文证明有：录用通知明确指出录用的是长文</a:t>
            </a:r>
            <a:r>
              <a:rPr lang="en-US" altLang="zh-CN" sz="2000" dirty="0" smtClean="0">
                <a:solidFill>
                  <a:schemeClr val="tx1">
                    <a:lumMod val="75000"/>
                  </a:schemeClr>
                </a:solidFill>
                <a:latin typeface="微软雅黑" panose="020B0503020204020204" charset="-122"/>
                <a:ea typeface="微软雅黑" panose="020B0503020204020204" charset="-122"/>
              </a:rPr>
              <a:t>/</a:t>
            </a:r>
            <a:r>
              <a:rPr lang="zh-CN" sz="2000" dirty="0" smtClean="0">
                <a:solidFill>
                  <a:schemeClr val="tx1">
                    <a:lumMod val="75000"/>
                  </a:schemeClr>
                </a:solidFill>
                <a:latin typeface="微软雅黑" panose="020B0503020204020204" charset="-122"/>
                <a:ea typeface="微软雅黑" panose="020B0503020204020204" charset="-122"/>
              </a:rPr>
              <a:t>征稿要求指明不多于</a:t>
            </a:r>
            <a:r>
              <a:rPr lang="en-US" altLang="zh-CN" sz="2000" dirty="0" smtClean="0">
                <a:solidFill>
                  <a:schemeClr val="tx1">
                    <a:lumMod val="75000"/>
                  </a:schemeClr>
                </a:solidFill>
                <a:latin typeface="微软雅黑" panose="020B0503020204020204" charset="-122"/>
                <a:ea typeface="微软雅黑" panose="020B0503020204020204" charset="-122"/>
              </a:rPr>
              <a:t>XX</a:t>
            </a:r>
            <a:r>
              <a:rPr lang="zh-CN" altLang="en-US" sz="2000" dirty="0" smtClean="0">
                <a:solidFill>
                  <a:schemeClr val="tx1">
                    <a:lumMod val="75000"/>
                  </a:schemeClr>
                </a:solidFill>
                <a:latin typeface="微软雅黑" panose="020B0503020204020204" charset="-122"/>
                <a:ea typeface="微软雅黑" panose="020B0503020204020204" charset="-122"/>
              </a:rPr>
              <a:t>页数等，单纯的议程和邀请函不可作为长文证明</a:t>
            </a:r>
            <a:r>
              <a:rPr sz="2000" dirty="0" smtClean="0">
                <a:solidFill>
                  <a:schemeClr val="tx1">
                    <a:lumMod val="75000"/>
                  </a:schemeClr>
                </a:solidFill>
                <a:latin typeface="微软雅黑" panose="020B0503020204020204" charset="-122"/>
                <a:ea typeface="微软雅黑" panose="020B0503020204020204" charset="-122"/>
              </a:rPr>
              <a:t>（请提供明确的长文证明，未提供则不以长文计算）</a:t>
            </a:r>
            <a:endParaRPr sz="2000" dirty="0" smtClean="0">
              <a:solidFill>
                <a:schemeClr val="tx1">
                  <a:lumMod val="75000"/>
                </a:schemeClr>
              </a:solidFill>
              <a:latin typeface="微软雅黑" panose="020B0503020204020204" charset="-122"/>
              <a:ea typeface="微软雅黑" panose="020B0503020204020204" charset="-122"/>
            </a:endParaRPr>
          </a:p>
          <a:p>
            <a:pPr>
              <a:lnSpc>
                <a:spcPct val="160000"/>
              </a:lnSpc>
            </a:pPr>
            <a:r>
              <a:rPr lang="zh-CN" altLang="en-US" sz="2000" b="1" dirty="0" smtClean="0">
                <a:latin typeface="微软雅黑" panose="020B0503020204020204" charset="-122"/>
                <a:ea typeface="微软雅黑" panose="020B0503020204020204" charset="-122"/>
              </a:rPr>
              <a:t>（</a:t>
            </a:r>
            <a:r>
              <a:rPr lang="en-US" altLang="zh-CN" sz="2000" b="1" dirty="0" smtClean="0">
                <a:latin typeface="微软雅黑" panose="020B0503020204020204" charset="-122"/>
                <a:ea typeface="微软雅黑" panose="020B0503020204020204" charset="-122"/>
              </a:rPr>
              <a:t>5</a:t>
            </a:r>
            <a:r>
              <a:rPr lang="zh-CN" altLang="en-US" sz="2000" b="1" dirty="0" smtClean="0">
                <a:latin typeface="微软雅黑" panose="020B0503020204020204" charset="-122"/>
                <a:ea typeface="微软雅黑" panose="020B0503020204020204" charset="-122"/>
              </a:rPr>
              <a:t>）</a:t>
            </a:r>
            <a:r>
              <a:rPr sz="2000" b="1" dirty="0" smtClean="0">
                <a:solidFill>
                  <a:schemeClr val="tx1"/>
                </a:solidFill>
                <a:latin typeface="微软雅黑" panose="020B0503020204020204" charset="-122"/>
                <a:ea typeface="微软雅黑" panose="020B0503020204020204" charset="-122"/>
              </a:rPr>
              <a:t>CCF或IIE目录截图：</a:t>
            </a:r>
            <a:r>
              <a:rPr sz="2000" dirty="0" smtClean="0">
                <a:latin typeface="微软雅黑" panose="020B0503020204020204" charset="-122"/>
                <a:ea typeface="微软雅黑" panose="020B0503020204020204" charset="-122"/>
              </a:rPr>
              <a:t>期刊或会议所在页截图，用记号笔标明该会议或期刊名称</a:t>
            </a:r>
            <a:endParaRPr sz="2000" dirty="0" smtClean="0">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答辩申请材料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评阅人汇总表</a:t>
            </a:r>
            <a:r>
              <a:rPr lang="zh-CN" altLang="en-US" sz="4000" b="1" dirty="0">
                <a:latin typeface="微软雅黑" panose="020B0503020204020204" charset="-122"/>
                <a:ea typeface="微软雅黑" panose="020B0503020204020204" charset="-122"/>
              </a:rPr>
              <a:t>（电子版）</a:t>
            </a:r>
            <a:endParaRPr lang="zh-CN" altLang="en-US" sz="4000" b="1" dirty="0">
              <a:latin typeface="微软雅黑" panose="020B0503020204020204" charset="-122"/>
              <a:ea typeface="微软雅黑" panose="020B0503020204020204" charset="-122"/>
            </a:endParaRPr>
          </a:p>
        </p:txBody>
      </p:sp>
      <p:sp>
        <p:nvSpPr>
          <p:cNvPr id="2" name="矩形 1"/>
          <p:cNvSpPr/>
          <p:nvPr/>
        </p:nvSpPr>
        <p:spPr>
          <a:xfrm>
            <a:off x="273050" y="3867150"/>
            <a:ext cx="4615815" cy="2512060"/>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 name="文本框 2"/>
          <p:cNvSpPr txBox="1"/>
          <p:nvPr/>
        </p:nvSpPr>
        <p:spPr>
          <a:xfrm>
            <a:off x="273050" y="3821430"/>
            <a:ext cx="4543425" cy="2453640"/>
          </a:xfrm>
          <a:prstGeom prst="rect">
            <a:avLst/>
          </a:prstGeom>
          <a:noFill/>
        </p:spPr>
        <p:txBody>
          <a:bodyPr wrap="square" rtlCol="0">
            <a:spAutoFit/>
          </a:bodyPr>
          <a:p>
            <a:pPr>
              <a:lnSpc>
                <a:spcPct val="160000"/>
              </a:lnSpc>
            </a:pPr>
            <a:r>
              <a:rPr lang="en-US" sz="1600" b="1" dirty="0" smtClean="0">
                <a:latin typeface="Arial" panose="020B0604020202020204" pitchFamily="34" charset="0"/>
                <a:ea typeface="微软雅黑" panose="020B0503020204020204" charset="-122"/>
              </a:rPr>
              <a:t>1</a:t>
            </a:r>
            <a:r>
              <a:rPr lang="zh-CN" altLang="en-US" sz="1600" b="1" dirty="0" smtClean="0">
                <a:latin typeface="Arial" panose="020B0604020202020204" pitchFamily="34" charset="0"/>
                <a:ea typeface="微软雅黑" panose="020B0503020204020204" charset="-122"/>
              </a:rPr>
              <a:t>、</a:t>
            </a:r>
            <a:r>
              <a:rPr sz="1600" b="1" dirty="0" smtClean="0">
                <a:latin typeface="Arial" panose="020B0604020202020204" pitchFamily="34" charset="0"/>
                <a:ea typeface="微软雅黑" panose="020B0503020204020204" charset="-122"/>
              </a:rPr>
              <a:t>不可多名学生共用同一候选人名单，以避免同一评阅人评阅论文篇数过多的情况</a:t>
            </a:r>
            <a:endParaRPr sz="1600" b="1" dirty="0" smtClean="0">
              <a:latin typeface="Arial" panose="020B0604020202020204" pitchFamily="34" charset="0"/>
              <a:ea typeface="微软雅黑" panose="020B0503020204020204" charset="-122"/>
            </a:endParaRPr>
          </a:p>
          <a:p>
            <a:pPr>
              <a:lnSpc>
                <a:spcPct val="160000"/>
              </a:lnSpc>
            </a:pPr>
            <a:r>
              <a:rPr lang="en-US" sz="1600" b="1" dirty="0" smtClean="0">
                <a:latin typeface="Arial" panose="020B0604020202020204" pitchFamily="34" charset="0"/>
                <a:ea typeface="微软雅黑" panose="020B0503020204020204" charset="-122"/>
              </a:rPr>
              <a:t>2</a:t>
            </a:r>
            <a:r>
              <a:rPr lang="zh-CN" altLang="en-US" sz="1600" b="1" dirty="0" smtClean="0">
                <a:latin typeface="Arial" panose="020B0604020202020204" pitchFamily="34" charset="0"/>
                <a:ea typeface="微软雅黑" panose="020B0503020204020204" charset="-122"/>
              </a:rPr>
              <a:t>、</a:t>
            </a:r>
            <a:r>
              <a:rPr sz="1600" b="1" dirty="0" smtClean="0">
                <a:latin typeface="Arial" panose="020B0604020202020204" pitchFamily="34" charset="0"/>
                <a:ea typeface="微软雅黑" panose="020B0503020204020204" charset="-122"/>
              </a:rPr>
              <a:t>所内所外专家均须多于规定人数2至3人</a:t>
            </a:r>
            <a:endParaRPr sz="1600" b="1" dirty="0" smtClean="0">
              <a:latin typeface="Arial" panose="020B0604020202020204" pitchFamily="34" charset="0"/>
              <a:ea typeface="微软雅黑" panose="020B0503020204020204" charset="-122"/>
            </a:endParaRPr>
          </a:p>
          <a:p>
            <a:pPr>
              <a:lnSpc>
                <a:spcPct val="160000"/>
              </a:lnSpc>
            </a:pPr>
            <a:r>
              <a:rPr lang="en-US" sz="1600" b="1" dirty="0" smtClean="0">
                <a:solidFill>
                  <a:srgbClr val="C00000"/>
                </a:solidFill>
                <a:latin typeface="Arial" panose="020B0604020202020204" pitchFamily="34" charset="0"/>
                <a:ea typeface="微软雅黑" panose="020B0503020204020204" charset="-122"/>
              </a:rPr>
              <a:t>3</a:t>
            </a:r>
            <a:r>
              <a:rPr lang="zh-CN" altLang="en-US" sz="1600" b="1" dirty="0" smtClean="0">
                <a:solidFill>
                  <a:srgbClr val="C00000"/>
                </a:solidFill>
                <a:latin typeface="Arial" panose="020B0604020202020204" pitchFamily="34" charset="0"/>
                <a:ea typeface="微软雅黑" panose="020B0503020204020204" charset="-122"/>
              </a:rPr>
              <a:t>、如导师为客座导师，须标注其实所内际指导老师，格式为：客座导师（实际指导老师）</a:t>
            </a:r>
            <a:endParaRPr lang="zh-CN" altLang="en-US" sz="1600" b="1" dirty="0" smtClean="0">
              <a:solidFill>
                <a:srgbClr val="C00000"/>
              </a:solidFill>
              <a:latin typeface="Arial" panose="020B0604020202020204" pitchFamily="34" charset="0"/>
              <a:ea typeface="微软雅黑" panose="020B0503020204020204" charset="-122"/>
            </a:endParaRPr>
          </a:p>
          <a:p>
            <a:pPr>
              <a:lnSpc>
                <a:spcPct val="160000"/>
              </a:lnSpc>
            </a:pPr>
            <a:r>
              <a:rPr lang="en-US" altLang="zh-CN" sz="1600" b="1" dirty="0" smtClean="0">
                <a:solidFill>
                  <a:srgbClr val="C00000"/>
                </a:solidFill>
                <a:latin typeface="Arial" panose="020B0604020202020204" pitchFamily="34" charset="0"/>
                <a:ea typeface="微软雅黑" panose="020B0503020204020204" charset="-122"/>
              </a:rPr>
              <a:t>4</a:t>
            </a:r>
            <a:r>
              <a:rPr lang="zh-CN" altLang="en-US" sz="1600" b="1" dirty="0" smtClean="0">
                <a:solidFill>
                  <a:srgbClr val="C00000"/>
                </a:solidFill>
                <a:latin typeface="Arial" panose="020B0604020202020204" pitchFamily="34" charset="0"/>
                <a:ea typeface="微软雅黑" panose="020B0503020204020204" charset="-122"/>
              </a:rPr>
              <a:t>、行业导师不能作为候选人。</a:t>
            </a:r>
            <a:endParaRPr lang="zh-CN" altLang="en-US" sz="1600" b="1" dirty="0" smtClean="0">
              <a:solidFill>
                <a:srgbClr val="C00000"/>
              </a:solidFill>
              <a:latin typeface="Arial" panose="020B0604020202020204" pitchFamily="34" charset="0"/>
              <a:ea typeface="微软雅黑" panose="020B0503020204020204" charset="-122"/>
            </a:endParaRPr>
          </a:p>
        </p:txBody>
      </p:sp>
      <p:pic>
        <p:nvPicPr>
          <p:cNvPr id="4" name="图片 3"/>
          <p:cNvPicPr>
            <a:picLocks noChangeAspect="1"/>
          </p:cNvPicPr>
          <p:nvPr/>
        </p:nvPicPr>
        <p:blipFill>
          <a:blip r:embed="rId1"/>
          <a:stretch>
            <a:fillRect/>
          </a:stretch>
        </p:blipFill>
        <p:spPr>
          <a:xfrm>
            <a:off x="187325" y="1624965"/>
            <a:ext cx="11817350" cy="1981200"/>
          </a:xfrm>
          <a:prstGeom prst="rect">
            <a:avLst/>
          </a:prstGeom>
        </p:spPr>
      </p:pic>
      <p:sp>
        <p:nvSpPr>
          <p:cNvPr id="7" name="矩形 6"/>
          <p:cNvSpPr/>
          <p:nvPr/>
        </p:nvSpPr>
        <p:spPr>
          <a:xfrm>
            <a:off x="4816475" y="1495425"/>
            <a:ext cx="6488430" cy="219329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10" name="组合 9"/>
          <p:cNvGrpSpPr/>
          <p:nvPr/>
        </p:nvGrpSpPr>
        <p:grpSpPr>
          <a:xfrm>
            <a:off x="6440805" y="4747260"/>
            <a:ext cx="4057015" cy="1537970"/>
            <a:chOff x="645" y="7179"/>
            <a:chExt cx="6389" cy="2422"/>
          </a:xfrm>
        </p:grpSpPr>
        <p:sp>
          <p:nvSpPr>
            <p:cNvPr id="11" name="矩形 10"/>
            <p:cNvSpPr/>
            <p:nvPr/>
          </p:nvSpPr>
          <p:spPr>
            <a:xfrm>
              <a:off x="645" y="7179"/>
              <a:ext cx="6389" cy="2422"/>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2" name="文本框 11"/>
            <p:cNvSpPr txBox="1"/>
            <p:nvPr/>
          </p:nvSpPr>
          <p:spPr>
            <a:xfrm>
              <a:off x="851" y="7179"/>
              <a:ext cx="6098" cy="2313"/>
            </a:xfrm>
            <a:prstGeom prst="rect">
              <a:avLst/>
            </a:prstGeom>
            <a:noFill/>
          </p:spPr>
          <p:txBody>
            <a:bodyPr wrap="square" rtlCol="0">
              <a:spAutoFit/>
            </a:bodyPr>
            <a:p>
              <a:pPr>
                <a:lnSpc>
                  <a:spcPct val="140000"/>
                </a:lnSpc>
              </a:pPr>
              <a:r>
                <a:rPr lang="en-US" altLang="zh-CN" sz="1600" b="1" dirty="0" smtClean="0">
                  <a:latin typeface="Arial" panose="020B0604020202020204" pitchFamily="34" charset="0"/>
                  <a:ea typeface="微软雅黑" panose="020B0503020204020204" charset="-122"/>
                </a:rPr>
                <a:t>1</a:t>
              </a:r>
              <a:r>
                <a:rPr lang="zh-CN" altLang="en-US" sz="1600" b="1" dirty="0" smtClean="0">
                  <a:latin typeface="Arial" panose="020B0604020202020204" pitchFamily="34" charset="0"/>
                  <a:ea typeface="微软雅黑" panose="020B0503020204020204" charset="-122"/>
                </a:rPr>
                <a:t>、每项信息填写完整，不可空项；</a:t>
              </a:r>
              <a:endParaRPr lang="zh-CN" altLang="en-US" sz="1600" b="1" dirty="0" smtClean="0">
                <a:latin typeface="Arial" panose="020B0604020202020204" pitchFamily="34" charset="0"/>
                <a:ea typeface="微软雅黑" panose="020B0503020204020204" charset="-122"/>
              </a:endParaRPr>
            </a:p>
            <a:p>
              <a:pPr>
                <a:lnSpc>
                  <a:spcPct val="140000"/>
                </a:lnSpc>
              </a:pPr>
              <a:r>
                <a:rPr lang="en-US" altLang="zh-CN" sz="1600" b="1" dirty="0" smtClean="0">
                  <a:latin typeface="Arial" panose="020B0604020202020204" pitchFamily="34" charset="0"/>
                  <a:ea typeface="微软雅黑" panose="020B0503020204020204" charset="-122"/>
                </a:rPr>
                <a:t>2</a:t>
              </a:r>
              <a:r>
                <a:rPr lang="zh-CN" altLang="en-US" sz="1600" b="1" dirty="0" smtClean="0">
                  <a:latin typeface="Arial" panose="020B0604020202020204" pitchFamily="34" charset="0"/>
                  <a:ea typeface="微软雅黑" panose="020B0503020204020204" charset="-122"/>
                </a:rPr>
                <a:t>、所外专家要求信息准确，真实有效；</a:t>
              </a:r>
              <a:endParaRPr lang="zh-CN" altLang="en-US" sz="1600" b="1" dirty="0" smtClean="0">
                <a:latin typeface="Arial" panose="020B0604020202020204" pitchFamily="34" charset="0"/>
                <a:ea typeface="微软雅黑" panose="020B0503020204020204" charset="-122"/>
              </a:endParaRPr>
            </a:p>
            <a:p>
              <a:pPr>
                <a:lnSpc>
                  <a:spcPct val="140000"/>
                </a:lnSpc>
              </a:pPr>
              <a:r>
                <a:rPr lang="en-US" altLang="zh-CN" sz="1600" b="1" dirty="0" smtClean="0">
                  <a:latin typeface="Arial" panose="020B0604020202020204" pitchFamily="34" charset="0"/>
                  <a:ea typeface="微软雅黑" panose="020B0503020204020204" charset="-122"/>
                </a:rPr>
                <a:t>3</a:t>
              </a:r>
              <a:r>
                <a:rPr lang="zh-CN" altLang="en-US" sz="1600" b="1" dirty="0" smtClean="0">
                  <a:latin typeface="Arial" panose="020B0604020202020204" pitchFamily="34" charset="0"/>
                  <a:ea typeface="微软雅黑" panose="020B0503020204020204" charset="-122"/>
                </a:rPr>
                <a:t>、严格按照学位授予细则要求提供评阅人候选人</a:t>
              </a:r>
              <a:endParaRPr lang="zh-CN" altLang="en-US" sz="1600" b="1" dirty="0" smtClean="0">
                <a:latin typeface="Arial" panose="020B0604020202020204" pitchFamily="34" charset="0"/>
                <a:ea typeface="微软雅黑" panose="020B0503020204020204" charset="-122"/>
              </a:endParaRPr>
            </a:p>
          </p:txBody>
        </p:sp>
      </p:grpSp>
      <p:cxnSp>
        <p:nvCxnSpPr>
          <p:cNvPr id="14" name="直接箭头连接符 13"/>
          <p:cNvCxnSpPr/>
          <p:nvPr/>
        </p:nvCxnSpPr>
        <p:spPr>
          <a:xfrm flipH="1">
            <a:off x="10759440" y="3769995"/>
            <a:ext cx="378460" cy="1209040"/>
          </a:xfrm>
          <a:prstGeom prst="straightConnector1">
            <a:avLst/>
          </a:prstGeom>
          <a:noFill/>
          <a:ln w="57150" cap="flat" cmpd="sng" algn="ctr">
            <a:solidFill>
              <a:srgbClr val="C00000"/>
            </a:solidFill>
            <a:prstDash val="solid"/>
            <a:miter lim="800000"/>
            <a:tailEnd type="triangle"/>
          </a:ln>
          <a:effec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学位论文评阅</a:t>
            </a:r>
            <a:endParaRPr lang="zh-CN" altLang="en-US" sz="4000" b="1" dirty="0">
              <a:latin typeface="微软雅黑" panose="020B0503020204020204" charset="-122"/>
              <a:ea typeface="微软雅黑" panose="020B0503020204020204" charset="-122"/>
            </a:endParaRPr>
          </a:p>
        </p:txBody>
      </p:sp>
      <p:sp>
        <p:nvSpPr>
          <p:cNvPr id="8" name="文本框 7"/>
          <p:cNvSpPr txBox="1"/>
          <p:nvPr/>
        </p:nvSpPr>
        <p:spPr>
          <a:xfrm>
            <a:off x="664210" y="1266825"/>
            <a:ext cx="10659110" cy="4523105"/>
          </a:xfrm>
          <a:prstGeom prst="rect">
            <a:avLst/>
          </a:prstGeom>
          <a:noFill/>
        </p:spPr>
        <p:txBody>
          <a:bodyPr wrap="square" rtlCol="0">
            <a:spAutoFit/>
          </a:bodyPr>
          <a:p>
            <a:pPr>
              <a:lnSpc>
                <a:spcPct val="160000"/>
              </a:lnSpc>
            </a:pPr>
            <a:r>
              <a:rPr lang="en-US" altLang="zh-CN" sz="2000" b="1" dirty="0" smtClean="0">
                <a:solidFill>
                  <a:schemeClr val="tx1"/>
                </a:solidFill>
                <a:latin typeface="微软雅黑" panose="020B0503020204020204" charset="-122"/>
                <a:ea typeface="微软雅黑" panose="020B0503020204020204" charset="-122"/>
              </a:rPr>
              <a:t>     </a:t>
            </a:r>
            <a:r>
              <a:rPr lang="en-US" sz="2000" b="1" dirty="0" smtClean="0">
                <a:solidFill>
                  <a:schemeClr val="tx1"/>
                </a:solidFill>
                <a:latin typeface="微软雅黑" panose="020B0503020204020204" charset="-122"/>
                <a:ea typeface="微软雅黑" panose="020B0503020204020204" charset="-122"/>
              </a:rPr>
              <a:t>1</a:t>
            </a:r>
            <a:r>
              <a:rPr lang="zh-CN" altLang="en-US" sz="2000" b="1" dirty="0" smtClean="0">
                <a:solidFill>
                  <a:schemeClr val="tx1"/>
                </a:solidFill>
                <a:latin typeface="微软雅黑" panose="020B0503020204020204" charset="-122"/>
                <a:ea typeface="微软雅黑" panose="020B0503020204020204" charset="-122"/>
              </a:rPr>
              <a:t>、研究生学位论文采取单盲评阅，评阅候选人名单不对学生公开，实际评阅人名单不对学生及导师公开，</a:t>
            </a:r>
            <a:r>
              <a:rPr lang="zh-CN" altLang="en-US" sz="2000" b="1" dirty="0" smtClean="0">
                <a:solidFill>
                  <a:srgbClr val="FF0000"/>
                </a:solidFill>
                <a:latin typeface="微软雅黑" panose="020B0503020204020204" charset="-122"/>
                <a:ea typeface="微软雅黑" panose="020B0503020204020204" charset="-122"/>
              </a:rPr>
              <a:t>请各位答辩秘书严格遵守评阅纪律</a:t>
            </a:r>
            <a:endParaRPr lang="zh-CN" altLang="en-US" sz="2000" b="1" dirty="0" smtClean="0">
              <a:solidFill>
                <a:schemeClr val="tx1"/>
              </a:solidFill>
              <a:latin typeface="微软雅黑" panose="020B0503020204020204" charset="-122"/>
              <a:ea typeface="微软雅黑" panose="020B0503020204020204" charset="-122"/>
            </a:endParaRPr>
          </a:p>
          <a:p>
            <a:pPr>
              <a:lnSpc>
                <a:spcPct val="160000"/>
              </a:lnSpc>
            </a:pPr>
            <a:r>
              <a:rPr lang="en-US" altLang="zh-CN" sz="2000" b="1" dirty="0" smtClean="0">
                <a:solidFill>
                  <a:schemeClr val="tx1"/>
                </a:solidFill>
                <a:latin typeface="微软雅黑" panose="020B0503020204020204" charset="-122"/>
                <a:ea typeface="微软雅黑" panose="020B0503020204020204" charset="-122"/>
              </a:rPr>
              <a:t>     2</a:t>
            </a:r>
            <a:r>
              <a:rPr lang="zh-CN" altLang="en-US" sz="2000" b="1" dirty="0" smtClean="0">
                <a:solidFill>
                  <a:schemeClr val="tx1"/>
                </a:solidFill>
                <a:latin typeface="微软雅黑" panose="020B0503020204020204" charset="-122"/>
                <a:ea typeface="微软雅黑" panose="020B0503020204020204" charset="-122"/>
              </a:rPr>
              <a:t>、学生教育处会定期反馈评阅进度，并于评阅截止前一周将实际评阅人名单反馈至答辩秘书组长，根据国科大要求，超过评阅截至时间后评阅人将无法继续评阅，请务必提醒专家按时评阅</a:t>
            </a:r>
            <a:endParaRPr lang="zh-CN" altLang="en-US" sz="2000" b="1" dirty="0" smtClean="0">
              <a:solidFill>
                <a:schemeClr val="tx1"/>
              </a:solidFill>
              <a:latin typeface="微软雅黑" panose="020B0503020204020204" charset="-122"/>
              <a:ea typeface="微软雅黑" panose="020B0503020204020204" charset="-122"/>
            </a:endParaRPr>
          </a:p>
          <a:p>
            <a:pPr>
              <a:lnSpc>
                <a:spcPct val="160000"/>
              </a:lnSpc>
            </a:pPr>
            <a:r>
              <a:rPr lang="en-US" altLang="zh-CN" sz="2000" b="1" dirty="0" smtClean="0">
                <a:solidFill>
                  <a:schemeClr val="tx1"/>
                </a:solidFill>
                <a:latin typeface="微软雅黑" panose="020B0503020204020204" charset="-122"/>
                <a:ea typeface="微软雅黑" panose="020B0503020204020204" charset="-122"/>
              </a:rPr>
              <a:t>     3</a:t>
            </a:r>
            <a:r>
              <a:rPr lang="zh-CN" altLang="en-US" sz="2000" b="1" dirty="0" smtClean="0">
                <a:solidFill>
                  <a:schemeClr val="tx1"/>
                </a:solidFill>
                <a:latin typeface="微软雅黑" panose="020B0503020204020204" charset="-122"/>
                <a:ea typeface="微软雅黑" panose="020B0503020204020204" charset="-122"/>
              </a:rPr>
              <a:t>、学位论文评阅结果须具体说明该论文的优缺点，有针对性的提出评阅意见，过于简短或内容空泛未结合论文实际内容的评阅意见将视为无效评阅意见，不纳入评阅结果，后替换评阅人进行再次评阅，同时研究所不再聘请该专家作为评阅人。</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【请提醒所内专家认真负起评阅人的责任】</a:t>
            </a:r>
            <a:endParaRPr lang="zh-CN" altLang="en-US" sz="2000" b="1" dirty="0" smtClean="0">
              <a:solidFill>
                <a:srgbClr val="FF0000"/>
              </a:solidFill>
              <a:highlight>
                <a:srgbClr val="FFFF00"/>
              </a:highlight>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学位论文</a:t>
            </a:r>
            <a:r>
              <a:rPr lang="zh-CN" altLang="en-US" sz="4000" b="1" dirty="0">
                <a:latin typeface="微软雅黑" panose="020B0503020204020204" charset="-122"/>
                <a:ea typeface="微软雅黑" panose="020B0503020204020204" charset="-122"/>
                <a:sym typeface="+mn-ea"/>
              </a:rPr>
              <a:t>评阅</a:t>
            </a:r>
            <a:endParaRPr lang="zh-CN" altLang="en-US" sz="4000" b="1" dirty="0">
              <a:latin typeface="微软雅黑" panose="020B0503020204020204" charset="-122"/>
              <a:ea typeface="微软雅黑" panose="020B0503020204020204" charset="-122"/>
            </a:endParaRPr>
          </a:p>
        </p:txBody>
      </p:sp>
      <p:grpSp>
        <p:nvGrpSpPr>
          <p:cNvPr id="18" name="组合 17"/>
          <p:cNvGrpSpPr/>
          <p:nvPr/>
        </p:nvGrpSpPr>
        <p:grpSpPr>
          <a:xfrm>
            <a:off x="541020" y="1604010"/>
            <a:ext cx="11178540" cy="2287905"/>
            <a:chOff x="755" y="2054"/>
            <a:chExt cx="17604" cy="3603"/>
          </a:xfrm>
        </p:grpSpPr>
        <p:sp>
          <p:nvSpPr>
            <p:cNvPr id="17" name="矩形 16"/>
            <p:cNvSpPr/>
            <p:nvPr/>
          </p:nvSpPr>
          <p:spPr>
            <a:xfrm>
              <a:off x="1445" y="2621"/>
              <a:ext cx="901" cy="901"/>
            </a:xfrm>
            <a:prstGeom prst="rect">
              <a:avLst/>
            </a:prstGeom>
            <a:solidFill>
              <a:srgbClr val="DC5C31"/>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5" name="文本框 4"/>
            <p:cNvSpPr txBox="1"/>
            <p:nvPr/>
          </p:nvSpPr>
          <p:spPr>
            <a:xfrm>
              <a:off x="755" y="2054"/>
              <a:ext cx="17604" cy="3603"/>
            </a:xfrm>
            <a:prstGeom prst="rect">
              <a:avLst/>
            </a:prstGeom>
            <a:noFill/>
          </p:spPr>
          <p:txBody>
            <a:bodyPr wrap="square" rtlCol="0" anchor="t">
              <a:spAutoFit/>
            </a:bodyPr>
            <a:p>
              <a:pPr>
                <a:lnSpc>
                  <a:spcPct val="170000"/>
                </a:lnSpc>
              </a:pPr>
              <a:r>
                <a:rPr sz="2400" b="1" dirty="0">
                  <a:solidFill>
                    <a:srgbClr val="3D3F41"/>
                  </a:solidFill>
                  <a:latin typeface="微软雅黑" panose="020B0503020204020204" charset="-122"/>
                  <a:ea typeface="微软雅黑" panose="020B0503020204020204" charset="-122"/>
                  <a:sym typeface="黑体" panose="02010609060101010101" charset="-122"/>
                </a:rPr>
                <a:t>第  </a:t>
              </a:r>
              <a:r>
                <a:rPr lang="en-US" sz="3600" b="1" dirty="0">
                  <a:solidFill>
                    <a:srgbClr val="FFFFFF"/>
                  </a:solidFill>
                  <a:latin typeface="微软雅黑" panose="020B0503020204020204" charset="-122"/>
                  <a:ea typeface="微软雅黑" panose="020B0503020204020204" charset="-122"/>
                  <a:sym typeface="黑体" panose="02010609060101010101" charset="-122"/>
                </a:rPr>
                <a:t>1</a:t>
              </a:r>
              <a:r>
                <a:rPr lang="en-US" sz="3600" b="1" dirty="0">
                  <a:solidFill>
                    <a:srgbClr val="3D3F41"/>
                  </a:solidFill>
                  <a:latin typeface="微软雅黑" panose="020B0503020204020204" charset="-122"/>
                  <a:ea typeface="微软雅黑" panose="020B0503020204020204" charset="-122"/>
                  <a:sym typeface="黑体" panose="02010609060101010101" charset="-122"/>
                </a:rPr>
                <a:t>  </a:t>
              </a:r>
              <a:r>
                <a:rPr sz="2400" b="1" dirty="0">
                  <a:solidFill>
                    <a:srgbClr val="3D3F41"/>
                  </a:solidFill>
                  <a:latin typeface="微软雅黑" panose="020B0503020204020204" charset="-122"/>
                  <a:ea typeface="微软雅黑" panose="020B0503020204020204" charset="-122"/>
                  <a:sym typeface="黑体" panose="02010609060101010101" charset="-122"/>
                </a:rPr>
                <a:t>步：研究所学位评定委员会授权学生教育处选定实际评阅人。选定评阅人后原则上不可更改，未经学生教育处审核的评阅人评阅无效</a:t>
              </a:r>
              <a:r>
                <a:rPr lang="zh-CN" altLang="en-US" sz="2400" b="1" dirty="0" smtClean="0">
                  <a:solidFill>
                    <a:srgbClr val="3D3F41"/>
                  </a:solidFill>
                  <a:latin typeface="微软雅黑" panose="020B0503020204020204" charset="-122"/>
                  <a:ea typeface="微软雅黑" panose="020B0503020204020204" charset="-122"/>
                  <a:sym typeface="黑体" panose="02010609060101010101" charset="-122"/>
                </a:rPr>
                <a:t>。</a:t>
              </a:r>
              <a:endParaRPr lang="zh-CN" altLang="en-US" sz="2400" b="1" dirty="0" smtClean="0">
                <a:solidFill>
                  <a:srgbClr val="3D3F41"/>
                </a:solidFill>
                <a:latin typeface="微软雅黑" panose="020B0503020204020204" charset="-122"/>
                <a:ea typeface="微软雅黑" panose="020B0503020204020204" charset="-122"/>
                <a:sym typeface="黑体" panose="02010609060101010101" charset="-122"/>
              </a:endParaRPr>
            </a:p>
            <a:p>
              <a:pPr>
                <a:lnSpc>
                  <a:spcPct val="170000"/>
                </a:lnSpc>
              </a:pPr>
              <a:endParaRPr lang="zh-CN" altLang="en-US" sz="2400" b="1" dirty="0" smtClean="0">
                <a:solidFill>
                  <a:srgbClr val="DC5C31"/>
                </a:solidFill>
                <a:latin typeface="微软雅黑" panose="020B0503020204020204" charset="-122"/>
                <a:ea typeface="微软雅黑" panose="020B0503020204020204" charset="-122"/>
                <a:sym typeface="黑体" panose="02010609060101010101" charset="-122"/>
              </a:endParaRPr>
            </a:p>
          </p:txBody>
        </p:sp>
      </p:grpSp>
      <p:grpSp>
        <p:nvGrpSpPr>
          <p:cNvPr id="6" name="组合 5"/>
          <p:cNvGrpSpPr/>
          <p:nvPr/>
        </p:nvGrpSpPr>
        <p:grpSpPr>
          <a:xfrm>
            <a:off x="766445" y="3557905"/>
            <a:ext cx="10708005" cy="1924209"/>
            <a:chOff x="8766" y="3806"/>
            <a:chExt cx="2857" cy="5669"/>
          </a:xfrm>
        </p:grpSpPr>
        <p:sp>
          <p:nvSpPr>
            <p:cNvPr id="9" name="矩形 8"/>
            <p:cNvSpPr/>
            <p:nvPr/>
          </p:nvSpPr>
          <p:spPr>
            <a:xfrm>
              <a:off x="8766" y="3806"/>
              <a:ext cx="2857" cy="5669"/>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5" name="文本框 14"/>
            <p:cNvSpPr txBox="1"/>
            <p:nvPr/>
          </p:nvSpPr>
          <p:spPr>
            <a:xfrm>
              <a:off x="8819" y="4186"/>
              <a:ext cx="2763" cy="4350"/>
            </a:xfrm>
            <a:prstGeom prst="rect">
              <a:avLst/>
            </a:prstGeom>
            <a:noFill/>
          </p:spPr>
          <p:txBody>
            <a:bodyPr wrap="square" rtlCol="0">
              <a:spAutoFit/>
            </a:bodyPr>
            <a:p>
              <a:pPr>
                <a:lnSpc>
                  <a:spcPct val="150000"/>
                </a:lnSpc>
              </a:pPr>
              <a:r>
                <a:rPr lang="zh-CN" altLang="en-US" sz="2000" b="1" dirty="0" smtClean="0">
                  <a:latin typeface="Arial" panose="020B0604020202020204" pitchFamily="34" charset="0"/>
                  <a:ea typeface="微软雅黑" panose="020B0503020204020204" charset="-122"/>
                </a:rPr>
                <a:t>注意：</a:t>
              </a:r>
              <a:endParaRPr lang="zh-CN" altLang="en-US" sz="2000" b="1" dirty="0" smtClean="0">
                <a:latin typeface="Arial" panose="020B0604020202020204" pitchFamily="34" charset="0"/>
                <a:ea typeface="微软雅黑" panose="020B0503020204020204" charset="-122"/>
              </a:endParaRPr>
            </a:p>
            <a:p>
              <a:pPr>
                <a:lnSpc>
                  <a:spcPct val="150000"/>
                </a:lnSpc>
              </a:pPr>
              <a:r>
                <a:rPr lang="zh-CN" altLang="en-US" sz="2000" b="1" dirty="0" smtClean="0">
                  <a:latin typeface="Arial" panose="020B0604020202020204" pitchFamily="34" charset="0"/>
                  <a:ea typeface="微软雅黑" panose="020B0503020204020204" charset="-122"/>
                </a:rPr>
                <a:t>1、论文送审稿、最终稿均应按</a:t>
              </a:r>
              <a:r>
                <a:rPr lang="zh-CN" altLang="en-US" sz="2000" b="1" dirty="0" smtClean="0">
                  <a:solidFill>
                    <a:srgbClr val="FF0000"/>
                  </a:solidFill>
                  <a:latin typeface="Arial" panose="020B0604020202020204" pitchFamily="34" charset="0"/>
                  <a:ea typeface="微软雅黑" panose="020B0503020204020204" charset="-122"/>
                </a:rPr>
                <a:t>《中国科学院大学研究生学位论文撰写规范指导意见》</a:t>
              </a:r>
              <a:r>
                <a:rPr lang="zh-CN" altLang="en-US" sz="2000" b="1" dirty="0" smtClean="0">
                  <a:solidFill>
                    <a:schemeClr val="tx1"/>
                  </a:solidFill>
                  <a:latin typeface="Arial" panose="020B0604020202020204" pitchFamily="34" charset="0"/>
                  <a:ea typeface="微软雅黑" panose="020B0503020204020204" charset="-122"/>
                </a:rPr>
                <a:t>撰写；</a:t>
              </a:r>
              <a:endParaRPr lang="zh-CN" altLang="en-US" sz="2000" b="1" dirty="0" smtClean="0">
                <a:solidFill>
                  <a:srgbClr val="C00000"/>
                </a:solidFill>
                <a:latin typeface="Arial" panose="020B0604020202020204" pitchFamily="34" charset="0"/>
                <a:ea typeface="微软雅黑" panose="020B0503020204020204" charset="-122"/>
              </a:endParaRPr>
            </a:p>
            <a:p>
              <a:pPr>
                <a:lnSpc>
                  <a:spcPct val="150000"/>
                </a:lnSpc>
              </a:pPr>
              <a:r>
                <a:rPr lang="zh-CN" altLang="en-US" sz="2000" b="1" dirty="0" smtClean="0">
                  <a:solidFill>
                    <a:srgbClr val="FF0000"/>
                  </a:solidFill>
                  <a:latin typeface="Arial" panose="020B0604020202020204" pitchFamily="34" charset="0"/>
                  <a:ea typeface="微软雅黑" panose="020B0503020204020204" charset="-122"/>
                </a:rPr>
                <a:t>2、只上传【用于一般评阅的论文】即可，论文送审期间，不得修改系统中的学位论文。</a:t>
              </a:r>
              <a:endParaRPr lang="zh-CN" altLang="en-US" sz="2000" b="1" dirty="0" smtClean="0">
                <a:solidFill>
                  <a:srgbClr val="FF0000"/>
                </a:solidFill>
                <a:highlight>
                  <a:srgbClr val="FFFF00"/>
                </a:highlight>
                <a:latin typeface="Arial" panose="020B0604020202020204" pitchFamily="34" charset="0"/>
                <a:ea typeface="微软雅黑" panose="020B0503020204020204"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学位论文</a:t>
            </a:r>
            <a:r>
              <a:rPr lang="zh-CN" altLang="en-US" sz="4000" b="1" dirty="0">
                <a:latin typeface="微软雅黑" panose="020B0503020204020204" charset="-122"/>
                <a:ea typeface="微软雅黑" panose="020B0503020204020204" charset="-122"/>
                <a:sym typeface="+mn-ea"/>
              </a:rPr>
              <a:t>评阅</a:t>
            </a:r>
            <a:endParaRPr lang="zh-CN" altLang="en-US" sz="4000" b="1" dirty="0">
              <a:latin typeface="微软雅黑" panose="020B0503020204020204" charset="-122"/>
              <a:ea typeface="微软雅黑" panose="020B0503020204020204" charset="-122"/>
            </a:endParaRPr>
          </a:p>
        </p:txBody>
      </p:sp>
      <p:grpSp>
        <p:nvGrpSpPr>
          <p:cNvPr id="8" name="组合 7"/>
          <p:cNvGrpSpPr/>
          <p:nvPr/>
        </p:nvGrpSpPr>
        <p:grpSpPr>
          <a:xfrm>
            <a:off x="541020" y="1355725"/>
            <a:ext cx="11178540" cy="2287905"/>
            <a:chOff x="755" y="2054"/>
            <a:chExt cx="17604" cy="3603"/>
          </a:xfrm>
        </p:grpSpPr>
        <p:sp>
          <p:nvSpPr>
            <p:cNvPr id="10" name="矩形 9"/>
            <p:cNvSpPr/>
            <p:nvPr/>
          </p:nvSpPr>
          <p:spPr>
            <a:xfrm>
              <a:off x="1445" y="2621"/>
              <a:ext cx="901" cy="901"/>
            </a:xfrm>
            <a:prstGeom prst="rect">
              <a:avLst/>
            </a:prstGeom>
            <a:solidFill>
              <a:srgbClr val="DC5C31"/>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1" name="文本框 10"/>
            <p:cNvSpPr txBox="1"/>
            <p:nvPr/>
          </p:nvSpPr>
          <p:spPr>
            <a:xfrm>
              <a:off x="755" y="2054"/>
              <a:ext cx="17604" cy="3603"/>
            </a:xfrm>
            <a:prstGeom prst="rect">
              <a:avLst/>
            </a:prstGeom>
            <a:noFill/>
          </p:spPr>
          <p:txBody>
            <a:bodyPr wrap="square" rtlCol="0" anchor="t">
              <a:spAutoFit/>
            </a:bodyPr>
            <a:p>
              <a:pPr>
                <a:lnSpc>
                  <a:spcPct val="170000"/>
                </a:lnSpc>
              </a:pPr>
              <a:r>
                <a:rPr sz="2400" b="1" dirty="0">
                  <a:solidFill>
                    <a:srgbClr val="3D3F41"/>
                  </a:solidFill>
                  <a:latin typeface="微软雅黑" panose="020B0503020204020204" charset="-122"/>
                  <a:ea typeface="微软雅黑" panose="020B0503020204020204" charset="-122"/>
                  <a:sym typeface="黑体" panose="02010609060101010101" charset="-122"/>
                </a:rPr>
                <a:t>第  </a:t>
              </a:r>
              <a:r>
                <a:rPr lang="en-US" sz="3600" b="1" dirty="0">
                  <a:solidFill>
                    <a:srgbClr val="FFFFFF"/>
                  </a:solidFill>
                  <a:latin typeface="微软雅黑" panose="020B0503020204020204" charset="-122"/>
                  <a:ea typeface="微软雅黑" panose="020B0503020204020204" charset="-122"/>
                  <a:sym typeface="黑体" panose="02010609060101010101" charset="-122"/>
                </a:rPr>
                <a:t>2</a:t>
              </a:r>
              <a:r>
                <a:rPr lang="en-US" sz="3600" b="1" dirty="0">
                  <a:solidFill>
                    <a:srgbClr val="3D3F41"/>
                  </a:solidFill>
                  <a:latin typeface="微软雅黑" panose="020B0503020204020204" charset="-122"/>
                  <a:ea typeface="微软雅黑" panose="020B0503020204020204" charset="-122"/>
                  <a:sym typeface="黑体" panose="02010609060101010101" charset="-122"/>
                </a:rPr>
                <a:t>  </a:t>
              </a:r>
              <a:r>
                <a:rPr sz="2400" b="1" dirty="0">
                  <a:solidFill>
                    <a:srgbClr val="3D3F41"/>
                  </a:solidFill>
                  <a:latin typeface="微软雅黑" panose="020B0503020204020204" charset="-122"/>
                  <a:ea typeface="微软雅黑" panose="020B0503020204020204" charset="-122"/>
                  <a:sym typeface="黑体" panose="02010609060101010101" charset="-122"/>
                </a:rPr>
                <a:t>步：</a:t>
              </a:r>
              <a:r>
                <a:rPr sz="2400" b="1" dirty="0">
                  <a:latin typeface="微软雅黑" panose="020B0503020204020204" charset="-122"/>
                  <a:ea typeface="微软雅黑" panose="020B0503020204020204" charset="-122"/>
                  <a:sym typeface="黑体" panose="02010609060101010101" charset="-122"/>
                </a:rPr>
                <a:t>学位论文由学生教育处进行送审。专家确认参评截止时间默认为14天，评阅时间默认为30天，</a:t>
              </a:r>
              <a:r>
                <a:rPr lang="zh-CN" altLang="en-US" sz="2400" b="1" dirty="0">
                  <a:solidFill>
                    <a:srgbClr val="3D3F41"/>
                  </a:solidFill>
                  <a:latin typeface="微软雅黑" panose="020B0503020204020204" charset="-122"/>
                  <a:ea typeface="微软雅黑" panose="020B0503020204020204" charset="-122"/>
                  <a:sym typeface="黑体" panose="02010609060101010101" charset="-122"/>
                </a:rPr>
                <a:t>评阅截止时间为</a:t>
              </a:r>
              <a:r>
                <a:rPr lang="en-US" altLang="zh-CN" sz="2400" b="1" dirty="0">
                  <a:solidFill>
                    <a:srgbClr val="FF0000"/>
                  </a:solidFill>
                  <a:highlight>
                    <a:srgbClr val="FFFF00"/>
                  </a:highlight>
                  <a:latin typeface="微软雅黑" panose="020B0503020204020204" charset="-122"/>
                  <a:ea typeface="微软雅黑" panose="020B0503020204020204" charset="-122"/>
                  <a:sym typeface="黑体" panose="02010609060101010101" charset="-122"/>
                </a:rPr>
                <a:t>2026</a:t>
              </a:r>
              <a:r>
                <a:rPr lang="zh-CN" altLang="en-US" sz="2400" b="1" dirty="0">
                  <a:solidFill>
                    <a:srgbClr val="FF0000"/>
                  </a:solidFill>
                  <a:highlight>
                    <a:srgbClr val="FFFF00"/>
                  </a:highlight>
                  <a:latin typeface="微软雅黑" panose="020B0503020204020204" charset="-122"/>
                  <a:ea typeface="微软雅黑" panose="020B0503020204020204" charset="-122"/>
                  <a:sym typeface="黑体" panose="02010609060101010101" charset="-122"/>
                </a:rPr>
                <a:t>年</a:t>
              </a:r>
              <a:r>
                <a:rPr lang="en-US" altLang="zh-CN" sz="2400" b="1" dirty="0">
                  <a:solidFill>
                    <a:srgbClr val="FF0000"/>
                  </a:solidFill>
                  <a:highlight>
                    <a:srgbClr val="FFFF00"/>
                  </a:highlight>
                  <a:latin typeface="微软雅黑" panose="020B0503020204020204" charset="-122"/>
                  <a:ea typeface="微软雅黑" panose="020B0503020204020204" charset="-122"/>
                  <a:sym typeface="黑体" panose="02010609060101010101" charset="-122"/>
                </a:rPr>
                <a:t>4</a:t>
              </a:r>
              <a:r>
                <a:rPr lang="zh-CN" altLang="en-US" sz="2400" b="1" dirty="0">
                  <a:solidFill>
                    <a:srgbClr val="FF0000"/>
                  </a:solidFill>
                  <a:highlight>
                    <a:srgbClr val="FFFF00"/>
                  </a:highlight>
                  <a:latin typeface="微软雅黑" panose="020B0503020204020204" charset="-122"/>
                  <a:ea typeface="微软雅黑" panose="020B0503020204020204" charset="-122"/>
                  <a:sym typeface="黑体" panose="02010609060101010101" charset="-122"/>
                </a:rPr>
                <a:t>月</a:t>
              </a:r>
              <a:r>
                <a:rPr lang="en-US" altLang="zh-CN" sz="2400" b="1" dirty="0">
                  <a:solidFill>
                    <a:srgbClr val="FF0000"/>
                  </a:solidFill>
                  <a:highlight>
                    <a:srgbClr val="FFFF00"/>
                  </a:highlight>
                  <a:latin typeface="微软雅黑" panose="020B0503020204020204" charset="-122"/>
                  <a:ea typeface="微软雅黑" panose="020B0503020204020204" charset="-122"/>
                  <a:sym typeface="黑体" panose="02010609060101010101" charset="-122"/>
                </a:rPr>
                <a:t>17</a:t>
              </a:r>
              <a:r>
                <a:rPr lang="zh-CN" altLang="en-US" sz="2400" b="1" dirty="0">
                  <a:solidFill>
                    <a:srgbClr val="FF0000"/>
                  </a:solidFill>
                  <a:highlight>
                    <a:srgbClr val="FFFF00"/>
                  </a:highlight>
                  <a:latin typeface="微软雅黑" panose="020B0503020204020204" charset="-122"/>
                  <a:ea typeface="微软雅黑" panose="020B0503020204020204" charset="-122"/>
                  <a:sym typeface="黑体" panose="02010609060101010101" charset="-122"/>
                </a:rPr>
                <a:t>日</a:t>
              </a:r>
              <a:r>
                <a:rPr lang="en-US" altLang="zh-CN" sz="2400" b="1" dirty="0">
                  <a:solidFill>
                    <a:srgbClr val="FF0000"/>
                  </a:solidFill>
                  <a:highlight>
                    <a:srgbClr val="FFFF00"/>
                  </a:highlight>
                  <a:latin typeface="微软雅黑" panose="020B0503020204020204" charset="-122"/>
                  <a:ea typeface="微软雅黑" panose="020B0503020204020204" charset="-122"/>
                  <a:sym typeface="黑体" panose="02010609060101010101" charset="-122"/>
                </a:rPr>
                <a:t>23:59</a:t>
              </a:r>
              <a:r>
                <a:rPr sz="2400" b="1" dirty="0">
                  <a:solidFill>
                    <a:srgbClr val="3D3F41"/>
                  </a:solidFill>
                  <a:latin typeface="微软雅黑" panose="020B0503020204020204" charset="-122"/>
                  <a:ea typeface="微软雅黑" panose="020B0503020204020204" charset="-122"/>
                  <a:sym typeface="黑体" panose="02010609060101010101" charset="-122"/>
                </a:rPr>
                <a:t>；</a:t>
              </a:r>
              <a:endParaRPr sz="2400" b="1" dirty="0">
                <a:solidFill>
                  <a:srgbClr val="3D3F41"/>
                </a:solidFill>
                <a:latin typeface="微软雅黑" panose="020B0503020204020204" charset="-122"/>
                <a:ea typeface="微软雅黑" panose="020B0503020204020204" charset="-122"/>
                <a:sym typeface="黑体" panose="02010609060101010101" charset="-122"/>
              </a:endParaRPr>
            </a:p>
            <a:p>
              <a:pPr>
                <a:lnSpc>
                  <a:spcPct val="170000"/>
                </a:lnSpc>
              </a:pPr>
              <a:endParaRPr lang="zh-CN" altLang="en-US" sz="2400" b="1" dirty="0" smtClean="0">
                <a:solidFill>
                  <a:srgbClr val="DC5C31"/>
                </a:solidFill>
                <a:latin typeface="微软雅黑" panose="020B0503020204020204" charset="-122"/>
                <a:ea typeface="微软雅黑" panose="020B0503020204020204" charset="-122"/>
                <a:sym typeface="黑体" panose="02010609060101010101" charset="-122"/>
              </a:endParaRPr>
            </a:p>
          </p:txBody>
        </p:sp>
      </p:grpSp>
      <p:grpSp>
        <p:nvGrpSpPr>
          <p:cNvPr id="12" name="组合 11"/>
          <p:cNvGrpSpPr/>
          <p:nvPr/>
        </p:nvGrpSpPr>
        <p:grpSpPr>
          <a:xfrm>
            <a:off x="541020" y="3238500"/>
            <a:ext cx="11178540" cy="2287905"/>
            <a:chOff x="755" y="2054"/>
            <a:chExt cx="17604" cy="3603"/>
          </a:xfrm>
        </p:grpSpPr>
        <p:sp>
          <p:nvSpPr>
            <p:cNvPr id="13" name="矩形 12"/>
            <p:cNvSpPr/>
            <p:nvPr/>
          </p:nvSpPr>
          <p:spPr>
            <a:xfrm>
              <a:off x="1445" y="2621"/>
              <a:ext cx="901" cy="901"/>
            </a:xfrm>
            <a:prstGeom prst="rect">
              <a:avLst/>
            </a:prstGeom>
            <a:solidFill>
              <a:srgbClr val="DC5C31"/>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4" name="文本框 13"/>
            <p:cNvSpPr txBox="1"/>
            <p:nvPr/>
          </p:nvSpPr>
          <p:spPr>
            <a:xfrm>
              <a:off x="755" y="2054"/>
              <a:ext cx="17604" cy="3603"/>
            </a:xfrm>
            <a:prstGeom prst="rect">
              <a:avLst/>
            </a:prstGeom>
            <a:noFill/>
          </p:spPr>
          <p:txBody>
            <a:bodyPr wrap="square" rtlCol="0" anchor="t">
              <a:spAutoFit/>
            </a:bodyPr>
            <a:p>
              <a:pPr>
                <a:lnSpc>
                  <a:spcPct val="170000"/>
                </a:lnSpc>
              </a:pPr>
              <a:r>
                <a:rPr sz="2400" b="1" dirty="0">
                  <a:solidFill>
                    <a:srgbClr val="3D3F41"/>
                  </a:solidFill>
                  <a:latin typeface="微软雅黑" panose="020B0503020204020204" charset="-122"/>
                  <a:ea typeface="微软雅黑" panose="020B0503020204020204" charset="-122"/>
                  <a:sym typeface="黑体" panose="02010609060101010101" charset="-122"/>
                </a:rPr>
                <a:t>第  </a:t>
              </a:r>
              <a:r>
                <a:rPr lang="en-US" sz="3600" b="1" dirty="0">
                  <a:solidFill>
                    <a:srgbClr val="FFFFFF"/>
                  </a:solidFill>
                  <a:latin typeface="微软雅黑" panose="020B0503020204020204" charset="-122"/>
                  <a:ea typeface="微软雅黑" panose="020B0503020204020204" charset="-122"/>
                  <a:sym typeface="黑体" panose="02010609060101010101" charset="-122"/>
                </a:rPr>
                <a:t>3</a:t>
              </a:r>
              <a:r>
                <a:rPr lang="en-US" sz="3600" b="1" dirty="0">
                  <a:solidFill>
                    <a:srgbClr val="3D3F41"/>
                  </a:solidFill>
                  <a:latin typeface="微软雅黑" panose="020B0503020204020204" charset="-122"/>
                  <a:ea typeface="微软雅黑" panose="020B0503020204020204" charset="-122"/>
                  <a:sym typeface="黑体" panose="02010609060101010101" charset="-122"/>
                </a:rPr>
                <a:t>  </a:t>
              </a:r>
              <a:r>
                <a:rPr sz="2400" b="1" dirty="0">
                  <a:solidFill>
                    <a:srgbClr val="3D3F41"/>
                  </a:solidFill>
                  <a:latin typeface="微软雅黑" panose="020B0503020204020204" charset="-122"/>
                  <a:ea typeface="微软雅黑" panose="020B0503020204020204" charset="-122"/>
                  <a:sym typeface="黑体" panose="02010609060101010101" charset="-122"/>
                </a:rPr>
                <a:t>步：</a:t>
              </a:r>
              <a:r>
                <a:rPr sz="2400" b="1" dirty="0">
                  <a:latin typeface="微软雅黑" panose="020B0503020204020204" charset="-122"/>
                  <a:ea typeface="微软雅黑" panose="020B0503020204020204" charset="-122"/>
                  <a:sym typeface="黑体" panose="02010609060101010101" charset="-122"/>
                </a:rPr>
                <a:t>添加评阅人后，系统自动给专家发送邮件，告知网上评阅的网址、登录名、密码、返回纸质评阅书截止时间等。评阅人登录网址填写评阅意见，打印评阅书，签字后按时寄给研究所，或扫描上传系统</a:t>
              </a:r>
              <a:endParaRPr sz="2400" b="1" dirty="0">
                <a:latin typeface="微软雅黑" panose="020B0503020204020204" charset="-122"/>
                <a:ea typeface="微软雅黑" panose="020B0503020204020204" charset="-122"/>
                <a:sym typeface="黑体" panose="02010609060101010101"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6597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学位论文</a:t>
            </a:r>
            <a:r>
              <a:rPr lang="zh-CN" altLang="en-US" sz="4000" b="1" dirty="0">
                <a:latin typeface="微软雅黑" panose="020B0503020204020204" charset="-122"/>
                <a:ea typeface="微软雅黑" panose="020B0503020204020204" charset="-122"/>
                <a:sym typeface="+mn-ea"/>
              </a:rPr>
              <a:t>评阅</a:t>
            </a:r>
            <a:endParaRPr lang="zh-CN" altLang="en-US" sz="4000" b="1" dirty="0">
              <a:latin typeface="微软雅黑" panose="020B0503020204020204" charset="-122"/>
              <a:ea typeface="微软雅黑" panose="020B0503020204020204" charset="-122"/>
            </a:endParaRPr>
          </a:p>
        </p:txBody>
      </p:sp>
      <p:grpSp>
        <p:nvGrpSpPr>
          <p:cNvPr id="2" name="组合 1"/>
          <p:cNvGrpSpPr/>
          <p:nvPr/>
        </p:nvGrpSpPr>
        <p:grpSpPr>
          <a:xfrm>
            <a:off x="541020" y="1162685"/>
            <a:ext cx="11178540" cy="2287905"/>
            <a:chOff x="755" y="2054"/>
            <a:chExt cx="17604" cy="3603"/>
          </a:xfrm>
        </p:grpSpPr>
        <p:sp>
          <p:nvSpPr>
            <p:cNvPr id="7" name="矩形 6"/>
            <p:cNvSpPr/>
            <p:nvPr/>
          </p:nvSpPr>
          <p:spPr>
            <a:xfrm>
              <a:off x="1445" y="2621"/>
              <a:ext cx="901" cy="901"/>
            </a:xfrm>
            <a:prstGeom prst="rect">
              <a:avLst/>
            </a:prstGeom>
            <a:solidFill>
              <a:srgbClr val="DC5C31"/>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5" name="文本框 14"/>
            <p:cNvSpPr txBox="1"/>
            <p:nvPr/>
          </p:nvSpPr>
          <p:spPr>
            <a:xfrm>
              <a:off x="755" y="2054"/>
              <a:ext cx="17604" cy="3603"/>
            </a:xfrm>
            <a:prstGeom prst="rect">
              <a:avLst/>
            </a:prstGeom>
            <a:noFill/>
          </p:spPr>
          <p:txBody>
            <a:bodyPr wrap="square" rtlCol="0" anchor="t">
              <a:spAutoFit/>
            </a:bodyPr>
            <a:p>
              <a:pPr>
                <a:lnSpc>
                  <a:spcPct val="170000"/>
                </a:lnSpc>
              </a:pPr>
              <a:r>
                <a:rPr sz="2400" b="1" dirty="0">
                  <a:solidFill>
                    <a:srgbClr val="3D3F41"/>
                  </a:solidFill>
                  <a:latin typeface="微软雅黑" panose="020B0503020204020204" charset="-122"/>
                  <a:ea typeface="微软雅黑" panose="020B0503020204020204" charset="-122"/>
                  <a:sym typeface="黑体" panose="02010609060101010101" charset="-122"/>
                </a:rPr>
                <a:t>第  </a:t>
              </a:r>
              <a:r>
                <a:rPr lang="en-US" sz="3600" b="1" dirty="0">
                  <a:solidFill>
                    <a:srgbClr val="FFFFFF"/>
                  </a:solidFill>
                  <a:latin typeface="微软雅黑" panose="020B0503020204020204" charset="-122"/>
                  <a:ea typeface="微软雅黑" panose="020B0503020204020204" charset="-122"/>
                  <a:sym typeface="黑体" panose="02010609060101010101" charset="-122"/>
                </a:rPr>
                <a:t>4</a:t>
              </a:r>
              <a:r>
                <a:rPr lang="en-US" sz="3600" b="1" dirty="0">
                  <a:solidFill>
                    <a:srgbClr val="3D3F41"/>
                  </a:solidFill>
                  <a:latin typeface="微软雅黑" panose="020B0503020204020204" charset="-122"/>
                  <a:ea typeface="微软雅黑" panose="020B0503020204020204" charset="-122"/>
                  <a:sym typeface="黑体" panose="02010609060101010101" charset="-122"/>
                </a:rPr>
                <a:t>  </a:t>
              </a:r>
              <a:r>
                <a:rPr sz="2400" b="1" dirty="0">
                  <a:solidFill>
                    <a:srgbClr val="3D3F41"/>
                  </a:solidFill>
                  <a:latin typeface="微软雅黑" panose="020B0503020204020204" charset="-122"/>
                  <a:ea typeface="微软雅黑" panose="020B0503020204020204" charset="-122"/>
                  <a:sym typeface="黑体" panose="02010609060101010101" charset="-122"/>
                </a:rPr>
                <a:t>步：</a:t>
              </a:r>
              <a:r>
                <a:rPr sz="2400" b="1" dirty="0">
                  <a:latin typeface="微软雅黑" panose="020B0503020204020204" charset="-122"/>
                  <a:ea typeface="微软雅黑" panose="020B0503020204020204" charset="-122"/>
                  <a:sym typeface="黑体" panose="02010609060101010101" charset="-122"/>
                </a:rPr>
                <a:t>学生教育处会定期反馈评阅进度，</a:t>
              </a:r>
              <a:r>
                <a:rPr sz="2400" b="1" dirty="0">
                  <a:solidFill>
                    <a:srgbClr val="C00000"/>
                  </a:solidFill>
                  <a:latin typeface="微软雅黑" panose="020B0503020204020204" charset="-122"/>
                  <a:ea typeface="微软雅黑" panose="020B0503020204020204" charset="-122"/>
                  <a:sym typeface="黑体" panose="02010609060101010101" charset="-122"/>
                </a:rPr>
                <a:t>并于评阅截止前一周将实际评阅人名单反馈至答辩秘书组长</a:t>
              </a:r>
              <a:r>
                <a:rPr sz="2400" b="1" dirty="0">
                  <a:latin typeface="微软雅黑" panose="020B0503020204020204" charset="-122"/>
                  <a:ea typeface="微软雅黑" panose="020B0503020204020204" charset="-122"/>
                  <a:sym typeface="黑体" panose="02010609060101010101" charset="-122"/>
                </a:rPr>
                <a:t>，根据国科大要求，超过评阅截至时间后评阅人将无法继续评阅，请务必提醒专家按时评阅</a:t>
              </a:r>
              <a:endParaRPr sz="2400" b="1" dirty="0">
                <a:latin typeface="微软雅黑" panose="020B0503020204020204" charset="-122"/>
                <a:ea typeface="微软雅黑" panose="020B0503020204020204" charset="-122"/>
                <a:sym typeface="黑体" panose="02010609060101010101" charset="-122"/>
              </a:endParaRPr>
            </a:p>
          </p:txBody>
        </p:sp>
      </p:grpSp>
      <p:grpSp>
        <p:nvGrpSpPr>
          <p:cNvPr id="19" name="组合 18"/>
          <p:cNvGrpSpPr/>
          <p:nvPr/>
        </p:nvGrpSpPr>
        <p:grpSpPr>
          <a:xfrm>
            <a:off x="540385" y="5617845"/>
            <a:ext cx="11178540" cy="1032510"/>
            <a:chOff x="755" y="2054"/>
            <a:chExt cx="17604" cy="1626"/>
          </a:xfrm>
        </p:grpSpPr>
        <p:sp>
          <p:nvSpPr>
            <p:cNvPr id="20" name="矩形 19"/>
            <p:cNvSpPr/>
            <p:nvPr/>
          </p:nvSpPr>
          <p:spPr>
            <a:xfrm>
              <a:off x="1445" y="2621"/>
              <a:ext cx="901" cy="901"/>
            </a:xfrm>
            <a:prstGeom prst="rect">
              <a:avLst/>
            </a:prstGeom>
            <a:solidFill>
              <a:srgbClr val="DC5C31"/>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1" name="文本框 20"/>
            <p:cNvSpPr txBox="1"/>
            <p:nvPr/>
          </p:nvSpPr>
          <p:spPr>
            <a:xfrm>
              <a:off x="755" y="2054"/>
              <a:ext cx="17604" cy="1626"/>
            </a:xfrm>
            <a:prstGeom prst="rect">
              <a:avLst/>
            </a:prstGeom>
            <a:noFill/>
          </p:spPr>
          <p:txBody>
            <a:bodyPr wrap="square" rtlCol="0" anchor="t">
              <a:spAutoFit/>
            </a:bodyPr>
            <a:p>
              <a:pPr>
                <a:lnSpc>
                  <a:spcPct val="170000"/>
                </a:lnSpc>
              </a:pPr>
              <a:r>
                <a:rPr sz="2400" dirty="0">
                  <a:solidFill>
                    <a:srgbClr val="3D3F41"/>
                  </a:solidFill>
                  <a:latin typeface="微软雅黑" panose="020B0503020204020204" charset="-122"/>
                  <a:ea typeface="微软雅黑" panose="020B0503020204020204" charset="-122"/>
                  <a:sym typeface="黑体" panose="02010609060101010101" charset="-122"/>
                </a:rPr>
                <a:t>第  </a:t>
              </a:r>
              <a:r>
                <a:rPr lang="en-US" sz="3600" b="1" dirty="0">
                  <a:solidFill>
                    <a:srgbClr val="FFFFFF"/>
                  </a:solidFill>
                  <a:latin typeface="微软雅黑" panose="020B0503020204020204" charset="-122"/>
                  <a:ea typeface="微软雅黑" panose="020B0503020204020204" charset="-122"/>
                  <a:sym typeface="黑体" panose="02010609060101010101" charset="-122"/>
                </a:rPr>
                <a:t>5</a:t>
              </a:r>
              <a:r>
                <a:rPr lang="en-US" sz="3600" b="1" dirty="0">
                  <a:solidFill>
                    <a:srgbClr val="3D3F41"/>
                  </a:solidFill>
                  <a:latin typeface="微软雅黑" panose="020B0503020204020204" charset="-122"/>
                  <a:ea typeface="微软雅黑" panose="020B0503020204020204" charset="-122"/>
                  <a:sym typeface="黑体" panose="02010609060101010101" charset="-122"/>
                </a:rPr>
                <a:t>  </a:t>
              </a:r>
              <a:r>
                <a:rPr sz="2400" dirty="0">
                  <a:solidFill>
                    <a:srgbClr val="3D3F41"/>
                  </a:solidFill>
                  <a:latin typeface="微软雅黑" panose="020B0503020204020204" charset="-122"/>
                  <a:ea typeface="微软雅黑" panose="020B0503020204020204" charset="-122"/>
                  <a:sym typeface="黑体" panose="02010609060101010101" charset="-122"/>
                </a:rPr>
                <a:t>步：</a:t>
              </a:r>
              <a:r>
                <a:rPr sz="2400" dirty="0">
                  <a:latin typeface="微软雅黑" panose="020B0503020204020204" charset="-122"/>
                  <a:ea typeface="微软雅黑" panose="020B0503020204020204" charset="-122"/>
                  <a:sym typeface="黑体" panose="02010609060101010101" charset="-122"/>
                </a:rPr>
                <a:t>请在答辩前，把学生论文发给答辩委员会成员（非评阅人的委员）</a:t>
              </a:r>
              <a:endParaRPr sz="2400" dirty="0">
                <a:latin typeface="微软雅黑" panose="020B0503020204020204" charset="-122"/>
                <a:ea typeface="微软雅黑" panose="020B0503020204020204" charset="-122"/>
                <a:sym typeface="黑体" panose="02010609060101010101" charset="-122"/>
              </a:endParaRPr>
            </a:p>
          </p:txBody>
        </p:sp>
      </p:grpSp>
      <p:pic>
        <p:nvPicPr>
          <p:cNvPr id="22" name="图片 21"/>
          <p:cNvPicPr>
            <a:picLocks noChangeAspect="1"/>
          </p:cNvPicPr>
          <p:nvPr/>
        </p:nvPicPr>
        <p:blipFill>
          <a:blip r:embed="rId1"/>
          <a:stretch>
            <a:fillRect/>
          </a:stretch>
        </p:blipFill>
        <p:spPr>
          <a:xfrm>
            <a:off x="846455" y="4437380"/>
            <a:ext cx="10149205" cy="1280160"/>
          </a:xfrm>
          <a:prstGeom prst="rect">
            <a:avLst/>
          </a:prstGeom>
        </p:spPr>
      </p:pic>
      <p:sp>
        <p:nvSpPr>
          <p:cNvPr id="23" name="矩形 22"/>
          <p:cNvSpPr/>
          <p:nvPr/>
        </p:nvSpPr>
        <p:spPr>
          <a:xfrm>
            <a:off x="6572885" y="4674870"/>
            <a:ext cx="2817495" cy="104267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25" name="矩形 24"/>
          <p:cNvSpPr/>
          <p:nvPr/>
        </p:nvSpPr>
        <p:spPr>
          <a:xfrm>
            <a:off x="10222865" y="5111750"/>
            <a:ext cx="388620" cy="37147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26" name="组合 25"/>
          <p:cNvGrpSpPr/>
          <p:nvPr/>
        </p:nvGrpSpPr>
        <p:grpSpPr>
          <a:xfrm>
            <a:off x="9317968" y="3529965"/>
            <a:ext cx="1971675" cy="1010285"/>
            <a:chOff x="14071" y="7045"/>
            <a:chExt cx="4614" cy="1591"/>
          </a:xfrm>
        </p:grpSpPr>
        <p:sp>
          <p:nvSpPr>
            <p:cNvPr id="27" name=" 231"/>
            <p:cNvSpPr/>
            <p:nvPr/>
          </p:nvSpPr>
          <p:spPr>
            <a:xfrm>
              <a:off x="14235" y="7045"/>
              <a:ext cx="4287" cy="1591"/>
            </a:xfrm>
            <a:custGeom>
              <a:avLst/>
              <a:gdLst>
                <a:gd name="connsiteX0" fmla="*/ 0 w 648072"/>
                <a:gd name="connsiteY0" fmla="*/ 0 h 571214"/>
                <a:gd name="connsiteX1" fmla="*/ 648072 w 648072"/>
                <a:gd name="connsiteY1" fmla="*/ 0 h 571214"/>
                <a:gd name="connsiteX2" fmla="*/ 648072 w 648072"/>
                <a:gd name="connsiteY2" fmla="*/ 432048 h 571214"/>
                <a:gd name="connsiteX3" fmla="*/ 404753 w 648072"/>
                <a:gd name="connsiteY3" fmla="*/ 432048 h 571214"/>
                <a:gd name="connsiteX4" fmla="*/ 324037 w 648072"/>
                <a:gd name="connsiteY4" fmla="*/ 571214 h 571214"/>
                <a:gd name="connsiteX5" fmla="*/ 243321 w 648072"/>
                <a:gd name="connsiteY5" fmla="*/ 432048 h 571214"/>
                <a:gd name="connsiteX6" fmla="*/ 0 w 648072"/>
                <a:gd name="connsiteY6" fmla="*/ 432048 h 57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072" h="571214">
                  <a:moveTo>
                    <a:pt x="0" y="0"/>
                  </a:moveTo>
                  <a:lnTo>
                    <a:pt x="648072" y="0"/>
                  </a:lnTo>
                  <a:lnTo>
                    <a:pt x="648072" y="432048"/>
                  </a:lnTo>
                  <a:lnTo>
                    <a:pt x="404753" y="432048"/>
                  </a:lnTo>
                  <a:lnTo>
                    <a:pt x="324037" y="571214"/>
                  </a:lnTo>
                  <a:lnTo>
                    <a:pt x="243321" y="432048"/>
                  </a:lnTo>
                  <a:lnTo>
                    <a:pt x="0" y="432048"/>
                  </a:lnTo>
                  <a:close/>
                </a:path>
              </a:pathLst>
            </a:custGeom>
            <a:solidFill>
              <a:srgbClr val="DC5C31"/>
            </a:solidFill>
            <a:ln w="12700" cap="flat" cmpd="sng" algn="ctr">
              <a:noFill/>
              <a:prstDash val="solid"/>
              <a:miter lim="800000"/>
            </a:ln>
            <a:effectLst/>
          </p:spPr>
          <p:txBody>
            <a:bodyPr bIns="432000" anchor="ctr"/>
            <a:lstStyle>
              <a:defPPr>
                <a:defRPr lang="zh-CN"/>
              </a:defPPr>
              <a:lvl1pPr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1pPr>
              <a:lvl2pPr marL="4572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2pPr>
              <a:lvl3pPr marL="9144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3pPr>
              <a:lvl4pPr marL="13716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4pPr>
              <a:lvl5pPr marL="1828800" algn="l" rtl="0" eaLnBrk="0" fontAlgn="base" hangingPunct="0">
                <a:spcBef>
                  <a:spcPct val="0"/>
                </a:spcBef>
                <a:spcAft>
                  <a:spcPct val="0"/>
                </a:spcAft>
                <a:defRPr kern="1200">
                  <a:solidFill>
                    <a:srgbClr val="FFFFFF"/>
                  </a:solidFill>
                  <a:latin typeface="Arial" panose="020B0604020202020204" pitchFamily="34" charset="0"/>
                  <a:ea typeface="黑体" panose="02010609060101010101" charset="-122"/>
                  <a:cs typeface="+mn-ea"/>
                </a:defRPr>
              </a:lvl5pPr>
              <a:lvl6pPr marL="2286000" algn="l" defTabSz="914400" rtl="0" eaLnBrk="1" latinLnBrk="0" hangingPunct="1">
                <a:defRPr kern="1200">
                  <a:solidFill>
                    <a:srgbClr val="FFFFFF"/>
                  </a:solidFill>
                  <a:latin typeface="Arial" panose="020B0604020202020204" pitchFamily="34" charset="0"/>
                  <a:ea typeface="黑体" panose="02010609060101010101" charset="-122"/>
                  <a:cs typeface="+mn-ea"/>
                </a:defRPr>
              </a:lvl6pPr>
              <a:lvl7pPr marL="2743200" algn="l" defTabSz="914400" rtl="0" eaLnBrk="1" latinLnBrk="0" hangingPunct="1">
                <a:defRPr kern="1200">
                  <a:solidFill>
                    <a:srgbClr val="FFFFFF"/>
                  </a:solidFill>
                  <a:latin typeface="Arial" panose="020B0604020202020204" pitchFamily="34" charset="0"/>
                  <a:ea typeface="黑体" panose="02010609060101010101" charset="-122"/>
                  <a:cs typeface="+mn-ea"/>
                </a:defRPr>
              </a:lvl7pPr>
              <a:lvl8pPr marL="3200400" algn="l" defTabSz="914400" rtl="0" eaLnBrk="1" latinLnBrk="0" hangingPunct="1">
                <a:defRPr kern="1200">
                  <a:solidFill>
                    <a:srgbClr val="FFFFFF"/>
                  </a:solidFill>
                  <a:latin typeface="Arial" panose="020B0604020202020204" pitchFamily="34" charset="0"/>
                  <a:ea typeface="黑体" panose="02010609060101010101" charset="-122"/>
                  <a:cs typeface="+mn-ea"/>
                </a:defRPr>
              </a:lvl8pPr>
              <a:lvl9pPr marL="3657600" algn="l" defTabSz="914400" rtl="0" eaLnBrk="1" latinLnBrk="0" hangingPunct="1">
                <a:defRPr kern="1200">
                  <a:solidFill>
                    <a:srgbClr val="FFFFFF"/>
                  </a:solidFill>
                  <a:latin typeface="Arial" panose="020B0604020202020204" pitchFamily="34" charset="0"/>
                  <a:ea typeface="黑体" panose="02010609060101010101" charset="-122"/>
                  <a:cs typeface="+mn-ea"/>
                </a:defRPr>
              </a:lvl9pPr>
            </a:lstStyle>
            <a:p>
              <a:pPr algn="ctr" eaLnBrk="1" fontAlgn="auto" hangingPunct="1">
                <a:spcBef>
                  <a:spcPts val="0"/>
                </a:spcBef>
                <a:spcAft>
                  <a:spcPts val="0"/>
                </a:spcAft>
                <a:defRPr/>
              </a:pPr>
              <a:endParaRPr lang="zh-CN" altLang="en-US" dirty="0">
                <a:solidFill>
                  <a:srgbClr val="FFFFFF"/>
                </a:solidFill>
                <a:latin typeface="Arial" panose="020B0604020202020204" pitchFamily="34" charset="0"/>
                <a:ea typeface="黑体" panose="02010609060101010101" charset="-122"/>
              </a:endParaRPr>
            </a:p>
          </p:txBody>
        </p:sp>
        <p:sp>
          <p:nvSpPr>
            <p:cNvPr id="30" name="文本框 29"/>
            <p:cNvSpPr txBox="1"/>
            <p:nvPr/>
          </p:nvSpPr>
          <p:spPr>
            <a:xfrm>
              <a:off x="14071" y="7176"/>
              <a:ext cx="4614" cy="892"/>
            </a:xfrm>
            <a:prstGeom prst="rect">
              <a:avLst/>
            </a:prstGeom>
            <a:noFill/>
          </p:spPr>
          <p:txBody>
            <a:bodyPr wrap="square" rtlCol="0">
              <a:spAutoFit/>
            </a:bodyPr>
            <a:p>
              <a:pPr algn="ctr">
                <a:lnSpc>
                  <a:spcPct val="130000"/>
                </a:lnSpc>
              </a:pPr>
              <a:r>
                <a:rPr lang="zh-CN" altLang="en-US" sz="2400" b="1" dirty="0" smtClean="0">
                  <a:solidFill>
                    <a:srgbClr val="FFFFFF"/>
                  </a:solidFill>
                  <a:latin typeface="Arial" panose="020B0604020202020204" pitchFamily="34" charset="0"/>
                  <a:ea typeface="微软雅黑" panose="020B0503020204020204" charset="-122"/>
                </a:rPr>
                <a:t>已评阅人数</a:t>
              </a:r>
              <a:endParaRPr lang="zh-CN" altLang="en-US" sz="2400" b="1" dirty="0" smtClean="0">
                <a:solidFill>
                  <a:srgbClr val="FFFFFF"/>
                </a:solidFill>
                <a:latin typeface="Arial" panose="020B0604020202020204" pitchFamily="34" charset="0"/>
                <a:ea typeface="微软雅黑" panose="020B0503020204020204" charset="-122"/>
              </a:endParaRPr>
            </a:p>
          </p:txBody>
        </p:sp>
      </p:grpSp>
      <p:grpSp>
        <p:nvGrpSpPr>
          <p:cNvPr id="31" name="组合 30"/>
          <p:cNvGrpSpPr/>
          <p:nvPr/>
        </p:nvGrpSpPr>
        <p:grpSpPr>
          <a:xfrm>
            <a:off x="3822700" y="3578225"/>
            <a:ext cx="2256155" cy="1089660"/>
            <a:chOff x="6020" y="4985"/>
            <a:chExt cx="3553" cy="1716"/>
          </a:xfrm>
        </p:grpSpPr>
        <p:sp>
          <p:nvSpPr>
            <p:cNvPr id="32" name="线形标注 1 31"/>
            <p:cNvSpPr/>
            <p:nvPr/>
          </p:nvSpPr>
          <p:spPr>
            <a:xfrm>
              <a:off x="6020" y="4985"/>
              <a:ext cx="3553" cy="1716"/>
            </a:xfrm>
            <a:prstGeom prst="borderCallout1">
              <a:avLst>
                <a:gd name="adj1" fmla="val 43633"/>
                <a:gd name="adj2" fmla="val 107852"/>
                <a:gd name="adj3" fmla="val 73947"/>
                <a:gd name="adj4" fmla="val 158457"/>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3" name="文本框 32"/>
            <p:cNvSpPr txBox="1"/>
            <p:nvPr/>
          </p:nvSpPr>
          <p:spPr>
            <a:xfrm>
              <a:off x="6118" y="5151"/>
              <a:ext cx="3357" cy="1307"/>
            </a:xfrm>
            <a:prstGeom prst="rect">
              <a:avLst/>
            </a:prstGeom>
            <a:noFill/>
          </p:spPr>
          <p:txBody>
            <a:bodyPr wrap="square" rtlCol="0">
              <a:spAutoFit/>
            </a:bodyPr>
            <a:p>
              <a:pPr>
                <a:lnSpc>
                  <a:spcPct val="150000"/>
                </a:lnSpc>
              </a:pPr>
              <a:r>
                <a:rPr lang="zh-CN" altLang="en-US" sz="1600" b="1" dirty="0" smtClean="0">
                  <a:latin typeface="Arial" panose="020B0604020202020204" pitchFamily="34" charset="0"/>
                  <a:ea typeface="微软雅黑" panose="020B0503020204020204" charset="-122"/>
                </a:rPr>
                <a:t>如有不同意参评，请尽快向教育处反馈</a:t>
              </a:r>
              <a:endParaRPr lang="zh-CN" altLang="en-US" sz="1600" b="1" dirty="0" smtClean="0">
                <a:latin typeface="Arial" panose="020B0604020202020204" pitchFamily="34" charset="0"/>
                <a:ea typeface="微软雅黑" panose="020B0503020204020204" charset="-122"/>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endParaRPr lang="zh-CN" altLang="en-US" sz="4000" b="1" dirty="0">
              <a:latin typeface="微软雅黑" panose="020B0503020204020204" charset="-122"/>
              <a:ea typeface="微软雅黑" panose="020B0503020204020204" charset="-122"/>
            </a:endParaRPr>
          </a:p>
        </p:txBody>
      </p:sp>
      <p:graphicFrame>
        <p:nvGraphicFramePr>
          <p:cNvPr id="2" name="表格 1"/>
          <p:cNvGraphicFramePr/>
          <p:nvPr>
            <p:custDataLst>
              <p:tags r:id="rId1"/>
            </p:custDataLst>
          </p:nvPr>
        </p:nvGraphicFramePr>
        <p:xfrm>
          <a:off x="622300" y="1405255"/>
          <a:ext cx="10299065" cy="5198745"/>
        </p:xfrm>
        <a:graphic>
          <a:graphicData uri="http://schemas.openxmlformats.org/drawingml/2006/table">
            <a:tbl>
              <a:tblPr firstRow="1" bandRow="1">
                <a:effectLst/>
                <a:tableStyleId>{5940675A-B579-460E-94D1-54222C63F5DA}</a:tableStyleId>
              </a:tblPr>
              <a:tblGrid>
                <a:gridCol w="1940560"/>
                <a:gridCol w="1286510"/>
                <a:gridCol w="1336040"/>
                <a:gridCol w="927735"/>
                <a:gridCol w="4808220"/>
              </a:tblGrid>
              <a:tr h="400050">
                <a:tc>
                  <a:txBody>
                    <a:bodyPr/>
                    <a:p>
                      <a:pPr indent="0" algn="ctr">
                        <a:buNone/>
                      </a:pPr>
                      <a:r>
                        <a:rPr lang="en-US" sz="1600" b="1">
                          <a:solidFill>
                            <a:schemeClr val="tx1"/>
                          </a:solidFill>
                          <a:latin typeface="微软雅黑" panose="020B0503020204020204" charset="-122"/>
                          <a:ea typeface="微软雅黑" panose="020B0503020204020204" charset="-122"/>
                        </a:rPr>
                        <a:t>材料名称</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类型</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份数</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附件</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c>
                  <a:txBody>
                    <a:bodyPr/>
                    <a:p>
                      <a:pPr indent="0" algn="ctr">
                        <a:buNone/>
                      </a:pPr>
                      <a:r>
                        <a:rPr lang="en-US" sz="1600" b="1">
                          <a:solidFill>
                            <a:schemeClr val="tx1"/>
                          </a:solidFill>
                          <a:latin typeface="微软雅黑" panose="020B0503020204020204" charset="-122"/>
                          <a:ea typeface="微软雅黑" panose="020B0503020204020204" charset="-122"/>
                        </a:rPr>
                        <a:t>要求</a:t>
                      </a:r>
                      <a:endParaRPr lang="en-US" altLang="en-US" sz="1600" b="1">
                        <a:solidFill>
                          <a:schemeClr val="tx1"/>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1BBAA"/>
                    </a:solidFill>
                  </a:tcPr>
                </a:tc>
              </a:tr>
              <a:tr h="1143635">
                <a:tc>
                  <a:txBody>
                    <a:bodyPr/>
                    <a:p>
                      <a:pPr indent="0" algn="ctr">
                        <a:buNone/>
                      </a:pPr>
                      <a:r>
                        <a:rPr lang="en-US" sz="1600">
                          <a:latin typeface="微软雅黑" panose="020B0503020204020204" charset="-122"/>
                          <a:ea typeface="微软雅黑" panose="020B0503020204020204" charset="-122"/>
                        </a:rPr>
                        <a:t>汇总表（答辩）</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latin typeface="微软雅黑" panose="020B0503020204020204" charset="-122"/>
                          <a:ea typeface="微软雅黑" panose="020B0503020204020204" charset="-122"/>
                        </a:rPr>
                        <a:t>电子版</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latin typeface="微软雅黑" panose="020B0503020204020204" charset="-122"/>
                          <a:ea typeface="微软雅黑" panose="020B0503020204020204" charset="-122"/>
                        </a:rPr>
                        <a:t>1</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lgn="ctr">
                        <a:buNone/>
                      </a:pPr>
                      <a:r>
                        <a:rPr lang="en-US" sz="1600">
                          <a:latin typeface="微软雅黑" panose="020B0503020204020204" charset="-122"/>
                          <a:ea typeface="微软雅黑" panose="020B0503020204020204" charset="-122"/>
                          <a:cs typeface="微软雅黑" panose="020B0503020204020204" charset="-122"/>
                        </a:rPr>
                        <a:t>附件7</a:t>
                      </a:r>
                      <a:endParaRPr lang="en-US" altLang="en-US" sz="1600">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c>
                  <a:txBody>
                    <a:bodyPr/>
                    <a:p>
                      <a:pPr indent="0">
                        <a:buNone/>
                      </a:pPr>
                      <a:r>
                        <a:rPr lang="zh-CN" altLang="en-US" sz="1600">
                          <a:latin typeface="微软雅黑" panose="020B0503020204020204" charset="-122"/>
                          <a:ea typeface="微软雅黑" panose="020B0503020204020204" charset="-122"/>
                          <a:sym typeface="+mn-ea"/>
                        </a:rPr>
                        <a:t>按名单排序，</a:t>
                      </a:r>
                      <a:r>
                        <a:rPr lang="en-US" sz="1600">
                          <a:latin typeface="微软雅黑" panose="020B0503020204020204" charset="-122"/>
                          <a:ea typeface="微软雅黑" panose="020B0503020204020204" charset="-122"/>
                          <a:sym typeface="+mn-ea"/>
                        </a:rPr>
                        <a:t>部门统一</a:t>
                      </a:r>
                      <a:r>
                        <a:rPr lang="zh-CN" altLang="en-US" sz="1600">
                          <a:latin typeface="微软雅黑" panose="020B0503020204020204" charset="-122"/>
                          <a:ea typeface="微软雅黑" panose="020B0503020204020204" charset="-122"/>
                          <a:sym typeface="+mn-ea"/>
                        </a:rPr>
                        <a:t>汇总</a:t>
                      </a:r>
                      <a:r>
                        <a:rPr lang="en-US" sz="1600">
                          <a:latin typeface="微软雅黑" panose="020B0503020204020204" charset="-122"/>
                          <a:ea typeface="微软雅黑" panose="020B0503020204020204" charset="-122"/>
                          <a:sym typeface="+mn-ea"/>
                        </a:rPr>
                        <a:t>提交</a:t>
                      </a:r>
                      <a:endParaRPr lang="zh-CN" altLang="en-US" sz="1600" b="0">
                        <a:solidFill>
                          <a:schemeClr val="tx1"/>
                        </a:solidFill>
                        <a:latin typeface="微软雅黑" panose="020B0503020204020204" charset="-122"/>
                        <a:ea typeface="微软雅黑" panose="020B0503020204020204" charset="-122"/>
                      </a:endParaRPr>
                    </a:p>
                    <a:p>
                      <a:pPr indent="0">
                        <a:buNone/>
                      </a:pPr>
                      <a:r>
                        <a:rPr lang="zh-CN" altLang="en-US" sz="1600" b="0">
                          <a:solidFill>
                            <a:schemeClr val="tx1"/>
                          </a:solidFill>
                          <a:latin typeface="微软雅黑" panose="020B0503020204020204" charset="-122"/>
                          <a:ea typeface="微软雅黑" panose="020B0503020204020204" charset="-122"/>
                        </a:rPr>
                        <a:t>未经学生教育处审核更改答辩委员的，答辩会视为无效，</a:t>
                      </a:r>
                      <a:r>
                        <a:rPr lang="zh-CN" altLang="en-US" sz="1600" b="1">
                          <a:solidFill>
                            <a:srgbClr val="FF0000"/>
                          </a:solidFill>
                          <a:latin typeface="微软雅黑" panose="020B0503020204020204" charset="-122"/>
                          <a:ea typeface="微软雅黑" panose="020B0503020204020204" charset="-122"/>
                        </a:rPr>
                        <a:t>如遇专家临时无法参会等特殊情况，务必在答辩开始前提交学生教育处审核备案</a:t>
                      </a:r>
                      <a:endParaRPr lang="zh-CN" altLang="en-US" sz="1600" b="1">
                        <a:solidFill>
                          <a:srgbClr val="FF0000"/>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noFill/>
                  </a:tcPr>
                </a:tc>
              </a:tr>
              <a:tr h="612140">
                <a:tc>
                  <a:txBody>
                    <a:bodyPr/>
                    <a:p>
                      <a:pPr indent="0" algn="ctr">
                        <a:buNone/>
                      </a:pPr>
                      <a:r>
                        <a:rPr lang="en-US" sz="1600">
                          <a:latin typeface="微软雅黑" panose="020B0503020204020204" charset="-122"/>
                          <a:ea typeface="微软雅黑" panose="020B0503020204020204" charset="-122"/>
                        </a:rPr>
                        <a:t>答辩公示</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cs typeface="微软雅黑" panose="020B0503020204020204" charset="-122"/>
                        </a:rPr>
                        <a:t>电子+纸质</a:t>
                      </a:r>
                      <a:endParaRPr lang="en-US" altLang="en-US" sz="1600">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cs typeface="微软雅黑" panose="020B0503020204020204" charset="-122"/>
                        </a:rPr>
                        <a:t>多于2份</a:t>
                      </a:r>
                      <a:endParaRPr lang="en-US" altLang="en-US" sz="1600">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cs typeface="微软雅黑" panose="020B0503020204020204" charset="-122"/>
                        </a:rPr>
                        <a:t>附件10</a:t>
                      </a:r>
                      <a:endParaRPr lang="en-US" altLang="en-US" sz="1600">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zh-CN" altLang="en-US" sz="1600">
                          <a:latin typeface="微软雅黑" panose="020B0503020204020204" charset="-122"/>
                          <a:ea typeface="微软雅黑" panose="020B0503020204020204" charset="-122"/>
                        </a:rPr>
                        <a:t>通过部门线下及</a:t>
                      </a:r>
                      <a:r>
                        <a:rPr lang="en-US" altLang="zh-CN" sz="1600">
                          <a:latin typeface="微软雅黑" panose="020B0503020204020204" charset="-122"/>
                          <a:ea typeface="微软雅黑" panose="020B0503020204020204" charset="-122"/>
                        </a:rPr>
                        <a:t>OA</a:t>
                      </a:r>
                      <a:r>
                        <a:rPr lang="zh-CN" altLang="en-US" sz="1600">
                          <a:latin typeface="微软雅黑" panose="020B0503020204020204" charset="-122"/>
                          <a:ea typeface="微软雅黑" panose="020B0503020204020204" charset="-122"/>
                        </a:rPr>
                        <a:t>线上进行公示</a:t>
                      </a:r>
                      <a:endParaRPr lang="zh-CN" altLang="en-US" sz="1600">
                        <a:latin typeface="微软雅黑" panose="020B0503020204020204" charset="-122"/>
                        <a:ea typeface="微软雅黑" panose="020B0503020204020204" charset="-122"/>
                      </a:endParaRPr>
                    </a:p>
                    <a:p>
                      <a:pPr indent="0">
                        <a:buNone/>
                      </a:pPr>
                      <a:r>
                        <a:rPr lang="en-US" sz="1600">
                          <a:latin typeface="微软雅黑" panose="020B0503020204020204" charset="-122"/>
                          <a:ea typeface="微软雅黑" panose="020B0503020204020204" charset="-122"/>
                        </a:rPr>
                        <a:t>落款为到提交材料日期</a:t>
                      </a:r>
                      <a:endParaRPr 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613410">
                <a:tc>
                  <a:txBody>
                    <a:bodyPr/>
                    <a:p>
                      <a:pPr indent="0" algn="ctr">
                        <a:buNone/>
                      </a:pPr>
                      <a:r>
                        <a:rPr lang="en-US" sz="1600">
                          <a:latin typeface="微软雅黑" panose="020B0503020204020204" charset="-122"/>
                          <a:ea typeface="微软雅黑" panose="020B0503020204020204" charset="-122"/>
                        </a:rPr>
                        <a:t>评阅书</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rPr>
                        <a:t>纸质版</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rPr>
                        <a:t>评阅人数</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b="1">
                          <a:solidFill>
                            <a:srgbClr val="C00000"/>
                          </a:solidFill>
                          <a:latin typeface="微软雅黑" panose="020B0503020204020204" charset="-122"/>
                          <a:ea typeface="微软雅黑" panose="020B0503020204020204" charset="-122"/>
                        </a:rPr>
                        <a:t> </a:t>
                      </a:r>
                      <a:endParaRPr lang="en-US" altLang="en-US" sz="1600" b="1">
                        <a:solidFill>
                          <a:srgbClr val="C00000"/>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en-US" sz="1600" b="1">
                          <a:solidFill>
                            <a:srgbClr val="FF0000"/>
                          </a:solidFill>
                          <a:latin typeface="微软雅黑" panose="020B0503020204020204" charset="-122"/>
                          <a:ea typeface="微软雅黑" panose="020B0503020204020204" charset="-122"/>
                        </a:rPr>
                        <a:t>如有二次评阅，须提交原评阅书及二次评阅书，评阅书份数+1</a:t>
                      </a:r>
                      <a:endParaRPr lang="en-US" sz="1600" b="1">
                        <a:solidFill>
                          <a:srgbClr val="FF0000"/>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1857375">
                <a:tc>
                  <a:txBody>
                    <a:bodyPr/>
                    <a:p>
                      <a:pPr indent="0" algn="ctr">
                        <a:buNone/>
                      </a:pPr>
                      <a:r>
                        <a:rPr lang="en-US" sz="1600">
                          <a:latin typeface="微软雅黑" panose="020B0503020204020204" charset="-122"/>
                          <a:ea typeface="微软雅黑" panose="020B0503020204020204" charset="-122"/>
                        </a:rPr>
                        <a:t>评阅后修改说明</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rPr>
                        <a:t>纸质版</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rPr>
                        <a:t>1</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cs typeface="微软雅黑" panose="020B0503020204020204" charset="-122"/>
                        </a:rPr>
                        <a:t>附件9</a:t>
                      </a:r>
                      <a:endParaRPr lang="en-US" altLang="en-US" sz="1600">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nSpc>
                          <a:spcPct val="130000"/>
                        </a:lnSpc>
                        <a:buNone/>
                      </a:pPr>
                      <a:r>
                        <a:rPr lang="en-US" sz="1600">
                          <a:latin typeface="微软雅黑" panose="020B0503020204020204" charset="-122"/>
                          <a:ea typeface="微软雅黑" panose="020B0503020204020204" charset="-122"/>
                          <a:cs typeface="微软雅黑" panose="020B0503020204020204" charset="-122"/>
                        </a:rPr>
                        <a:t>学生、导师签字</a:t>
                      </a:r>
                      <a:r>
                        <a:rPr lang="zh-CN" altLang="en-US" sz="1600">
                          <a:latin typeface="微软雅黑" panose="020B0503020204020204" charset="-122"/>
                          <a:ea typeface="微软雅黑" panose="020B0503020204020204" charset="-122"/>
                          <a:cs typeface="微软雅黑" panose="020B0503020204020204" charset="-122"/>
                        </a:rPr>
                        <a:t>，</a:t>
                      </a:r>
                      <a:r>
                        <a:rPr lang="zh-CN" altLang="en-US" sz="1600" b="1">
                          <a:solidFill>
                            <a:srgbClr val="FF0000"/>
                          </a:solidFill>
                          <a:latin typeface="微软雅黑" panose="020B0503020204020204" charset="-122"/>
                          <a:ea typeface="微软雅黑" panose="020B0503020204020204" charset="-122"/>
                          <a:cs typeface="微软雅黑" panose="020B0503020204020204" charset="-122"/>
                        </a:rPr>
                        <a:t>导师为客座导师的，所内合作（实际指导）老师需加签</a:t>
                      </a:r>
                      <a:r>
                        <a:rPr lang="en-US" sz="1600">
                          <a:latin typeface="微软雅黑" panose="020B0503020204020204" charset="-122"/>
                          <a:ea typeface="微软雅黑" panose="020B0503020204020204" charset="-122"/>
                          <a:cs typeface="微软雅黑" panose="020B0503020204020204" charset="-122"/>
                        </a:rPr>
                        <a:t>；如评阅意见中有“修改后评阅”，还需评阅人</a:t>
                      </a:r>
                      <a:r>
                        <a:rPr lang="zh-CN" altLang="en-US" sz="1600">
                          <a:latin typeface="微软雅黑" panose="020B0503020204020204" charset="-122"/>
                          <a:ea typeface="微软雅黑" panose="020B0503020204020204" charset="-122"/>
                          <a:cs typeface="微软雅黑" panose="020B0503020204020204" charset="-122"/>
                        </a:rPr>
                        <a:t>在</a:t>
                      </a:r>
                      <a:r>
                        <a:rPr lang="en-US" sz="1600">
                          <a:latin typeface="微软雅黑" panose="020B0503020204020204" charset="-122"/>
                          <a:ea typeface="微软雅黑" panose="020B0503020204020204" charset="-122"/>
                          <a:cs typeface="微软雅黑" panose="020B0503020204020204" charset="-122"/>
                        </a:rPr>
                        <a:t>系统</a:t>
                      </a:r>
                      <a:r>
                        <a:rPr lang="zh-CN" altLang="en-US" sz="1600">
                          <a:latin typeface="微软雅黑" panose="020B0503020204020204" charset="-122"/>
                          <a:ea typeface="微软雅黑" panose="020B0503020204020204" charset="-122"/>
                          <a:cs typeface="微软雅黑" panose="020B0503020204020204" charset="-122"/>
                        </a:rPr>
                        <a:t>二次</a:t>
                      </a:r>
                      <a:r>
                        <a:rPr lang="en-US" sz="1600">
                          <a:latin typeface="微软雅黑" panose="020B0503020204020204" charset="-122"/>
                          <a:ea typeface="微软雅黑" panose="020B0503020204020204" charset="-122"/>
                          <a:cs typeface="微软雅黑" panose="020B0503020204020204" charset="-122"/>
                        </a:rPr>
                        <a:t>评阅。</a:t>
                      </a:r>
                      <a:endParaRPr lang="en-US" sz="1600">
                        <a:latin typeface="微软雅黑" panose="020B0503020204020204" charset="-122"/>
                        <a:ea typeface="微软雅黑" panose="020B0503020204020204" charset="-122"/>
                        <a:cs typeface="微软雅黑" panose="020B0503020204020204" charset="-122"/>
                      </a:endParaRPr>
                    </a:p>
                    <a:p>
                      <a:pPr indent="0">
                        <a:lnSpc>
                          <a:spcPct val="130000"/>
                        </a:lnSpc>
                        <a:buNone/>
                      </a:pPr>
                      <a:r>
                        <a:rPr lang="zh-CN" altLang="en-US" sz="1600" b="1">
                          <a:solidFill>
                            <a:srgbClr val="FF0000"/>
                          </a:solidFill>
                          <a:latin typeface="微软雅黑" panose="020B0503020204020204" charset="-122"/>
                          <a:ea typeface="微软雅黑" panose="020B0503020204020204" charset="-122"/>
                          <a:cs typeface="微软雅黑" panose="020B0503020204020204" charset="-122"/>
                        </a:rPr>
                        <a:t>修改说明系统填写内容应与纸质签字版一致，不可只写</a:t>
                      </a:r>
                      <a:r>
                        <a:rPr lang="en-US" altLang="zh-CN" sz="16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1600" b="1">
                          <a:solidFill>
                            <a:srgbClr val="FF0000"/>
                          </a:solidFill>
                          <a:latin typeface="微软雅黑" panose="020B0503020204020204" charset="-122"/>
                          <a:ea typeface="微软雅黑" panose="020B0503020204020204" charset="-122"/>
                          <a:cs typeface="微软雅黑" panose="020B0503020204020204" charset="-122"/>
                        </a:rPr>
                        <a:t>详见附件</a:t>
                      </a:r>
                      <a:r>
                        <a:rPr lang="en-US" altLang="zh-CN" sz="16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1600" b="1">
                          <a:solidFill>
                            <a:srgbClr val="FF0000"/>
                          </a:solidFill>
                          <a:latin typeface="微软雅黑" panose="020B0503020204020204" charset="-122"/>
                          <a:ea typeface="微软雅黑" panose="020B0503020204020204" charset="-122"/>
                          <a:cs typeface="微软雅黑" panose="020B0503020204020204" charset="-122"/>
                        </a:rPr>
                        <a:t>等类似描述</a:t>
                      </a:r>
                      <a:r>
                        <a:rPr lang="en-US" sz="1600" b="1">
                          <a:solidFill>
                            <a:srgbClr val="FF0000"/>
                          </a:solidFill>
                          <a:latin typeface="微软雅黑" panose="020B0503020204020204" charset="-122"/>
                          <a:ea typeface="微软雅黑" panose="020B0503020204020204" charset="-122"/>
                          <a:cs typeface="微软雅黑" panose="020B0503020204020204" charset="-122"/>
                        </a:rPr>
                        <a:t>。</a:t>
                      </a:r>
                      <a:endParaRPr lang="en-US" sz="1600" b="1">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572135">
                <a:tc>
                  <a:txBody>
                    <a:bodyPr/>
                    <a:p>
                      <a:pPr indent="0" algn="ctr">
                        <a:buNone/>
                      </a:pPr>
                      <a:r>
                        <a:rPr lang="en-US" sz="1600">
                          <a:latin typeface="微软雅黑" panose="020B0503020204020204" charset="-122"/>
                          <a:ea typeface="微软雅黑" panose="020B0503020204020204" charset="-122"/>
                        </a:rPr>
                        <a:t>答辩表决票</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rPr>
                        <a:t>纸质版</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rPr>
                        <a:t>答辩委员会人数</a:t>
                      </a:r>
                      <a:endParaRPr lang="en-US" altLang="en-US" sz="1600">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lgn="ctr">
                        <a:buNone/>
                      </a:pPr>
                      <a:r>
                        <a:rPr lang="en-US" sz="1600">
                          <a:latin typeface="微软雅黑" panose="020B0503020204020204" charset="-122"/>
                          <a:ea typeface="微软雅黑" panose="020B0503020204020204" charset="-122"/>
                          <a:cs typeface="微软雅黑" panose="020B0503020204020204" charset="-122"/>
                        </a:rPr>
                        <a:t>附件11</a:t>
                      </a:r>
                      <a:endParaRPr lang="en-US" altLang="en-US" sz="1600">
                        <a:latin typeface="微软雅黑" panose="020B0503020204020204" charset="-122"/>
                        <a:ea typeface="微软雅黑" panose="020B0503020204020204" charset="-122"/>
                        <a:cs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indent="0">
                        <a:buNone/>
                      </a:pPr>
                      <a:r>
                        <a:rPr lang="zh-CN" sz="1600">
                          <a:latin typeface="微软雅黑" panose="020B0503020204020204" charset="-122"/>
                          <a:ea typeface="微软雅黑" panose="020B0503020204020204" charset="-122"/>
                        </a:rPr>
                        <a:t>学生信息、</a:t>
                      </a:r>
                      <a:r>
                        <a:rPr lang="en-US" sz="1600">
                          <a:latin typeface="微软雅黑" panose="020B0503020204020204" charset="-122"/>
                          <a:ea typeface="微软雅黑" panose="020B0503020204020204" charset="-122"/>
                        </a:rPr>
                        <a:t>答辩时间</a:t>
                      </a:r>
                      <a:r>
                        <a:rPr lang="zh-CN" altLang="en-US" sz="1600">
                          <a:latin typeface="微软雅黑" panose="020B0503020204020204" charset="-122"/>
                          <a:ea typeface="微软雅黑" panose="020B0503020204020204" charset="-122"/>
                        </a:rPr>
                        <a:t>等均</a:t>
                      </a:r>
                      <a:r>
                        <a:rPr lang="zh-CN" altLang="en-US" sz="1600" b="1">
                          <a:solidFill>
                            <a:srgbClr val="FF0000"/>
                          </a:solidFill>
                          <a:latin typeface="微软雅黑" panose="020B0503020204020204" charset="-122"/>
                          <a:ea typeface="微软雅黑" panose="020B0503020204020204" charset="-122"/>
                        </a:rPr>
                        <a:t>不可手写</a:t>
                      </a:r>
                      <a:r>
                        <a:rPr lang="en-US" sz="1600">
                          <a:latin typeface="微软雅黑" panose="020B0503020204020204" charset="-122"/>
                          <a:ea typeface="微软雅黑" panose="020B0503020204020204" charset="-122"/>
                        </a:rPr>
                        <a:t>（与公示中答辩时间一致）</a:t>
                      </a:r>
                      <a:r>
                        <a:rPr lang="en-US" sz="1600" b="1">
                          <a:solidFill>
                            <a:srgbClr val="FF0000"/>
                          </a:solidFill>
                          <a:latin typeface="微软雅黑" panose="020B0503020204020204" charset="-122"/>
                          <a:ea typeface="微软雅黑" panose="020B0503020204020204" charset="-122"/>
                        </a:rPr>
                        <a:t>表决票不可涂改</a:t>
                      </a:r>
                      <a:endParaRPr lang="en-US" sz="1600" b="1">
                        <a:solidFill>
                          <a:srgbClr val="FF0000"/>
                        </a:solidFill>
                        <a:latin typeface="微软雅黑" panose="020B0503020204020204" charset="-122"/>
                        <a:ea typeface="微软雅黑" panose="020B0503020204020204" charset="-122"/>
                      </a:endParaRPr>
                    </a:p>
                  </a:txBody>
                  <a:tcPr marL="68580" marR="68580" marT="0" marB="0"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评阅书（装订）</a:t>
            </a:r>
            <a:endParaRPr lang="zh-CN" altLang="en-US" sz="4000" b="1"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1"/>
          <a:stretch>
            <a:fillRect/>
          </a:stretch>
        </p:blipFill>
        <p:spPr>
          <a:xfrm>
            <a:off x="622300" y="1605915"/>
            <a:ext cx="3429635" cy="4783455"/>
          </a:xfrm>
          <a:prstGeom prst="rect">
            <a:avLst/>
          </a:prstGeom>
        </p:spPr>
      </p:pic>
      <p:pic>
        <p:nvPicPr>
          <p:cNvPr id="10" name="图片 9"/>
          <p:cNvPicPr>
            <a:picLocks noChangeAspect="1"/>
          </p:cNvPicPr>
          <p:nvPr>
            <p:custDataLst>
              <p:tags r:id="rId2"/>
            </p:custDataLst>
          </p:nvPr>
        </p:nvPicPr>
        <p:blipFill>
          <a:blip r:embed="rId3"/>
          <a:stretch>
            <a:fillRect/>
          </a:stretch>
        </p:blipFill>
        <p:spPr>
          <a:xfrm>
            <a:off x="5290820" y="3244215"/>
            <a:ext cx="5407025" cy="3004820"/>
          </a:xfrm>
          <a:prstGeom prst="rect">
            <a:avLst/>
          </a:prstGeom>
        </p:spPr>
      </p:pic>
      <p:grpSp>
        <p:nvGrpSpPr>
          <p:cNvPr id="11" name="组合 10"/>
          <p:cNvGrpSpPr/>
          <p:nvPr/>
        </p:nvGrpSpPr>
        <p:grpSpPr>
          <a:xfrm>
            <a:off x="4531995" y="1728470"/>
            <a:ext cx="1292525" cy="805180"/>
            <a:chOff x="8766" y="3445"/>
            <a:chExt cx="522" cy="4149"/>
          </a:xfrm>
        </p:grpSpPr>
        <p:sp>
          <p:nvSpPr>
            <p:cNvPr id="12" name="矩形 11"/>
            <p:cNvSpPr/>
            <p:nvPr/>
          </p:nvSpPr>
          <p:spPr>
            <a:xfrm>
              <a:off x="8766" y="3806"/>
              <a:ext cx="477" cy="3788"/>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3" name="文本框 12"/>
            <p:cNvSpPr txBox="1"/>
            <p:nvPr/>
          </p:nvSpPr>
          <p:spPr>
            <a:xfrm>
              <a:off x="8812" y="3445"/>
              <a:ext cx="476" cy="3769"/>
            </a:xfrm>
            <a:prstGeom prst="rect">
              <a:avLst/>
            </a:prstGeom>
            <a:noFill/>
          </p:spPr>
          <p:txBody>
            <a:bodyPr wrap="square" rtlCol="0">
              <a:spAutoFit/>
            </a:bodyPr>
            <a:p>
              <a:pPr>
                <a:lnSpc>
                  <a:spcPct val="150000"/>
                </a:lnSpc>
              </a:pPr>
              <a:r>
                <a:rPr lang="zh-CN" altLang="en-US" sz="2800" b="1" dirty="0" smtClean="0">
                  <a:latin typeface="Arial" panose="020B0604020202020204" pitchFamily="34" charset="0"/>
                  <a:ea typeface="微软雅黑" panose="020B0503020204020204" charset="-122"/>
                </a:rPr>
                <a:t>硕士</a:t>
              </a:r>
              <a:endParaRPr lang="zh-CN" altLang="en-US" sz="2800" b="1" dirty="0" smtClean="0">
                <a:latin typeface="Arial" panose="020B0604020202020204" pitchFamily="34" charset="0"/>
                <a:ea typeface="微软雅黑" panose="020B0503020204020204" charset="-122"/>
              </a:endParaRPr>
            </a:p>
          </p:txBody>
        </p:sp>
      </p:grpSp>
      <p:sp>
        <p:nvSpPr>
          <p:cNvPr id="14" name="矩形 13"/>
          <p:cNvSpPr/>
          <p:nvPr/>
        </p:nvSpPr>
        <p:spPr>
          <a:xfrm>
            <a:off x="5428615" y="4732020"/>
            <a:ext cx="2276475" cy="37782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15" name="矩形 14"/>
          <p:cNvSpPr/>
          <p:nvPr/>
        </p:nvSpPr>
        <p:spPr>
          <a:xfrm>
            <a:off x="545465" y="4655185"/>
            <a:ext cx="3583305" cy="179768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cxnSp>
        <p:nvCxnSpPr>
          <p:cNvPr id="17" name="直接箭头连接符 16"/>
          <p:cNvCxnSpPr/>
          <p:nvPr/>
        </p:nvCxnSpPr>
        <p:spPr>
          <a:xfrm flipV="1">
            <a:off x="4185920" y="5006340"/>
            <a:ext cx="1041400" cy="448945"/>
          </a:xfrm>
          <a:prstGeom prst="straightConnector1">
            <a:avLst/>
          </a:prstGeom>
          <a:noFill/>
          <a:ln w="57150" cap="flat" cmpd="sng" algn="ctr">
            <a:solidFill>
              <a:srgbClr val="C00000"/>
            </a:solidFill>
            <a:prstDash val="solid"/>
            <a:miter lim="800000"/>
            <a:tailEnd type="triangle"/>
          </a:ln>
          <a:effectLst/>
        </p:spPr>
      </p:cxnSp>
      <p:sp>
        <p:nvSpPr>
          <p:cNvPr id="18" name="文本框 17"/>
          <p:cNvSpPr txBox="1"/>
          <p:nvPr/>
        </p:nvSpPr>
        <p:spPr>
          <a:xfrm>
            <a:off x="5985510" y="1808480"/>
            <a:ext cx="3434080" cy="725170"/>
          </a:xfrm>
          <a:prstGeom prst="rect">
            <a:avLst/>
          </a:prstGeom>
          <a:noFill/>
        </p:spPr>
        <p:txBody>
          <a:bodyPr wrap="none" rtlCol="0">
            <a:spAutoFit/>
          </a:bodyPr>
          <a:p>
            <a:pPr>
              <a:lnSpc>
                <a:spcPct val="130000"/>
              </a:lnSpc>
            </a:pPr>
            <a:r>
              <a:rPr lang="zh-CN" altLang="en-US" sz="3200" b="1" dirty="0" smtClean="0">
                <a:latin typeface="Arial" panose="020B0604020202020204" pitchFamily="34" charset="0"/>
                <a:ea typeface="微软雅黑" panose="020B0503020204020204" charset="-122"/>
              </a:rPr>
              <a:t>所有信息填写完整</a:t>
            </a:r>
            <a:endParaRPr lang="zh-CN" altLang="en-US" sz="3200" b="1" dirty="0" smtClean="0">
              <a:latin typeface="Arial" panose="020B0604020202020204" pitchFamily="34" charset="0"/>
              <a:ea typeface="微软雅黑" panose="020B0503020204020204" charset="-122"/>
            </a:endParaRPr>
          </a:p>
        </p:txBody>
      </p:sp>
      <p:grpSp>
        <p:nvGrpSpPr>
          <p:cNvPr id="19" name="组合 18"/>
          <p:cNvGrpSpPr/>
          <p:nvPr/>
        </p:nvGrpSpPr>
        <p:grpSpPr>
          <a:xfrm>
            <a:off x="8777605" y="3242310"/>
            <a:ext cx="2870835" cy="1889760"/>
            <a:chOff x="8125" y="5639"/>
            <a:chExt cx="4521" cy="2976"/>
          </a:xfrm>
        </p:grpSpPr>
        <p:sp>
          <p:nvSpPr>
            <p:cNvPr id="21" name="线形标注 1 20"/>
            <p:cNvSpPr/>
            <p:nvPr>
              <p:custDataLst>
                <p:tags r:id="rId4"/>
              </p:custDataLst>
            </p:nvPr>
          </p:nvSpPr>
          <p:spPr>
            <a:xfrm>
              <a:off x="8125" y="5639"/>
              <a:ext cx="4521" cy="2976"/>
            </a:xfrm>
            <a:prstGeom prst="borderCallout1">
              <a:avLst>
                <a:gd name="adj1" fmla="val 52791"/>
                <a:gd name="adj2" fmla="val -6839"/>
                <a:gd name="adj3" fmla="val 70617"/>
                <a:gd name="adj4" fmla="val -49873"/>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2" name="文本框 21"/>
            <p:cNvSpPr txBox="1"/>
            <p:nvPr>
              <p:custDataLst>
                <p:tags r:id="rId5"/>
              </p:custDataLst>
            </p:nvPr>
          </p:nvSpPr>
          <p:spPr>
            <a:xfrm>
              <a:off x="8321" y="5832"/>
              <a:ext cx="4086" cy="2470"/>
            </a:xfrm>
            <a:prstGeom prst="rect">
              <a:avLst/>
            </a:prstGeom>
            <a:noFill/>
          </p:spPr>
          <p:txBody>
            <a:bodyPr wrap="square" rtlCol="0">
              <a:spAutoFit/>
            </a:bodyPr>
            <a:p>
              <a:pPr>
                <a:lnSpc>
                  <a:spcPct val="150000"/>
                </a:lnSpc>
              </a:pPr>
              <a:r>
                <a:rPr lang="zh-CN" altLang="en-US" sz="1600" b="1" dirty="0" smtClean="0">
                  <a:latin typeface="Arial" panose="020B0604020202020204" pitchFamily="34" charset="0"/>
                  <a:ea typeface="微软雅黑" panose="020B0503020204020204" charset="-122"/>
                </a:rPr>
                <a:t>评阅书可电子签字，但应为纸质评阅书签字后扫面件或正规的电子签名，电子签名应与手签笔记相似</a:t>
              </a:r>
              <a:endParaRPr lang="zh-CN" altLang="en-US" sz="1600" b="1" dirty="0" smtClean="0">
                <a:latin typeface="Arial" panose="020B0604020202020204" pitchFamily="34" charset="0"/>
                <a:ea typeface="微软雅黑" panose="020B050302020402020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评阅书（装订）</a:t>
            </a:r>
            <a:endParaRPr lang="zh-CN" altLang="en-US" sz="4000" b="1" dirty="0">
              <a:latin typeface="微软雅黑" panose="020B0503020204020204" charset="-122"/>
              <a:ea typeface="微软雅黑" panose="020B0503020204020204" charset="-122"/>
            </a:endParaRPr>
          </a:p>
        </p:txBody>
      </p:sp>
      <p:pic>
        <p:nvPicPr>
          <p:cNvPr id="31" name="图片 30"/>
          <p:cNvPicPr>
            <a:picLocks noChangeAspect="1"/>
          </p:cNvPicPr>
          <p:nvPr/>
        </p:nvPicPr>
        <p:blipFill>
          <a:blip r:embed="rId1"/>
          <a:stretch>
            <a:fillRect/>
          </a:stretch>
        </p:blipFill>
        <p:spPr>
          <a:xfrm>
            <a:off x="358775" y="3707765"/>
            <a:ext cx="4161155" cy="2461260"/>
          </a:xfrm>
          <a:prstGeom prst="rect">
            <a:avLst/>
          </a:prstGeom>
        </p:spPr>
      </p:pic>
      <p:grpSp>
        <p:nvGrpSpPr>
          <p:cNvPr id="32" name="组合 31"/>
          <p:cNvGrpSpPr/>
          <p:nvPr/>
        </p:nvGrpSpPr>
        <p:grpSpPr>
          <a:xfrm>
            <a:off x="689610" y="1758950"/>
            <a:ext cx="1292525" cy="805180"/>
            <a:chOff x="8766" y="3445"/>
            <a:chExt cx="522" cy="4149"/>
          </a:xfrm>
        </p:grpSpPr>
        <p:sp>
          <p:nvSpPr>
            <p:cNvPr id="33" name="矩形 32"/>
            <p:cNvSpPr/>
            <p:nvPr/>
          </p:nvSpPr>
          <p:spPr>
            <a:xfrm>
              <a:off x="8766" y="3806"/>
              <a:ext cx="477" cy="3788"/>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4" name="文本框 33"/>
            <p:cNvSpPr txBox="1"/>
            <p:nvPr/>
          </p:nvSpPr>
          <p:spPr>
            <a:xfrm>
              <a:off x="8812" y="3445"/>
              <a:ext cx="476" cy="3769"/>
            </a:xfrm>
            <a:prstGeom prst="rect">
              <a:avLst/>
            </a:prstGeom>
            <a:noFill/>
          </p:spPr>
          <p:txBody>
            <a:bodyPr wrap="square" rtlCol="0">
              <a:spAutoFit/>
            </a:bodyPr>
            <a:p>
              <a:pPr>
                <a:lnSpc>
                  <a:spcPct val="150000"/>
                </a:lnSpc>
              </a:pPr>
              <a:r>
                <a:rPr lang="zh-CN" altLang="en-US" sz="2800" b="1" dirty="0" smtClean="0">
                  <a:latin typeface="Arial" panose="020B0604020202020204" pitchFamily="34" charset="0"/>
                  <a:ea typeface="微软雅黑" panose="020B0503020204020204" charset="-122"/>
                </a:rPr>
                <a:t>博士</a:t>
              </a:r>
              <a:endParaRPr lang="zh-CN" altLang="en-US" sz="2800" b="1" dirty="0" smtClean="0">
                <a:latin typeface="Arial" panose="020B0604020202020204" pitchFamily="34" charset="0"/>
                <a:ea typeface="微软雅黑" panose="020B0503020204020204" charset="-122"/>
              </a:endParaRPr>
            </a:p>
          </p:txBody>
        </p:sp>
      </p:grpSp>
      <p:sp>
        <p:nvSpPr>
          <p:cNvPr id="35" name="矩形 34"/>
          <p:cNvSpPr/>
          <p:nvPr/>
        </p:nvSpPr>
        <p:spPr>
          <a:xfrm>
            <a:off x="426720" y="4649470"/>
            <a:ext cx="2276475" cy="37782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pic>
        <p:nvPicPr>
          <p:cNvPr id="37" name="图片 36"/>
          <p:cNvPicPr>
            <a:picLocks noChangeAspect="1"/>
          </p:cNvPicPr>
          <p:nvPr/>
        </p:nvPicPr>
        <p:blipFill>
          <a:blip r:embed="rId2"/>
          <a:stretch>
            <a:fillRect/>
          </a:stretch>
        </p:blipFill>
        <p:spPr>
          <a:xfrm>
            <a:off x="7623810" y="1193800"/>
            <a:ext cx="3686175" cy="5600065"/>
          </a:xfrm>
          <a:prstGeom prst="rect">
            <a:avLst/>
          </a:prstGeom>
        </p:spPr>
      </p:pic>
      <p:sp>
        <p:nvSpPr>
          <p:cNvPr id="38" name="文本框 37"/>
          <p:cNvSpPr txBox="1"/>
          <p:nvPr/>
        </p:nvSpPr>
        <p:spPr>
          <a:xfrm>
            <a:off x="549910" y="2673350"/>
            <a:ext cx="3434080" cy="725170"/>
          </a:xfrm>
          <a:prstGeom prst="rect">
            <a:avLst/>
          </a:prstGeom>
          <a:noFill/>
        </p:spPr>
        <p:txBody>
          <a:bodyPr wrap="none" rtlCol="0">
            <a:spAutoFit/>
          </a:bodyPr>
          <a:p>
            <a:pPr>
              <a:lnSpc>
                <a:spcPct val="130000"/>
              </a:lnSpc>
            </a:pPr>
            <a:r>
              <a:rPr lang="zh-CN" altLang="en-US" sz="3200" b="1" dirty="0" smtClean="0">
                <a:latin typeface="Arial" panose="020B0604020202020204" pitchFamily="34" charset="0"/>
                <a:ea typeface="微软雅黑" panose="020B0503020204020204" charset="-122"/>
              </a:rPr>
              <a:t>所有信息填写完整</a:t>
            </a:r>
            <a:endParaRPr lang="zh-CN" altLang="en-US" sz="3200" b="1" dirty="0" smtClean="0">
              <a:latin typeface="Arial" panose="020B0604020202020204" pitchFamily="34" charset="0"/>
              <a:ea typeface="微软雅黑" panose="020B0503020204020204" charset="-122"/>
            </a:endParaRPr>
          </a:p>
        </p:txBody>
      </p:sp>
      <p:sp>
        <p:nvSpPr>
          <p:cNvPr id="39" name="矩形 38"/>
          <p:cNvSpPr/>
          <p:nvPr/>
        </p:nvSpPr>
        <p:spPr>
          <a:xfrm>
            <a:off x="9540240" y="1570990"/>
            <a:ext cx="1770380" cy="119443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40" name="组合 39"/>
          <p:cNvGrpSpPr/>
          <p:nvPr/>
        </p:nvGrpSpPr>
        <p:grpSpPr>
          <a:xfrm>
            <a:off x="5123815" y="2316480"/>
            <a:ext cx="2256155" cy="817880"/>
            <a:chOff x="6020" y="4784"/>
            <a:chExt cx="3553" cy="2042"/>
          </a:xfrm>
        </p:grpSpPr>
        <p:sp>
          <p:nvSpPr>
            <p:cNvPr id="41" name="线形标注 1 40"/>
            <p:cNvSpPr/>
            <p:nvPr/>
          </p:nvSpPr>
          <p:spPr>
            <a:xfrm>
              <a:off x="6020" y="4784"/>
              <a:ext cx="3553" cy="2042"/>
            </a:xfrm>
            <a:prstGeom prst="borderCallout1">
              <a:avLst>
                <a:gd name="adj1" fmla="val 43633"/>
                <a:gd name="adj2" fmla="val 107852"/>
                <a:gd name="adj3" fmla="val -37344"/>
                <a:gd name="adj4" fmla="val 172502"/>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42" name="文本框 41"/>
            <p:cNvSpPr txBox="1"/>
            <p:nvPr/>
          </p:nvSpPr>
          <p:spPr>
            <a:xfrm>
              <a:off x="6118" y="4985"/>
              <a:ext cx="3357" cy="1825"/>
            </a:xfrm>
            <a:prstGeom prst="rect">
              <a:avLst/>
            </a:prstGeom>
            <a:noFill/>
          </p:spPr>
          <p:txBody>
            <a:bodyPr wrap="square" rtlCol="0">
              <a:spAutoFit/>
            </a:bodyPr>
            <a:p>
              <a:pPr>
                <a:lnSpc>
                  <a:spcPct val="130000"/>
                </a:lnSpc>
              </a:pPr>
              <a:r>
                <a:rPr lang="zh-CN" altLang="en-US" sz="1600" b="1" dirty="0" smtClean="0">
                  <a:latin typeface="Arial" panose="020B0604020202020204" pitchFamily="34" charset="0"/>
                  <a:ea typeface="微软雅黑" panose="020B0503020204020204" charset="-122"/>
                </a:rPr>
                <a:t>根据实际情况，勾画完整</a:t>
              </a:r>
              <a:endParaRPr lang="zh-CN" altLang="en-US" sz="1600" b="1" dirty="0" smtClean="0">
                <a:latin typeface="Arial" panose="020B0604020202020204" pitchFamily="34" charset="0"/>
                <a:ea typeface="微软雅黑" panose="020B0503020204020204" charset="-122"/>
              </a:endParaRPr>
            </a:p>
          </p:txBody>
        </p:sp>
      </p:grpSp>
      <p:sp>
        <p:nvSpPr>
          <p:cNvPr id="43" name="矩形 42"/>
          <p:cNvSpPr/>
          <p:nvPr/>
        </p:nvSpPr>
        <p:spPr>
          <a:xfrm>
            <a:off x="10632440" y="3030220"/>
            <a:ext cx="678180" cy="341947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44" name="组合 43"/>
          <p:cNvGrpSpPr/>
          <p:nvPr/>
        </p:nvGrpSpPr>
        <p:grpSpPr>
          <a:xfrm>
            <a:off x="5186045" y="3444240"/>
            <a:ext cx="2256155" cy="590550"/>
            <a:chOff x="6020" y="4784"/>
            <a:chExt cx="3553" cy="2042"/>
          </a:xfrm>
        </p:grpSpPr>
        <p:sp>
          <p:nvSpPr>
            <p:cNvPr id="45" name="线形标注 1 44"/>
            <p:cNvSpPr/>
            <p:nvPr/>
          </p:nvSpPr>
          <p:spPr>
            <a:xfrm>
              <a:off x="6020" y="4784"/>
              <a:ext cx="3553" cy="2042"/>
            </a:xfrm>
            <a:prstGeom prst="borderCallout1">
              <a:avLst>
                <a:gd name="adj1" fmla="val 43633"/>
                <a:gd name="adj2" fmla="val 107852"/>
                <a:gd name="adj3" fmla="val 2639"/>
                <a:gd name="adj4" fmla="val 232676"/>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46" name="文本框 45"/>
            <p:cNvSpPr txBox="1"/>
            <p:nvPr/>
          </p:nvSpPr>
          <p:spPr>
            <a:xfrm>
              <a:off x="6118" y="4985"/>
              <a:ext cx="3357" cy="1421"/>
            </a:xfrm>
            <a:prstGeom prst="rect">
              <a:avLst/>
            </a:prstGeom>
            <a:noFill/>
          </p:spPr>
          <p:txBody>
            <a:bodyPr wrap="square" rtlCol="0">
              <a:spAutoFit/>
            </a:bodyPr>
            <a:p>
              <a:pPr>
                <a:lnSpc>
                  <a:spcPct val="130000"/>
                </a:lnSpc>
              </a:pPr>
              <a:r>
                <a:rPr lang="zh-CN" altLang="en-US" sz="1600" b="1" dirty="0" smtClean="0">
                  <a:solidFill>
                    <a:srgbClr val="C00000"/>
                  </a:solidFill>
                  <a:latin typeface="Arial" panose="020B0604020202020204" pitchFamily="34" charset="0"/>
                  <a:ea typeface="微软雅黑" panose="020B0503020204020204" charset="-122"/>
                </a:rPr>
                <a:t>百分制评分</a:t>
              </a:r>
              <a:endParaRPr lang="zh-CN" altLang="en-US" sz="1600" b="1" dirty="0" smtClean="0">
                <a:solidFill>
                  <a:srgbClr val="C00000"/>
                </a:solidFill>
                <a:latin typeface="Arial" panose="020B0604020202020204" pitchFamily="34" charset="0"/>
                <a:ea typeface="微软雅黑" panose="020B0503020204020204" charset="-122"/>
              </a:endParaRPr>
            </a:p>
          </p:txBody>
        </p:sp>
      </p:grpSp>
      <p:grpSp>
        <p:nvGrpSpPr>
          <p:cNvPr id="47" name="组合 46"/>
          <p:cNvGrpSpPr/>
          <p:nvPr/>
        </p:nvGrpSpPr>
        <p:grpSpPr>
          <a:xfrm>
            <a:off x="3150235" y="4629785"/>
            <a:ext cx="2870835" cy="1889760"/>
            <a:chOff x="8125" y="5639"/>
            <a:chExt cx="4521" cy="2976"/>
          </a:xfrm>
        </p:grpSpPr>
        <p:sp>
          <p:nvSpPr>
            <p:cNvPr id="48" name="线形标注 1 47"/>
            <p:cNvSpPr/>
            <p:nvPr>
              <p:custDataLst>
                <p:tags r:id="rId3"/>
              </p:custDataLst>
            </p:nvPr>
          </p:nvSpPr>
          <p:spPr>
            <a:xfrm>
              <a:off x="8125" y="5639"/>
              <a:ext cx="4521" cy="2976"/>
            </a:xfrm>
            <a:prstGeom prst="borderCallout1">
              <a:avLst>
                <a:gd name="adj1" fmla="val 52791"/>
                <a:gd name="adj2" fmla="val -6839"/>
                <a:gd name="adj3" fmla="val 25537"/>
                <a:gd name="adj4" fmla="val -36739"/>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49" name="文本框 48"/>
            <p:cNvSpPr txBox="1"/>
            <p:nvPr>
              <p:custDataLst>
                <p:tags r:id="rId4"/>
              </p:custDataLst>
            </p:nvPr>
          </p:nvSpPr>
          <p:spPr>
            <a:xfrm>
              <a:off x="8321" y="5832"/>
              <a:ext cx="4086" cy="2470"/>
            </a:xfrm>
            <a:prstGeom prst="rect">
              <a:avLst/>
            </a:prstGeom>
            <a:noFill/>
          </p:spPr>
          <p:txBody>
            <a:bodyPr wrap="square" rtlCol="0">
              <a:spAutoFit/>
            </a:bodyPr>
            <a:p>
              <a:pPr>
                <a:lnSpc>
                  <a:spcPct val="150000"/>
                </a:lnSpc>
              </a:pPr>
              <a:r>
                <a:rPr lang="zh-CN" altLang="en-US" sz="1600" b="1" dirty="0" smtClean="0">
                  <a:latin typeface="Arial" panose="020B0604020202020204" pitchFamily="34" charset="0"/>
                  <a:ea typeface="微软雅黑" panose="020B0503020204020204" charset="-122"/>
                </a:rPr>
                <a:t>评阅书可电子签字，但应为纸质评阅书签字后扫面件或正规的电子签名，电子签名应与手签笔记相似</a:t>
              </a:r>
              <a:endParaRPr lang="zh-CN" altLang="en-US" sz="1600" b="1" dirty="0" smtClean="0">
                <a:latin typeface="Arial" panose="020B0604020202020204" pitchFamily="34" charset="0"/>
                <a:ea typeface="微软雅黑" panose="020B050302020402020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评阅后修改说明</a:t>
            </a:r>
            <a:r>
              <a:rPr lang="zh-CN" altLang="en-US" sz="4000" b="1" dirty="0">
                <a:latin typeface="微软雅黑" panose="020B0503020204020204" charset="-122"/>
                <a:ea typeface="微软雅黑" panose="020B0503020204020204" charset="-122"/>
              </a:rPr>
              <a:t>（装订）</a:t>
            </a:r>
            <a:endParaRPr lang="zh-CN" altLang="en-US" sz="4000" b="1" dirty="0">
              <a:latin typeface="微软雅黑" panose="020B0503020204020204" charset="-122"/>
              <a:ea typeface="微软雅黑" panose="020B0503020204020204" charset="-122"/>
            </a:endParaRPr>
          </a:p>
        </p:txBody>
      </p:sp>
      <p:sp>
        <p:nvSpPr>
          <p:cNvPr id="8" name="文本框 7"/>
          <p:cNvSpPr txBox="1"/>
          <p:nvPr/>
        </p:nvSpPr>
        <p:spPr>
          <a:xfrm>
            <a:off x="664210" y="1266825"/>
            <a:ext cx="10659110" cy="5507990"/>
          </a:xfrm>
          <a:prstGeom prst="rect">
            <a:avLst/>
          </a:prstGeom>
          <a:noFill/>
        </p:spPr>
        <p:txBody>
          <a:bodyPr wrap="square" rtlCol="0">
            <a:spAutoFit/>
          </a:bodyPr>
          <a:p>
            <a:pPr>
              <a:lnSpc>
                <a:spcPct val="160000"/>
              </a:lnSpc>
            </a:pPr>
            <a:r>
              <a:rPr lang="en-US" altLang="zh-CN" sz="2000" b="1" dirty="0" smtClean="0">
                <a:solidFill>
                  <a:schemeClr val="tx1"/>
                </a:solidFill>
                <a:latin typeface="微软雅黑" panose="020B0503020204020204" charset="-122"/>
                <a:ea typeface="微软雅黑" panose="020B0503020204020204" charset="-122"/>
              </a:rPr>
              <a:t>     </a:t>
            </a:r>
            <a:r>
              <a:rPr lang="en-US" sz="2000" b="1" dirty="0" smtClean="0">
                <a:solidFill>
                  <a:schemeClr val="tx1"/>
                </a:solidFill>
                <a:latin typeface="微软雅黑" panose="020B0503020204020204" charset="-122"/>
                <a:ea typeface="微软雅黑" panose="020B0503020204020204" charset="-122"/>
              </a:rPr>
              <a:t>1</a:t>
            </a:r>
            <a:r>
              <a:rPr lang="zh-CN" altLang="en-US" sz="2000" b="1" dirty="0" smtClean="0">
                <a:solidFill>
                  <a:schemeClr val="tx1"/>
                </a:solidFill>
                <a:latin typeface="微软雅黑" panose="020B0503020204020204" charset="-122"/>
                <a:ea typeface="微软雅黑" panose="020B0503020204020204" charset="-122"/>
              </a:rPr>
              <a:t>、学生、导师签字，导师为客座导师的，所内合作（实际指导）老师需加签</a:t>
            </a:r>
            <a:endParaRPr lang="zh-CN" altLang="en-US" sz="2000" b="1" dirty="0" smtClean="0">
              <a:solidFill>
                <a:schemeClr val="tx1"/>
              </a:solidFill>
              <a:latin typeface="微软雅黑" panose="020B0503020204020204" charset="-122"/>
              <a:ea typeface="微软雅黑" panose="020B0503020204020204" charset="-122"/>
            </a:endParaRPr>
          </a:p>
          <a:p>
            <a:pPr>
              <a:lnSpc>
                <a:spcPct val="160000"/>
              </a:lnSpc>
            </a:pPr>
            <a:r>
              <a:rPr lang="en-US" altLang="zh-CN" sz="2000" b="1" dirty="0" smtClean="0">
                <a:solidFill>
                  <a:schemeClr val="tx1"/>
                </a:solidFill>
                <a:latin typeface="微软雅黑" panose="020B0503020204020204" charset="-122"/>
                <a:ea typeface="微软雅黑" panose="020B0503020204020204" charset="-122"/>
              </a:rPr>
              <a:t>     2</a:t>
            </a:r>
            <a:r>
              <a:rPr lang="zh-CN" altLang="en-US" sz="2000" b="1" dirty="0" smtClean="0">
                <a:solidFill>
                  <a:schemeClr val="tx1"/>
                </a:solidFill>
                <a:latin typeface="微软雅黑" panose="020B0503020204020204" charset="-122"/>
                <a:ea typeface="微软雅黑" panose="020B0503020204020204" charset="-122"/>
              </a:rPr>
              <a:t>、评阅意见为</a:t>
            </a:r>
            <a:r>
              <a:rPr lang="en-US" altLang="zh-CN" sz="2000" b="1" dirty="0" smtClean="0">
                <a:solidFill>
                  <a:schemeClr val="tx1"/>
                </a:solidFill>
                <a:highlight>
                  <a:srgbClr val="FFFF00"/>
                </a:highlight>
                <a:latin typeface="微软雅黑" panose="020B0503020204020204" charset="-122"/>
                <a:ea typeface="微软雅黑" panose="020B0503020204020204" charset="-122"/>
              </a:rPr>
              <a:t>“</a:t>
            </a:r>
            <a:r>
              <a:rPr lang="zh-CN" altLang="en-US" sz="2000" b="1" dirty="0" smtClean="0">
                <a:solidFill>
                  <a:schemeClr val="tx1"/>
                </a:solidFill>
                <a:highlight>
                  <a:srgbClr val="FFFF00"/>
                </a:highlight>
                <a:latin typeface="微软雅黑" panose="020B0503020204020204" charset="-122"/>
                <a:ea typeface="微软雅黑" panose="020B0503020204020204" charset="-122"/>
              </a:rPr>
              <a:t>修改后答辩</a:t>
            </a:r>
            <a:r>
              <a:rPr lang="en-US" altLang="zh-CN" sz="2000" b="1" dirty="0" smtClean="0">
                <a:solidFill>
                  <a:schemeClr val="tx1"/>
                </a:solidFill>
                <a:highlight>
                  <a:srgbClr val="FFFF00"/>
                </a:highlight>
                <a:latin typeface="微软雅黑" panose="020B0503020204020204" charset="-122"/>
                <a:ea typeface="微软雅黑" panose="020B0503020204020204" charset="-122"/>
              </a:rPr>
              <a:t>”</a:t>
            </a:r>
            <a:r>
              <a:rPr lang="zh-CN" altLang="en-US" sz="2000" b="1" dirty="0" smtClean="0">
                <a:solidFill>
                  <a:schemeClr val="tx1"/>
                </a:solidFill>
                <a:latin typeface="微软雅黑" panose="020B0503020204020204" charset="-122"/>
                <a:ea typeface="微软雅黑" panose="020B0503020204020204" charset="-122"/>
              </a:rPr>
              <a:t>的，建议修改后的论文由答辩秘书再次通过邮件方式提交该评阅人审核，通过后进行正式答辩</a:t>
            </a:r>
            <a:endParaRPr lang="zh-CN" altLang="en-US" sz="2000" b="1" dirty="0" smtClean="0">
              <a:solidFill>
                <a:schemeClr val="tx1"/>
              </a:solidFill>
              <a:latin typeface="微软雅黑" panose="020B0503020204020204" charset="-122"/>
              <a:ea typeface="微软雅黑" panose="020B0503020204020204" charset="-122"/>
            </a:endParaRPr>
          </a:p>
          <a:p>
            <a:pPr>
              <a:lnSpc>
                <a:spcPct val="160000"/>
              </a:lnSpc>
            </a:pPr>
            <a:r>
              <a:rPr lang="en-US" altLang="zh-CN" sz="2000" b="1" dirty="0" smtClean="0">
                <a:solidFill>
                  <a:schemeClr val="tx1"/>
                </a:solidFill>
                <a:latin typeface="微软雅黑" panose="020B0503020204020204" charset="-122"/>
                <a:ea typeface="微软雅黑" panose="020B0503020204020204" charset="-122"/>
              </a:rPr>
              <a:t>     3</a:t>
            </a:r>
            <a:r>
              <a:rPr lang="zh-CN" altLang="en-US" sz="2000" b="1" dirty="0" smtClean="0">
                <a:solidFill>
                  <a:schemeClr val="tx1"/>
                </a:solidFill>
                <a:latin typeface="微软雅黑" panose="020B0503020204020204" charset="-122"/>
                <a:ea typeface="微软雅黑" panose="020B0503020204020204" charset="-122"/>
              </a:rPr>
              <a:t>、评阅意见为</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修改后评阅</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a:t>
            </a:r>
            <a:r>
              <a:rPr lang="zh-CN" altLang="en-US" sz="2000" b="1" dirty="0" smtClean="0">
                <a:solidFill>
                  <a:schemeClr val="tx1"/>
                </a:solidFill>
                <a:latin typeface="微软雅黑" panose="020B0503020204020204" charset="-122"/>
                <a:ea typeface="微软雅黑" panose="020B0503020204020204" charset="-122"/>
              </a:rPr>
              <a:t>的，论文修改后上传培养系统，并在</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修改后评阅意见的修改说明</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处提交只针对该意见的修改说明，由答辩秘书提醒评阅专家在系统中进行二次评阅</a:t>
            </a:r>
            <a:r>
              <a:rPr lang="zh-CN" altLang="en-US" sz="2000" b="1" dirty="0" smtClean="0">
                <a:solidFill>
                  <a:schemeClr val="tx1"/>
                </a:solidFill>
                <a:latin typeface="微软雅黑" panose="020B0503020204020204" charset="-122"/>
                <a:ea typeface="微软雅黑" panose="020B0503020204020204" charset="-122"/>
              </a:rPr>
              <a:t>，邮寄新的评阅意见，二次评阅通过后上传完整的评阅后修改说明至系统（含二次评阅的修改说明）。所有专家评阅结果均通过后方可进行正式答辩</a:t>
            </a:r>
            <a:endParaRPr lang="zh-CN" altLang="en-US" sz="2000" b="1" dirty="0" smtClean="0">
              <a:solidFill>
                <a:schemeClr val="tx1"/>
              </a:solidFill>
              <a:latin typeface="微软雅黑" panose="020B0503020204020204" charset="-122"/>
              <a:ea typeface="微软雅黑" panose="020B0503020204020204" charset="-122"/>
            </a:endParaRPr>
          </a:p>
          <a:p>
            <a:pPr>
              <a:lnSpc>
                <a:spcPct val="160000"/>
              </a:lnSpc>
            </a:pPr>
            <a:r>
              <a:rPr lang="en-US" altLang="zh-CN" sz="2000" b="1" dirty="0" smtClean="0">
                <a:solidFill>
                  <a:schemeClr val="tx1"/>
                </a:solidFill>
                <a:latin typeface="微软雅黑" panose="020B0503020204020204" charset="-122"/>
                <a:ea typeface="微软雅黑" panose="020B0503020204020204" charset="-122"/>
              </a:rPr>
              <a:t>     4</a:t>
            </a:r>
            <a:r>
              <a:rPr lang="zh-CN" altLang="en-US" sz="2000" b="1" dirty="0" smtClean="0">
                <a:solidFill>
                  <a:schemeClr val="tx1"/>
                </a:solidFill>
                <a:latin typeface="微软雅黑" panose="020B0503020204020204" charset="-122"/>
                <a:ea typeface="微软雅黑" panose="020B0503020204020204" charset="-122"/>
              </a:rPr>
              <a:t>、</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word</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版及导师签字扫描版均需上传至培养系统</a:t>
            </a:r>
            <a:r>
              <a:rPr lang="zh-CN" altLang="en-US" sz="2000" b="1" dirty="0" smtClean="0">
                <a:solidFill>
                  <a:schemeClr val="tx1"/>
                </a:solidFill>
                <a:latin typeface="微软雅黑" panose="020B0503020204020204" charset="-122"/>
                <a:ea typeface="微软雅黑" panose="020B0503020204020204" charset="-122"/>
              </a:rPr>
              <a:t>，没有修改内容的请在系统中选择</a:t>
            </a:r>
            <a:r>
              <a:rPr lang="en-US" altLang="zh-CN" sz="2000" b="1" dirty="0" smtClean="0">
                <a:solidFill>
                  <a:schemeClr val="tx1"/>
                </a:solidFill>
                <a:latin typeface="微软雅黑" panose="020B0503020204020204" charset="-122"/>
                <a:ea typeface="微软雅黑" panose="020B0503020204020204" charset="-122"/>
              </a:rPr>
              <a:t>“</a:t>
            </a:r>
            <a:r>
              <a:rPr lang="zh-CN" altLang="en-US" sz="2000" b="1" dirty="0" smtClean="0">
                <a:solidFill>
                  <a:schemeClr val="tx1"/>
                </a:solidFill>
                <a:latin typeface="微软雅黑" panose="020B0503020204020204" charset="-122"/>
                <a:ea typeface="微软雅黑" panose="020B0503020204020204" charset="-122"/>
              </a:rPr>
              <a:t>无修改</a:t>
            </a:r>
            <a:r>
              <a:rPr lang="en-US" altLang="zh-CN" sz="2000" b="1" dirty="0" smtClean="0">
                <a:solidFill>
                  <a:schemeClr val="tx1"/>
                </a:solidFill>
                <a:latin typeface="微软雅黑" panose="020B0503020204020204" charset="-122"/>
                <a:ea typeface="微软雅黑" panose="020B0503020204020204" charset="-122"/>
              </a:rPr>
              <a:t>”</a:t>
            </a:r>
            <a:r>
              <a:rPr lang="zh-CN" altLang="en-US" sz="2000" b="1" dirty="0" smtClean="0">
                <a:solidFill>
                  <a:schemeClr val="tx1"/>
                </a:solidFill>
                <a:latin typeface="微软雅黑" panose="020B0503020204020204" charset="-122"/>
                <a:ea typeface="微软雅黑" panose="020B0503020204020204" charset="-122"/>
              </a:rPr>
              <a:t>。修改说明系统填写内容应与纸质签字版一致，不可只写</a:t>
            </a:r>
            <a:r>
              <a:rPr lang="en-US" altLang="zh-CN" sz="2000" b="1" dirty="0" smtClean="0">
                <a:solidFill>
                  <a:schemeClr val="tx1"/>
                </a:solidFill>
                <a:latin typeface="微软雅黑" panose="020B0503020204020204" charset="-122"/>
                <a:ea typeface="微软雅黑" panose="020B0503020204020204" charset="-122"/>
              </a:rPr>
              <a:t>“</a:t>
            </a:r>
            <a:r>
              <a:rPr lang="zh-CN" altLang="en-US" sz="2000" b="1" dirty="0" smtClean="0">
                <a:solidFill>
                  <a:schemeClr val="tx1"/>
                </a:solidFill>
                <a:latin typeface="微软雅黑" panose="020B0503020204020204" charset="-122"/>
                <a:ea typeface="微软雅黑" panose="020B0503020204020204" charset="-122"/>
              </a:rPr>
              <a:t>详见附件</a:t>
            </a:r>
            <a:r>
              <a:rPr lang="en-US" altLang="zh-CN" sz="2000" b="1" dirty="0" smtClean="0">
                <a:solidFill>
                  <a:schemeClr val="tx1"/>
                </a:solidFill>
                <a:latin typeface="微软雅黑" panose="020B0503020204020204" charset="-122"/>
                <a:ea typeface="微软雅黑" panose="020B0503020204020204" charset="-122"/>
              </a:rPr>
              <a:t>”</a:t>
            </a:r>
            <a:r>
              <a:rPr lang="zh-CN" altLang="en-US" sz="2000" b="1" dirty="0" smtClean="0">
                <a:solidFill>
                  <a:schemeClr val="tx1"/>
                </a:solidFill>
                <a:latin typeface="微软雅黑" panose="020B0503020204020204" charset="-122"/>
                <a:ea typeface="微软雅黑" panose="020B0503020204020204" charset="-122"/>
              </a:rPr>
              <a:t>等类似描述。</a:t>
            </a:r>
            <a:endParaRPr lang="zh-CN" altLang="en-US" sz="2000" b="1" dirty="0" smtClean="0">
              <a:solidFill>
                <a:schemeClr val="tx1"/>
              </a:solidFill>
              <a:latin typeface="微软雅黑" panose="020B0503020204020204" charset="-122"/>
              <a:ea typeface="微软雅黑" panose="020B0503020204020204" charset="-122"/>
            </a:endParaRPr>
          </a:p>
          <a:p>
            <a:pPr>
              <a:lnSpc>
                <a:spcPct val="160000"/>
              </a:lnSpc>
            </a:pPr>
            <a:r>
              <a:rPr lang="en-US" altLang="zh-CN" sz="2000" b="1" dirty="0" smtClean="0">
                <a:solidFill>
                  <a:schemeClr val="tx1"/>
                </a:solidFill>
                <a:latin typeface="微软雅黑" panose="020B0503020204020204" charset="-122"/>
                <a:ea typeface="微软雅黑" panose="020B0503020204020204" charset="-122"/>
              </a:rPr>
              <a:t>    5</a:t>
            </a:r>
            <a:r>
              <a:rPr lang="zh-CN" altLang="en-US" sz="2000" b="1" dirty="0" smtClean="0">
                <a:solidFill>
                  <a:schemeClr val="tx1"/>
                </a:solidFill>
                <a:latin typeface="微软雅黑" panose="020B0503020204020204" charset="-122"/>
                <a:ea typeface="微软雅黑" panose="020B0503020204020204" charset="-122"/>
              </a:rPr>
              <a:t>、</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导师及部门应严格审核学位申请人学位论文修改说明，针对专家提出的意见详细说明修改情况。</a:t>
            </a:r>
            <a:endParaRPr lang="zh-CN" altLang="en-US" sz="2000" b="1" dirty="0" smtClean="0">
              <a:solidFill>
                <a:srgbClr val="FF0000"/>
              </a:solidFill>
              <a:highlight>
                <a:srgbClr val="FFFF00"/>
              </a:highlight>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sym typeface="+mn-ea"/>
              </a:rPr>
              <a:t>答辩委员</a:t>
            </a:r>
            <a:r>
              <a:rPr lang="zh-CN" altLang="en-US" sz="4000" b="1" dirty="0">
                <a:latin typeface="微软雅黑" panose="020B0503020204020204" charset="-122"/>
                <a:ea typeface="微软雅黑" panose="020B0503020204020204" charset="-122"/>
                <a:sym typeface="+mn-ea"/>
              </a:rPr>
              <a:t>汇总表（电子版）</a:t>
            </a:r>
            <a:endParaRPr lang="zh-CN" altLang="en-US" sz="4000" b="1" dirty="0">
              <a:latin typeface="微软雅黑" panose="020B0503020204020204" charset="-122"/>
              <a:ea typeface="微软雅黑" panose="020B0503020204020204" charset="-122"/>
            </a:endParaRPr>
          </a:p>
        </p:txBody>
      </p:sp>
      <p:grpSp>
        <p:nvGrpSpPr>
          <p:cNvPr id="9" name="组合 8"/>
          <p:cNvGrpSpPr/>
          <p:nvPr/>
        </p:nvGrpSpPr>
        <p:grpSpPr>
          <a:xfrm rot="0">
            <a:off x="720090" y="3999865"/>
            <a:ext cx="9055100" cy="2172434"/>
            <a:chOff x="9110" y="4137"/>
            <a:chExt cx="2857" cy="3515"/>
          </a:xfrm>
        </p:grpSpPr>
        <p:sp>
          <p:nvSpPr>
            <p:cNvPr id="10" name="矩形 9"/>
            <p:cNvSpPr/>
            <p:nvPr/>
          </p:nvSpPr>
          <p:spPr>
            <a:xfrm>
              <a:off x="9110" y="4137"/>
              <a:ext cx="2857" cy="3515"/>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4" name="文本框 13"/>
            <p:cNvSpPr txBox="1"/>
            <p:nvPr/>
          </p:nvSpPr>
          <p:spPr>
            <a:xfrm>
              <a:off x="9157" y="4302"/>
              <a:ext cx="2768" cy="3136"/>
            </a:xfrm>
            <a:prstGeom prst="rect">
              <a:avLst/>
            </a:prstGeom>
            <a:noFill/>
          </p:spPr>
          <p:txBody>
            <a:bodyPr wrap="square" rtlCol="0">
              <a:spAutoFit/>
            </a:bodyPr>
            <a:p>
              <a:pPr>
                <a:lnSpc>
                  <a:spcPct val="150000"/>
                </a:lnSpc>
              </a:pPr>
              <a:r>
                <a:rPr lang="en-US" altLang="zh-CN" sz="1600" b="1" dirty="0" smtClean="0">
                  <a:latin typeface="Arial" panose="020B0604020202020204" pitchFamily="34" charset="0"/>
                  <a:ea typeface="微软雅黑" panose="020B0503020204020204" charset="-122"/>
                </a:rPr>
                <a:t>1</a:t>
              </a:r>
              <a:r>
                <a:rPr lang="zh-CN" altLang="en-US" sz="1600" b="1" dirty="0" smtClean="0">
                  <a:latin typeface="Arial" panose="020B0604020202020204" pitchFamily="34" charset="0"/>
                  <a:ea typeface="微软雅黑" panose="020B0503020204020204" charset="-122"/>
                </a:rPr>
                <a:t>、博士答辩委员会主席必须为博导</a:t>
              </a:r>
              <a:endParaRPr lang="zh-CN" altLang="en-US" sz="1600" b="1" dirty="0" smtClean="0">
                <a:solidFill>
                  <a:srgbClr val="C00000"/>
                </a:solidFill>
                <a:latin typeface="Arial" panose="020B0604020202020204" pitchFamily="34" charset="0"/>
                <a:ea typeface="微软雅黑" panose="020B0503020204020204" charset="-122"/>
              </a:endParaRPr>
            </a:p>
            <a:p>
              <a:pPr>
                <a:lnSpc>
                  <a:spcPct val="150000"/>
                </a:lnSpc>
              </a:pPr>
              <a:r>
                <a:rPr lang="zh-CN" altLang="en-US" sz="1600" b="1" dirty="0" smtClean="0">
                  <a:latin typeface="Arial" panose="020B0604020202020204" pitchFamily="34" charset="0"/>
                  <a:ea typeface="微软雅黑" panose="020B0503020204020204" charset="-122"/>
                </a:rPr>
                <a:t>2、</a:t>
              </a:r>
              <a:r>
                <a:rPr lang="zh-CN" altLang="en-US" sz="1600" b="1" dirty="0" smtClean="0">
                  <a:solidFill>
                    <a:srgbClr val="FF0000"/>
                  </a:solidFill>
                  <a:latin typeface="Arial" panose="020B0604020202020204" pitchFamily="34" charset="0"/>
                  <a:ea typeface="微软雅黑" panose="020B0503020204020204" charset="-122"/>
                </a:rPr>
                <a:t>硕士学位论文答辩委员会成员中具有研究生指导教师资格的专家不少于五分之三，主席须为导师</a:t>
              </a:r>
              <a:endParaRPr lang="zh-CN" altLang="en-US" sz="1600" b="1" dirty="0" smtClean="0">
                <a:solidFill>
                  <a:srgbClr val="FF0000"/>
                </a:solidFill>
                <a:latin typeface="Arial" panose="020B0604020202020204" pitchFamily="34" charset="0"/>
                <a:ea typeface="微软雅黑" panose="020B0503020204020204" charset="-122"/>
              </a:endParaRPr>
            </a:p>
            <a:p>
              <a:pPr>
                <a:lnSpc>
                  <a:spcPct val="150000"/>
                </a:lnSpc>
              </a:pPr>
              <a:r>
                <a:rPr lang="en-US" altLang="zh-CN" sz="1600" b="1" dirty="0" smtClean="0">
                  <a:latin typeface="Arial" panose="020B0604020202020204" pitchFamily="34" charset="0"/>
                  <a:ea typeface="微软雅黑" panose="020B0503020204020204" charset="-122"/>
                </a:rPr>
                <a:t>3</a:t>
              </a:r>
              <a:r>
                <a:rPr lang="zh-CN" altLang="en-US" sz="1600" b="1" dirty="0" smtClean="0">
                  <a:latin typeface="Arial" panose="020B0604020202020204" pitchFamily="34" charset="0"/>
                  <a:ea typeface="微软雅黑" panose="020B0503020204020204" charset="-122"/>
                </a:rPr>
                <a:t>、</a:t>
              </a:r>
              <a:r>
                <a:rPr lang="zh-CN" altLang="en-US" sz="1600" b="1" dirty="0" smtClean="0">
                  <a:solidFill>
                    <a:srgbClr val="FF0000"/>
                  </a:solidFill>
                  <a:latin typeface="Arial" panose="020B0604020202020204" pitchFamily="34" charset="0"/>
                  <a:ea typeface="微软雅黑" panose="020B0503020204020204" charset="-122"/>
                </a:rPr>
                <a:t>答辩人的导师（含行业导师）应列席参会，但【不可】作为答辩委员会成员</a:t>
              </a:r>
              <a:endParaRPr lang="zh-CN" altLang="en-US" sz="1600" b="1" dirty="0" smtClean="0">
                <a:solidFill>
                  <a:srgbClr val="C00000"/>
                </a:solidFill>
                <a:latin typeface="Arial" panose="020B0604020202020204" pitchFamily="34" charset="0"/>
                <a:ea typeface="微软雅黑" panose="020B0503020204020204" charset="-122"/>
              </a:endParaRPr>
            </a:p>
            <a:p>
              <a:pPr>
                <a:lnSpc>
                  <a:spcPct val="150000"/>
                </a:lnSpc>
              </a:pPr>
              <a:r>
                <a:rPr lang="en-US" sz="1600" b="1" dirty="0" smtClean="0">
                  <a:latin typeface="Arial" panose="020B0604020202020204" pitchFamily="34" charset="0"/>
                  <a:ea typeface="微软雅黑" panose="020B0503020204020204" charset="-122"/>
                </a:rPr>
                <a:t>4</a:t>
              </a:r>
              <a:r>
                <a:rPr lang="zh-CN" altLang="en-US" sz="1600" b="1" dirty="0" smtClean="0">
                  <a:latin typeface="Arial" panose="020B0604020202020204" pitchFamily="34" charset="0"/>
                  <a:ea typeface="微软雅黑" panose="020B0503020204020204" charset="-122"/>
                </a:rPr>
                <a:t>、请务必正确填写答辩委员会成员的</a:t>
              </a:r>
              <a:r>
                <a:rPr lang="zh-CN" altLang="en-US" sz="1600" b="1" dirty="0" smtClean="0">
                  <a:solidFill>
                    <a:schemeClr val="tx1"/>
                  </a:solidFill>
                  <a:latin typeface="Arial" panose="020B0604020202020204" pitchFamily="34" charset="0"/>
                  <a:ea typeface="微软雅黑" panose="020B0503020204020204" charset="-122"/>
                </a:rPr>
                <a:t>专业技术职务和是否是博导</a:t>
              </a:r>
              <a:r>
                <a:rPr lang="zh-CN" altLang="en-US" sz="1600" b="1" dirty="0" smtClean="0">
                  <a:latin typeface="Arial" panose="020B0604020202020204" pitchFamily="34" charset="0"/>
                  <a:ea typeface="微软雅黑" panose="020B0503020204020204" charset="-122"/>
                </a:rPr>
                <a:t>，严格按照学位细则规定选择</a:t>
              </a:r>
              <a:endParaRPr lang="zh-CN" altLang="en-US" sz="1600" b="1" dirty="0" smtClean="0">
                <a:latin typeface="Arial" panose="020B0604020202020204" pitchFamily="34" charset="0"/>
                <a:ea typeface="微软雅黑" panose="020B0503020204020204" charset="-122"/>
              </a:endParaRPr>
            </a:p>
          </p:txBody>
        </p:sp>
      </p:grpSp>
      <p:pic>
        <p:nvPicPr>
          <p:cNvPr id="17" name="图片 16"/>
          <p:cNvPicPr>
            <a:picLocks noChangeAspect="1"/>
          </p:cNvPicPr>
          <p:nvPr/>
        </p:nvPicPr>
        <p:blipFill>
          <a:blip r:embed="rId1"/>
          <a:stretch>
            <a:fillRect/>
          </a:stretch>
        </p:blipFill>
        <p:spPr>
          <a:xfrm>
            <a:off x="622300" y="1648460"/>
            <a:ext cx="10483850" cy="1784350"/>
          </a:xfrm>
          <a:prstGeom prst="rect">
            <a:avLst/>
          </a:prstGeom>
        </p:spPr>
      </p:pic>
      <p:grpSp>
        <p:nvGrpSpPr>
          <p:cNvPr id="18" name="组合 17"/>
          <p:cNvGrpSpPr/>
          <p:nvPr/>
        </p:nvGrpSpPr>
        <p:grpSpPr>
          <a:xfrm>
            <a:off x="6633845" y="2047240"/>
            <a:ext cx="4809490" cy="1746250"/>
            <a:chOff x="980" y="2677"/>
            <a:chExt cx="7574" cy="2750"/>
          </a:xfrm>
        </p:grpSpPr>
        <p:sp>
          <p:nvSpPr>
            <p:cNvPr id="19" name="矩形 18"/>
            <p:cNvSpPr/>
            <p:nvPr/>
          </p:nvSpPr>
          <p:spPr>
            <a:xfrm>
              <a:off x="980" y="2677"/>
              <a:ext cx="7574" cy="2750"/>
            </a:xfrm>
            <a:prstGeom prst="rect">
              <a:avLst/>
            </a:prstGeom>
            <a:solidFill>
              <a:srgbClr val="C00000"/>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0" name="文本框 19"/>
            <p:cNvSpPr txBox="1"/>
            <p:nvPr/>
          </p:nvSpPr>
          <p:spPr>
            <a:xfrm>
              <a:off x="1108" y="2677"/>
              <a:ext cx="7310" cy="2606"/>
            </a:xfrm>
            <a:prstGeom prst="rect">
              <a:avLst/>
            </a:prstGeom>
            <a:noFill/>
          </p:spPr>
          <p:txBody>
            <a:bodyPr wrap="square" rtlCol="0">
              <a:noAutofit/>
            </a:bodyPr>
            <a:p>
              <a:pPr>
                <a:lnSpc>
                  <a:spcPct val="130000"/>
                </a:lnSpc>
              </a:pPr>
              <a:r>
                <a:rPr sz="2000" b="1" dirty="0" smtClean="0">
                  <a:solidFill>
                    <a:srgbClr val="FFFFFF"/>
                  </a:solidFill>
                  <a:latin typeface="微软雅黑" panose="020B0503020204020204" charset="-122"/>
                  <a:ea typeface="微软雅黑" panose="020B0503020204020204" charset="-122"/>
                </a:rPr>
                <a:t>未经学</a:t>
              </a:r>
              <a:r>
                <a:rPr sz="2000" b="1" dirty="0" smtClean="0">
                  <a:solidFill>
                    <a:schemeClr val="bg1"/>
                  </a:solidFill>
                  <a:latin typeface="微软雅黑" panose="020B0503020204020204" charset="-122"/>
                  <a:ea typeface="微软雅黑" panose="020B0503020204020204" charset="-122"/>
                </a:rPr>
                <a:t>生教育处审核更改答辩委员的，所参与的答辩会视为无效</a:t>
              </a:r>
              <a:r>
                <a:rPr lang="zh-CN" sz="2000" b="1" dirty="0" smtClean="0">
                  <a:solidFill>
                    <a:schemeClr val="bg1"/>
                  </a:solidFill>
                  <a:latin typeface="微软雅黑" panose="020B0503020204020204" charset="-122"/>
                  <a:ea typeface="微软雅黑" panose="020B0503020204020204" charset="-122"/>
                </a:rPr>
                <a:t>，</a:t>
              </a:r>
              <a:r>
                <a:rPr lang="zh-CN" altLang="en-US" sz="2000" b="1">
                  <a:solidFill>
                    <a:schemeClr val="bg1"/>
                  </a:solidFill>
                  <a:latin typeface="微软雅黑" panose="020B0503020204020204" charset="-122"/>
                  <a:ea typeface="微软雅黑" panose="020B0503020204020204" charset="-122"/>
                  <a:sym typeface="+mn-ea"/>
                </a:rPr>
                <a:t>如遇专家临时无法参会等特殊情况，</a:t>
              </a:r>
              <a:r>
                <a:rPr lang="zh-CN" altLang="en-US" sz="2000" b="1">
                  <a:solidFill>
                    <a:srgbClr val="FF0000"/>
                  </a:solidFill>
                  <a:highlight>
                    <a:srgbClr val="FFFF00"/>
                  </a:highlight>
                  <a:latin typeface="微软雅黑" panose="020B0503020204020204" charset="-122"/>
                  <a:ea typeface="微软雅黑" panose="020B0503020204020204" charset="-122"/>
                  <a:sym typeface="+mn-ea"/>
                </a:rPr>
                <a:t>务必在答辩开始前提交替换名单至教育处审核备案</a:t>
              </a:r>
              <a:endParaRPr lang="zh-CN" altLang="en-US" sz="2000" b="1">
                <a:solidFill>
                  <a:srgbClr val="FF0000"/>
                </a:solidFill>
                <a:highlight>
                  <a:srgbClr val="FFFF00"/>
                </a:highlight>
                <a:latin typeface="微软雅黑" panose="020B0503020204020204" charset="-122"/>
                <a:ea typeface="微软雅黑" panose="020B0503020204020204" charset="-122"/>
              </a:endParaRPr>
            </a:p>
            <a:p>
              <a:pPr>
                <a:lnSpc>
                  <a:spcPct val="130000"/>
                </a:lnSpc>
              </a:pPr>
              <a:endParaRPr lang="zh-CN" altLang="en-US" sz="2000" b="1" dirty="0" smtClean="0">
                <a:solidFill>
                  <a:srgbClr val="FF0000"/>
                </a:solidFill>
                <a:highlight>
                  <a:srgbClr val="FFFF00"/>
                </a:highlight>
                <a:latin typeface="微软雅黑" panose="020B0503020204020204" charset="-122"/>
                <a:ea typeface="微软雅黑" panose="020B0503020204020204"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表决票</a:t>
            </a:r>
            <a:endParaRPr lang="zh-CN" altLang="en-US" sz="4000" b="1" dirty="0">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rcRect t="8896" b="8018"/>
          <a:stretch>
            <a:fillRect/>
          </a:stretch>
        </p:blipFill>
        <p:spPr>
          <a:xfrm>
            <a:off x="6009640" y="1287145"/>
            <a:ext cx="4236720" cy="5360035"/>
          </a:xfrm>
          <a:prstGeom prst="rect">
            <a:avLst/>
          </a:prstGeom>
        </p:spPr>
      </p:pic>
      <p:sp>
        <p:nvSpPr>
          <p:cNvPr id="8" name="矩形 7"/>
          <p:cNvSpPr/>
          <p:nvPr/>
        </p:nvSpPr>
        <p:spPr>
          <a:xfrm>
            <a:off x="6009640" y="1880870"/>
            <a:ext cx="4330700" cy="125666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9" name="组合 8"/>
          <p:cNvGrpSpPr/>
          <p:nvPr/>
        </p:nvGrpSpPr>
        <p:grpSpPr>
          <a:xfrm>
            <a:off x="9669145" y="4217035"/>
            <a:ext cx="2256155" cy="1184764"/>
            <a:chOff x="6020" y="4784"/>
            <a:chExt cx="3553" cy="2958"/>
          </a:xfrm>
        </p:grpSpPr>
        <p:sp>
          <p:nvSpPr>
            <p:cNvPr id="11" name="线形标注 1 10"/>
            <p:cNvSpPr/>
            <p:nvPr/>
          </p:nvSpPr>
          <p:spPr>
            <a:xfrm>
              <a:off x="6020" y="4784"/>
              <a:ext cx="3553" cy="2958"/>
            </a:xfrm>
            <a:prstGeom prst="borderCallout1">
              <a:avLst>
                <a:gd name="adj1" fmla="val -10987"/>
                <a:gd name="adj2" fmla="val 56740"/>
                <a:gd name="adj3" fmla="val -76536"/>
                <a:gd name="adj4" fmla="val 12693"/>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2" name="文本框 11"/>
            <p:cNvSpPr txBox="1"/>
            <p:nvPr/>
          </p:nvSpPr>
          <p:spPr>
            <a:xfrm>
              <a:off x="6118" y="4935"/>
              <a:ext cx="3357" cy="2624"/>
            </a:xfrm>
            <a:prstGeom prst="rect">
              <a:avLst/>
            </a:prstGeom>
            <a:noFill/>
          </p:spPr>
          <p:txBody>
            <a:bodyPr wrap="square" rtlCol="0">
              <a:spAutoFit/>
            </a:bodyPr>
            <a:p>
              <a:pPr>
                <a:lnSpc>
                  <a:spcPct val="130000"/>
                </a:lnSpc>
              </a:pPr>
              <a:r>
                <a:rPr lang="zh-CN" altLang="en-US" sz="1600" b="1" dirty="0" smtClean="0">
                  <a:latin typeface="Arial" panose="020B0604020202020204" pitchFamily="34" charset="0"/>
                  <a:ea typeface="微软雅黑" panose="020B0503020204020204" charset="-122"/>
                </a:rPr>
                <a:t>基本信息填写完整，专业与学籍系统保持一致</a:t>
              </a:r>
              <a:endParaRPr lang="zh-CN" altLang="en-US" sz="1600" b="1" dirty="0" smtClean="0">
                <a:latin typeface="Arial" panose="020B0604020202020204" pitchFamily="34" charset="0"/>
                <a:ea typeface="微软雅黑" panose="020B0503020204020204" charset="-122"/>
              </a:endParaRPr>
            </a:p>
          </p:txBody>
        </p:sp>
      </p:grpSp>
      <p:sp>
        <p:nvSpPr>
          <p:cNvPr id="13" name="矩形 12"/>
          <p:cNvSpPr/>
          <p:nvPr/>
        </p:nvSpPr>
        <p:spPr>
          <a:xfrm>
            <a:off x="7708900" y="5908040"/>
            <a:ext cx="2022475" cy="32766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14" name="组合 13"/>
          <p:cNvGrpSpPr/>
          <p:nvPr/>
        </p:nvGrpSpPr>
        <p:grpSpPr>
          <a:xfrm>
            <a:off x="872976" y="5102225"/>
            <a:ext cx="3605679" cy="1184910"/>
            <a:chOff x="5830" y="4784"/>
            <a:chExt cx="3743" cy="2958"/>
          </a:xfrm>
        </p:grpSpPr>
        <p:sp>
          <p:nvSpPr>
            <p:cNvPr id="16" name="线形标注 1 15"/>
            <p:cNvSpPr/>
            <p:nvPr/>
          </p:nvSpPr>
          <p:spPr>
            <a:xfrm>
              <a:off x="5830" y="4784"/>
              <a:ext cx="3743" cy="2958"/>
            </a:xfrm>
            <a:prstGeom prst="borderCallout1">
              <a:avLst>
                <a:gd name="adj1" fmla="val 43633"/>
                <a:gd name="adj2" fmla="val 107852"/>
                <a:gd name="adj3" fmla="val 79153"/>
                <a:gd name="adj4" fmla="val 184007"/>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3" name="文本框 22"/>
            <p:cNvSpPr txBox="1"/>
            <p:nvPr/>
          </p:nvSpPr>
          <p:spPr>
            <a:xfrm>
              <a:off x="5928" y="4985"/>
              <a:ext cx="3645" cy="2624"/>
            </a:xfrm>
            <a:prstGeom prst="rect">
              <a:avLst/>
            </a:prstGeom>
            <a:noFill/>
          </p:spPr>
          <p:txBody>
            <a:bodyPr wrap="square" rtlCol="0">
              <a:spAutoFit/>
            </a:bodyPr>
            <a:p>
              <a:pPr>
                <a:lnSpc>
                  <a:spcPct val="130000"/>
                </a:lnSpc>
              </a:pPr>
              <a:r>
                <a:rPr lang="zh-CN" altLang="en-US" sz="1600" b="1" dirty="0" smtClean="0">
                  <a:latin typeface="Arial" panose="020B0604020202020204" pitchFamily="34" charset="0"/>
                  <a:ea typeface="微软雅黑" panose="020B0503020204020204" charset="-122"/>
                </a:rPr>
                <a:t>时间为实际答辩时间，与答辩公示中答辩时间保持一致，</a:t>
              </a:r>
              <a:r>
                <a:rPr lang="zh-CN" altLang="en-US" sz="1600" b="1" dirty="0" smtClean="0">
                  <a:solidFill>
                    <a:srgbClr val="FF0000"/>
                  </a:solidFill>
                  <a:latin typeface="Arial" panose="020B0604020202020204" pitchFamily="34" charset="0"/>
                  <a:ea typeface="微软雅黑" panose="020B0503020204020204" charset="-122"/>
                </a:rPr>
                <a:t>不可手写</a:t>
              </a:r>
              <a:r>
                <a:rPr lang="zh-CN" altLang="en-US" sz="1600" b="1" dirty="0" smtClean="0">
                  <a:latin typeface="Arial" panose="020B0604020202020204" pitchFamily="34" charset="0"/>
                  <a:ea typeface="微软雅黑" panose="020B0503020204020204" charset="-122"/>
                </a:rPr>
                <a:t>，请提前打印好日期再到学生教育处盖章。</a:t>
              </a:r>
              <a:endParaRPr lang="zh-CN" altLang="en-US" sz="1600" b="1" dirty="0" smtClean="0">
                <a:latin typeface="Arial" panose="020B0604020202020204" pitchFamily="34" charset="0"/>
                <a:ea typeface="微软雅黑" panose="020B0503020204020204" charset="-122"/>
              </a:endParaRPr>
            </a:p>
          </p:txBody>
        </p:sp>
      </p:grpSp>
      <p:grpSp>
        <p:nvGrpSpPr>
          <p:cNvPr id="25" name="组合 24"/>
          <p:cNvGrpSpPr/>
          <p:nvPr/>
        </p:nvGrpSpPr>
        <p:grpSpPr>
          <a:xfrm>
            <a:off x="601980" y="2111375"/>
            <a:ext cx="4809490" cy="664210"/>
            <a:chOff x="980" y="2962"/>
            <a:chExt cx="7574" cy="1046"/>
          </a:xfrm>
        </p:grpSpPr>
        <p:sp>
          <p:nvSpPr>
            <p:cNvPr id="26" name="矩形 25"/>
            <p:cNvSpPr/>
            <p:nvPr/>
          </p:nvSpPr>
          <p:spPr>
            <a:xfrm>
              <a:off x="980" y="2962"/>
              <a:ext cx="7574" cy="1046"/>
            </a:xfrm>
            <a:prstGeom prst="rect">
              <a:avLst/>
            </a:prstGeom>
            <a:solidFill>
              <a:srgbClr val="C00000"/>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7" name="文本框 26"/>
            <p:cNvSpPr txBox="1"/>
            <p:nvPr/>
          </p:nvSpPr>
          <p:spPr>
            <a:xfrm>
              <a:off x="1108" y="3062"/>
              <a:ext cx="7251" cy="768"/>
            </a:xfrm>
            <a:prstGeom prst="rect">
              <a:avLst/>
            </a:prstGeom>
            <a:noFill/>
          </p:spPr>
          <p:txBody>
            <a:bodyPr wrap="square" rtlCol="0">
              <a:spAutoFit/>
            </a:bodyPr>
            <a:p>
              <a:pPr>
                <a:lnSpc>
                  <a:spcPct val="130000"/>
                </a:lnSpc>
              </a:pPr>
              <a:r>
                <a:rPr lang="zh-CN" altLang="en-US" sz="2000" b="1" dirty="0" smtClean="0">
                  <a:solidFill>
                    <a:srgbClr val="FFFFFF"/>
                  </a:solidFill>
                  <a:latin typeface="微软雅黑" panose="020B0503020204020204" charset="-122"/>
                  <a:ea typeface="微软雅黑" panose="020B0503020204020204" charset="-122"/>
                </a:rPr>
                <a:t>表决票数</a:t>
              </a:r>
              <a:r>
                <a:rPr lang="en-US" altLang="zh-CN" sz="2000" b="1" dirty="0" smtClean="0">
                  <a:solidFill>
                    <a:srgbClr val="FFFFFF"/>
                  </a:solidFill>
                  <a:latin typeface="微软雅黑" panose="020B0503020204020204" charset="-122"/>
                  <a:ea typeface="微软雅黑" panose="020B0503020204020204" charset="-122"/>
                </a:rPr>
                <a:t>=</a:t>
              </a:r>
              <a:r>
                <a:rPr lang="zh-CN" altLang="en-US" sz="2000" b="1" dirty="0" smtClean="0">
                  <a:solidFill>
                    <a:srgbClr val="FFFFFF"/>
                  </a:solidFill>
                  <a:latin typeface="微软雅黑" panose="020B0503020204020204" charset="-122"/>
                  <a:ea typeface="微软雅黑" panose="020B0503020204020204" charset="-122"/>
                </a:rPr>
                <a:t>答辩委员会人数</a:t>
              </a:r>
              <a:r>
                <a:rPr lang="en-US" altLang="zh-CN" sz="2000" b="1" dirty="0" smtClean="0">
                  <a:solidFill>
                    <a:srgbClr val="FFFFFF"/>
                  </a:solidFill>
                  <a:latin typeface="微软雅黑" panose="020B0503020204020204" charset="-122"/>
                  <a:ea typeface="微软雅黑" panose="020B0503020204020204" charset="-122"/>
                </a:rPr>
                <a:t>x</a:t>
              </a:r>
              <a:r>
                <a:rPr lang="zh-CN" altLang="en-US" sz="2000" b="1" dirty="0" smtClean="0">
                  <a:solidFill>
                    <a:srgbClr val="FFFFFF"/>
                  </a:solidFill>
                  <a:latin typeface="微软雅黑" panose="020B0503020204020204" charset="-122"/>
                  <a:ea typeface="微软雅黑" panose="020B0503020204020204" charset="-122"/>
                </a:rPr>
                <a:t>答辩学生数</a:t>
              </a:r>
              <a:endParaRPr lang="zh-CN" altLang="en-US" sz="2000" b="1" dirty="0" smtClean="0">
                <a:solidFill>
                  <a:srgbClr val="FFFFFF"/>
                </a:solidFill>
                <a:latin typeface="微软雅黑" panose="020B0503020204020204" charset="-122"/>
                <a:ea typeface="微软雅黑" panose="020B0503020204020204" charset="-122"/>
              </a:endParaRPr>
            </a:p>
          </p:txBody>
        </p:sp>
      </p:grpSp>
      <p:grpSp>
        <p:nvGrpSpPr>
          <p:cNvPr id="28" name="组合 27"/>
          <p:cNvGrpSpPr/>
          <p:nvPr/>
        </p:nvGrpSpPr>
        <p:grpSpPr>
          <a:xfrm>
            <a:off x="564515" y="3322320"/>
            <a:ext cx="4809490" cy="955040"/>
            <a:chOff x="980" y="2962"/>
            <a:chExt cx="7574" cy="1504"/>
          </a:xfrm>
        </p:grpSpPr>
        <p:sp>
          <p:nvSpPr>
            <p:cNvPr id="29" name="矩形 28"/>
            <p:cNvSpPr/>
            <p:nvPr/>
          </p:nvSpPr>
          <p:spPr>
            <a:xfrm>
              <a:off x="980" y="2962"/>
              <a:ext cx="7574" cy="1504"/>
            </a:xfrm>
            <a:prstGeom prst="rect">
              <a:avLst/>
            </a:prstGeom>
            <a:solidFill>
              <a:srgbClr val="C00000"/>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0" name="文本框 29"/>
            <p:cNvSpPr txBox="1"/>
            <p:nvPr/>
          </p:nvSpPr>
          <p:spPr>
            <a:xfrm>
              <a:off x="1108" y="2998"/>
              <a:ext cx="7310" cy="1404"/>
            </a:xfrm>
            <a:prstGeom prst="rect">
              <a:avLst/>
            </a:prstGeom>
            <a:noFill/>
          </p:spPr>
          <p:txBody>
            <a:bodyPr wrap="square" rtlCol="0">
              <a:spAutoFit/>
            </a:bodyPr>
            <a:p>
              <a:pPr>
                <a:lnSpc>
                  <a:spcPct val="130000"/>
                </a:lnSpc>
              </a:pPr>
              <a:r>
                <a:rPr sz="2000" b="1" dirty="0" smtClean="0">
                  <a:solidFill>
                    <a:srgbClr val="FFFFFF"/>
                  </a:solidFill>
                  <a:latin typeface="微软雅黑" panose="020B0503020204020204" charset="-122"/>
                  <a:ea typeface="微软雅黑" panose="020B0503020204020204" charset="-122"/>
                </a:rPr>
                <a:t>答辩过程中请提醒专家表决票不可涂改，请务必慎重勾选表决票</a:t>
              </a:r>
              <a:endParaRPr sz="2000" b="1" dirty="0" smtClean="0">
                <a:solidFill>
                  <a:srgbClr val="FFFFFF"/>
                </a:solidFill>
                <a:latin typeface="微软雅黑" panose="020B0503020204020204" charset="-122"/>
                <a:ea typeface="微软雅黑" panose="020B050302020402020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答辩公示（电子</a:t>
            </a:r>
            <a:r>
              <a:rPr lang="en-US" altLang="zh-CN" sz="4000" b="1" dirty="0">
                <a:latin typeface="微软雅黑" panose="020B0503020204020204" charset="-122"/>
                <a:ea typeface="微软雅黑" panose="020B0503020204020204" charset="-122"/>
              </a:rPr>
              <a:t>+</a:t>
            </a:r>
            <a:r>
              <a:rPr lang="zh-CN" altLang="en-US" sz="4000" b="1" dirty="0">
                <a:latin typeface="微软雅黑" panose="020B0503020204020204" charset="-122"/>
                <a:ea typeface="微软雅黑" panose="020B0503020204020204" charset="-122"/>
              </a:rPr>
              <a:t>纸质）</a:t>
            </a:r>
            <a:endParaRPr lang="zh-CN" altLang="en-US" sz="4000" b="1" dirty="0">
              <a:latin typeface="微软雅黑" panose="020B0503020204020204" charset="-122"/>
              <a:ea typeface="微软雅黑" panose="020B0503020204020204" charset="-122"/>
            </a:endParaRPr>
          </a:p>
        </p:txBody>
      </p:sp>
      <p:pic>
        <p:nvPicPr>
          <p:cNvPr id="10" name="图片 9"/>
          <p:cNvPicPr>
            <a:picLocks noChangeAspect="1"/>
          </p:cNvPicPr>
          <p:nvPr/>
        </p:nvPicPr>
        <p:blipFill>
          <a:blip r:embed="rId1"/>
          <a:stretch>
            <a:fillRect/>
          </a:stretch>
        </p:blipFill>
        <p:spPr>
          <a:xfrm>
            <a:off x="6224270" y="1437640"/>
            <a:ext cx="3974465" cy="5241925"/>
          </a:xfrm>
          <a:prstGeom prst="rect">
            <a:avLst/>
          </a:prstGeom>
        </p:spPr>
      </p:pic>
      <p:sp>
        <p:nvSpPr>
          <p:cNvPr id="6" name="矩形 5"/>
          <p:cNvSpPr/>
          <p:nvPr/>
        </p:nvSpPr>
        <p:spPr>
          <a:xfrm>
            <a:off x="6550025" y="2532380"/>
            <a:ext cx="3222625" cy="72453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7" name="组合 6"/>
          <p:cNvGrpSpPr/>
          <p:nvPr/>
        </p:nvGrpSpPr>
        <p:grpSpPr>
          <a:xfrm>
            <a:off x="1436127" y="2532568"/>
            <a:ext cx="2765425" cy="869315"/>
            <a:chOff x="4388" y="4813"/>
            <a:chExt cx="3553" cy="2170"/>
          </a:xfrm>
        </p:grpSpPr>
        <p:sp>
          <p:nvSpPr>
            <p:cNvPr id="3" name="线形标注 1 2"/>
            <p:cNvSpPr/>
            <p:nvPr/>
          </p:nvSpPr>
          <p:spPr>
            <a:xfrm>
              <a:off x="4388" y="4813"/>
              <a:ext cx="3553" cy="2170"/>
            </a:xfrm>
            <a:prstGeom prst="borderCallout1">
              <a:avLst>
                <a:gd name="adj1" fmla="val 43633"/>
                <a:gd name="adj2" fmla="val 107852"/>
                <a:gd name="adj3" fmla="val 49065"/>
                <a:gd name="adj4" fmla="val 176702"/>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4" name="文本框 3"/>
            <p:cNvSpPr txBox="1"/>
            <p:nvPr/>
          </p:nvSpPr>
          <p:spPr>
            <a:xfrm>
              <a:off x="4388" y="4935"/>
              <a:ext cx="3357" cy="1824"/>
            </a:xfrm>
            <a:prstGeom prst="rect">
              <a:avLst/>
            </a:prstGeom>
            <a:noFill/>
          </p:spPr>
          <p:txBody>
            <a:bodyPr wrap="square" rtlCol="0">
              <a:spAutoFit/>
            </a:bodyPr>
            <a:p>
              <a:pPr>
                <a:lnSpc>
                  <a:spcPct val="130000"/>
                </a:lnSpc>
              </a:pPr>
              <a:r>
                <a:rPr lang="zh-CN" altLang="en-US" sz="1600" b="1" dirty="0" smtClean="0">
                  <a:latin typeface="Arial" panose="020B0604020202020204" pitchFamily="34" charset="0"/>
                  <a:ea typeface="微软雅黑" panose="020B0503020204020204" charset="-122"/>
                </a:rPr>
                <a:t>写清部门（研究室名称）、答辩时间、地点。</a:t>
              </a:r>
              <a:endParaRPr lang="zh-CN" altLang="en-US" sz="1600" b="1" dirty="0" smtClean="0">
                <a:latin typeface="Arial" panose="020B0604020202020204" pitchFamily="34" charset="0"/>
                <a:ea typeface="微软雅黑" panose="020B0503020204020204" charset="-122"/>
              </a:endParaRPr>
            </a:p>
          </p:txBody>
        </p:sp>
      </p:grpSp>
      <p:grpSp>
        <p:nvGrpSpPr>
          <p:cNvPr id="5" name="组合 4"/>
          <p:cNvGrpSpPr/>
          <p:nvPr/>
        </p:nvGrpSpPr>
        <p:grpSpPr>
          <a:xfrm>
            <a:off x="1130935" y="4563110"/>
            <a:ext cx="3146425" cy="1754661"/>
            <a:chOff x="6020" y="4784"/>
            <a:chExt cx="3553" cy="2337"/>
          </a:xfrm>
        </p:grpSpPr>
        <p:sp>
          <p:nvSpPr>
            <p:cNvPr id="15" name="线形标注 1 14"/>
            <p:cNvSpPr/>
            <p:nvPr/>
          </p:nvSpPr>
          <p:spPr>
            <a:xfrm>
              <a:off x="6020" y="4784"/>
              <a:ext cx="3553" cy="2337"/>
            </a:xfrm>
            <a:prstGeom prst="borderCallout1">
              <a:avLst>
                <a:gd name="adj1" fmla="val 43633"/>
                <a:gd name="adj2" fmla="val 107852"/>
                <a:gd name="adj3" fmla="val -97675"/>
                <a:gd name="adj4" fmla="val 249263"/>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7" name="文本框 16"/>
            <p:cNvSpPr txBox="1"/>
            <p:nvPr/>
          </p:nvSpPr>
          <p:spPr>
            <a:xfrm>
              <a:off x="6138" y="4849"/>
              <a:ext cx="3357" cy="2252"/>
            </a:xfrm>
            <a:prstGeom prst="rect">
              <a:avLst/>
            </a:prstGeom>
            <a:noFill/>
          </p:spPr>
          <p:txBody>
            <a:bodyPr wrap="square" rtlCol="0">
              <a:spAutoFit/>
            </a:bodyPr>
            <a:p>
              <a:pPr>
                <a:lnSpc>
                  <a:spcPct val="130000"/>
                </a:lnSpc>
              </a:pPr>
              <a:r>
                <a:rPr lang="zh-CN" altLang="en-US" sz="1600" b="1" dirty="0" smtClean="0">
                  <a:latin typeface="Arial" panose="020B0604020202020204" pitchFamily="34" charset="0"/>
                  <a:ea typeface="微软雅黑" panose="020B0503020204020204" charset="-122"/>
                </a:rPr>
                <a:t>时间为实际答辩时间，一旦公示不可随意更改。</a:t>
              </a:r>
              <a:endParaRPr lang="zh-CN" altLang="en-US" sz="1600" b="1" dirty="0" smtClean="0">
                <a:latin typeface="Arial" panose="020B0604020202020204" pitchFamily="34" charset="0"/>
                <a:ea typeface="微软雅黑" panose="020B0503020204020204" charset="-122"/>
              </a:endParaRPr>
            </a:p>
            <a:p>
              <a:pPr>
                <a:lnSpc>
                  <a:spcPct val="130000"/>
                </a:lnSpc>
              </a:pPr>
              <a:endParaRPr lang="zh-CN" altLang="en-US" sz="1600" b="1" dirty="0" smtClean="0">
                <a:latin typeface="Arial" panose="020B0604020202020204" pitchFamily="34" charset="0"/>
                <a:ea typeface="微软雅黑" panose="020B0503020204020204" charset="-122"/>
                <a:sym typeface="黑体" panose="02010609060101010101" charset="-122"/>
              </a:endParaRPr>
            </a:p>
            <a:p>
              <a:pPr>
                <a:lnSpc>
                  <a:spcPct val="130000"/>
                </a:lnSpc>
              </a:pPr>
              <a:r>
                <a:rPr lang="zh-CN" altLang="en-US" sz="1600" b="1" dirty="0" smtClean="0">
                  <a:latin typeface="Arial" panose="020B0604020202020204" pitchFamily="34" charset="0"/>
                  <a:ea typeface="微软雅黑" panose="020B0503020204020204" charset="-122"/>
                  <a:sym typeface="黑体" panose="02010609060101010101" charset="-122"/>
                </a:rPr>
                <a:t>请提前填好公示落款日期再到学生教育处盖章。</a:t>
              </a:r>
              <a:endParaRPr lang="zh-CN" altLang="en-US" sz="1600" b="1" dirty="0" smtClean="0">
                <a:latin typeface="Arial" panose="020B0604020202020204" pitchFamily="34" charset="0"/>
                <a:ea typeface="微软雅黑" panose="020B0503020204020204" charset="-122"/>
              </a:endParaRPr>
            </a:p>
          </p:txBody>
        </p:sp>
      </p:grpSp>
      <p:cxnSp>
        <p:nvCxnSpPr>
          <p:cNvPr id="18" name="直接连接符 17"/>
          <p:cNvCxnSpPr/>
          <p:nvPr/>
        </p:nvCxnSpPr>
        <p:spPr>
          <a:xfrm>
            <a:off x="4552315" y="5846445"/>
            <a:ext cx="3571240" cy="208280"/>
          </a:xfrm>
          <a:prstGeom prst="line">
            <a:avLst/>
          </a:prstGeom>
          <a:noFill/>
          <a:ln w="6350" cap="flat" cmpd="sng" algn="ctr">
            <a:solidFill>
              <a:srgbClr val="840000"/>
            </a:solidFill>
            <a:prstDash val="solid"/>
            <a:miter lim="800000"/>
          </a:ln>
          <a:effec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263" y="504825"/>
            <a:ext cx="10085387"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答辩前材料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学位论文答辩</a:t>
            </a:r>
            <a:endParaRPr lang="zh-CN" altLang="en-US" sz="4000" b="1" dirty="0">
              <a:latin typeface="微软雅黑" panose="020B0503020204020204" charset="-122"/>
              <a:ea typeface="微软雅黑" panose="020B0503020204020204" charset="-122"/>
            </a:endParaRPr>
          </a:p>
        </p:txBody>
      </p:sp>
      <p:sp>
        <p:nvSpPr>
          <p:cNvPr id="8" name="文本框 7"/>
          <p:cNvSpPr txBox="1"/>
          <p:nvPr/>
        </p:nvSpPr>
        <p:spPr>
          <a:xfrm>
            <a:off x="664210" y="1266825"/>
            <a:ext cx="10659110" cy="5292725"/>
          </a:xfrm>
          <a:prstGeom prst="rect">
            <a:avLst/>
          </a:prstGeom>
          <a:noFill/>
        </p:spPr>
        <p:txBody>
          <a:bodyPr wrap="square" rtlCol="0">
            <a:spAutoFit/>
          </a:bodyPr>
          <a:p>
            <a:pPr>
              <a:lnSpc>
                <a:spcPct val="130000"/>
              </a:lnSpc>
            </a:pPr>
            <a:r>
              <a:rPr lang="en-US" sz="2000" b="1" dirty="0" smtClean="0">
                <a:solidFill>
                  <a:schemeClr val="tx1"/>
                </a:solidFill>
                <a:latin typeface="微软雅黑" panose="020B0503020204020204" charset="-122"/>
                <a:ea typeface="微软雅黑" panose="020B0503020204020204" charset="-122"/>
              </a:rPr>
              <a:t>1</a:t>
            </a:r>
            <a:r>
              <a:rPr lang="zh-CN" altLang="en-US" sz="2000" b="1" dirty="0" smtClean="0">
                <a:solidFill>
                  <a:schemeClr val="tx1"/>
                </a:solidFill>
                <a:latin typeface="微软雅黑" panose="020B0503020204020204" charset="-122"/>
                <a:ea typeface="微软雅黑" panose="020B0503020204020204" charset="-122"/>
              </a:rPr>
              <a:t>、</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学位申请人请着正装进行学位论文答辩</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2</a:t>
            </a:r>
            <a:r>
              <a:rPr lang="zh-CN" altLang="en-US" sz="2000" b="1" dirty="0" smtClean="0">
                <a:solidFill>
                  <a:schemeClr val="tx1"/>
                </a:solidFill>
                <a:latin typeface="微软雅黑" panose="020B0503020204020204" charset="-122"/>
                <a:ea typeface="微软雅黑" panose="020B0503020204020204" charset="-122"/>
              </a:rPr>
              <a:t>、答辩秘书提交以下材料至答辩会：</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  </a:t>
            </a:r>
            <a:r>
              <a:rPr lang="zh-CN" altLang="en-US" sz="2000" b="1" dirty="0" smtClean="0">
                <a:solidFill>
                  <a:schemeClr val="tx1"/>
                </a:solidFill>
                <a:latin typeface="微软雅黑" panose="020B0503020204020204" charset="-122"/>
                <a:ea typeface="微软雅黑" panose="020B0503020204020204" charset="-122"/>
              </a:rPr>
              <a:t>（</a:t>
            </a:r>
            <a:r>
              <a:rPr lang="en-US" altLang="zh-CN" sz="2000" b="1" dirty="0" smtClean="0">
                <a:solidFill>
                  <a:schemeClr val="tx1"/>
                </a:solidFill>
                <a:latin typeface="微软雅黑" panose="020B0503020204020204" charset="-122"/>
                <a:ea typeface="微软雅黑" panose="020B0503020204020204" charset="-122"/>
              </a:rPr>
              <a:t>1</a:t>
            </a:r>
            <a:r>
              <a:rPr lang="zh-CN" altLang="en-US" sz="2000" b="1" dirty="0" smtClean="0">
                <a:solidFill>
                  <a:schemeClr val="tx1"/>
                </a:solidFill>
                <a:latin typeface="微软雅黑" panose="020B0503020204020204" charset="-122"/>
                <a:ea typeface="微软雅黑" panose="020B0503020204020204" charset="-122"/>
              </a:rPr>
              <a:t>）研究生学籍档案：含答辩申请材料等，请提前到学生教育处领取</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  </a:t>
            </a:r>
            <a:r>
              <a:rPr lang="zh-CN" altLang="en-US" sz="2000" b="1" dirty="0" smtClean="0">
                <a:solidFill>
                  <a:schemeClr val="tx1"/>
                </a:solidFill>
                <a:latin typeface="微软雅黑" panose="020B0503020204020204" charset="-122"/>
                <a:ea typeface="微软雅黑" panose="020B0503020204020204" charset="-122"/>
              </a:rPr>
              <a:t>（</a:t>
            </a:r>
            <a:r>
              <a:rPr lang="en-US" altLang="zh-CN" sz="2000" b="1" dirty="0" smtClean="0">
                <a:solidFill>
                  <a:schemeClr val="tx1"/>
                </a:solidFill>
                <a:latin typeface="微软雅黑" panose="020B0503020204020204" charset="-122"/>
                <a:ea typeface="微软雅黑" panose="020B0503020204020204" charset="-122"/>
              </a:rPr>
              <a:t>2</a:t>
            </a:r>
            <a:r>
              <a:rPr lang="zh-CN" altLang="en-US" sz="2000" b="1" dirty="0" smtClean="0">
                <a:solidFill>
                  <a:schemeClr val="tx1"/>
                </a:solidFill>
                <a:latin typeface="微软雅黑" panose="020B0503020204020204" charset="-122"/>
                <a:ea typeface="微软雅黑" panose="020B0503020204020204" charset="-122"/>
              </a:rPr>
              <a:t>）学位论文正式装订本：学位论文打印份数一般应与答辩组专家人数一致，如使用</a:t>
            </a:r>
            <a:r>
              <a:rPr lang="en-US" altLang="zh-CN" sz="2000" b="1" dirty="0" smtClean="0">
                <a:solidFill>
                  <a:schemeClr val="tx1"/>
                </a:solidFill>
                <a:latin typeface="微软雅黑" panose="020B0503020204020204" charset="-122"/>
                <a:ea typeface="微软雅黑" panose="020B0503020204020204" charset="-122"/>
              </a:rPr>
              <a:t>PAD</a:t>
            </a:r>
            <a:r>
              <a:rPr lang="zh-CN" altLang="en-US" sz="2000" b="1" dirty="0" smtClean="0">
                <a:solidFill>
                  <a:schemeClr val="tx1"/>
                </a:solidFill>
                <a:latin typeface="微软雅黑" panose="020B0503020204020204" charset="-122"/>
                <a:ea typeface="微软雅黑" panose="020B0503020204020204" charset="-122"/>
              </a:rPr>
              <a:t>等电子设备，可仅提供电子版，需保证每个专家人手一份。</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  </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3</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）预答辩审查表及修改说明</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  </a:t>
            </a:r>
            <a:r>
              <a:rPr lang="zh-CN" altLang="en-US" sz="2000" b="1" dirty="0" smtClean="0">
                <a:solidFill>
                  <a:schemeClr val="tx1"/>
                </a:solidFill>
                <a:latin typeface="微软雅黑" panose="020B0503020204020204" charset="-122"/>
                <a:ea typeface="微软雅黑" panose="020B0503020204020204" charset="-122"/>
              </a:rPr>
              <a:t>（</a:t>
            </a:r>
            <a:r>
              <a:rPr lang="en-US" altLang="zh-CN" sz="2000" b="1" dirty="0" smtClean="0">
                <a:solidFill>
                  <a:schemeClr val="tx1"/>
                </a:solidFill>
                <a:latin typeface="微软雅黑" panose="020B0503020204020204" charset="-122"/>
                <a:ea typeface="微软雅黑" panose="020B0503020204020204" charset="-122"/>
              </a:rPr>
              <a:t>4</a:t>
            </a:r>
            <a:r>
              <a:rPr lang="zh-CN" altLang="en-US" sz="2000" b="1" dirty="0" smtClean="0">
                <a:solidFill>
                  <a:schemeClr val="tx1"/>
                </a:solidFill>
                <a:latin typeface="微软雅黑" panose="020B0503020204020204" charset="-122"/>
                <a:ea typeface="微软雅黑" panose="020B0503020204020204" charset="-122"/>
              </a:rPr>
              <a:t>）评阅书及评阅后学位论文修改说明</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  </a:t>
            </a:r>
            <a:r>
              <a:rPr lang="zh-CN" altLang="en-US" sz="2000" b="1" dirty="0" smtClean="0">
                <a:solidFill>
                  <a:schemeClr val="tx1"/>
                </a:solidFill>
                <a:latin typeface="微软雅黑" panose="020B0503020204020204" charset="-122"/>
                <a:ea typeface="微软雅黑" panose="020B0503020204020204" charset="-122"/>
              </a:rPr>
              <a:t>（</a:t>
            </a:r>
            <a:r>
              <a:rPr lang="en-US" altLang="zh-CN" sz="2000" b="1" dirty="0" smtClean="0">
                <a:solidFill>
                  <a:schemeClr val="tx1"/>
                </a:solidFill>
                <a:latin typeface="微软雅黑" panose="020B0503020204020204" charset="-122"/>
                <a:ea typeface="微软雅黑" panose="020B0503020204020204" charset="-122"/>
              </a:rPr>
              <a:t>5</a:t>
            </a:r>
            <a:r>
              <a:rPr lang="zh-CN" altLang="en-US" sz="2000" b="1" dirty="0" smtClean="0">
                <a:solidFill>
                  <a:schemeClr val="tx1"/>
                </a:solidFill>
                <a:latin typeface="微软雅黑" panose="020B0503020204020204" charset="-122"/>
                <a:ea typeface="微软雅黑" panose="020B0503020204020204" charset="-122"/>
              </a:rPr>
              <a:t>）科研成果列表（附件</a:t>
            </a:r>
            <a:r>
              <a:rPr lang="en-US" altLang="zh-CN" sz="2000" b="1" dirty="0" smtClean="0">
                <a:solidFill>
                  <a:schemeClr val="tx1"/>
                </a:solidFill>
                <a:latin typeface="微软雅黑" panose="020B0503020204020204" charset="-122"/>
                <a:ea typeface="微软雅黑" panose="020B0503020204020204" charset="-122"/>
              </a:rPr>
              <a:t>21</a:t>
            </a:r>
            <a:r>
              <a:rPr lang="zh-CN" altLang="en-US" sz="2000" b="1" dirty="0" smtClean="0">
                <a:solidFill>
                  <a:schemeClr val="tx1"/>
                </a:solidFill>
                <a:latin typeface="微软雅黑" panose="020B0503020204020204" charset="-122"/>
                <a:ea typeface="微软雅黑" panose="020B0503020204020204" charset="-122"/>
              </a:rPr>
              <a:t>）</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  </a:t>
            </a:r>
            <a:r>
              <a:rPr lang="zh-CN" altLang="en-US" sz="2000" b="1" dirty="0" smtClean="0">
                <a:solidFill>
                  <a:schemeClr val="tx1"/>
                </a:solidFill>
                <a:latin typeface="微软雅黑" panose="020B0503020204020204" charset="-122"/>
                <a:ea typeface="微软雅黑" panose="020B0503020204020204" charset="-122"/>
              </a:rPr>
              <a:t>（</a:t>
            </a:r>
            <a:r>
              <a:rPr lang="en-US" altLang="zh-CN" sz="2000" b="1" dirty="0" smtClean="0">
                <a:solidFill>
                  <a:schemeClr val="tx1"/>
                </a:solidFill>
                <a:latin typeface="微软雅黑" panose="020B0503020204020204" charset="-122"/>
                <a:ea typeface="微软雅黑" panose="020B0503020204020204" charset="-122"/>
              </a:rPr>
              <a:t>6</a:t>
            </a:r>
            <a:r>
              <a:rPr lang="zh-CN" altLang="en-US" sz="2000" b="1" dirty="0" smtClean="0">
                <a:solidFill>
                  <a:schemeClr val="tx1"/>
                </a:solidFill>
                <a:latin typeface="微软雅黑" panose="020B0503020204020204" charset="-122"/>
                <a:ea typeface="微软雅黑" panose="020B0503020204020204" charset="-122"/>
              </a:rPr>
              <a:t>）答辩情况和学位授予决议书，单面打印</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3</a:t>
            </a:r>
            <a:r>
              <a:rPr lang="zh-CN" altLang="en-US" sz="2000" b="1" dirty="0" smtClean="0">
                <a:solidFill>
                  <a:schemeClr val="tx1"/>
                </a:solidFill>
                <a:latin typeface="微软雅黑" panose="020B0503020204020204" charset="-122"/>
                <a:ea typeface="微软雅黑" panose="020B0503020204020204" charset="-122"/>
              </a:rPr>
              <a:t>、研究生报告学位论文</a:t>
            </a:r>
            <a:r>
              <a:rPr lang="en-US" altLang="zh-CN" sz="2000" b="1" dirty="0" smtClean="0">
                <a:solidFill>
                  <a:schemeClr val="tx1"/>
                </a:solidFill>
                <a:latin typeface="微软雅黑" panose="020B0503020204020204" charset="-122"/>
                <a:ea typeface="微软雅黑" panose="020B0503020204020204" charset="-122"/>
              </a:rPr>
              <a:t>PPT</a:t>
            </a:r>
            <a:r>
              <a:rPr lang="zh-CN" altLang="en-US" sz="2000" b="1" dirty="0" smtClean="0">
                <a:solidFill>
                  <a:schemeClr val="tx1"/>
                </a:solidFill>
                <a:latin typeface="微软雅黑" panose="020B0503020204020204" charset="-122"/>
                <a:ea typeface="微软雅黑" panose="020B0503020204020204" charset="-122"/>
              </a:rPr>
              <a:t>，</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硕士研究生一般不少于</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20</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分钟，博士研究生一般不少于</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30</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分钟</a:t>
            </a:r>
            <a:endParaRPr lang="zh-CN" altLang="en-US" sz="2000" b="1" dirty="0" smtClean="0">
              <a:solidFill>
                <a:schemeClr val="tx1"/>
              </a:solidFill>
              <a:highlight>
                <a:srgbClr val="FFFF00"/>
              </a:highlight>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4</a:t>
            </a:r>
            <a:r>
              <a:rPr lang="zh-CN" altLang="en-US" sz="2000" b="1" dirty="0" smtClean="0">
                <a:solidFill>
                  <a:schemeClr val="tx1"/>
                </a:solidFill>
                <a:latin typeface="微软雅黑" panose="020B0503020204020204" charset="-122"/>
                <a:ea typeface="微软雅黑" panose="020B0503020204020204" charset="-122"/>
              </a:rPr>
              <a:t>、答辩专家问答，建议博士提问不少于</a:t>
            </a:r>
            <a:r>
              <a:rPr lang="en-US" altLang="zh-CN" sz="2000" b="1" dirty="0" smtClean="0">
                <a:solidFill>
                  <a:schemeClr val="tx1"/>
                </a:solidFill>
                <a:latin typeface="微软雅黑" panose="020B0503020204020204" charset="-122"/>
                <a:ea typeface="微软雅黑" panose="020B0503020204020204" charset="-122"/>
              </a:rPr>
              <a:t>5</a:t>
            </a:r>
            <a:r>
              <a:rPr lang="zh-CN" altLang="en-US" sz="2000" b="1" dirty="0" smtClean="0">
                <a:solidFill>
                  <a:schemeClr val="tx1"/>
                </a:solidFill>
                <a:latin typeface="微软雅黑" panose="020B0503020204020204" charset="-122"/>
                <a:ea typeface="微软雅黑" panose="020B0503020204020204" charset="-122"/>
              </a:rPr>
              <a:t>个，硕士不少于</a:t>
            </a:r>
            <a:r>
              <a:rPr lang="en-US" altLang="zh-CN" sz="2000" b="1" dirty="0" smtClean="0">
                <a:solidFill>
                  <a:schemeClr val="tx1"/>
                </a:solidFill>
                <a:latin typeface="微软雅黑" panose="020B0503020204020204" charset="-122"/>
                <a:ea typeface="微软雅黑" panose="020B0503020204020204" charset="-122"/>
              </a:rPr>
              <a:t>3</a:t>
            </a:r>
            <a:r>
              <a:rPr lang="zh-CN" altLang="en-US" sz="2000" b="1" dirty="0" smtClean="0">
                <a:solidFill>
                  <a:schemeClr val="tx1"/>
                </a:solidFill>
                <a:latin typeface="微软雅黑" panose="020B0503020204020204" charset="-122"/>
                <a:ea typeface="微软雅黑" panose="020B0503020204020204" charset="-122"/>
              </a:rPr>
              <a:t>个</a:t>
            </a:r>
            <a:endParaRPr lang="zh-CN" altLang="en-US" sz="2000" b="1" dirty="0" smtClean="0">
              <a:solidFill>
                <a:schemeClr val="tx1"/>
              </a:solidFill>
              <a:latin typeface="微软雅黑" panose="020B0503020204020204" charset="-122"/>
              <a:ea typeface="微软雅黑" panose="020B0503020204020204" charset="-122"/>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5</a:t>
            </a:r>
            <a:r>
              <a:rPr lang="zh-CN" altLang="en-US" sz="2000" b="1" dirty="0" smtClean="0">
                <a:solidFill>
                  <a:schemeClr val="tx1"/>
                </a:solidFill>
                <a:latin typeface="微软雅黑" panose="020B0503020204020204" charset="-122"/>
                <a:ea typeface="微软雅黑" panose="020B0503020204020204" charset="-122"/>
              </a:rPr>
              <a:t>、</a:t>
            </a:r>
            <a:r>
              <a:rPr lang="zh-CN" altLang="en-US" sz="2000" b="1">
                <a:solidFill>
                  <a:srgbClr val="FF0000"/>
                </a:solidFill>
                <a:highlight>
                  <a:srgbClr val="FFFF00"/>
                </a:highlight>
                <a:latin typeface="微软雅黑" panose="020B0503020204020204" charset="-122"/>
                <a:ea typeface="微软雅黑" panose="020B0503020204020204" charset="-122"/>
                <a:cs typeface="微软雅黑" panose="020B0503020204020204" charset="-122"/>
                <a:sym typeface="+mn-ea"/>
              </a:rPr>
              <a:t>决议书、表决票不得涂改</a:t>
            </a:r>
            <a:endParaRPr lang="zh-CN" altLang="en-US" sz="2000" b="1">
              <a:solidFill>
                <a:srgbClr val="C00000"/>
              </a:solidFill>
              <a:latin typeface="微软雅黑" panose="020B0503020204020204" charset="-122"/>
              <a:ea typeface="微软雅黑" panose="020B0503020204020204" charset="-122"/>
              <a:cs typeface="微软雅黑" panose="020B0503020204020204" charset="-122"/>
              <a:sym typeface="+mn-ea"/>
            </a:endParaRPr>
          </a:p>
          <a:p>
            <a:pPr>
              <a:lnSpc>
                <a:spcPct val="130000"/>
              </a:lnSpc>
            </a:pPr>
            <a:r>
              <a:rPr lang="en-US" altLang="zh-CN" sz="2000" b="1" dirty="0" smtClean="0">
                <a:solidFill>
                  <a:schemeClr val="tx1"/>
                </a:solidFill>
                <a:latin typeface="微软雅黑" panose="020B0503020204020204" charset="-122"/>
                <a:ea typeface="微软雅黑" panose="020B0503020204020204" charset="-122"/>
              </a:rPr>
              <a:t>6</a:t>
            </a:r>
            <a:r>
              <a:rPr lang="zh-CN" altLang="en-US" sz="2000" b="1" dirty="0" smtClean="0">
                <a:solidFill>
                  <a:schemeClr val="tx1"/>
                </a:solidFill>
                <a:latin typeface="微软雅黑" panose="020B0503020204020204" charset="-122"/>
                <a:ea typeface="微软雅黑" panose="020B0503020204020204" charset="-122"/>
              </a:rPr>
              <a:t>、答辩决议模板参见附件</a:t>
            </a:r>
            <a:r>
              <a:rPr lang="en-US" altLang="zh-CN" sz="2000" b="1" dirty="0" smtClean="0">
                <a:solidFill>
                  <a:schemeClr val="tx1"/>
                </a:solidFill>
                <a:latin typeface="微软雅黑" panose="020B0503020204020204" charset="-122"/>
                <a:ea typeface="微软雅黑" panose="020B0503020204020204" charset="-122"/>
              </a:rPr>
              <a:t>14</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【根据学位法已进行更新，请按最新版本撰写】</a:t>
            </a:r>
            <a:endParaRPr lang="zh-CN" altLang="en-US" sz="2000" b="1" dirty="0" smtClean="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0240645"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endParaRPr lang="zh-CN" altLang="en-US" b="1" dirty="0">
              <a:latin typeface="微软雅黑" panose="020B0503020204020204" charset="-122"/>
              <a:ea typeface="微软雅黑" panose="020B0503020204020204" charset="-122"/>
            </a:endParaRPr>
          </a:p>
        </p:txBody>
      </p:sp>
      <p:graphicFrame>
        <p:nvGraphicFramePr>
          <p:cNvPr id="5" name="表格 4"/>
          <p:cNvGraphicFramePr/>
          <p:nvPr>
            <p:custDataLst>
              <p:tags r:id="rId1"/>
            </p:custDataLst>
          </p:nvPr>
        </p:nvGraphicFramePr>
        <p:xfrm>
          <a:off x="621030" y="2214880"/>
          <a:ext cx="10955020" cy="4469765"/>
        </p:xfrm>
        <a:graphic>
          <a:graphicData uri="http://schemas.openxmlformats.org/drawingml/2006/table">
            <a:tbl>
              <a:tblPr firstRow="1" bandRow="1">
                <a:effectLst/>
                <a:tableStyleId>{5940675A-B579-460E-94D1-54222C63F5DA}</a:tableStyleId>
              </a:tblPr>
              <a:tblGrid>
                <a:gridCol w="3997960"/>
                <a:gridCol w="1228090"/>
                <a:gridCol w="5728970"/>
              </a:tblGrid>
              <a:tr h="336550">
                <a:tc>
                  <a:txBody>
                    <a:bodyPr/>
                    <a:p>
                      <a:pPr marL="0" algn="ctr">
                        <a:buNone/>
                      </a:pPr>
                      <a:r>
                        <a:rPr lang="zh-CN" altLang="en-US" sz="1600" b="1" u="none">
                          <a:solidFill>
                            <a:schemeClr val="tx1"/>
                          </a:solidFill>
                          <a:latin typeface="微软雅黑" panose="020B0503020204020204" charset="-122"/>
                          <a:ea typeface="微软雅黑" panose="020B0503020204020204" charset="-122"/>
                        </a:rPr>
                        <a:t>材料名称</a:t>
                      </a:r>
                      <a:endParaRPr lang="zh-CN" altLang="en-US" sz="1600" b="1"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FFFFF">
                        <a:alpha val="20000"/>
                      </a:srgbClr>
                    </a:solidFill>
                  </a:tcPr>
                </a:tc>
                <a:tc>
                  <a:txBody>
                    <a:bodyPr/>
                    <a:p>
                      <a:pPr marL="0" algn="ctr">
                        <a:buNone/>
                      </a:pPr>
                      <a:r>
                        <a:rPr lang="zh-CN" altLang="en-US" sz="1600" b="1" u="none">
                          <a:solidFill>
                            <a:schemeClr val="tx1"/>
                          </a:solidFill>
                          <a:latin typeface="微软雅黑" panose="020B0503020204020204" charset="-122"/>
                          <a:ea typeface="微软雅黑" panose="020B0503020204020204" charset="-122"/>
                        </a:rPr>
                        <a:t>份数</a:t>
                      </a:r>
                      <a:endParaRPr lang="zh-CN" altLang="en-US" sz="1600" b="1"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FFFFF">
                        <a:alpha val="20000"/>
                      </a:srgbClr>
                    </a:solidFill>
                  </a:tcPr>
                </a:tc>
                <a:tc>
                  <a:txBody>
                    <a:bodyPr/>
                    <a:p>
                      <a:pPr marL="0" algn="ctr">
                        <a:buNone/>
                      </a:pPr>
                      <a:r>
                        <a:rPr lang="zh-CN" altLang="en-US" sz="1600" b="1" u="none">
                          <a:solidFill>
                            <a:schemeClr val="tx1"/>
                          </a:solidFill>
                          <a:latin typeface="微软雅黑" panose="020B0503020204020204" charset="-122"/>
                          <a:ea typeface="微软雅黑" panose="020B0503020204020204" charset="-122"/>
                        </a:rPr>
                        <a:t>要求</a:t>
                      </a:r>
                      <a:endParaRPr lang="zh-CN" altLang="en-US" sz="1600" b="1"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25400" cmpd="sng">
                      <a:solidFill>
                        <a:srgbClr val="DC5C31"/>
                      </a:solidFill>
                    </a:lnB>
                    <a:solidFill>
                      <a:srgbClr val="FFFFFF">
                        <a:alpha val="20000"/>
                      </a:srgbClr>
                    </a:solidFill>
                  </a:tcPr>
                </a:tc>
              </a:tr>
              <a:tr h="546100">
                <a:tc>
                  <a:txBody>
                    <a:bodyPr/>
                    <a:p>
                      <a:pPr marL="0" indent="0" algn="l">
                        <a:buNone/>
                      </a:pPr>
                      <a:r>
                        <a:rPr lang="zh-CN" altLang="en-US" sz="1600" b="0" u="none">
                          <a:solidFill>
                            <a:schemeClr val="tx1"/>
                          </a:solidFill>
                          <a:latin typeface="微软雅黑" panose="020B0503020204020204" charset="-122"/>
                          <a:ea typeface="微软雅黑" panose="020B0503020204020204" charset="-122"/>
                        </a:rPr>
                        <a:t>研究生学位论文答辩申请书（1份原件，内含成绩单原件；1份复印件，）</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marL="0" indent="0" algn="ctr">
                        <a:buNone/>
                      </a:pPr>
                      <a:r>
                        <a:rPr lang="zh-CN" altLang="en-US" sz="1600" b="0" u="none">
                          <a:solidFill>
                            <a:schemeClr val="tx1"/>
                          </a:solidFill>
                          <a:latin typeface="微软雅黑" panose="020B0503020204020204" charset="-122"/>
                          <a:ea typeface="微软雅黑" panose="020B0503020204020204" charset="-122"/>
                        </a:rPr>
                        <a:t>2</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c>
                  <a:txBody>
                    <a:bodyPr/>
                    <a:p>
                      <a:pPr marL="0" indent="0" algn="l">
                        <a:buNone/>
                      </a:pPr>
                      <a:r>
                        <a:rPr lang="zh-CN" altLang="en-US" sz="1600" b="1" u="none">
                          <a:solidFill>
                            <a:srgbClr val="FF0000"/>
                          </a:solidFill>
                          <a:latin typeface="微软雅黑" panose="020B0503020204020204" charset="-122"/>
                          <a:ea typeface="微软雅黑" panose="020B0503020204020204" charset="-122"/>
                        </a:rPr>
                        <a:t>【装订】</a:t>
                      </a:r>
                      <a:r>
                        <a:rPr lang="zh-CN" altLang="en-US" sz="1600" b="0" u="none">
                          <a:solidFill>
                            <a:schemeClr val="tx1"/>
                          </a:solidFill>
                          <a:latin typeface="微软雅黑" panose="020B0503020204020204" charset="-122"/>
                          <a:ea typeface="微软雅黑" panose="020B0503020204020204" charset="-122"/>
                        </a:rPr>
                        <a:t>，成绩单插在“课程学习及比修环节”前，</a:t>
                      </a:r>
                      <a:r>
                        <a:rPr lang="zh-CN" altLang="en-US" sz="1600" b="1" u="none">
                          <a:solidFill>
                            <a:schemeClr val="tx1"/>
                          </a:solidFill>
                          <a:latin typeface="微软雅黑" panose="020B0503020204020204" charset="-122"/>
                          <a:ea typeface="微软雅黑" panose="020B0503020204020204" charset="-122"/>
                        </a:rPr>
                        <a:t>最后两页用实际名单替换，审核意见均只填写“同意”</a:t>
                      </a:r>
                      <a:endParaRPr lang="zh-CN" altLang="en-US" sz="1600" b="1"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DC5C31">
                        <a:alpha val="20000"/>
                      </a:srgbClr>
                    </a:solidFill>
                  </a:tcPr>
                </a:tc>
              </a:tr>
              <a:tr h="815340">
                <a:tc>
                  <a:txBody>
                    <a:bodyPr/>
                    <a:p>
                      <a:pPr marL="0" algn="l">
                        <a:buNone/>
                      </a:pPr>
                      <a:r>
                        <a:rPr lang="zh-CN" altLang="en-US" sz="1600" b="0" u="none">
                          <a:solidFill>
                            <a:schemeClr val="tx1"/>
                          </a:solidFill>
                          <a:latin typeface="微软雅黑" panose="020B0503020204020204" charset="-122"/>
                          <a:ea typeface="微软雅黑" panose="020B0503020204020204" charset="-122"/>
                        </a:rPr>
                        <a:t>论文答辩情况和学位授予决议书（1份原件，1份复印件）</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c>
                  <a:txBody>
                    <a:bodyPr/>
                    <a:p>
                      <a:pPr marL="0" algn="ctr">
                        <a:buNone/>
                      </a:pPr>
                      <a:r>
                        <a:rPr lang="zh-CN" altLang="en-US" sz="1600" b="0" u="none">
                          <a:solidFill>
                            <a:schemeClr val="tx1"/>
                          </a:solidFill>
                          <a:latin typeface="微软雅黑" panose="020B0503020204020204" charset="-122"/>
                          <a:ea typeface="微软雅黑" panose="020B0503020204020204" charset="-122"/>
                        </a:rPr>
                        <a:t>2</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c>
                  <a:txBody>
                    <a:bodyPr/>
                    <a:p>
                      <a:pPr marL="0" algn="l">
                        <a:buNone/>
                      </a:pPr>
                      <a:r>
                        <a:rPr lang="zh-CN" altLang="en-US" sz="1600" b="1" u="none">
                          <a:solidFill>
                            <a:srgbClr val="FF0000"/>
                          </a:solidFill>
                          <a:latin typeface="微软雅黑" panose="020B0503020204020204" charset="-122"/>
                          <a:ea typeface="微软雅黑" panose="020B0503020204020204" charset="-122"/>
                        </a:rPr>
                        <a:t>不装订</a:t>
                      </a:r>
                      <a:r>
                        <a:rPr lang="zh-CN" altLang="en-US" sz="1600" b="1" u="none">
                          <a:solidFill>
                            <a:schemeClr val="tx1"/>
                          </a:solidFill>
                          <a:latin typeface="微软雅黑" panose="020B0503020204020204" charset="-122"/>
                          <a:ea typeface="微软雅黑" panose="020B0503020204020204" charset="-122"/>
                        </a:rPr>
                        <a:t>，单面打印</a:t>
                      </a:r>
                      <a:r>
                        <a:rPr lang="zh-CN" altLang="en-US" sz="1600" b="0" u="none">
                          <a:solidFill>
                            <a:schemeClr val="tx1"/>
                          </a:solidFill>
                          <a:latin typeface="微软雅黑" panose="020B0503020204020204" charset="-122"/>
                          <a:ea typeface="微软雅黑" panose="020B0503020204020204" charset="-122"/>
                        </a:rPr>
                        <a:t>，签字齐全，必须为亲笔签字，不可用签名章，</a:t>
                      </a:r>
                      <a:r>
                        <a:rPr lang="zh-CN" altLang="en-US" sz="1600" b="1" u="none">
                          <a:solidFill>
                            <a:schemeClr val="tx1"/>
                          </a:solidFill>
                          <a:latin typeface="微软雅黑" panose="020B0503020204020204" charset="-122"/>
                          <a:ea typeface="微软雅黑" panose="020B0503020204020204" charset="-122"/>
                        </a:rPr>
                        <a:t>答辩过程、答辩决议不可手写</a:t>
                      </a:r>
                      <a:endParaRPr lang="zh-CN" altLang="en-US" sz="1600" b="0" u="none">
                        <a:solidFill>
                          <a:schemeClr val="tx1"/>
                        </a:solidFill>
                        <a:latin typeface="微软雅黑" panose="020B0503020204020204" charset="-122"/>
                        <a:ea typeface="微软雅黑" panose="020B0503020204020204" charset="-122"/>
                      </a:endParaRPr>
                    </a:p>
                    <a:p>
                      <a:pPr marL="0" algn="l">
                        <a:buNone/>
                      </a:pPr>
                      <a:r>
                        <a:rPr lang="zh-CN" altLang="en-US" sz="1600" b="1" u="none">
                          <a:solidFill>
                            <a:srgbClr val="FF0000"/>
                          </a:solidFill>
                          <a:latin typeface="微软雅黑" panose="020B0503020204020204" charset="-122"/>
                          <a:ea typeface="微软雅黑" panose="020B0503020204020204" charset="-122"/>
                        </a:rPr>
                        <a:t>专家组签字人数应与表决票投票数保持一致</a:t>
                      </a:r>
                      <a:endParaRPr lang="zh-CN" altLang="en-US" sz="1600" b="1" u="none">
                        <a:solidFill>
                          <a:srgbClr val="FF0000"/>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r>
              <a:tr h="521335">
                <a:tc>
                  <a:txBody>
                    <a:bodyPr/>
                    <a:p>
                      <a:pPr marL="0" algn="l">
                        <a:buNone/>
                      </a:pPr>
                      <a:r>
                        <a:rPr lang="zh-CN" altLang="en-US" sz="1600" b="0" u="none">
                          <a:solidFill>
                            <a:schemeClr val="tx1"/>
                          </a:solidFill>
                          <a:latin typeface="微软雅黑" panose="020B0503020204020204" charset="-122"/>
                          <a:ea typeface="微软雅黑" panose="020B0503020204020204" charset="-122"/>
                        </a:rPr>
                        <a:t>学位论文评阅书</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DD3CB"/>
                    </a:solidFill>
                  </a:tcPr>
                </a:tc>
                <a:tc>
                  <a:txBody>
                    <a:bodyPr/>
                    <a:p>
                      <a:pPr marL="0" algn="ctr">
                        <a:buNone/>
                      </a:pPr>
                      <a:r>
                        <a:rPr lang="zh-CN" altLang="en-US" sz="1600" b="0" u="none">
                          <a:solidFill>
                            <a:schemeClr val="tx1"/>
                          </a:solidFill>
                          <a:latin typeface="微软雅黑" panose="020B0503020204020204" charset="-122"/>
                          <a:ea typeface="微软雅黑" panose="020B0503020204020204" charset="-122"/>
                        </a:rPr>
                        <a:t>评阅人数</a:t>
                      </a:r>
                      <a:r>
                        <a:rPr lang="en-US" altLang="zh-CN" sz="1600" b="0" u="none">
                          <a:solidFill>
                            <a:schemeClr val="tx1"/>
                          </a:solidFill>
                          <a:latin typeface="微软雅黑" panose="020B0503020204020204" charset="-122"/>
                          <a:ea typeface="微软雅黑" panose="020B0503020204020204" charset="-122"/>
                        </a:rPr>
                        <a:t>+</a:t>
                      </a:r>
                      <a:endParaRPr lang="en-US" altLang="zh-CN" sz="1600" b="0" u="none">
                        <a:solidFill>
                          <a:schemeClr val="tx1"/>
                        </a:solidFill>
                        <a:latin typeface="微软雅黑" panose="020B0503020204020204" charset="-122"/>
                        <a:ea typeface="微软雅黑" panose="020B0503020204020204" charset="-122"/>
                      </a:endParaRPr>
                    </a:p>
                    <a:p>
                      <a:pPr marL="0" algn="ctr">
                        <a:buNone/>
                      </a:pPr>
                      <a:r>
                        <a:rPr lang="zh-CN" altLang="en-US" sz="1600" b="0" u="none">
                          <a:solidFill>
                            <a:schemeClr val="tx1"/>
                          </a:solidFill>
                          <a:latin typeface="微软雅黑" panose="020B0503020204020204" charset="-122"/>
                          <a:ea typeface="微软雅黑" panose="020B0503020204020204" charset="-122"/>
                        </a:rPr>
                        <a:t>二次评阅数</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DD3CB"/>
                    </a:solidFill>
                  </a:tcPr>
                </a:tc>
                <a:tc>
                  <a:txBody>
                    <a:bodyPr/>
                    <a:p>
                      <a:pPr marL="0" algn="l">
                        <a:buNone/>
                      </a:pP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DD3CB"/>
                    </a:solidFill>
                  </a:tcPr>
                </a:tc>
              </a:tr>
              <a:tr h="750570">
                <a:tc>
                  <a:txBody>
                    <a:bodyPr/>
                    <a:p>
                      <a:pPr marL="0" algn="l">
                        <a:buNone/>
                      </a:pPr>
                      <a:r>
                        <a:rPr lang="zh-CN" altLang="en-US" sz="1600" b="0" u="none">
                          <a:solidFill>
                            <a:schemeClr val="tx1"/>
                          </a:solidFill>
                          <a:latin typeface="微软雅黑" panose="020B0503020204020204" charset="-122"/>
                          <a:ea typeface="微软雅黑" panose="020B0503020204020204" charset="-122"/>
                        </a:rPr>
                        <a:t>学位论文修改情况说明</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c>
                  <a:txBody>
                    <a:bodyPr/>
                    <a:p>
                      <a:pPr marL="0" algn="ctr">
                        <a:buNone/>
                      </a:pPr>
                      <a:r>
                        <a:rPr lang="en-US" altLang="zh-CN" sz="1600" b="0" u="none">
                          <a:solidFill>
                            <a:schemeClr val="tx1"/>
                          </a:solidFill>
                          <a:latin typeface="微软雅黑" panose="020B0503020204020204" charset="-122"/>
                          <a:ea typeface="微软雅黑" panose="020B0503020204020204" charset="-122"/>
                        </a:rPr>
                        <a:t>3</a:t>
                      </a:r>
                      <a:r>
                        <a:rPr lang="zh-CN" altLang="en-US" sz="1600" b="0" u="none">
                          <a:solidFill>
                            <a:schemeClr val="tx1"/>
                          </a:solidFill>
                          <a:latin typeface="微软雅黑" panose="020B0503020204020204" charset="-122"/>
                          <a:ea typeface="微软雅黑" panose="020B0503020204020204" charset="-122"/>
                        </a:rPr>
                        <a:t> </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c>
                  <a:txBody>
                    <a:bodyPr/>
                    <a:p>
                      <a:pPr marL="0" algn="l">
                        <a:buNone/>
                      </a:pPr>
                      <a:r>
                        <a:rPr lang="zh-CN" altLang="en-US" sz="1600" b="0" u="none">
                          <a:solidFill>
                            <a:schemeClr val="tx1"/>
                          </a:solidFill>
                          <a:latin typeface="微软雅黑" panose="020B0503020204020204" charset="-122"/>
                          <a:ea typeface="微软雅黑" panose="020B0503020204020204" charset="-122"/>
                        </a:rPr>
                        <a:t>预答辩后、评阅后、答辩后</a:t>
                      </a:r>
                      <a:endParaRPr lang="zh-CN" altLang="en-US" sz="1600" b="0" u="none">
                        <a:solidFill>
                          <a:schemeClr val="tx1"/>
                        </a:solidFill>
                        <a:latin typeface="微软雅黑" panose="020B0503020204020204" charset="-122"/>
                        <a:ea typeface="微软雅黑" panose="020B0503020204020204" charset="-122"/>
                      </a:endParaRPr>
                    </a:p>
                    <a:p>
                      <a:pPr marL="0" algn="l">
                        <a:buNone/>
                      </a:pPr>
                      <a:r>
                        <a:rPr lang="zh-CN" altLang="en-US" sz="1600" b="1">
                          <a:solidFill>
                            <a:schemeClr val="tx1"/>
                          </a:solidFill>
                          <a:latin typeface="微软雅黑" panose="020B0503020204020204" charset="-122"/>
                          <a:ea typeface="微软雅黑" panose="020B0503020204020204" charset="-122"/>
                          <a:cs typeface="微软雅黑" panose="020B0503020204020204" charset="-122"/>
                          <a:sym typeface="黑体" panose="02010609060101010101" charset="-122"/>
                        </a:rPr>
                        <a:t>导师为客座导师的，须客座导师本人及所内合作（实际指导）老师同时签字</a:t>
                      </a:r>
                      <a:endParaRPr lang="zh-CN" altLang="en-US" sz="1600" b="1" u="none">
                        <a:solidFill>
                          <a:schemeClr val="tx1"/>
                        </a:solidFill>
                        <a:latin typeface="微软雅黑" panose="020B0503020204020204" charset="-122"/>
                        <a:ea typeface="微软雅黑" panose="020B0503020204020204" charset="-122"/>
                        <a:cs typeface="微软雅黑" panose="020B0503020204020204" charset="-122"/>
                        <a:sym typeface="黑体" panose="02010609060101010101"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r>
              <a:tr h="487680">
                <a:tc>
                  <a:txBody>
                    <a:bodyPr/>
                    <a:p>
                      <a:pPr marL="0" algn="l">
                        <a:buNone/>
                      </a:pPr>
                      <a:r>
                        <a:rPr lang="zh-CN" altLang="en-US" sz="1600" b="0" u="none">
                          <a:solidFill>
                            <a:schemeClr val="tx1"/>
                          </a:solidFill>
                          <a:latin typeface="微软雅黑" panose="020B0503020204020204" charset="-122"/>
                          <a:ea typeface="微软雅黑" panose="020B0503020204020204" charset="-122"/>
                        </a:rPr>
                        <a:t>研究生学位论文答辩表决票</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CD2CA"/>
                    </a:solidFill>
                  </a:tcPr>
                </a:tc>
                <a:tc>
                  <a:txBody>
                    <a:bodyPr/>
                    <a:p>
                      <a:pPr marL="0" algn="ctr">
                        <a:buNone/>
                      </a:pPr>
                      <a:r>
                        <a:rPr lang="zh-CN" altLang="en-US" sz="1600" b="0" u="none">
                          <a:solidFill>
                            <a:schemeClr val="tx1"/>
                          </a:solidFill>
                          <a:latin typeface="微软雅黑" panose="020B0503020204020204" charset="-122"/>
                          <a:ea typeface="微软雅黑" panose="020B0503020204020204" charset="-122"/>
                        </a:rPr>
                        <a:t>答辩委员会人数</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CD2CA"/>
                    </a:solidFill>
                  </a:tcPr>
                </a:tc>
                <a:tc>
                  <a:txBody>
                    <a:bodyPr/>
                    <a:p>
                      <a:pPr marL="0" algn="l">
                        <a:buNone/>
                      </a:pPr>
                      <a:r>
                        <a:rPr lang="zh-CN" altLang="en-US" sz="1600" b="1" u="none">
                          <a:solidFill>
                            <a:srgbClr val="FF0000"/>
                          </a:solidFill>
                          <a:latin typeface="微软雅黑" panose="020B0503020204020204" charset="-122"/>
                          <a:ea typeface="微软雅黑" panose="020B0503020204020204" charset="-122"/>
                        </a:rPr>
                        <a:t>装订</a:t>
                      </a:r>
                      <a:r>
                        <a:rPr lang="zh-CN" altLang="en-US" sz="1600" b="0" u="none">
                          <a:solidFill>
                            <a:schemeClr val="tx1"/>
                          </a:solidFill>
                          <a:latin typeface="微软雅黑" panose="020B0503020204020204" charset="-122"/>
                          <a:ea typeface="微软雅黑" panose="020B0503020204020204" charset="-122"/>
                        </a:rPr>
                        <a:t>，检查是否填写、勾画完整；</a:t>
                      </a:r>
                      <a:r>
                        <a:rPr lang="en-US" sz="1600" b="1">
                          <a:solidFill>
                            <a:srgbClr val="FF0000"/>
                          </a:solidFill>
                          <a:latin typeface="微软雅黑" panose="020B0503020204020204" charset="-122"/>
                          <a:ea typeface="微软雅黑" panose="020B0503020204020204" charset="-122"/>
                          <a:sym typeface="黑体" panose="02010609060101010101" charset="-122"/>
                        </a:rPr>
                        <a:t>表决票不可涂改</a:t>
                      </a:r>
                      <a:endParaRPr lang="en-US" altLang="en-US" sz="1600" b="1" u="none">
                        <a:solidFill>
                          <a:srgbClr val="FF0000"/>
                        </a:solidFill>
                        <a:latin typeface="微软雅黑" panose="020B0503020204020204" charset="-122"/>
                        <a:ea typeface="微软雅黑" panose="020B0503020204020204" charset="-122"/>
                        <a:sym typeface="黑体" panose="02010609060101010101"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CD2CA"/>
                    </a:solidFill>
                  </a:tcPr>
                </a:tc>
              </a:tr>
              <a:tr h="521335">
                <a:tc>
                  <a:txBody>
                    <a:bodyPr/>
                    <a:p>
                      <a:pPr marL="0" algn="l">
                        <a:buNone/>
                      </a:pPr>
                      <a:r>
                        <a:rPr lang="zh-CN" altLang="en-US" sz="1600" b="0" u="none">
                          <a:solidFill>
                            <a:schemeClr val="tx1"/>
                          </a:solidFill>
                          <a:latin typeface="微软雅黑" panose="020B0503020204020204" charset="-122"/>
                          <a:ea typeface="微软雅黑" panose="020B0503020204020204" charset="-122"/>
                        </a:rPr>
                        <a:t>学位论文</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c>
                  <a:txBody>
                    <a:bodyPr/>
                    <a:p>
                      <a:pPr marL="0" algn="ctr">
                        <a:buNone/>
                      </a:pPr>
                      <a:r>
                        <a:rPr lang="zh-CN" altLang="en-US" sz="1600" b="0" u="none">
                          <a:solidFill>
                            <a:schemeClr val="tx1"/>
                          </a:solidFill>
                          <a:latin typeface="微软雅黑" panose="020B0503020204020204" charset="-122"/>
                          <a:ea typeface="微软雅黑" panose="020B0503020204020204" charset="-122"/>
                        </a:rPr>
                        <a:t>1</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c>
                  <a:txBody>
                    <a:bodyPr/>
                    <a:p>
                      <a:pPr marL="0" algn="l">
                        <a:buNone/>
                      </a:pPr>
                      <a:r>
                        <a:rPr lang="zh-CN" altLang="en-US" sz="1600" b="0" u="none">
                          <a:solidFill>
                            <a:schemeClr val="tx1"/>
                          </a:solidFill>
                          <a:latin typeface="微软雅黑" panose="020B0503020204020204" charset="-122"/>
                          <a:ea typeface="微软雅黑" panose="020B0503020204020204" charset="-122"/>
                        </a:rPr>
                        <a:t>档案袋中只放封面导师签字并签署“同意按此版本印刷装订”，剩下不放档案袋</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FFFFFF"/>
                    </a:solidFill>
                  </a:tcPr>
                </a:tc>
              </a:tr>
              <a:tr h="490855">
                <a:tc>
                  <a:txBody>
                    <a:bodyPr/>
                    <a:p>
                      <a:pPr marL="0" algn="l">
                        <a:buNone/>
                      </a:pPr>
                      <a:r>
                        <a:rPr lang="zh-CN" altLang="en-US" sz="1600" b="0" u="none">
                          <a:solidFill>
                            <a:schemeClr val="tx1"/>
                          </a:solidFill>
                          <a:latin typeface="微软雅黑" panose="020B0503020204020204" charset="-122"/>
                          <a:ea typeface="微软雅黑" panose="020B0503020204020204" charset="-122"/>
                        </a:rPr>
                        <a:t>光盘</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CD2CA"/>
                    </a:solidFill>
                  </a:tcPr>
                </a:tc>
                <a:tc>
                  <a:txBody>
                    <a:bodyPr/>
                    <a:p>
                      <a:pPr marL="0" algn="ctr">
                        <a:buNone/>
                      </a:pPr>
                      <a:r>
                        <a:rPr lang="zh-CN" altLang="en-US" sz="1600" b="0" u="none">
                          <a:solidFill>
                            <a:schemeClr val="tx1"/>
                          </a:solidFill>
                          <a:latin typeface="微软雅黑" panose="020B0503020204020204" charset="-122"/>
                          <a:ea typeface="微软雅黑" panose="020B0503020204020204" charset="-122"/>
                        </a:rPr>
                        <a:t>1</a:t>
                      </a:r>
                      <a:endParaRPr lang="zh-CN" altLang="en-US" sz="1600" b="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CD2CA"/>
                    </a:solidFill>
                  </a:tcPr>
                </a:tc>
                <a:tc>
                  <a:txBody>
                    <a:bodyPr/>
                    <a:p>
                      <a:pPr marL="0" algn="l">
                        <a:buNone/>
                      </a:pPr>
                      <a:endParaRPr lang="zh-CN" altLang="en-US" sz="1600" u="none">
                        <a:solidFill>
                          <a:schemeClr val="tx1"/>
                        </a:solidFill>
                        <a:latin typeface="微软雅黑" panose="020B0503020204020204" charset="-122"/>
                        <a:ea typeface="微软雅黑" panose="020B0503020204020204" charset="-122"/>
                      </a:endParaRPr>
                    </a:p>
                  </a:txBody>
                  <a:tcPr marL="0" marR="0" marT="0" marB="1" vert="horz" anchor="ctr">
                    <a:lnL w="12700" cmpd="sng">
                      <a:solidFill>
                        <a:srgbClr val="DC5C31"/>
                      </a:solidFill>
                    </a:lnL>
                    <a:lnR w="12700" cmpd="sng">
                      <a:solidFill>
                        <a:srgbClr val="DC5C31"/>
                      </a:solidFill>
                    </a:lnR>
                    <a:lnT w="12700" cmpd="sng">
                      <a:solidFill>
                        <a:srgbClr val="DC5C31"/>
                      </a:solidFill>
                    </a:lnT>
                    <a:lnB w="12700" cmpd="sng">
                      <a:solidFill>
                        <a:srgbClr val="DC5C31"/>
                      </a:solidFill>
                    </a:lnB>
                    <a:solidFill>
                      <a:srgbClr val="ECD2CA"/>
                    </a:solidFill>
                  </a:tcPr>
                </a:tc>
              </a:tr>
            </a:tbl>
          </a:graphicData>
        </a:graphic>
      </p:graphicFrame>
      <p:sp>
        <p:nvSpPr>
          <p:cNvPr id="8" name="文本框 7"/>
          <p:cNvSpPr txBox="1"/>
          <p:nvPr/>
        </p:nvSpPr>
        <p:spPr>
          <a:xfrm>
            <a:off x="664210" y="1266825"/>
            <a:ext cx="10659110" cy="891540"/>
          </a:xfrm>
          <a:prstGeom prst="rect">
            <a:avLst/>
          </a:prstGeom>
          <a:noFill/>
        </p:spPr>
        <p:txBody>
          <a:bodyPr wrap="square" rtlCol="0">
            <a:spAutoFit/>
          </a:bodyPr>
          <a:p>
            <a:pPr>
              <a:lnSpc>
                <a:spcPct val="130000"/>
              </a:lnSpc>
            </a:pPr>
            <a:r>
              <a:rPr lang="zh-CN" altLang="en-US" sz="2000" b="1" dirty="0">
                <a:solidFill>
                  <a:schemeClr val="tx1"/>
                </a:solidFill>
                <a:latin typeface="微软雅黑" panose="020B0503020204020204" charset="-122"/>
                <a:ea typeface="微软雅黑" panose="020B0503020204020204" charset="-122"/>
                <a:sym typeface="+mn-ea"/>
              </a:rPr>
              <a:t>材料按照档案袋封面顺序整理排列，以下未列出材料由学生教育处放入，</a:t>
            </a:r>
            <a:r>
              <a:rPr lang="zh-CN" altLang="en-US" sz="2000" b="1" dirty="0" smtClean="0">
                <a:solidFill>
                  <a:schemeClr val="tx1"/>
                </a:solidFill>
                <a:latin typeface="微软雅黑" panose="020B0503020204020204" charset="-122"/>
                <a:ea typeface="微软雅黑" panose="020B0503020204020204" charset="-122"/>
              </a:rPr>
              <a:t>所有复印件请在首页右上角，</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用铅笔标明</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a:t>
            </a:r>
            <a:r>
              <a:rPr lang="zh-CN" altLang="en-US" sz="2000" b="1" dirty="0" smtClean="0">
                <a:solidFill>
                  <a:srgbClr val="FF0000"/>
                </a:solidFill>
                <a:highlight>
                  <a:srgbClr val="FFFF00"/>
                </a:highlight>
                <a:latin typeface="微软雅黑" panose="020B0503020204020204" charset="-122"/>
                <a:ea typeface="微软雅黑" panose="020B0503020204020204" charset="-122"/>
              </a:rPr>
              <a:t>复印件</a:t>
            </a:r>
            <a:r>
              <a:rPr lang="en-US" altLang="zh-CN" sz="2000" b="1" dirty="0" smtClean="0">
                <a:solidFill>
                  <a:srgbClr val="FF0000"/>
                </a:solidFill>
                <a:highlight>
                  <a:srgbClr val="FFFF00"/>
                </a:highlight>
                <a:latin typeface="微软雅黑" panose="020B0503020204020204" charset="-122"/>
                <a:ea typeface="微软雅黑" panose="020B0503020204020204" charset="-122"/>
              </a:rPr>
              <a:t>”</a:t>
            </a:r>
            <a:endParaRPr lang="en-US" altLang="zh-CN" sz="2000" b="1" dirty="0" smtClean="0">
              <a:solidFill>
                <a:srgbClr val="FF0000"/>
              </a:solidFill>
              <a:highlight>
                <a:srgbClr val="FFFF00"/>
              </a:highlight>
              <a:latin typeface="微软雅黑" panose="020B0503020204020204" charset="-122"/>
              <a:ea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1150600"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答辩申请书（一式两份，</a:t>
            </a:r>
            <a:r>
              <a:rPr lang="zh-CN" altLang="en-US" sz="4000" b="1" dirty="0">
                <a:solidFill>
                  <a:srgbClr val="FF0000"/>
                </a:solidFill>
                <a:latin typeface="微软雅黑" panose="020B0503020204020204" charset="-122"/>
                <a:ea typeface="微软雅黑" panose="020B0503020204020204" charset="-122"/>
              </a:rPr>
              <a:t>装订</a:t>
            </a:r>
            <a:r>
              <a:rPr lang="zh-CN" altLang="en-US" sz="4000" b="1" dirty="0">
                <a:latin typeface="微软雅黑" panose="020B0503020204020204" charset="-122"/>
                <a:ea typeface="微软雅黑" panose="020B0503020204020204" charset="-122"/>
              </a:rPr>
              <a:t>）</a:t>
            </a:r>
            <a:endParaRPr lang="zh-CN" altLang="en-US" sz="4000" b="1" dirty="0">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7014210" y="1318260"/>
            <a:ext cx="4125595" cy="5323205"/>
          </a:xfrm>
          <a:prstGeom prst="rect">
            <a:avLst/>
          </a:prstGeom>
        </p:spPr>
      </p:pic>
      <p:sp>
        <p:nvSpPr>
          <p:cNvPr id="11" name="矩形 10"/>
          <p:cNvSpPr/>
          <p:nvPr/>
        </p:nvSpPr>
        <p:spPr>
          <a:xfrm>
            <a:off x="1224280" y="2082800"/>
            <a:ext cx="2858770" cy="4309110"/>
          </a:xfrm>
          <a:prstGeom prst="rect">
            <a:avLst/>
          </a:prstGeom>
          <a:solidFill>
            <a:srgbClr val="FFFFFF"/>
          </a:solidFill>
          <a:ln w="12700" cap="flat" cmpd="sng" algn="ctr">
            <a:noFill/>
            <a:prstDash val="solid"/>
            <a:miter lim="800000"/>
          </a:ln>
          <a:effectLst>
            <a:outerShdw blurRad="50800" dist="38100" dir="5400000" algn="t" rotWithShape="0">
              <a:prstClr val="black">
                <a:alpha val="40000"/>
              </a:prstClr>
            </a:outerShdw>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5" name="文本框 14"/>
          <p:cNvSpPr txBox="1"/>
          <p:nvPr/>
        </p:nvSpPr>
        <p:spPr>
          <a:xfrm>
            <a:off x="2025015" y="2209165"/>
            <a:ext cx="1257300" cy="368300"/>
          </a:xfrm>
          <a:prstGeom prst="rect">
            <a:avLst/>
          </a:prstGeom>
          <a:noFill/>
        </p:spPr>
        <p:txBody>
          <a:bodyPr wrap="square" rtlCol="0">
            <a:spAutoFit/>
          </a:bodyPr>
          <a:p>
            <a:pPr algn="dist">
              <a:lnSpc>
                <a:spcPct val="130000"/>
              </a:lnSpc>
            </a:pPr>
            <a:r>
              <a:rPr lang="zh-CN" altLang="en-US" sz="1400" b="1" dirty="0" smtClean="0">
                <a:latin typeface="Arial" panose="020B0604020202020204" pitchFamily="34" charset="0"/>
                <a:ea typeface="微软雅黑" panose="020B0503020204020204" charset="-122"/>
              </a:rPr>
              <a:t>成绩单</a:t>
            </a:r>
            <a:endParaRPr lang="zh-CN" altLang="en-US" sz="1400" b="1" dirty="0" smtClean="0">
              <a:latin typeface="Arial" panose="020B0604020202020204" pitchFamily="34" charset="0"/>
              <a:ea typeface="微软雅黑" panose="020B0503020204020204" charset="-122"/>
            </a:endParaRPr>
          </a:p>
        </p:txBody>
      </p:sp>
      <p:cxnSp>
        <p:nvCxnSpPr>
          <p:cNvPr id="29" name="直接连接符 28"/>
          <p:cNvCxnSpPr/>
          <p:nvPr/>
        </p:nvCxnSpPr>
        <p:spPr>
          <a:xfrm>
            <a:off x="1530350" y="2812415"/>
            <a:ext cx="1929765" cy="0"/>
          </a:xfrm>
          <a:prstGeom prst="line">
            <a:avLst/>
          </a:prstGeom>
          <a:noFill/>
          <a:ln w="6350" cap="flat" cmpd="sng" algn="ctr">
            <a:solidFill>
              <a:srgbClr val="4B4D4F"/>
            </a:solidFill>
            <a:prstDash val="solid"/>
            <a:miter lim="800000"/>
          </a:ln>
          <a:effectLst/>
        </p:spPr>
      </p:cxnSp>
      <p:cxnSp>
        <p:nvCxnSpPr>
          <p:cNvPr id="30" name="直接连接符 29"/>
          <p:cNvCxnSpPr/>
          <p:nvPr/>
        </p:nvCxnSpPr>
        <p:spPr>
          <a:xfrm>
            <a:off x="1530350" y="3174365"/>
            <a:ext cx="1929765" cy="0"/>
          </a:xfrm>
          <a:prstGeom prst="line">
            <a:avLst/>
          </a:prstGeom>
          <a:noFill/>
          <a:ln w="6350" cap="flat" cmpd="sng" algn="ctr">
            <a:solidFill>
              <a:srgbClr val="4B4D4F"/>
            </a:solidFill>
            <a:prstDash val="solid"/>
            <a:miter lim="800000"/>
          </a:ln>
          <a:effectLst/>
        </p:spPr>
      </p:cxnSp>
      <p:cxnSp>
        <p:nvCxnSpPr>
          <p:cNvPr id="31" name="直接连接符 30"/>
          <p:cNvCxnSpPr/>
          <p:nvPr/>
        </p:nvCxnSpPr>
        <p:spPr>
          <a:xfrm>
            <a:off x="1530350" y="3531235"/>
            <a:ext cx="1929765" cy="0"/>
          </a:xfrm>
          <a:prstGeom prst="line">
            <a:avLst/>
          </a:prstGeom>
          <a:noFill/>
          <a:ln w="6350" cap="flat" cmpd="sng" algn="ctr">
            <a:solidFill>
              <a:srgbClr val="4B4D4F"/>
            </a:solidFill>
            <a:prstDash val="solid"/>
            <a:miter lim="800000"/>
          </a:ln>
          <a:effectLst/>
        </p:spPr>
      </p:cxnSp>
      <p:cxnSp>
        <p:nvCxnSpPr>
          <p:cNvPr id="32" name="直接连接符 31"/>
          <p:cNvCxnSpPr/>
          <p:nvPr/>
        </p:nvCxnSpPr>
        <p:spPr>
          <a:xfrm>
            <a:off x="1530350" y="3909695"/>
            <a:ext cx="1929765" cy="0"/>
          </a:xfrm>
          <a:prstGeom prst="line">
            <a:avLst/>
          </a:prstGeom>
          <a:noFill/>
          <a:ln w="6350" cap="flat" cmpd="sng" algn="ctr">
            <a:solidFill>
              <a:srgbClr val="4B4D4F"/>
            </a:solidFill>
            <a:prstDash val="solid"/>
            <a:miter lim="800000"/>
          </a:ln>
          <a:effectLst/>
        </p:spPr>
      </p:cxnSp>
      <p:cxnSp>
        <p:nvCxnSpPr>
          <p:cNvPr id="33" name="直接连接符 32"/>
          <p:cNvCxnSpPr/>
          <p:nvPr/>
        </p:nvCxnSpPr>
        <p:spPr>
          <a:xfrm>
            <a:off x="1530350" y="4348480"/>
            <a:ext cx="1929765" cy="0"/>
          </a:xfrm>
          <a:prstGeom prst="line">
            <a:avLst/>
          </a:prstGeom>
          <a:noFill/>
          <a:ln w="6350" cap="flat" cmpd="sng" algn="ctr">
            <a:solidFill>
              <a:srgbClr val="4B4D4F"/>
            </a:solidFill>
            <a:prstDash val="solid"/>
            <a:miter lim="800000"/>
          </a:ln>
          <a:effectLst/>
        </p:spPr>
      </p:cxnSp>
      <p:sp>
        <p:nvSpPr>
          <p:cNvPr id="34" name="椭圆 33"/>
          <p:cNvSpPr/>
          <p:nvPr/>
        </p:nvSpPr>
        <p:spPr>
          <a:xfrm>
            <a:off x="2797175" y="5303520"/>
            <a:ext cx="949960" cy="959485"/>
          </a:xfrm>
          <a:prstGeom prst="ellipse">
            <a:avLst/>
          </a:prstGeom>
          <a:no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5" name="五角星 34"/>
          <p:cNvSpPr/>
          <p:nvPr/>
        </p:nvSpPr>
        <p:spPr>
          <a:xfrm>
            <a:off x="3113405" y="5624830"/>
            <a:ext cx="316865" cy="316865"/>
          </a:xfrm>
          <a:prstGeom prst="star5">
            <a:avLst/>
          </a:prstGeom>
          <a:solidFill>
            <a:srgbClr val="C00000"/>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cxnSp>
        <p:nvCxnSpPr>
          <p:cNvPr id="36" name="直接箭头连接符 35"/>
          <p:cNvCxnSpPr/>
          <p:nvPr/>
        </p:nvCxnSpPr>
        <p:spPr>
          <a:xfrm flipV="1">
            <a:off x="3747135" y="1525270"/>
            <a:ext cx="4594225" cy="1052195"/>
          </a:xfrm>
          <a:prstGeom prst="straightConnector1">
            <a:avLst/>
          </a:prstGeom>
          <a:noFill/>
          <a:ln w="50800" cap="flat" cmpd="sng" algn="ctr">
            <a:solidFill>
              <a:srgbClr val="C00000"/>
            </a:solidFill>
            <a:prstDash val="solid"/>
            <a:miter lim="800000"/>
            <a:tailEnd type="triangle"/>
          </a:ln>
          <a:effectLst/>
        </p:spPr>
      </p:cxnSp>
      <p:grpSp>
        <p:nvGrpSpPr>
          <p:cNvPr id="37" name="组合 36"/>
          <p:cNvGrpSpPr/>
          <p:nvPr/>
        </p:nvGrpSpPr>
        <p:grpSpPr>
          <a:xfrm>
            <a:off x="4830445" y="2491105"/>
            <a:ext cx="1814195" cy="3941515"/>
            <a:chOff x="1495" y="3409"/>
            <a:chExt cx="2857" cy="6452"/>
          </a:xfrm>
        </p:grpSpPr>
        <p:grpSp>
          <p:nvGrpSpPr>
            <p:cNvPr id="38" name="组合 37"/>
            <p:cNvGrpSpPr/>
            <p:nvPr/>
          </p:nvGrpSpPr>
          <p:grpSpPr>
            <a:xfrm>
              <a:off x="1495" y="3409"/>
              <a:ext cx="2857" cy="6452"/>
              <a:chOff x="9085" y="3265"/>
              <a:chExt cx="2857" cy="6629"/>
            </a:xfrm>
          </p:grpSpPr>
          <p:sp>
            <p:nvSpPr>
              <p:cNvPr id="39" name="矩形 38"/>
              <p:cNvSpPr/>
              <p:nvPr/>
            </p:nvSpPr>
            <p:spPr>
              <a:xfrm>
                <a:off x="9085" y="3265"/>
                <a:ext cx="2857" cy="6629"/>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40" name="文本框 39"/>
              <p:cNvSpPr txBox="1"/>
              <p:nvPr/>
            </p:nvSpPr>
            <p:spPr>
              <a:xfrm>
                <a:off x="9223" y="3367"/>
                <a:ext cx="2581" cy="5744"/>
              </a:xfrm>
              <a:prstGeom prst="rect">
                <a:avLst/>
              </a:prstGeom>
              <a:noFill/>
            </p:spPr>
            <p:txBody>
              <a:bodyPr wrap="square" rtlCol="0">
                <a:spAutoFit/>
              </a:bodyPr>
              <a:p>
                <a:pPr>
                  <a:lnSpc>
                    <a:spcPct val="150000"/>
                  </a:lnSpc>
                </a:pPr>
                <a:r>
                  <a:rPr lang="zh-CN" altLang="en-US" sz="1600" b="1" dirty="0" smtClean="0">
                    <a:latin typeface="Arial" panose="020B0604020202020204" pitchFamily="34" charset="0"/>
                    <a:ea typeface="微软雅黑" panose="020B0503020204020204" charset="-122"/>
                  </a:rPr>
                  <a:t>成绩单放在</a:t>
                </a:r>
                <a:r>
                  <a:rPr lang="en-US" altLang="zh-CN" sz="1600" b="1" dirty="0" smtClean="0">
                    <a:latin typeface="Arial" panose="020B0604020202020204" pitchFamily="34" charset="0"/>
                    <a:ea typeface="微软雅黑" panose="020B0503020204020204" charset="-122"/>
                  </a:rPr>
                  <a:t>“</a:t>
                </a:r>
                <a:r>
                  <a:rPr lang="zh-CN" altLang="en-US" sz="1600" b="1" dirty="0" smtClean="0">
                    <a:latin typeface="Arial" panose="020B0604020202020204" pitchFamily="34" charset="0"/>
                    <a:ea typeface="微软雅黑" panose="020B0503020204020204" charset="-122"/>
                  </a:rPr>
                  <a:t>课程学习及必修环节</a:t>
                </a:r>
                <a:r>
                  <a:rPr lang="en-US" altLang="zh-CN" sz="1600" b="1" dirty="0" smtClean="0">
                    <a:latin typeface="Arial" panose="020B0604020202020204" pitchFamily="34" charset="0"/>
                    <a:ea typeface="微软雅黑" panose="020B0503020204020204" charset="-122"/>
                  </a:rPr>
                  <a:t>”</a:t>
                </a:r>
                <a:r>
                  <a:rPr lang="zh-CN" altLang="en-US" sz="1600" b="1" dirty="0" smtClean="0">
                    <a:latin typeface="Arial" panose="020B0604020202020204" pitchFamily="34" charset="0"/>
                    <a:ea typeface="微软雅黑" panose="020B0503020204020204" charset="-122"/>
                  </a:rPr>
                  <a:t>前</a:t>
                </a:r>
                <a:endParaRPr lang="zh-CN" altLang="en-US" sz="1600" b="1" dirty="0" smtClean="0">
                  <a:latin typeface="Arial" panose="020B0604020202020204" pitchFamily="34" charset="0"/>
                  <a:ea typeface="微软雅黑" panose="020B0503020204020204" charset="-122"/>
                </a:endParaRPr>
              </a:p>
              <a:p>
                <a:pPr>
                  <a:lnSpc>
                    <a:spcPct val="150000"/>
                  </a:lnSpc>
                </a:pPr>
                <a:endParaRPr lang="zh-CN" altLang="en-US" sz="1600" b="1" dirty="0" smtClean="0">
                  <a:latin typeface="Arial" panose="020B0604020202020204" pitchFamily="34" charset="0"/>
                  <a:ea typeface="微软雅黑" panose="020B0503020204020204" charset="-122"/>
                </a:endParaRPr>
              </a:p>
              <a:p>
                <a:pPr>
                  <a:lnSpc>
                    <a:spcPct val="150000"/>
                  </a:lnSpc>
                </a:pPr>
                <a:r>
                  <a:rPr lang="zh-CN" altLang="en-US" sz="1600" b="1" dirty="0" smtClean="0">
                    <a:latin typeface="Arial" panose="020B0604020202020204" pitchFamily="34" charset="0"/>
                    <a:ea typeface="微软雅黑" panose="020B0503020204020204" charset="-122"/>
                  </a:rPr>
                  <a:t>成绩单原件放在申请书原件中</a:t>
                </a:r>
                <a:endParaRPr lang="zh-CN" altLang="en-US" sz="1600" b="1" dirty="0" smtClean="0">
                  <a:latin typeface="Arial" panose="020B0604020202020204" pitchFamily="34" charset="0"/>
                  <a:ea typeface="微软雅黑" panose="020B0503020204020204" charset="-122"/>
                </a:endParaRPr>
              </a:p>
              <a:p>
                <a:pPr>
                  <a:lnSpc>
                    <a:spcPct val="150000"/>
                  </a:lnSpc>
                </a:pPr>
                <a:r>
                  <a:rPr lang="zh-CN" altLang="en-US" sz="1600" b="1" dirty="0" smtClean="0">
                    <a:latin typeface="Arial" panose="020B0604020202020204" pitchFamily="34" charset="0"/>
                    <a:ea typeface="微软雅黑" panose="020B0503020204020204" charset="-122"/>
                  </a:rPr>
                  <a:t>成绩单复印件放在申请书复印件中</a:t>
                </a:r>
                <a:endParaRPr lang="zh-CN" altLang="en-US" sz="1600" b="1" dirty="0" smtClean="0">
                  <a:latin typeface="Arial" panose="020B0604020202020204" pitchFamily="34" charset="0"/>
                  <a:ea typeface="微软雅黑" panose="020B0503020204020204" charset="-122"/>
                </a:endParaRPr>
              </a:p>
            </p:txBody>
          </p:sp>
        </p:grpSp>
        <p:cxnSp>
          <p:nvCxnSpPr>
            <p:cNvPr id="41" name="直接连接符 40"/>
            <p:cNvCxnSpPr/>
            <p:nvPr/>
          </p:nvCxnSpPr>
          <p:spPr>
            <a:xfrm>
              <a:off x="1830" y="5731"/>
              <a:ext cx="2187" cy="0"/>
            </a:xfrm>
            <a:prstGeom prst="line">
              <a:avLst/>
            </a:prstGeom>
            <a:noFill/>
            <a:ln w="6350" cap="flat" cmpd="sng" algn="ctr">
              <a:solidFill>
                <a:srgbClr val="DC5C31"/>
              </a:solidFill>
              <a:prstDash val="solid"/>
              <a:miter lim="800000"/>
            </a:ln>
            <a:effectLst/>
          </p:spPr>
        </p:cxnSp>
      </p:grpSp>
      <p:sp>
        <p:nvSpPr>
          <p:cNvPr id="42" name="矩形 41"/>
          <p:cNvSpPr/>
          <p:nvPr/>
        </p:nvSpPr>
        <p:spPr>
          <a:xfrm>
            <a:off x="9490075" y="5303520"/>
            <a:ext cx="1874520" cy="65722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43" name="组合 42"/>
          <p:cNvGrpSpPr/>
          <p:nvPr/>
        </p:nvGrpSpPr>
        <p:grpSpPr>
          <a:xfrm rot="0">
            <a:off x="6914515" y="5415106"/>
            <a:ext cx="1814195" cy="1043114"/>
            <a:chOff x="7927" y="10290"/>
            <a:chExt cx="2857" cy="2476"/>
          </a:xfrm>
        </p:grpSpPr>
        <p:sp>
          <p:nvSpPr>
            <p:cNvPr id="44" name="矩形 43"/>
            <p:cNvSpPr/>
            <p:nvPr/>
          </p:nvSpPr>
          <p:spPr>
            <a:xfrm>
              <a:off x="7927" y="10290"/>
              <a:ext cx="2857" cy="2476"/>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45" name="文本框 44"/>
            <p:cNvSpPr txBox="1"/>
            <p:nvPr/>
          </p:nvSpPr>
          <p:spPr>
            <a:xfrm>
              <a:off x="8065" y="10469"/>
              <a:ext cx="2581" cy="1970"/>
            </a:xfrm>
            <a:prstGeom prst="rect">
              <a:avLst/>
            </a:prstGeom>
            <a:noFill/>
          </p:spPr>
          <p:txBody>
            <a:bodyPr wrap="square" rtlCol="0">
              <a:spAutoFit/>
            </a:bodyPr>
            <a:p>
              <a:pPr>
                <a:lnSpc>
                  <a:spcPct val="150000"/>
                </a:lnSpc>
              </a:pPr>
              <a:r>
                <a:rPr lang="zh-CN" altLang="en-US" sz="1600" b="1" dirty="0" smtClean="0">
                  <a:latin typeface="Arial" panose="020B0604020202020204" pitchFamily="34" charset="0"/>
                  <a:ea typeface="微软雅黑" panose="020B0503020204020204" charset="-122"/>
                </a:rPr>
                <a:t>成绩填写完整，学分正确</a:t>
              </a:r>
              <a:endParaRPr lang="zh-CN" altLang="en-US" sz="1600" b="1" dirty="0" smtClean="0">
                <a:latin typeface="Arial" panose="020B0604020202020204" pitchFamily="34" charset="0"/>
                <a:ea typeface="微软雅黑" panose="020B0503020204020204" charset="-122"/>
              </a:endParaRPr>
            </a:p>
          </p:txBody>
        </p:sp>
      </p:grpSp>
      <p:sp>
        <p:nvSpPr>
          <p:cNvPr id="46" name="矩形 45"/>
          <p:cNvSpPr/>
          <p:nvPr/>
        </p:nvSpPr>
        <p:spPr>
          <a:xfrm>
            <a:off x="7014210" y="4203065"/>
            <a:ext cx="4208780" cy="33655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cxnSp>
        <p:nvCxnSpPr>
          <p:cNvPr id="47" name="直接箭头连接符 46"/>
          <p:cNvCxnSpPr/>
          <p:nvPr/>
        </p:nvCxnSpPr>
        <p:spPr>
          <a:xfrm flipH="1">
            <a:off x="8641080" y="4733290"/>
            <a:ext cx="415925" cy="422910"/>
          </a:xfrm>
          <a:prstGeom prst="straightConnector1">
            <a:avLst/>
          </a:prstGeom>
          <a:noFill/>
          <a:ln w="50800" cap="flat" cmpd="sng" algn="ctr">
            <a:solidFill>
              <a:srgbClr val="C00000"/>
            </a:solidFill>
            <a:prstDash val="solid"/>
            <a:miter lim="800000"/>
            <a:tailEnd type="triangle"/>
          </a:ln>
          <a:effectLst/>
        </p:spPr>
      </p:cxnSp>
      <p:cxnSp>
        <p:nvCxnSpPr>
          <p:cNvPr id="48" name="直接箭头连接符 47"/>
          <p:cNvCxnSpPr/>
          <p:nvPr/>
        </p:nvCxnSpPr>
        <p:spPr>
          <a:xfrm flipH="1" flipV="1">
            <a:off x="8881745" y="5705475"/>
            <a:ext cx="473075" cy="20320"/>
          </a:xfrm>
          <a:prstGeom prst="straightConnector1">
            <a:avLst/>
          </a:prstGeom>
          <a:noFill/>
          <a:ln w="50800" cap="flat" cmpd="sng" algn="ctr">
            <a:solidFill>
              <a:srgbClr val="C00000"/>
            </a:solidFill>
            <a:prstDash val="solid"/>
            <a:miter lim="800000"/>
            <a:tailEnd type="triangle"/>
          </a:ln>
          <a:effectLst/>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1150600"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答辩申请书（一式两份，</a:t>
            </a:r>
            <a:r>
              <a:rPr lang="zh-CN" altLang="en-US" sz="4000" b="1" dirty="0">
                <a:solidFill>
                  <a:srgbClr val="FF0000"/>
                </a:solidFill>
                <a:latin typeface="微软雅黑" panose="020B0503020204020204" charset="-122"/>
                <a:ea typeface="微软雅黑" panose="020B0503020204020204" charset="-122"/>
              </a:rPr>
              <a:t>装订</a:t>
            </a:r>
            <a:r>
              <a:rPr lang="zh-CN" altLang="en-US" sz="4000" b="1" dirty="0">
                <a:latin typeface="微软雅黑" panose="020B0503020204020204" charset="-122"/>
                <a:ea typeface="微软雅黑" panose="020B0503020204020204" charset="-122"/>
              </a:rPr>
              <a:t>）</a:t>
            </a:r>
            <a:endParaRPr lang="zh-CN" altLang="en-US" sz="4000" b="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717550" y="1599565"/>
            <a:ext cx="3772535" cy="4892675"/>
          </a:xfrm>
          <a:prstGeom prst="rect">
            <a:avLst/>
          </a:prstGeom>
        </p:spPr>
      </p:pic>
      <p:pic>
        <p:nvPicPr>
          <p:cNvPr id="6" name="图片 5"/>
          <p:cNvPicPr>
            <a:picLocks noChangeAspect="1"/>
          </p:cNvPicPr>
          <p:nvPr/>
        </p:nvPicPr>
        <p:blipFill>
          <a:blip r:embed="rId2"/>
          <a:stretch>
            <a:fillRect/>
          </a:stretch>
        </p:blipFill>
        <p:spPr>
          <a:xfrm>
            <a:off x="7773670" y="1558925"/>
            <a:ext cx="3803015" cy="4877435"/>
          </a:xfrm>
          <a:prstGeom prst="rect">
            <a:avLst/>
          </a:prstGeom>
        </p:spPr>
      </p:pic>
      <p:sp>
        <p:nvSpPr>
          <p:cNvPr id="7" name="矩形 6"/>
          <p:cNvSpPr/>
          <p:nvPr/>
        </p:nvSpPr>
        <p:spPr>
          <a:xfrm>
            <a:off x="717550" y="1824355"/>
            <a:ext cx="1369060" cy="280860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8" name="矩形 7"/>
          <p:cNvSpPr/>
          <p:nvPr/>
        </p:nvSpPr>
        <p:spPr>
          <a:xfrm>
            <a:off x="8267700" y="1784985"/>
            <a:ext cx="1369060" cy="323659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9" name="矩形 8"/>
          <p:cNvSpPr/>
          <p:nvPr/>
        </p:nvSpPr>
        <p:spPr>
          <a:xfrm>
            <a:off x="1170305" y="4942840"/>
            <a:ext cx="624205" cy="29654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sp>
        <p:nvSpPr>
          <p:cNvPr id="3" name="矩形 2"/>
          <p:cNvSpPr/>
          <p:nvPr/>
        </p:nvSpPr>
        <p:spPr>
          <a:xfrm>
            <a:off x="8362950" y="5239385"/>
            <a:ext cx="624205" cy="29654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cxnSp>
        <p:nvCxnSpPr>
          <p:cNvPr id="12" name="直接箭头连接符 11"/>
          <p:cNvCxnSpPr/>
          <p:nvPr/>
        </p:nvCxnSpPr>
        <p:spPr>
          <a:xfrm flipV="1">
            <a:off x="2184400" y="2439035"/>
            <a:ext cx="2409825" cy="31115"/>
          </a:xfrm>
          <a:prstGeom prst="straightConnector1">
            <a:avLst/>
          </a:prstGeom>
          <a:noFill/>
          <a:ln w="50800" cap="flat" cmpd="sng" algn="ctr">
            <a:solidFill>
              <a:srgbClr val="C00000"/>
            </a:solidFill>
            <a:prstDash val="solid"/>
            <a:miter lim="800000"/>
            <a:tailEnd type="triangle"/>
          </a:ln>
          <a:effectLst/>
        </p:spPr>
      </p:cxnSp>
      <p:cxnSp>
        <p:nvCxnSpPr>
          <p:cNvPr id="13" name="直接箭头连接符 12"/>
          <p:cNvCxnSpPr/>
          <p:nvPr/>
        </p:nvCxnSpPr>
        <p:spPr>
          <a:xfrm flipV="1">
            <a:off x="1933575" y="5104130"/>
            <a:ext cx="2762885" cy="2540"/>
          </a:xfrm>
          <a:prstGeom prst="straightConnector1">
            <a:avLst/>
          </a:prstGeom>
          <a:noFill/>
          <a:ln w="50800" cap="flat" cmpd="sng" algn="ctr">
            <a:solidFill>
              <a:srgbClr val="C00000"/>
            </a:solidFill>
            <a:prstDash val="solid"/>
            <a:miter lim="800000"/>
            <a:tailEnd type="triangle"/>
          </a:ln>
          <a:effectLst/>
        </p:spPr>
      </p:cxnSp>
      <p:cxnSp>
        <p:nvCxnSpPr>
          <p:cNvPr id="14" name="直接箭头连接符 13"/>
          <p:cNvCxnSpPr/>
          <p:nvPr/>
        </p:nvCxnSpPr>
        <p:spPr>
          <a:xfrm flipH="1" flipV="1">
            <a:off x="7004050" y="2449195"/>
            <a:ext cx="1148715" cy="20955"/>
          </a:xfrm>
          <a:prstGeom prst="straightConnector1">
            <a:avLst/>
          </a:prstGeom>
          <a:noFill/>
          <a:ln w="50800" cap="flat" cmpd="sng" algn="ctr">
            <a:solidFill>
              <a:srgbClr val="C00000"/>
            </a:solidFill>
            <a:prstDash val="solid"/>
            <a:miter lim="800000"/>
            <a:tailEnd type="triangle"/>
          </a:ln>
          <a:effectLst/>
        </p:spPr>
      </p:cxnSp>
      <p:grpSp>
        <p:nvGrpSpPr>
          <p:cNvPr id="4" name="组合 3"/>
          <p:cNvGrpSpPr/>
          <p:nvPr/>
        </p:nvGrpSpPr>
        <p:grpSpPr>
          <a:xfrm>
            <a:off x="4943475" y="2091690"/>
            <a:ext cx="1814195" cy="3941515"/>
            <a:chOff x="1495" y="3409"/>
            <a:chExt cx="2857" cy="6452"/>
          </a:xfrm>
        </p:grpSpPr>
        <p:grpSp>
          <p:nvGrpSpPr>
            <p:cNvPr id="10" name="组合 9"/>
            <p:cNvGrpSpPr/>
            <p:nvPr/>
          </p:nvGrpSpPr>
          <p:grpSpPr>
            <a:xfrm>
              <a:off x="1495" y="3409"/>
              <a:ext cx="2857" cy="6452"/>
              <a:chOff x="9085" y="3265"/>
              <a:chExt cx="2857" cy="6629"/>
            </a:xfrm>
          </p:grpSpPr>
          <p:sp>
            <p:nvSpPr>
              <p:cNvPr id="16" name="矩形 15"/>
              <p:cNvSpPr/>
              <p:nvPr/>
            </p:nvSpPr>
            <p:spPr>
              <a:xfrm>
                <a:off x="9085" y="3265"/>
                <a:ext cx="2857" cy="6629"/>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7" name="文本框 16"/>
              <p:cNvSpPr txBox="1"/>
              <p:nvPr/>
            </p:nvSpPr>
            <p:spPr>
              <a:xfrm>
                <a:off x="9223" y="3367"/>
                <a:ext cx="2581" cy="5123"/>
              </a:xfrm>
              <a:prstGeom prst="rect">
                <a:avLst/>
              </a:prstGeom>
              <a:noFill/>
            </p:spPr>
            <p:txBody>
              <a:bodyPr wrap="square" rtlCol="0">
                <a:spAutoFit/>
              </a:bodyPr>
              <a:p>
                <a:pPr>
                  <a:lnSpc>
                    <a:spcPct val="150000"/>
                  </a:lnSpc>
                </a:pPr>
                <a:r>
                  <a:rPr lang="zh-CN" altLang="en-US" sz="1600" b="1" dirty="0" smtClean="0">
                    <a:latin typeface="Arial" panose="020B0604020202020204" pitchFamily="34" charset="0"/>
                    <a:ea typeface="微软雅黑" panose="020B0503020204020204" charset="-122"/>
                  </a:rPr>
                  <a:t>用实际名单替换，</a:t>
                </a:r>
                <a:r>
                  <a:rPr lang="zh-CN" altLang="en-US" sz="1600" b="1" dirty="0" smtClean="0">
                    <a:solidFill>
                      <a:srgbClr val="FF0000"/>
                    </a:solidFill>
                    <a:latin typeface="Arial" panose="020B0604020202020204" pitchFamily="34" charset="0"/>
                    <a:ea typeface="微软雅黑" panose="020B0503020204020204" charset="-122"/>
                  </a:rPr>
                  <a:t>实际</a:t>
                </a:r>
                <a:r>
                  <a:rPr lang="zh-CN" altLang="en-US" sz="1600" b="1" dirty="0" smtClean="0">
                    <a:latin typeface="Arial" panose="020B0604020202020204" pitchFamily="34" charset="0"/>
                    <a:ea typeface="微软雅黑" panose="020B0503020204020204" charset="-122"/>
                  </a:rPr>
                  <a:t>参加评阅和答辩的老师。</a:t>
                </a:r>
                <a:endParaRPr lang="zh-CN" altLang="en-US" sz="1600" b="1" dirty="0" smtClean="0">
                  <a:latin typeface="Arial" panose="020B0604020202020204" pitchFamily="34" charset="0"/>
                  <a:ea typeface="微软雅黑" panose="020B0503020204020204" charset="-122"/>
                </a:endParaRPr>
              </a:p>
              <a:p>
                <a:pPr>
                  <a:lnSpc>
                    <a:spcPct val="150000"/>
                  </a:lnSpc>
                </a:pPr>
                <a:r>
                  <a:rPr lang="zh-CN" altLang="en-US" sz="1600" b="1" dirty="0" smtClean="0">
                    <a:latin typeface="Arial" panose="020B0604020202020204" pitchFamily="34" charset="0"/>
                    <a:ea typeface="微软雅黑" panose="020B0503020204020204" charset="-122"/>
                  </a:rPr>
                  <a:t>各项信息填写完整</a:t>
                </a:r>
                <a:endParaRPr lang="zh-CN" altLang="en-US" sz="1600" b="1" dirty="0" smtClean="0">
                  <a:latin typeface="Arial" panose="020B0604020202020204" pitchFamily="34" charset="0"/>
                  <a:ea typeface="微软雅黑" panose="020B0503020204020204" charset="-122"/>
                </a:endParaRPr>
              </a:p>
              <a:p>
                <a:pPr>
                  <a:lnSpc>
                    <a:spcPct val="150000"/>
                  </a:lnSpc>
                </a:pPr>
                <a:endParaRPr lang="zh-CN" altLang="en-US" sz="1600" b="1" dirty="0" smtClean="0">
                  <a:latin typeface="Arial" panose="020B0604020202020204" pitchFamily="34" charset="0"/>
                  <a:ea typeface="微软雅黑" panose="020B0503020204020204" charset="-122"/>
                </a:endParaRPr>
              </a:p>
              <a:p>
                <a:pPr>
                  <a:lnSpc>
                    <a:spcPct val="150000"/>
                  </a:lnSpc>
                </a:pPr>
                <a:r>
                  <a:rPr lang="zh-CN" altLang="en-US" sz="1600" b="1" dirty="0" smtClean="0">
                    <a:latin typeface="Arial" panose="020B0604020202020204" pitchFamily="34" charset="0"/>
                    <a:ea typeface="微软雅黑" panose="020B0503020204020204" charset="-122"/>
                  </a:rPr>
                  <a:t>只填写</a:t>
                </a:r>
                <a:r>
                  <a:rPr lang="en-US" altLang="zh-CN" sz="1600" b="1" dirty="0" smtClean="0">
                    <a:latin typeface="Arial" panose="020B0604020202020204" pitchFamily="34" charset="0"/>
                    <a:ea typeface="微软雅黑" panose="020B0503020204020204" charset="-122"/>
                  </a:rPr>
                  <a:t>“</a:t>
                </a:r>
                <a:r>
                  <a:rPr lang="zh-CN" altLang="en-US" sz="1600" b="1" dirty="0" smtClean="0">
                    <a:latin typeface="Arial" panose="020B0604020202020204" pitchFamily="34" charset="0"/>
                    <a:ea typeface="微软雅黑" panose="020B0503020204020204" charset="-122"/>
                  </a:rPr>
                  <a:t>同意</a:t>
                </a:r>
                <a:r>
                  <a:rPr lang="en-US" altLang="zh-CN" sz="1600" b="1" dirty="0" smtClean="0">
                    <a:latin typeface="Arial" panose="020B0604020202020204" pitchFamily="34" charset="0"/>
                    <a:ea typeface="微软雅黑" panose="020B0503020204020204" charset="-122"/>
                  </a:rPr>
                  <a:t>”</a:t>
                </a:r>
                <a:r>
                  <a:rPr lang="zh-CN" altLang="en-US" sz="1600" b="1" dirty="0" smtClean="0">
                    <a:latin typeface="Arial" panose="020B0604020202020204" pitchFamily="34" charset="0"/>
                    <a:ea typeface="微软雅黑" panose="020B0503020204020204" charset="-122"/>
                  </a:rPr>
                  <a:t>两字即可</a:t>
                </a:r>
                <a:endParaRPr lang="zh-CN" altLang="en-US" sz="1600" b="1" dirty="0" smtClean="0">
                  <a:latin typeface="Arial" panose="020B0604020202020204" pitchFamily="34" charset="0"/>
                  <a:ea typeface="微软雅黑" panose="020B0503020204020204" charset="-122"/>
                </a:endParaRPr>
              </a:p>
            </p:txBody>
          </p:sp>
        </p:grpSp>
        <p:cxnSp>
          <p:nvCxnSpPr>
            <p:cNvPr id="18" name="直接连接符 17"/>
            <p:cNvCxnSpPr/>
            <p:nvPr/>
          </p:nvCxnSpPr>
          <p:spPr>
            <a:xfrm>
              <a:off x="1830" y="6843"/>
              <a:ext cx="2187" cy="0"/>
            </a:xfrm>
            <a:prstGeom prst="line">
              <a:avLst/>
            </a:prstGeom>
            <a:noFill/>
            <a:ln w="6350" cap="flat" cmpd="sng" algn="ctr">
              <a:solidFill>
                <a:srgbClr val="DC5C31"/>
              </a:solidFill>
              <a:prstDash val="solid"/>
              <a:miter lim="800000"/>
            </a:ln>
            <a:effectLst/>
          </p:spPr>
        </p:cxnSp>
      </p:grpSp>
      <p:cxnSp>
        <p:nvCxnSpPr>
          <p:cNvPr id="19" name="直接箭头连接符 18"/>
          <p:cNvCxnSpPr/>
          <p:nvPr/>
        </p:nvCxnSpPr>
        <p:spPr>
          <a:xfrm flipH="1" flipV="1">
            <a:off x="7004050" y="5377180"/>
            <a:ext cx="1148715" cy="20955"/>
          </a:xfrm>
          <a:prstGeom prst="straightConnector1">
            <a:avLst/>
          </a:prstGeom>
          <a:noFill/>
          <a:ln w="50800" cap="flat" cmpd="sng" algn="ctr">
            <a:solidFill>
              <a:srgbClr val="C00000"/>
            </a:solidFill>
            <a:prstDash val="solid"/>
            <a:miter lim="800000"/>
            <a:tailEnd type="triangle"/>
          </a:ln>
          <a:effectLst/>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1150600"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表决票</a:t>
            </a:r>
            <a:r>
              <a:rPr lang="zh-CN" altLang="en-US" sz="4000" b="1" dirty="0">
                <a:latin typeface="微软雅黑" panose="020B0503020204020204" charset="-122"/>
                <a:ea typeface="微软雅黑" panose="020B0503020204020204" charset="-122"/>
              </a:rPr>
              <a:t>（</a:t>
            </a:r>
            <a:r>
              <a:rPr lang="zh-CN" altLang="en-US" sz="4000" b="1" dirty="0">
                <a:solidFill>
                  <a:srgbClr val="FF0000"/>
                </a:solidFill>
                <a:latin typeface="微软雅黑" panose="020B0503020204020204" charset="-122"/>
                <a:ea typeface="微软雅黑" panose="020B0503020204020204" charset="-122"/>
              </a:rPr>
              <a:t>装订</a:t>
            </a:r>
            <a:r>
              <a:rPr lang="zh-CN" altLang="en-US" sz="4000" b="1" dirty="0">
                <a:latin typeface="微软雅黑" panose="020B0503020204020204" charset="-122"/>
                <a:ea typeface="微软雅黑" panose="020B0503020204020204" charset="-122"/>
              </a:rPr>
              <a:t>）</a:t>
            </a:r>
            <a:endParaRPr lang="zh-CN" altLang="en-US" sz="4000" b="1" dirty="0">
              <a:latin typeface="微软雅黑" panose="020B0503020204020204" charset="-122"/>
              <a:ea typeface="微软雅黑" panose="020B0503020204020204" charset="-122"/>
            </a:endParaRPr>
          </a:p>
        </p:txBody>
      </p:sp>
      <p:pic>
        <p:nvPicPr>
          <p:cNvPr id="24" name="图片 23"/>
          <p:cNvPicPr>
            <a:picLocks noChangeAspect="1"/>
          </p:cNvPicPr>
          <p:nvPr/>
        </p:nvPicPr>
        <p:blipFill>
          <a:blip r:embed="rId1"/>
          <a:srcRect t="8896" b="8018"/>
          <a:stretch>
            <a:fillRect/>
          </a:stretch>
        </p:blipFill>
        <p:spPr>
          <a:xfrm>
            <a:off x="1283335" y="1360805"/>
            <a:ext cx="4236720" cy="5360035"/>
          </a:xfrm>
          <a:prstGeom prst="rect">
            <a:avLst/>
          </a:prstGeom>
        </p:spPr>
      </p:pic>
      <p:sp>
        <p:nvSpPr>
          <p:cNvPr id="25" name="矩形 24"/>
          <p:cNvSpPr/>
          <p:nvPr/>
        </p:nvSpPr>
        <p:spPr>
          <a:xfrm>
            <a:off x="1353185" y="3187700"/>
            <a:ext cx="4022725" cy="136969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cxnSp>
        <p:nvCxnSpPr>
          <p:cNvPr id="26" name="直接箭头连接符 25"/>
          <p:cNvCxnSpPr/>
          <p:nvPr/>
        </p:nvCxnSpPr>
        <p:spPr>
          <a:xfrm flipH="1">
            <a:off x="5614035" y="2907030"/>
            <a:ext cx="1522095" cy="846455"/>
          </a:xfrm>
          <a:prstGeom prst="straightConnector1">
            <a:avLst/>
          </a:prstGeom>
          <a:noFill/>
          <a:ln w="50800" cap="flat" cmpd="sng" algn="ctr">
            <a:solidFill>
              <a:srgbClr val="C00000"/>
            </a:solidFill>
            <a:prstDash val="solid"/>
            <a:miter lim="800000"/>
            <a:tailEnd type="triangle"/>
          </a:ln>
          <a:effectLst/>
        </p:spPr>
      </p:cxnSp>
      <p:grpSp>
        <p:nvGrpSpPr>
          <p:cNvPr id="27" name="组合 26"/>
          <p:cNvGrpSpPr/>
          <p:nvPr/>
        </p:nvGrpSpPr>
        <p:grpSpPr>
          <a:xfrm rot="0">
            <a:off x="7336790" y="2453599"/>
            <a:ext cx="4150360" cy="796903"/>
            <a:chOff x="9574" y="8126"/>
            <a:chExt cx="2857" cy="3636"/>
          </a:xfrm>
        </p:grpSpPr>
        <p:sp>
          <p:nvSpPr>
            <p:cNvPr id="28" name="矩形 27"/>
            <p:cNvSpPr/>
            <p:nvPr/>
          </p:nvSpPr>
          <p:spPr>
            <a:xfrm>
              <a:off x="9574" y="8126"/>
              <a:ext cx="2857" cy="3636"/>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9" name="文本框 28"/>
            <p:cNvSpPr txBox="1"/>
            <p:nvPr/>
          </p:nvSpPr>
          <p:spPr>
            <a:xfrm>
              <a:off x="9644" y="8682"/>
              <a:ext cx="2581" cy="2524"/>
            </a:xfrm>
            <a:prstGeom prst="rect">
              <a:avLst/>
            </a:prstGeom>
            <a:noFill/>
          </p:spPr>
          <p:txBody>
            <a:bodyPr wrap="square" rtlCol="0">
              <a:spAutoFit/>
            </a:bodyPr>
            <a:p>
              <a:pPr>
                <a:lnSpc>
                  <a:spcPct val="150000"/>
                </a:lnSpc>
              </a:pPr>
              <a:r>
                <a:rPr lang="zh-CN" altLang="en-US" sz="2000" b="1" dirty="0" smtClean="0">
                  <a:solidFill>
                    <a:srgbClr val="C00000"/>
                  </a:solidFill>
                  <a:latin typeface="Arial" panose="020B0604020202020204" pitchFamily="34" charset="0"/>
                  <a:ea typeface="微软雅黑" panose="020B0503020204020204" charset="-122"/>
                </a:rPr>
                <a:t>严格检查各项是否勾画齐全</a:t>
              </a:r>
              <a:endParaRPr lang="zh-CN" altLang="en-US" sz="2000" b="1" dirty="0" smtClean="0">
                <a:solidFill>
                  <a:srgbClr val="C00000"/>
                </a:solidFill>
                <a:latin typeface="Arial" panose="020B0604020202020204" pitchFamily="34" charset="0"/>
                <a:ea typeface="微软雅黑" panose="020B0503020204020204" charset="-122"/>
              </a:endParaRPr>
            </a:p>
          </p:txBody>
        </p:sp>
      </p:grpSp>
      <p:grpSp>
        <p:nvGrpSpPr>
          <p:cNvPr id="30" name="组合 29"/>
          <p:cNvGrpSpPr/>
          <p:nvPr/>
        </p:nvGrpSpPr>
        <p:grpSpPr>
          <a:xfrm rot="0">
            <a:off x="5714365" y="1573530"/>
            <a:ext cx="1383030" cy="804545"/>
            <a:chOff x="7927" y="10290"/>
            <a:chExt cx="2857" cy="1910"/>
          </a:xfrm>
        </p:grpSpPr>
        <p:sp>
          <p:nvSpPr>
            <p:cNvPr id="31" name="矩形 30"/>
            <p:cNvSpPr/>
            <p:nvPr/>
          </p:nvSpPr>
          <p:spPr>
            <a:xfrm>
              <a:off x="7927" y="10290"/>
              <a:ext cx="2857" cy="1910"/>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4" name="文本框 33"/>
            <p:cNvSpPr txBox="1"/>
            <p:nvPr/>
          </p:nvSpPr>
          <p:spPr>
            <a:xfrm>
              <a:off x="8065" y="10469"/>
              <a:ext cx="2581" cy="1313"/>
            </a:xfrm>
            <a:prstGeom prst="rect">
              <a:avLst/>
            </a:prstGeom>
            <a:noFill/>
          </p:spPr>
          <p:txBody>
            <a:bodyPr wrap="square" rtlCol="0">
              <a:spAutoFit/>
            </a:bodyPr>
            <a:p>
              <a:pPr>
                <a:lnSpc>
                  <a:spcPct val="150000"/>
                </a:lnSpc>
              </a:pPr>
              <a:r>
                <a:rPr lang="zh-CN" altLang="en-US" sz="2000" b="1" dirty="0" smtClean="0">
                  <a:solidFill>
                    <a:srgbClr val="C00000"/>
                  </a:solidFill>
                  <a:latin typeface="Arial" panose="020B0604020202020204" pitchFamily="34" charset="0"/>
                  <a:ea typeface="微软雅黑" panose="020B0503020204020204" charset="-122"/>
                </a:rPr>
                <a:t>不可涂改</a:t>
              </a:r>
              <a:endParaRPr lang="zh-CN" altLang="en-US" sz="2000" b="1" dirty="0" smtClean="0">
                <a:solidFill>
                  <a:srgbClr val="C00000"/>
                </a:solidFill>
                <a:latin typeface="Arial" panose="020B0604020202020204" pitchFamily="34" charset="0"/>
                <a:ea typeface="微软雅黑" panose="020B0503020204020204"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1150600"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决议书（一式两份，</a:t>
            </a:r>
            <a:r>
              <a:rPr lang="zh-CN" altLang="en-US" sz="4000" b="1" dirty="0">
                <a:solidFill>
                  <a:srgbClr val="FF0000"/>
                </a:solidFill>
                <a:highlight>
                  <a:srgbClr val="FFFF00"/>
                </a:highlight>
                <a:latin typeface="微软雅黑" panose="020B0503020204020204" charset="-122"/>
                <a:ea typeface="微软雅黑" panose="020B0503020204020204" charset="-122"/>
              </a:rPr>
              <a:t>不</a:t>
            </a:r>
            <a:r>
              <a:rPr lang="zh-CN" altLang="en-US" sz="4000" b="1" dirty="0">
                <a:solidFill>
                  <a:srgbClr val="FF0000"/>
                </a:solidFill>
                <a:latin typeface="微软雅黑" panose="020B0503020204020204" charset="-122"/>
                <a:ea typeface="微软雅黑" panose="020B0503020204020204" charset="-122"/>
              </a:rPr>
              <a:t>装订</a:t>
            </a:r>
            <a:r>
              <a:rPr lang="zh-CN" altLang="en-US" sz="4000" b="1" dirty="0">
                <a:latin typeface="微软雅黑" panose="020B0503020204020204" charset="-122"/>
                <a:ea typeface="微软雅黑" panose="020B0503020204020204" charset="-122"/>
              </a:rPr>
              <a:t>）</a:t>
            </a:r>
            <a:endParaRPr lang="zh-CN" altLang="en-US" sz="4000" b="1" dirty="0">
              <a:latin typeface="微软雅黑" panose="020B0503020204020204" charset="-122"/>
              <a:ea typeface="微软雅黑" panose="020B0503020204020204" charset="-122"/>
            </a:endParaRPr>
          </a:p>
        </p:txBody>
      </p:sp>
      <p:pic>
        <p:nvPicPr>
          <p:cNvPr id="20" name="图片 19"/>
          <p:cNvPicPr>
            <a:picLocks noChangeAspect="1"/>
          </p:cNvPicPr>
          <p:nvPr/>
        </p:nvPicPr>
        <p:blipFill>
          <a:blip r:embed="rId1"/>
          <a:stretch>
            <a:fillRect/>
          </a:stretch>
        </p:blipFill>
        <p:spPr>
          <a:xfrm>
            <a:off x="516255" y="1682750"/>
            <a:ext cx="3022600" cy="4470400"/>
          </a:xfrm>
          <a:prstGeom prst="rect">
            <a:avLst/>
          </a:prstGeom>
        </p:spPr>
      </p:pic>
      <p:sp>
        <p:nvSpPr>
          <p:cNvPr id="21" name="文本框 20"/>
          <p:cNvSpPr txBox="1"/>
          <p:nvPr/>
        </p:nvSpPr>
        <p:spPr>
          <a:xfrm>
            <a:off x="770890" y="2401570"/>
            <a:ext cx="2616200" cy="810260"/>
          </a:xfrm>
          <a:prstGeom prst="rect">
            <a:avLst/>
          </a:prstGeom>
          <a:noFill/>
        </p:spPr>
        <p:txBody>
          <a:bodyPr wrap="square" rtlCol="0">
            <a:spAutoFit/>
          </a:bodyPr>
          <a:p>
            <a:pPr>
              <a:lnSpc>
                <a:spcPct val="130000"/>
              </a:lnSpc>
            </a:pPr>
            <a:r>
              <a:rPr lang="zh-CN" altLang="en-US" dirty="0" smtClean="0">
                <a:latin typeface="Arial" panose="020B0604020202020204" pitchFamily="34" charset="0"/>
                <a:ea typeface="微软雅黑" panose="020B0503020204020204" charset="-122"/>
              </a:rPr>
              <a:t>答辩过程记录完整，不可手写</a:t>
            </a:r>
            <a:endParaRPr lang="zh-CN" altLang="en-US" dirty="0" smtClean="0">
              <a:latin typeface="Arial" panose="020B0604020202020204" pitchFamily="34" charset="0"/>
              <a:ea typeface="微软雅黑" panose="020B0503020204020204" charset="-122"/>
            </a:endParaRPr>
          </a:p>
        </p:txBody>
      </p:sp>
      <p:sp>
        <p:nvSpPr>
          <p:cNvPr id="32" name="矩形 31"/>
          <p:cNvSpPr/>
          <p:nvPr/>
        </p:nvSpPr>
        <p:spPr>
          <a:xfrm>
            <a:off x="1849120" y="5441950"/>
            <a:ext cx="1537335" cy="57277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33" name="组合 32"/>
          <p:cNvGrpSpPr/>
          <p:nvPr/>
        </p:nvGrpSpPr>
        <p:grpSpPr>
          <a:xfrm rot="0">
            <a:off x="869950" y="3915236"/>
            <a:ext cx="1814195" cy="1043114"/>
            <a:chOff x="7927" y="10290"/>
            <a:chExt cx="2857" cy="2476"/>
          </a:xfrm>
        </p:grpSpPr>
        <p:sp>
          <p:nvSpPr>
            <p:cNvPr id="36" name="矩形 35"/>
            <p:cNvSpPr/>
            <p:nvPr/>
          </p:nvSpPr>
          <p:spPr>
            <a:xfrm>
              <a:off x="7927" y="10290"/>
              <a:ext cx="2857" cy="2476"/>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37" name="文本框 36"/>
            <p:cNvSpPr txBox="1"/>
            <p:nvPr/>
          </p:nvSpPr>
          <p:spPr>
            <a:xfrm>
              <a:off x="8065" y="10469"/>
              <a:ext cx="2581" cy="1970"/>
            </a:xfrm>
            <a:prstGeom prst="rect">
              <a:avLst/>
            </a:prstGeom>
            <a:noFill/>
          </p:spPr>
          <p:txBody>
            <a:bodyPr wrap="square" rtlCol="0">
              <a:spAutoFit/>
            </a:bodyPr>
            <a:p>
              <a:pPr>
                <a:lnSpc>
                  <a:spcPct val="150000"/>
                </a:lnSpc>
              </a:pPr>
              <a:r>
                <a:rPr lang="zh-CN" altLang="en-US" sz="1600" b="1" dirty="0" smtClean="0">
                  <a:latin typeface="Arial" panose="020B0604020202020204" pitchFamily="34" charset="0"/>
                  <a:ea typeface="微软雅黑" panose="020B0503020204020204" charset="-122"/>
                </a:rPr>
                <a:t>主席手写签字；</a:t>
              </a:r>
              <a:endParaRPr lang="zh-CN" altLang="en-US" sz="1600" b="1" dirty="0" smtClean="0">
                <a:latin typeface="Arial" panose="020B0604020202020204" pitchFamily="34" charset="0"/>
                <a:ea typeface="微软雅黑" panose="020B0503020204020204" charset="-122"/>
              </a:endParaRPr>
            </a:p>
            <a:p>
              <a:pPr>
                <a:lnSpc>
                  <a:spcPct val="150000"/>
                </a:lnSpc>
              </a:pPr>
              <a:r>
                <a:rPr lang="zh-CN" altLang="en-US" sz="1600" b="1" dirty="0" smtClean="0">
                  <a:latin typeface="Arial" panose="020B0604020202020204" pitchFamily="34" charset="0"/>
                  <a:ea typeface="微软雅黑" panose="020B0503020204020204" charset="-122"/>
                </a:rPr>
                <a:t>日期为答辩日期</a:t>
              </a:r>
              <a:endParaRPr lang="zh-CN" altLang="en-US" sz="1600" b="1" dirty="0" smtClean="0">
                <a:latin typeface="Arial" panose="020B0604020202020204" pitchFamily="34" charset="0"/>
                <a:ea typeface="微软雅黑" panose="020B0503020204020204" charset="-122"/>
              </a:endParaRPr>
            </a:p>
          </p:txBody>
        </p:sp>
      </p:grpSp>
      <p:cxnSp>
        <p:nvCxnSpPr>
          <p:cNvPr id="38" name="直接箭头连接符 37"/>
          <p:cNvCxnSpPr/>
          <p:nvPr/>
        </p:nvCxnSpPr>
        <p:spPr>
          <a:xfrm flipH="1" flipV="1">
            <a:off x="1310640" y="5055870"/>
            <a:ext cx="422910" cy="645160"/>
          </a:xfrm>
          <a:prstGeom prst="straightConnector1">
            <a:avLst/>
          </a:prstGeom>
          <a:noFill/>
          <a:ln w="50800" cap="flat" cmpd="sng" algn="ctr">
            <a:solidFill>
              <a:srgbClr val="C00000"/>
            </a:solidFill>
            <a:prstDash val="solid"/>
            <a:miter lim="800000"/>
            <a:tailEnd type="triangle"/>
          </a:ln>
          <a:effectLst/>
        </p:spPr>
      </p:cxnSp>
      <p:pic>
        <p:nvPicPr>
          <p:cNvPr id="39" name="图片 38"/>
          <p:cNvPicPr>
            <a:picLocks noChangeAspect="1"/>
          </p:cNvPicPr>
          <p:nvPr/>
        </p:nvPicPr>
        <p:blipFill>
          <a:blip r:embed="rId2"/>
          <a:stretch>
            <a:fillRect/>
          </a:stretch>
        </p:blipFill>
        <p:spPr>
          <a:xfrm>
            <a:off x="4064635" y="1682750"/>
            <a:ext cx="2984500" cy="4540250"/>
          </a:xfrm>
          <a:prstGeom prst="rect">
            <a:avLst/>
          </a:prstGeom>
        </p:spPr>
      </p:pic>
      <p:grpSp>
        <p:nvGrpSpPr>
          <p:cNvPr id="40" name="组合 39"/>
          <p:cNvGrpSpPr/>
          <p:nvPr/>
        </p:nvGrpSpPr>
        <p:grpSpPr>
          <a:xfrm rot="0">
            <a:off x="7865110" y="1911985"/>
            <a:ext cx="3917315" cy="4434840"/>
            <a:chOff x="8040" y="10279"/>
            <a:chExt cx="2857" cy="2057"/>
          </a:xfrm>
        </p:grpSpPr>
        <p:sp>
          <p:nvSpPr>
            <p:cNvPr id="41" name="矩形 40"/>
            <p:cNvSpPr/>
            <p:nvPr/>
          </p:nvSpPr>
          <p:spPr>
            <a:xfrm>
              <a:off x="8040" y="10279"/>
              <a:ext cx="2857" cy="2057"/>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42" name="文本框 41"/>
            <p:cNvSpPr txBox="1"/>
            <p:nvPr/>
          </p:nvSpPr>
          <p:spPr>
            <a:xfrm>
              <a:off x="8174" y="10941"/>
              <a:ext cx="2481" cy="556"/>
            </a:xfrm>
            <a:prstGeom prst="rect">
              <a:avLst/>
            </a:prstGeom>
            <a:noFill/>
          </p:spPr>
          <p:txBody>
            <a:bodyPr wrap="square" rtlCol="0">
              <a:spAutoFit/>
            </a:bodyPr>
            <a:p>
              <a:pPr>
                <a:lnSpc>
                  <a:spcPct val="150000"/>
                </a:lnSpc>
              </a:pPr>
              <a:r>
                <a:rPr lang="en-US" altLang="zh-CN" sz="1600" b="1" dirty="0" smtClean="0">
                  <a:latin typeface="Arial" panose="020B0604020202020204" pitchFamily="34" charset="0"/>
                  <a:ea typeface="微软雅黑" panose="020B0503020204020204" charset="-122"/>
                </a:rPr>
                <a:t>- </a:t>
              </a:r>
              <a:r>
                <a:rPr lang="zh-CN" altLang="en-US" sz="1600" b="1" dirty="0" smtClean="0">
                  <a:latin typeface="Arial" panose="020B0604020202020204" pitchFamily="34" charset="0"/>
                  <a:ea typeface="微软雅黑" panose="020B0503020204020204" charset="-122"/>
                </a:rPr>
                <a:t>所有票数填全，不可空着，如：无弃权票，填0票；</a:t>
              </a:r>
              <a:endParaRPr lang="zh-CN" altLang="en-US" sz="1600" b="1" dirty="0" smtClean="0">
                <a:latin typeface="Arial" panose="020B0604020202020204" pitchFamily="34" charset="0"/>
                <a:ea typeface="微软雅黑" panose="020B0503020204020204" charset="-122"/>
              </a:endParaRPr>
            </a:p>
            <a:p>
              <a:pPr>
                <a:lnSpc>
                  <a:spcPct val="150000"/>
                </a:lnSpc>
              </a:pPr>
              <a:r>
                <a:rPr lang="en-US" altLang="zh-CN" sz="1600" b="1" dirty="0" smtClean="0">
                  <a:latin typeface="Arial" panose="020B0604020202020204" pitchFamily="34" charset="0"/>
                  <a:ea typeface="微软雅黑" panose="020B0503020204020204" charset="-122"/>
                </a:rPr>
                <a:t>- </a:t>
              </a:r>
              <a:r>
                <a:rPr lang="zh-CN" altLang="en-US" sz="1600" b="1" dirty="0" smtClean="0">
                  <a:latin typeface="Arial" panose="020B0604020202020204" pitchFamily="34" charset="0"/>
                  <a:ea typeface="微软雅黑" panose="020B0503020204020204" charset="-122"/>
                </a:rPr>
                <a:t>结论勾画完整</a:t>
              </a:r>
              <a:endParaRPr lang="zh-CN" altLang="en-US" sz="1600" b="1" dirty="0" smtClean="0">
                <a:latin typeface="Arial" panose="020B0604020202020204" pitchFamily="34" charset="0"/>
                <a:ea typeface="微软雅黑" panose="020B0503020204020204" charset="-122"/>
              </a:endParaRPr>
            </a:p>
          </p:txBody>
        </p:sp>
      </p:grpSp>
      <p:sp>
        <p:nvSpPr>
          <p:cNvPr id="43" name="矩形 42"/>
          <p:cNvSpPr/>
          <p:nvPr/>
        </p:nvSpPr>
        <p:spPr>
          <a:xfrm>
            <a:off x="5846445" y="1828800"/>
            <a:ext cx="1202055" cy="172466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cxnSp>
        <p:nvCxnSpPr>
          <p:cNvPr id="44" name="直接箭头连接符 43"/>
          <p:cNvCxnSpPr/>
          <p:nvPr/>
        </p:nvCxnSpPr>
        <p:spPr>
          <a:xfrm flipV="1">
            <a:off x="7136130" y="2496820"/>
            <a:ext cx="656590" cy="10160"/>
          </a:xfrm>
          <a:prstGeom prst="straightConnector1">
            <a:avLst/>
          </a:prstGeom>
          <a:noFill/>
          <a:ln w="50800" cap="flat" cmpd="sng" algn="ctr">
            <a:solidFill>
              <a:srgbClr val="C00000"/>
            </a:solidFill>
            <a:prstDash val="solid"/>
            <a:miter lim="800000"/>
            <a:tailEnd type="triangle"/>
          </a:ln>
          <a:effectLst/>
        </p:spPr>
      </p:cxnSp>
      <p:cxnSp>
        <p:nvCxnSpPr>
          <p:cNvPr id="45" name="直接连接符 44"/>
          <p:cNvCxnSpPr/>
          <p:nvPr/>
        </p:nvCxnSpPr>
        <p:spPr>
          <a:xfrm>
            <a:off x="8048625" y="3234055"/>
            <a:ext cx="3548380" cy="0"/>
          </a:xfrm>
          <a:prstGeom prst="line">
            <a:avLst/>
          </a:prstGeom>
          <a:noFill/>
          <a:ln w="6350" cap="flat" cmpd="sng" algn="ctr">
            <a:solidFill>
              <a:srgbClr val="DC5C31"/>
            </a:solidFill>
            <a:prstDash val="solid"/>
            <a:miter lim="800000"/>
          </a:ln>
          <a:effectLst/>
        </p:spPr>
      </p:cxnSp>
      <p:sp>
        <p:nvSpPr>
          <p:cNvPr id="46" name="文本框 45"/>
          <p:cNvSpPr txBox="1"/>
          <p:nvPr/>
        </p:nvSpPr>
        <p:spPr>
          <a:xfrm>
            <a:off x="8048564" y="1970882"/>
            <a:ext cx="3401771" cy="1198880"/>
          </a:xfrm>
          <a:prstGeom prst="rect">
            <a:avLst/>
          </a:prstGeom>
          <a:noFill/>
        </p:spPr>
        <p:txBody>
          <a:bodyPr wrap="square" rtlCol="0">
            <a:spAutoFit/>
          </a:bodyPr>
          <a:p>
            <a:pPr>
              <a:lnSpc>
                <a:spcPct val="150000"/>
              </a:lnSpc>
            </a:pPr>
            <a:r>
              <a:rPr lang="en-US" altLang="zh-CN" sz="1600" b="1" dirty="0" smtClean="0">
                <a:latin typeface="Arial" panose="020B0604020202020204" pitchFamily="34" charset="0"/>
                <a:ea typeface="微软雅黑" panose="020B0503020204020204" charset="-122"/>
              </a:rPr>
              <a:t>- </a:t>
            </a:r>
            <a:r>
              <a:rPr lang="zh-CN" altLang="en-US" sz="1600" b="1" dirty="0" smtClean="0">
                <a:latin typeface="Arial" panose="020B0604020202020204" pitchFamily="34" charset="0"/>
                <a:ea typeface="微软雅黑" panose="020B0503020204020204" charset="-122"/>
              </a:rPr>
              <a:t>工作单位写全称，如中国科学院信息工程研究所；</a:t>
            </a:r>
            <a:endParaRPr lang="zh-CN" altLang="en-US" sz="1600" b="1" dirty="0" smtClean="0">
              <a:latin typeface="Arial" panose="020B0604020202020204" pitchFamily="34" charset="0"/>
              <a:ea typeface="微软雅黑" panose="020B0503020204020204" charset="-122"/>
            </a:endParaRPr>
          </a:p>
          <a:p>
            <a:pPr>
              <a:lnSpc>
                <a:spcPct val="150000"/>
              </a:lnSpc>
            </a:pPr>
            <a:r>
              <a:rPr lang="en-US" altLang="zh-CN" sz="1600" b="1" dirty="0" smtClean="0">
                <a:latin typeface="Arial" panose="020B0604020202020204" pitchFamily="34" charset="0"/>
                <a:ea typeface="微软雅黑" panose="020B0503020204020204" charset="-122"/>
              </a:rPr>
              <a:t>- </a:t>
            </a:r>
            <a:r>
              <a:rPr lang="zh-CN" altLang="en-US" sz="1600" b="1" dirty="0" smtClean="0">
                <a:latin typeface="Arial" panose="020B0604020202020204" pitchFamily="34" charset="0"/>
                <a:ea typeface="微软雅黑" panose="020B0503020204020204" charset="-122"/>
              </a:rPr>
              <a:t>签字均为手写签字</a:t>
            </a:r>
            <a:endParaRPr lang="zh-CN" altLang="en-US" sz="1600" b="1" dirty="0" smtClean="0">
              <a:latin typeface="Arial" panose="020B0604020202020204" pitchFamily="34" charset="0"/>
              <a:ea typeface="微软雅黑" panose="020B0503020204020204" charset="-122"/>
            </a:endParaRPr>
          </a:p>
        </p:txBody>
      </p:sp>
      <p:sp>
        <p:nvSpPr>
          <p:cNvPr id="47" name="矩形 46"/>
          <p:cNvSpPr/>
          <p:nvPr/>
        </p:nvSpPr>
        <p:spPr>
          <a:xfrm>
            <a:off x="4408170" y="4428490"/>
            <a:ext cx="2639695" cy="72009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cxnSp>
        <p:nvCxnSpPr>
          <p:cNvPr id="48" name="直接连接符 47"/>
          <p:cNvCxnSpPr/>
          <p:nvPr/>
        </p:nvCxnSpPr>
        <p:spPr>
          <a:xfrm>
            <a:off x="8048625" y="4579620"/>
            <a:ext cx="3548380" cy="0"/>
          </a:xfrm>
          <a:prstGeom prst="line">
            <a:avLst/>
          </a:prstGeom>
          <a:noFill/>
          <a:ln w="6350" cap="flat" cmpd="sng" algn="ctr">
            <a:solidFill>
              <a:srgbClr val="DC5C31"/>
            </a:solidFill>
            <a:prstDash val="solid"/>
            <a:miter lim="800000"/>
          </a:ln>
          <a:effectLst/>
        </p:spPr>
      </p:cxnSp>
      <p:cxnSp>
        <p:nvCxnSpPr>
          <p:cNvPr id="49" name="直接箭头连接符 48"/>
          <p:cNvCxnSpPr/>
          <p:nvPr/>
        </p:nvCxnSpPr>
        <p:spPr>
          <a:xfrm flipV="1">
            <a:off x="6882130" y="3797935"/>
            <a:ext cx="804545" cy="474980"/>
          </a:xfrm>
          <a:prstGeom prst="straightConnector1">
            <a:avLst/>
          </a:prstGeom>
          <a:noFill/>
          <a:ln w="50800" cap="flat" cmpd="sng" algn="ctr">
            <a:solidFill>
              <a:srgbClr val="C00000"/>
            </a:solidFill>
            <a:prstDash val="solid"/>
            <a:miter lim="800000"/>
            <a:tailEnd type="triangle"/>
          </a:ln>
          <a:effectLst/>
        </p:spPr>
      </p:cxnSp>
      <p:sp>
        <p:nvSpPr>
          <p:cNvPr id="50" name="文本框 49"/>
          <p:cNvSpPr txBox="1"/>
          <p:nvPr/>
        </p:nvSpPr>
        <p:spPr>
          <a:xfrm>
            <a:off x="8048625" y="4644390"/>
            <a:ext cx="3401695" cy="1370330"/>
          </a:xfrm>
          <a:prstGeom prst="rect">
            <a:avLst/>
          </a:prstGeom>
          <a:noFill/>
        </p:spPr>
        <p:txBody>
          <a:bodyPr wrap="square" rtlCol="0">
            <a:noAutofit/>
          </a:bodyPr>
          <a:p>
            <a:pPr>
              <a:lnSpc>
                <a:spcPct val="150000"/>
              </a:lnSpc>
            </a:pPr>
            <a:r>
              <a:rPr lang="en-US" altLang="zh-CN" sz="1600" b="1" dirty="0" smtClean="0">
                <a:solidFill>
                  <a:srgbClr val="FF0000"/>
                </a:solidFill>
                <a:latin typeface="Arial" panose="020B0604020202020204" pitchFamily="34" charset="0"/>
                <a:ea typeface="微软雅黑" panose="020B0503020204020204" charset="-122"/>
              </a:rPr>
              <a:t>- </a:t>
            </a:r>
            <a:r>
              <a:rPr lang="zh-CN" altLang="en-US" sz="1600" b="1" dirty="0" smtClean="0">
                <a:solidFill>
                  <a:srgbClr val="FF0000"/>
                </a:solidFill>
                <a:latin typeface="Arial" panose="020B0604020202020204" pitchFamily="34" charset="0"/>
                <a:ea typeface="微软雅黑" panose="020B0503020204020204" charset="-122"/>
              </a:rPr>
              <a:t>表决结果的文字描述必填！</a:t>
            </a:r>
            <a:endParaRPr lang="en-US" altLang="zh-CN" sz="1600" b="1" dirty="0" smtClean="0">
              <a:solidFill>
                <a:srgbClr val="FF0000"/>
              </a:solidFill>
              <a:latin typeface="Arial" panose="020B0604020202020204" pitchFamily="34" charset="0"/>
              <a:ea typeface="微软雅黑" panose="020B0503020204020204" charset="-122"/>
            </a:endParaRPr>
          </a:p>
          <a:p>
            <a:pPr>
              <a:lnSpc>
                <a:spcPct val="150000"/>
              </a:lnSpc>
            </a:pPr>
            <a:r>
              <a:rPr lang="en-US" altLang="zh-CN" sz="1600" b="1" dirty="0" smtClean="0">
                <a:latin typeface="Arial" panose="020B0604020202020204" pitchFamily="34" charset="0"/>
                <a:ea typeface="微软雅黑" panose="020B0503020204020204" charset="-122"/>
              </a:rPr>
              <a:t>- </a:t>
            </a:r>
            <a:r>
              <a:rPr lang="zh-CN" altLang="en-US" sz="1600" b="1" dirty="0" smtClean="0">
                <a:latin typeface="Arial" panose="020B0604020202020204" pitchFamily="34" charset="0"/>
                <a:ea typeface="微软雅黑" panose="020B0503020204020204" charset="-122"/>
              </a:rPr>
              <a:t>秘书、主席手写签字；</a:t>
            </a:r>
            <a:endParaRPr lang="en-US" altLang="zh-CN" sz="1600" b="1" dirty="0" smtClean="0">
              <a:latin typeface="Arial" panose="020B0604020202020204" pitchFamily="34" charset="0"/>
              <a:ea typeface="微软雅黑" panose="020B0503020204020204" charset="-122"/>
            </a:endParaRPr>
          </a:p>
          <a:p>
            <a:pPr>
              <a:lnSpc>
                <a:spcPct val="150000"/>
              </a:lnSpc>
            </a:pPr>
            <a:r>
              <a:rPr lang="en-US" altLang="zh-CN" sz="1600" b="1" dirty="0" smtClean="0">
                <a:latin typeface="Arial" panose="020B0604020202020204" pitchFamily="34" charset="0"/>
                <a:ea typeface="微软雅黑" panose="020B0503020204020204" charset="-122"/>
              </a:rPr>
              <a:t>- </a:t>
            </a:r>
            <a:r>
              <a:rPr lang="zh-CN" altLang="en-US" sz="1600" b="1" dirty="0" smtClean="0">
                <a:latin typeface="Arial" panose="020B0604020202020204" pitchFamily="34" charset="0"/>
                <a:ea typeface="微软雅黑" panose="020B0503020204020204" charset="-122"/>
              </a:rPr>
              <a:t>为实际答辩日期，要求与公示中答辩时间及表决票落款时间一致</a:t>
            </a:r>
            <a:endParaRPr lang="zh-CN" altLang="en-US" sz="1600" b="1" dirty="0" smtClean="0">
              <a:latin typeface="Arial" panose="020B0604020202020204" pitchFamily="34" charset="0"/>
              <a:ea typeface="微软雅黑" panose="020B0503020204020204" charset="-122"/>
            </a:endParaRPr>
          </a:p>
        </p:txBody>
      </p:sp>
      <p:sp>
        <p:nvSpPr>
          <p:cNvPr id="51" name="矩形 50"/>
          <p:cNvSpPr/>
          <p:nvPr/>
        </p:nvSpPr>
        <p:spPr>
          <a:xfrm>
            <a:off x="4545330" y="5650230"/>
            <a:ext cx="2337435" cy="572770"/>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cxnSp>
        <p:nvCxnSpPr>
          <p:cNvPr id="52" name="直接箭头连接符 51"/>
          <p:cNvCxnSpPr/>
          <p:nvPr/>
        </p:nvCxnSpPr>
        <p:spPr>
          <a:xfrm flipV="1">
            <a:off x="6988175" y="5328285"/>
            <a:ext cx="804545" cy="474980"/>
          </a:xfrm>
          <a:prstGeom prst="straightConnector1">
            <a:avLst/>
          </a:prstGeom>
          <a:noFill/>
          <a:ln w="50800" cap="flat" cmpd="sng" algn="ctr">
            <a:solidFill>
              <a:srgbClr val="C00000"/>
            </a:solidFill>
            <a:prstDash val="solid"/>
            <a:miter lim="800000"/>
            <a:tailEnd type="triangle"/>
          </a:ln>
          <a:effectLst/>
        </p:spPr>
      </p:cxnSp>
      <p:grpSp>
        <p:nvGrpSpPr>
          <p:cNvPr id="56" name="组合 55"/>
          <p:cNvGrpSpPr/>
          <p:nvPr/>
        </p:nvGrpSpPr>
        <p:grpSpPr>
          <a:xfrm>
            <a:off x="2872105" y="3012440"/>
            <a:ext cx="3223260" cy="955040"/>
            <a:chOff x="980" y="2962"/>
            <a:chExt cx="5076" cy="1504"/>
          </a:xfrm>
        </p:grpSpPr>
        <p:sp>
          <p:nvSpPr>
            <p:cNvPr id="57" name="矩形 56"/>
            <p:cNvSpPr/>
            <p:nvPr/>
          </p:nvSpPr>
          <p:spPr>
            <a:xfrm>
              <a:off x="980" y="2962"/>
              <a:ext cx="5076" cy="1504"/>
            </a:xfrm>
            <a:prstGeom prst="rect">
              <a:avLst/>
            </a:prstGeom>
            <a:solidFill>
              <a:srgbClr val="C00000"/>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58" name="文本框 57"/>
            <p:cNvSpPr txBox="1"/>
            <p:nvPr/>
          </p:nvSpPr>
          <p:spPr>
            <a:xfrm>
              <a:off x="1108" y="2998"/>
              <a:ext cx="4725" cy="1404"/>
            </a:xfrm>
            <a:prstGeom prst="rect">
              <a:avLst/>
            </a:prstGeom>
            <a:noFill/>
          </p:spPr>
          <p:txBody>
            <a:bodyPr wrap="square" rtlCol="0">
              <a:spAutoFit/>
            </a:bodyPr>
            <a:p>
              <a:pPr>
                <a:lnSpc>
                  <a:spcPct val="130000"/>
                </a:lnSpc>
              </a:pPr>
              <a:r>
                <a:rPr lang="zh-CN" altLang="en-US" sz="2000" b="1" dirty="0" smtClean="0">
                  <a:solidFill>
                    <a:srgbClr val="FFFFFF"/>
                  </a:solidFill>
                  <a:latin typeface="微软雅黑" panose="020B0503020204020204" charset="-122"/>
                  <a:ea typeface="微软雅黑" panose="020B0503020204020204" charset="-122"/>
                </a:rPr>
                <a:t>专家组签字人数应与表决票投票数保持一致</a:t>
              </a:r>
              <a:endParaRPr lang="zh-CN" altLang="en-US" sz="2000" b="1" dirty="0" smtClean="0">
                <a:solidFill>
                  <a:srgbClr val="FFFFFF"/>
                </a:solidFill>
                <a:latin typeface="微软雅黑" panose="020B0503020204020204" charset="-122"/>
                <a:ea typeface="微软雅黑" panose="020B050302020402020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1150600"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学位论文（</a:t>
            </a:r>
            <a:r>
              <a:rPr lang="en-US" altLang="zh-CN" sz="4000" b="1" dirty="0">
                <a:latin typeface="微软雅黑" panose="020B0503020204020204" charset="-122"/>
                <a:ea typeface="微软雅黑" panose="020B0503020204020204" charset="-122"/>
              </a:rPr>
              <a:t>4</a:t>
            </a:r>
            <a:r>
              <a:rPr lang="zh-CN" altLang="en-US" sz="4000" b="1" dirty="0">
                <a:latin typeface="微软雅黑" panose="020B0503020204020204" charset="-122"/>
                <a:ea typeface="微软雅黑" panose="020B0503020204020204" charset="-122"/>
              </a:rPr>
              <a:t>本）</a:t>
            </a:r>
            <a:endParaRPr lang="zh-CN" altLang="en-US" sz="4000" b="1" dirty="0">
              <a:latin typeface="微软雅黑" panose="020B0503020204020204" charset="-122"/>
              <a:ea typeface="微软雅黑" panose="020B0503020204020204" charset="-122"/>
            </a:endParaRPr>
          </a:p>
        </p:txBody>
      </p:sp>
      <p:sp>
        <p:nvSpPr>
          <p:cNvPr id="8" name="文本框 7"/>
          <p:cNvSpPr txBox="1"/>
          <p:nvPr/>
        </p:nvSpPr>
        <p:spPr>
          <a:xfrm>
            <a:off x="664210" y="1266825"/>
            <a:ext cx="10875010" cy="2707005"/>
          </a:xfrm>
          <a:prstGeom prst="rect">
            <a:avLst/>
          </a:prstGeom>
          <a:noFill/>
        </p:spPr>
        <p:txBody>
          <a:bodyPr wrap="square" rtlCol="0">
            <a:spAutoFit/>
          </a:bodyPr>
          <a:p>
            <a:pPr marL="0" algn="l">
              <a:lnSpc>
                <a:spcPct val="170000"/>
              </a:lnSpc>
              <a:buNone/>
            </a:pPr>
            <a:r>
              <a:rPr lang="en-US" sz="2000" b="1" dirty="0" smtClean="0">
                <a:solidFill>
                  <a:schemeClr val="tx1"/>
                </a:solidFill>
                <a:latin typeface="微软雅黑" panose="020B0503020204020204" charset="-122"/>
                <a:ea typeface="微软雅黑" panose="020B0503020204020204" charset="-122"/>
              </a:rPr>
              <a:t>1</a:t>
            </a:r>
            <a:r>
              <a:rPr lang="zh-CN" altLang="en-US" sz="2000" b="1" dirty="0" smtClean="0">
                <a:solidFill>
                  <a:schemeClr val="tx1"/>
                </a:solidFill>
                <a:latin typeface="微软雅黑" panose="020B0503020204020204" charset="-122"/>
                <a:ea typeface="微软雅黑" panose="020B0503020204020204" charset="-122"/>
              </a:rPr>
              <a:t>、</a:t>
            </a:r>
            <a:r>
              <a:rPr lang="zh-CN" altLang="en-US" sz="2000" b="1" dirty="0" smtClean="0">
                <a:latin typeface="微软雅黑" panose="020B0503020204020204" charset="-122"/>
                <a:ea typeface="微软雅黑" panose="020B0503020204020204" charset="-122"/>
                <a:sym typeface="+mn-ea"/>
              </a:rPr>
              <a:t>档案袋中只放封面</a:t>
            </a:r>
            <a:r>
              <a:rPr lang="zh-CN" altLang="en-US" sz="2000" b="1" dirty="0" smtClean="0">
                <a:solidFill>
                  <a:srgbClr val="FF0000"/>
                </a:solidFill>
                <a:highlight>
                  <a:srgbClr val="FFFF00"/>
                </a:highlight>
                <a:latin typeface="微软雅黑" panose="020B0503020204020204" charset="-122"/>
                <a:ea typeface="微软雅黑" panose="020B0503020204020204" charset="-122"/>
                <a:sym typeface="+mn-ea"/>
              </a:rPr>
              <a:t>导师签字</a:t>
            </a:r>
            <a:r>
              <a:rPr lang="zh-CN" altLang="en-US" sz="2000" b="1" dirty="0" smtClean="0">
                <a:latin typeface="微软雅黑" panose="020B0503020204020204" charset="-122"/>
                <a:ea typeface="微软雅黑" panose="020B0503020204020204" charset="-122"/>
                <a:sym typeface="+mn-ea"/>
              </a:rPr>
              <a:t>并签署</a:t>
            </a:r>
            <a:r>
              <a:rPr lang="zh-CN" altLang="en-US" sz="2000" b="1" dirty="0" smtClean="0">
                <a:solidFill>
                  <a:srgbClr val="FF0000"/>
                </a:solidFill>
                <a:highlight>
                  <a:srgbClr val="FFFF00"/>
                </a:highlight>
                <a:latin typeface="微软雅黑" panose="020B0503020204020204" charset="-122"/>
                <a:ea typeface="微软雅黑" panose="020B0503020204020204" charset="-122"/>
                <a:sym typeface="+mn-ea"/>
              </a:rPr>
              <a:t>“同意按此版本印刷装订”</a:t>
            </a:r>
            <a:r>
              <a:rPr lang="zh-CN" altLang="en-US" sz="2000" b="1" dirty="0" smtClean="0">
                <a:latin typeface="微软雅黑" panose="020B0503020204020204" charset="-122"/>
                <a:ea typeface="微软雅黑" panose="020B0503020204020204" charset="-122"/>
                <a:sym typeface="+mn-ea"/>
              </a:rPr>
              <a:t>须导师手写，不可学生代写，其余</a:t>
            </a:r>
            <a:r>
              <a:rPr lang="en-US" altLang="zh-CN" sz="2000" b="1" dirty="0" smtClean="0">
                <a:latin typeface="微软雅黑" panose="020B0503020204020204" charset="-122"/>
                <a:ea typeface="微软雅黑" panose="020B0503020204020204" charset="-122"/>
                <a:sym typeface="+mn-ea"/>
              </a:rPr>
              <a:t>3</a:t>
            </a:r>
            <a:r>
              <a:rPr lang="zh-CN" altLang="en-US" sz="2000" b="1" dirty="0" smtClean="0">
                <a:latin typeface="微软雅黑" panose="020B0503020204020204" charset="-122"/>
                <a:ea typeface="微软雅黑" panose="020B0503020204020204" charset="-122"/>
                <a:sym typeface="+mn-ea"/>
              </a:rPr>
              <a:t>本不放档案袋</a:t>
            </a:r>
            <a:endParaRPr lang="zh-CN" altLang="en-US" sz="2000" b="1" dirty="0" smtClean="0">
              <a:latin typeface="微软雅黑" panose="020B0503020204020204" charset="-122"/>
              <a:ea typeface="微软雅黑" panose="020B0503020204020204" charset="-122"/>
              <a:sym typeface="+mn-ea"/>
            </a:endParaRPr>
          </a:p>
          <a:p>
            <a:pPr marL="0" algn="l">
              <a:lnSpc>
                <a:spcPct val="170000"/>
              </a:lnSpc>
              <a:buNone/>
            </a:pPr>
            <a:r>
              <a:rPr lang="en-US" altLang="zh-CN" sz="2000" b="1" dirty="0" smtClean="0">
                <a:latin typeface="微软雅黑" panose="020B0503020204020204" charset="-122"/>
                <a:ea typeface="微软雅黑" panose="020B0503020204020204" charset="-122"/>
                <a:sym typeface="+mn-ea"/>
              </a:rPr>
              <a:t>2</a:t>
            </a:r>
            <a:r>
              <a:rPr lang="zh-CN" altLang="en-US" sz="2000" b="1" dirty="0" smtClean="0">
                <a:latin typeface="微软雅黑" panose="020B0503020204020204" charset="-122"/>
                <a:ea typeface="微软雅黑" panose="020B0503020204020204" charset="-122"/>
                <a:sym typeface="+mn-ea"/>
              </a:rPr>
              <a:t>、</a:t>
            </a:r>
            <a:r>
              <a:rPr lang="zh-CN" altLang="en-US" sz="2000" b="1" dirty="0" smtClean="0">
                <a:latin typeface="微软雅黑" panose="020B0503020204020204" charset="-122"/>
                <a:ea typeface="微软雅黑" panose="020B0503020204020204" charset="-122"/>
                <a:sym typeface="+mn-ea"/>
              </a:rPr>
              <a:t>严格按照《中国科学院大学研究生学位论文撰写规范指导意见》（附件17）要求执行，请再次检查一下学生论文封面的</a:t>
            </a:r>
            <a:r>
              <a:rPr lang="zh-CN" altLang="en-US" sz="2000" b="1" dirty="0" smtClean="0">
                <a:solidFill>
                  <a:srgbClr val="FF0000"/>
                </a:solidFill>
                <a:highlight>
                  <a:srgbClr val="FFFF00"/>
                </a:highlight>
                <a:latin typeface="微软雅黑" panose="020B0503020204020204" charset="-122"/>
                <a:ea typeface="微软雅黑" panose="020B0503020204020204" charset="-122"/>
                <a:sym typeface="+mn-ea"/>
              </a:rPr>
              <a:t>专业及学位类别是否填写正确</a:t>
            </a:r>
            <a:endParaRPr lang="zh-CN" altLang="en-US" sz="2000" b="1" dirty="0" smtClean="0">
              <a:solidFill>
                <a:srgbClr val="FF0000"/>
              </a:solidFill>
              <a:highlight>
                <a:srgbClr val="FFFF00"/>
              </a:highlight>
              <a:latin typeface="微软雅黑" panose="020B0503020204020204" charset="-122"/>
              <a:ea typeface="微软雅黑" panose="020B0503020204020204" charset="-122"/>
              <a:sym typeface="+mn-ea"/>
            </a:endParaRPr>
          </a:p>
          <a:p>
            <a:pPr marL="0" algn="l">
              <a:lnSpc>
                <a:spcPct val="170000"/>
              </a:lnSpc>
              <a:buNone/>
            </a:pPr>
            <a:r>
              <a:rPr lang="en-US" altLang="zh-CN" sz="2000" b="1" dirty="0" smtClean="0">
                <a:latin typeface="微软雅黑" panose="020B0503020204020204" charset="-122"/>
                <a:ea typeface="微软雅黑" panose="020B0503020204020204" charset="-122"/>
              </a:rPr>
              <a:t> </a:t>
            </a:r>
            <a:r>
              <a:rPr lang="en-US" altLang="zh-CN" sz="2000" b="1" dirty="0" smtClean="0">
                <a:latin typeface="微软雅黑" panose="020B0503020204020204" charset="-122"/>
                <a:ea typeface="微软雅黑" panose="020B0503020204020204" charset="-122"/>
                <a:sym typeface="+mn-ea"/>
              </a:rPr>
              <a:t>3</a:t>
            </a:r>
            <a:r>
              <a:rPr lang="zh-CN" altLang="en-US" sz="2000" b="1" dirty="0" smtClean="0">
                <a:latin typeface="微软雅黑" panose="020B0503020204020204" charset="-122"/>
                <a:ea typeface="微软雅黑" panose="020B0503020204020204" charset="-122"/>
                <a:sym typeface="+mn-ea"/>
              </a:rPr>
              <a:t>、</a:t>
            </a:r>
            <a:r>
              <a:rPr lang="en-US" altLang="zh-CN" sz="2000" b="1" dirty="0" smtClean="0">
                <a:solidFill>
                  <a:srgbClr val="FF0000"/>
                </a:solidFill>
                <a:highlight>
                  <a:srgbClr val="FFFF00"/>
                </a:highlight>
                <a:latin typeface="微软雅黑" panose="020B0503020204020204" charset="-122"/>
                <a:ea typeface="微软雅黑" panose="020B0503020204020204" charset="-122"/>
                <a:sym typeface="+mn-ea"/>
              </a:rPr>
              <a:t>4</a:t>
            </a:r>
            <a:r>
              <a:rPr lang="zh-CN" altLang="en-US" sz="2000" b="1" dirty="0" smtClean="0">
                <a:solidFill>
                  <a:srgbClr val="FF0000"/>
                </a:solidFill>
                <a:highlight>
                  <a:srgbClr val="FFFF00"/>
                </a:highlight>
                <a:latin typeface="微软雅黑" panose="020B0503020204020204" charset="-122"/>
                <a:ea typeface="微软雅黑" panose="020B0503020204020204" charset="-122"/>
                <a:sym typeface="+mn-ea"/>
              </a:rPr>
              <a:t>本</a:t>
            </a:r>
            <a:r>
              <a:rPr lang="zh-CN" altLang="en-US" sz="2000" b="1" dirty="0" smtClean="0">
                <a:latin typeface="微软雅黑" panose="020B0503020204020204" charset="-122"/>
                <a:ea typeface="微软雅黑" panose="020B0503020204020204" charset="-122"/>
                <a:sym typeface="+mn-ea"/>
              </a:rPr>
              <a:t>论文印本中原创性声明及授权使用声明均需</a:t>
            </a:r>
            <a:r>
              <a:rPr lang="zh-CN" altLang="en-US" sz="2000" b="1" dirty="0" smtClean="0">
                <a:solidFill>
                  <a:srgbClr val="FF0000"/>
                </a:solidFill>
                <a:highlight>
                  <a:srgbClr val="FFFF00"/>
                </a:highlight>
                <a:latin typeface="微软雅黑" panose="020B0503020204020204" charset="-122"/>
                <a:ea typeface="微软雅黑" panose="020B0503020204020204" charset="-122"/>
                <a:sym typeface="+mn-ea"/>
              </a:rPr>
              <a:t>本人及导师签字</a:t>
            </a:r>
            <a:endParaRPr lang="zh-CN" altLang="en-US" sz="2000" b="1" dirty="0" smtClean="0">
              <a:solidFill>
                <a:srgbClr val="FF0000"/>
              </a:solidFill>
              <a:highlight>
                <a:srgbClr val="FFFF00"/>
              </a:highlight>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1150600"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r>
              <a:rPr lang="en-US" altLang="zh-CN" sz="4000" b="1" dirty="0">
                <a:latin typeface="微软雅黑" panose="020B0503020204020204" charset="-122"/>
                <a:ea typeface="微软雅黑" panose="020B0503020204020204" charset="-122"/>
              </a:rPr>
              <a:t> -  </a:t>
            </a:r>
            <a:r>
              <a:rPr lang="zh-CN" altLang="en-US" sz="4000" b="1" dirty="0">
                <a:latin typeface="微软雅黑" panose="020B0503020204020204" charset="-122"/>
                <a:ea typeface="微软雅黑" panose="020B0503020204020204" charset="-122"/>
              </a:rPr>
              <a:t>学位论文（</a:t>
            </a:r>
            <a:r>
              <a:rPr lang="en-US" altLang="zh-CN" sz="4000" b="1" dirty="0">
                <a:latin typeface="微软雅黑" panose="020B0503020204020204" charset="-122"/>
                <a:ea typeface="微软雅黑" panose="020B0503020204020204" charset="-122"/>
              </a:rPr>
              <a:t>4</a:t>
            </a:r>
            <a:r>
              <a:rPr lang="zh-CN" altLang="en-US" sz="4000" b="1" dirty="0">
                <a:latin typeface="微软雅黑" panose="020B0503020204020204" charset="-122"/>
                <a:ea typeface="微软雅黑" panose="020B0503020204020204" charset="-122"/>
              </a:rPr>
              <a:t>本）</a:t>
            </a:r>
            <a:endParaRPr lang="zh-CN" altLang="en-US" sz="4000" b="1" dirty="0">
              <a:latin typeface="微软雅黑" panose="020B0503020204020204" charset="-122"/>
              <a:ea typeface="微软雅黑" panose="020B0503020204020204" charset="-122"/>
            </a:endParaRPr>
          </a:p>
        </p:txBody>
      </p:sp>
      <p:sp>
        <p:nvSpPr>
          <p:cNvPr id="21" name="文本框 20"/>
          <p:cNvSpPr txBox="1"/>
          <p:nvPr/>
        </p:nvSpPr>
        <p:spPr>
          <a:xfrm>
            <a:off x="554355" y="1473200"/>
            <a:ext cx="4846320" cy="4276725"/>
          </a:xfrm>
          <a:prstGeom prst="rect">
            <a:avLst/>
          </a:prstGeom>
          <a:noFill/>
        </p:spPr>
        <p:txBody>
          <a:bodyPr wrap="square" rtlCol="0">
            <a:spAutoFit/>
          </a:bodyPr>
          <a:p>
            <a:pPr marL="0" algn="l">
              <a:lnSpc>
                <a:spcPct val="170000"/>
              </a:lnSpc>
              <a:buNone/>
            </a:pPr>
            <a:r>
              <a:rPr sz="2000" b="1" dirty="0" smtClean="0">
                <a:solidFill>
                  <a:srgbClr val="FF0000"/>
                </a:solidFill>
                <a:highlight>
                  <a:srgbClr val="FFFF00"/>
                </a:highlight>
                <a:latin typeface="微软雅黑" panose="020B0503020204020204" charset="-122"/>
                <a:ea typeface="微软雅黑" panose="020B0503020204020204" charset="-122"/>
                <a:sym typeface="+mn-ea"/>
              </a:rPr>
              <a:t>学位类别：</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highlight>
                  <a:srgbClr val="FFFF00"/>
                </a:highlight>
                <a:latin typeface="微软雅黑" panose="020B0503020204020204" charset="-122"/>
                <a:ea typeface="微软雅黑" panose="020B0503020204020204" charset="-122"/>
                <a:sym typeface="+mn-ea"/>
              </a:rPr>
              <a:t>工学博士：Doctor of Philosophy</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工学硕士：Master of Science in Engineering</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highlight>
                  <a:srgbClr val="FFFF00"/>
                </a:highlight>
                <a:latin typeface="微软雅黑" panose="020B0503020204020204" charset="-122"/>
                <a:ea typeface="微软雅黑" panose="020B0503020204020204" charset="-122"/>
                <a:sym typeface="+mn-ea"/>
              </a:rPr>
              <a:t>电子信息硕士</a:t>
            </a:r>
            <a:r>
              <a:rPr sz="2000" b="1" dirty="0" smtClean="0">
                <a:latin typeface="微软雅黑" panose="020B0503020204020204" charset="-122"/>
                <a:ea typeface="微软雅黑" panose="020B0503020204020204" charset="-122"/>
                <a:sym typeface="+mn-ea"/>
              </a:rPr>
              <a:t>（含电子信息、网络与信息安全）：Master of Electronic and Information Engineering</a:t>
            </a:r>
            <a:endParaRPr sz="2000" b="1" dirty="0" smtClean="0">
              <a:latin typeface="微软雅黑" panose="020B0503020204020204" charset="-122"/>
              <a:ea typeface="微软雅黑" panose="020B0503020204020204" charset="-122"/>
              <a:sym typeface="+mn-ea"/>
            </a:endParaRPr>
          </a:p>
          <a:p>
            <a:pPr marL="0" algn="l">
              <a:lnSpc>
                <a:spcPct val="170000"/>
              </a:lnSpc>
              <a:buNone/>
            </a:pPr>
            <a:endParaRPr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400675" y="1473200"/>
            <a:ext cx="6791960" cy="4799965"/>
          </a:xfrm>
          <a:prstGeom prst="rect">
            <a:avLst/>
          </a:prstGeom>
          <a:noFill/>
        </p:spPr>
        <p:txBody>
          <a:bodyPr wrap="square" rtlCol="0">
            <a:spAutoFit/>
          </a:bodyPr>
          <a:p>
            <a:pPr marL="0" algn="l">
              <a:lnSpc>
                <a:spcPct val="170000"/>
              </a:lnSpc>
              <a:buNone/>
            </a:pPr>
            <a:r>
              <a:rPr sz="2000" b="1" dirty="0" smtClean="0">
                <a:solidFill>
                  <a:srgbClr val="FF0000"/>
                </a:solidFill>
                <a:highlight>
                  <a:srgbClr val="FFFF00"/>
                </a:highlight>
                <a:latin typeface="微软雅黑" panose="020B0503020204020204" charset="-122"/>
                <a:ea typeface="微软雅黑" panose="020B0503020204020204" charset="-122"/>
                <a:sym typeface="+mn-ea"/>
              </a:rPr>
              <a:t>专业：</a:t>
            </a:r>
            <a:endParaRPr sz="2000" b="1" dirty="0" smtClean="0">
              <a:solidFill>
                <a:srgbClr val="FF0000"/>
              </a:solidFill>
              <a:highlight>
                <a:srgbClr val="FFFF00"/>
              </a:highlight>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网络空间安全：Cyberspace Security</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计算机应用技术：Computer Applied Technology</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计算机软件与理论：Computer Software and Theory</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计算机系统结构：Computer Systems Organization</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通信与信息系统：Communication and Information Systems</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信号与信息处理：Signal and Information Processing</a:t>
            </a:r>
            <a:endParaRPr sz="2000" b="1" dirty="0" smtClean="0">
              <a:latin typeface="微软雅黑" panose="020B0503020204020204" charset="-122"/>
              <a:ea typeface="微软雅黑" panose="020B0503020204020204" charset="-122"/>
              <a:sym typeface="+mn-ea"/>
            </a:endParaRPr>
          </a:p>
          <a:p>
            <a:pPr marL="0" algn="l">
              <a:lnSpc>
                <a:spcPct val="170000"/>
              </a:lnSpc>
              <a:buNone/>
            </a:pPr>
            <a:r>
              <a:rPr sz="2000" b="1" dirty="0" smtClean="0">
                <a:latin typeface="微软雅黑" panose="020B0503020204020204" charset="-122"/>
                <a:ea typeface="微软雅黑" panose="020B0503020204020204" charset="-122"/>
                <a:sym typeface="+mn-ea"/>
              </a:rPr>
              <a:t>网络与信息安全：Network and Information Security</a:t>
            </a:r>
            <a:endParaRPr sz="2000" b="1" dirty="0" smtClean="0">
              <a:latin typeface="微软雅黑" panose="020B0503020204020204" charset="-122"/>
              <a:ea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8"/>
          <p:cNvSpPr txBox="1"/>
          <p:nvPr/>
        </p:nvSpPr>
        <p:spPr>
          <a:xfrm>
            <a:off x="830580" y="504825"/>
            <a:ext cx="11150600" cy="706755"/>
          </a:xfrm>
          <a:prstGeom prst="rect">
            <a:avLst/>
          </a:prstGeom>
          <a:noFill/>
          <a:ln w="9525">
            <a:noFill/>
          </a:ln>
        </p:spPr>
        <p:txBody>
          <a:bodyPr wrap="square" anchor="t" anchorCtr="0">
            <a:spAutoFit/>
          </a:bodyPr>
          <a:p>
            <a:pPr eaLnBrk="0" hangingPunct="0"/>
            <a:r>
              <a:rPr lang="zh-CN" altLang="en-US" sz="4000" b="1" dirty="0">
                <a:latin typeface="微软雅黑" panose="020B0503020204020204" charset="-122"/>
                <a:ea typeface="微软雅黑" panose="020B0503020204020204" charset="-122"/>
              </a:rPr>
              <a:t>档案袋材料</a:t>
            </a:r>
            <a:r>
              <a:rPr lang="en-US" altLang="zh-CN" sz="4000" b="1" dirty="0">
                <a:latin typeface="微软雅黑" panose="020B0503020204020204" charset="-122"/>
                <a:ea typeface="微软雅黑" panose="020B0503020204020204" charset="-122"/>
              </a:rPr>
              <a:t> -  </a:t>
            </a:r>
            <a:r>
              <a:rPr lang="zh-CN" sz="4000" b="1" dirty="0">
                <a:latin typeface="微软雅黑" panose="020B0503020204020204" charset="-122"/>
                <a:ea typeface="微软雅黑" panose="020B0503020204020204" charset="-122"/>
              </a:rPr>
              <a:t>光盘</a:t>
            </a:r>
            <a:endParaRPr lang="zh-CN" sz="4000" b="1" dirty="0">
              <a:latin typeface="微软雅黑" panose="020B0503020204020204" charset="-122"/>
              <a:ea typeface="微软雅黑" panose="020B0503020204020204" charset="-122"/>
            </a:endParaRPr>
          </a:p>
        </p:txBody>
      </p:sp>
      <p:grpSp>
        <p:nvGrpSpPr>
          <p:cNvPr id="4" name="组合 3"/>
          <p:cNvGrpSpPr/>
          <p:nvPr/>
        </p:nvGrpSpPr>
        <p:grpSpPr>
          <a:xfrm>
            <a:off x="537210" y="1907540"/>
            <a:ext cx="3693160" cy="4260264"/>
            <a:chOff x="846" y="3019"/>
            <a:chExt cx="17249" cy="5725"/>
          </a:xfrm>
        </p:grpSpPr>
        <p:sp>
          <p:nvSpPr>
            <p:cNvPr id="10" name="矩形 9"/>
            <p:cNvSpPr/>
            <p:nvPr/>
          </p:nvSpPr>
          <p:spPr>
            <a:xfrm>
              <a:off x="846" y="3019"/>
              <a:ext cx="17249" cy="5725"/>
            </a:xfrm>
            <a:prstGeom prst="rect">
              <a:avLst/>
            </a:prstGeom>
            <a:solidFill>
              <a:srgbClr val="DC5C31">
                <a:lumMod val="20000"/>
                <a:lumOff val="80000"/>
              </a:srgbClr>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5" name="文本框 14"/>
            <p:cNvSpPr txBox="1"/>
            <p:nvPr/>
          </p:nvSpPr>
          <p:spPr>
            <a:xfrm>
              <a:off x="980" y="3185"/>
              <a:ext cx="16784" cy="4176"/>
            </a:xfrm>
            <a:prstGeom prst="rect">
              <a:avLst/>
            </a:prstGeom>
            <a:noFill/>
          </p:spPr>
          <p:txBody>
            <a:bodyPr wrap="square" rtlCol="0">
              <a:spAutoFit/>
            </a:bodyPr>
            <a:p>
              <a:pPr marL="0" algn="l">
                <a:lnSpc>
                  <a:spcPct val="140000"/>
                </a:lnSpc>
                <a:buNone/>
              </a:pPr>
              <a:r>
                <a:rPr lang="zh-CN" altLang="en-US" sz="2000" b="1" dirty="0" smtClean="0">
                  <a:latin typeface="微软雅黑" panose="020B0503020204020204" charset="-122"/>
                  <a:ea typeface="微软雅黑" panose="020B0503020204020204" charset="-122"/>
                  <a:sym typeface="黑体" panose="02010609060101010101" charset="-122"/>
                </a:rPr>
                <a:t>光盘（论文、答辩照片）：每个学生一张光盘</a:t>
              </a:r>
              <a:endParaRPr lang="zh-CN" altLang="en-US" sz="2000" b="1" dirty="0" smtClean="0">
                <a:latin typeface="微软雅黑" panose="020B0503020204020204" charset="-122"/>
                <a:ea typeface="微软雅黑" panose="020B0503020204020204" charset="-122"/>
                <a:sym typeface="黑体" panose="02010609060101010101" charset="-122"/>
              </a:endParaRPr>
            </a:p>
            <a:p>
              <a:pPr marL="0" algn="l">
                <a:lnSpc>
                  <a:spcPct val="140000"/>
                </a:lnSpc>
                <a:buNone/>
              </a:pPr>
              <a:r>
                <a:rPr lang="zh-CN" altLang="en-US" sz="2000" b="1" dirty="0" smtClean="0">
                  <a:latin typeface="微软雅黑" panose="020B0503020204020204" charset="-122"/>
                  <a:ea typeface="微软雅黑" panose="020B0503020204020204" charset="-122"/>
                  <a:sym typeface="黑体" panose="02010609060101010101" charset="-122"/>
                </a:rPr>
                <a:t>  </a:t>
              </a:r>
              <a:r>
                <a:rPr lang="zh-CN" altLang="en-US" sz="2000" u="sng" dirty="0" smtClean="0">
                  <a:latin typeface="微软雅黑" panose="020B0503020204020204" charset="-122"/>
                  <a:ea typeface="微软雅黑" panose="020B0503020204020204" charset="-122"/>
                  <a:sym typeface="黑体" panose="02010609060101010101" charset="-122"/>
                </a:rPr>
                <a:t>论文要求：</a:t>
              </a:r>
              <a:r>
                <a:rPr lang="zh-CN" altLang="en-US" sz="2000" dirty="0" smtClean="0">
                  <a:latin typeface="微软雅黑" panose="020B0503020204020204" charset="-122"/>
                  <a:ea typeface="微软雅黑" panose="020B0503020204020204" charset="-122"/>
                  <a:sym typeface="黑体" panose="02010609060101010101" charset="-122"/>
                </a:rPr>
                <a:t>（pdf格式，命名为：硕士/博士+姓名+学位论文题目 ）</a:t>
              </a:r>
              <a:endParaRPr lang="zh-CN" altLang="en-US" sz="2000" dirty="0" smtClean="0">
                <a:latin typeface="微软雅黑" panose="020B0503020204020204" charset="-122"/>
                <a:ea typeface="微软雅黑" panose="020B0503020204020204" charset="-122"/>
                <a:sym typeface="黑体" panose="02010609060101010101" charset="-122"/>
              </a:endParaRPr>
            </a:p>
            <a:p>
              <a:pPr marL="0" algn="l">
                <a:lnSpc>
                  <a:spcPct val="140000"/>
                </a:lnSpc>
                <a:buNone/>
              </a:pPr>
              <a:r>
                <a:rPr lang="zh-CN" altLang="en-US" sz="2000" dirty="0" smtClean="0">
                  <a:latin typeface="微软雅黑" panose="020B0503020204020204" charset="-122"/>
                  <a:ea typeface="微软雅黑" panose="020B0503020204020204" charset="-122"/>
                  <a:sym typeface="黑体" panose="02010609060101010101" charset="-122"/>
                </a:rPr>
                <a:t>  </a:t>
              </a:r>
              <a:r>
                <a:rPr lang="zh-CN" altLang="en-US" sz="2000" u="sng" dirty="0" smtClean="0">
                  <a:latin typeface="微软雅黑" panose="020B0503020204020204" charset="-122"/>
                  <a:ea typeface="微软雅黑" panose="020B0503020204020204" charset="-122"/>
                  <a:sym typeface="黑体" panose="02010609060101010101" charset="-122"/>
                </a:rPr>
                <a:t>答辩照片要求：</a:t>
              </a:r>
              <a:r>
                <a:rPr lang="zh-CN" altLang="en-US" sz="2000" dirty="0" smtClean="0">
                  <a:latin typeface="微软雅黑" panose="020B0503020204020204" charset="-122"/>
                  <a:ea typeface="微软雅黑" panose="020B0503020204020204" charset="-122"/>
                  <a:sym typeface="黑体" panose="02010609060101010101" charset="-122"/>
                </a:rPr>
                <a:t>（命名为：硕士/博士+姓名+答辩照片）</a:t>
              </a:r>
              <a:endParaRPr lang="zh-CN" altLang="en-US" sz="2000" dirty="0" smtClean="0">
                <a:latin typeface="微软雅黑" panose="020B0503020204020204" charset="-122"/>
                <a:ea typeface="微软雅黑" panose="020B0503020204020204" charset="-122"/>
                <a:sym typeface="黑体" panose="02010609060101010101" charset="-122"/>
              </a:endParaRPr>
            </a:p>
          </p:txBody>
        </p:sp>
      </p:grpSp>
      <p:sp>
        <p:nvSpPr>
          <p:cNvPr id="16" name="椭圆 15"/>
          <p:cNvSpPr/>
          <p:nvPr/>
        </p:nvSpPr>
        <p:spPr>
          <a:xfrm>
            <a:off x="5311140" y="1708785"/>
            <a:ext cx="4370705" cy="4370705"/>
          </a:xfrm>
          <a:prstGeom prst="ellipse">
            <a:avLst/>
          </a:prstGeom>
          <a:solidFill>
            <a:srgbClr val="DC5C31"/>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7" name="椭圆 16"/>
          <p:cNvSpPr/>
          <p:nvPr/>
        </p:nvSpPr>
        <p:spPr>
          <a:xfrm>
            <a:off x="6863715" y="3261360"/>
            <a:ext cx="1266190" cy="1266190"/>
          </a:xfrm>
          <a:prstGeom prst="ellipse">
            <a:avLst/>
          </a:prstGeom>
          <a:solidFill>
            <a:srgbClr val="FFFFFF"/>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18" name="文本框 17"/>
          <p:cNvSpPr txBox="1"/>
          <p:nvPr/>
        </p:nvSpPr>
        <p:spPr>
          <a:xfrm>
            <a:off x="6679248" y="2082800"/>
            <a:ext cx="1633855" cy="1050290"/>
          </a:xfrm>
          <a:prstGeom prst="rect">
            <a:avLst/>
          </a:prstGeom>
          <a:noFill/>
        </p:spPr>
        <p:txBody>
          <a:bodyPr wrap="none" rtlCol="0">
            <a:spAutoFit/>
          </a:bodyPr>
          <a:p>
            <a:pPr algn="ctr">
              <a:lnSpc>
                <a:spcPct val="130000"/>
              </a:lnSpc>
            </a:pPr>
            <a:r>
              <a:rPr lang="en-US" altLang="zh-CN" sz="2400" b="1" dirty="0" smtClean="0">
                <a:solidFill>
                  <a:srgbClr val="FFFFFF"/>
                </a:solidFill>
                <a:latin typeface="微软雅黑" panose="020B0503020204020204" charset="-122"/>
                <a:ea typeface="微软雅黑" panose="020B0503020204020204" charset="-122"/>
              </a:rPr>
              <a:t>2026</a:t>
            </a:r>
            <a:r>
              <a:rPr lang="zh-CN" altLang="en-US" sz="2400" b="1" dirty="0" smtClean="0">
                <a:solidFill>
                  <a:srgbClr val="FFFFFF"/>
                </a:solidFill>
                <a:latin typeface="微软雅黑" panose="020B0503020204020204" charset="-122"/>
                <a:ea typeface="微软雅黑" panose="020B0503020204020204" charset="-122"/>
              </a:rPr>
              <a:t>届</a:t>
            </a:r>
            <a:endParaRPr lang="zh-CN" altLang="en-US" sz="2400" b="1" dirty="0" smtClean="0">
              <a:solidFill>
                <a:srgbClr val="FFFFFF"/>
              </a:solidFill>
              <a:latin typeface="微软雅黑" panose="020B0503020204020204" charset="-122"/>
              <a:ea typeface="微软雅黑" panose="020B0503020204020204" charset="-122"/>
            </a:endParaRPr>
          </a:p>
          <a:p>
            <a:pPr algn="ctr">
              <a:lnSpc>
                <a:spcPct val="130000"/>
              </a:lnSpc>
            </a:pPr>
            <a:r>
              <a:rPr lang="zh-CN" altLang="en-US" sz="2400" b="1" dirty="0" smtClean="0">
                <a:solidFill>
                  <a:srgbClr val="FFFFFF"/>
                </a:solidFill>
                <a:latin typeface="微软雅黑" panose="020B0503020204020204" charset="-122"/>
                <a:ea typeface="微软雅黑" panose="020B0503020204020204" charset="-122"/>
              </a:rPr>
              <a:t>姓名</a:t>
            </a:r>
            <a:r>
              <a:rPr lang="en-US" altLang="zh-CN" sz="2400" b="1" dirty="0" smtClean="0">
                <a:solidFill>
                  <a:srgbClr val="FFFFFF"/>
                </a:solidFill>
                <a:latin typeface="微软雅黑" panose="020B0503020204020204" charset="-122"/>
                <a:ea typeface="微软雅黑" panose="020B0503020204020204" charset="-122"/>
              </a:rPr>
              <a:t>+</a:t>
            </a:r>
            <a:r>
              <a:rPr lang="zh-CN" altLang="en-US" sz="2400" b="1" dirty="0" smtClean="0">
                <a:solidFill>
                  <a:srgbClr val="FFFFFF"/>
                </a:solidFill>
                <a:latin typeface="微软雅黑" panose="020B0503020204020204" charset="-122"/>
                <a:ea typeface="微软雅黑" panose="020B0503020204020204" charset="-122"/>
              </a:rPr>
              <a:t>部门</a:t>
            </a:r>
            <a:endParaRPr lang="zh-CN" altLang="en-US" sz="2400" b="1" dirty="0" smtClean="0">
              <a:solidFill>
                <a:srgbClr val="FFFFFF"/>
              </a:solidFill>
              <a:latin typeface="微软雅黑" panose="020B0503020204020204" charset="-122"/>
              <a:ea typeface="微软雅黑" panose="020B0503020204020204" charset="-122"/>
            </a:endParaRPr>
          </a:p>
        </p:txBody>
      </p:sp>
      <p:sp>
        <p:nvSpPr>
          <p:cNvPr id="22" name="矩形 21"/>
          <p:cNvSpPr/>
          <p:nvPr/>
        </p:nvSpPr>
        <p:spPr>
          <a:xfrm>
            <a:off x="6271895" y="2032635"/>
            <a:ext cx="2449830" cy="1091565"/>
          </a:xfrm>
          <a:prstGeom prst="rect">
            <a:avLst/>
          </a:prstGeom>
          <a:noFill/>
          <a:ln w="34925" cap="flat" cmpd="sng" algn="ctr">
            <a:solidFill>
              <a:srgbClr val="C00000"/>
            </a:solidFill>
            <a:prstDash val="solid"/>
            <a:miter lim="800000"/>
          </a:ln>
          <a:effectLst/>
        </p:spPr>
        <p:txBody>
          <a:bodyPr rtlCol="0" anchor="ctr"/>
          <a:p>
            <a:pPr algn="ctr"/>
            <a:endParaRPr lang="zh-CN" altLang="en-US">
              <a:solidFill>
                <a:srgbClr val="4B4D4F"/>
              </a:solidFill>
              <a:latin typeface="Arial" panose="020B0604020202020204" pitchFamily="34" charset="0"/>
              <a:ea typeface="黑体" panose="02010609060101010101" charset="-122"/>
            </a:endParaRPr>
          </a:p>
        </p:txBody>
      </p:sp>
      <p:grpSp>
        <p:nvGrpSpPr>
          <p:cNvPr id="23" name="组合 22"/>
          <p:cNvGrpSpPr/>
          <p:nvPr/>
        </p:nvGrpSpPr>
        <p:grpSpPr>
          <a:xfrm rot="0">
            <a:off x="10212070" y="2961005"/>
            <a:ext cx="1814195" cy="1865611"/>
            <a:chOff x="9574" y="5762"/>
            <a:chExt cx="2857" cy="6629"/>
          </a:xfrm>
        </p:grpSpPr>
        <p:sp>
          <p:nvSpPr>
            <p:cNvPr id="24" name="矩形 23"/>
            <p:cNvSpPr/>
            <p:nvPr/>
          </p:nvSpPr>
          <p:spPr>
            <a:xfrm>
              <a:off x="9574" y="5762"/>
              <a:ext cx="2857" cy="6629"/>
            </a:xfrm>
            <a:prstGeom prst="rect">
              <a:avLst/>
            </a:prstGeom>
            <a:solidFill>
              <a:srgbClr val="DC5C31">
                <a:lumMod val="20000"/>
                <a:lumOff val="80000"/>
              </a:srgbClr>
            </a:solidFill>
            <a:ln w="28575" cap="flat" cmpd="sng" algn="ctr">
              <a:solidFill>
                <a:srgbClr val="DC5C31">
                  <a:shade val="50000"/>
                </a:srgbClr>
              </a:solid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sp>
          <p:nvSpPr>
            <p:cNvPr id="25" name="文本框 24"/>
            <p:cNvSpPr txBox="1"/>
            <p:nvPr/>
          </p:nvSpPr>
          <p:spPr>
            <a:xfrm>
              <a:off x="9712" y="6005"/>
              <a:ext cx="2581" cy="5573"/>
            </a:xfrm>
            <a:prstGeom prst="rect">
              <a:avLst/>
            </a:prstGeom>
            <a:noFill/>
          </p:spPr>
          <p:txBody>
            <a:bodyPr wrap="square" rtlCol="0">
              <a:spAutoFit/>
            </a:bodyPr>
            <a:p>
              <a:pPr>
                <a:lnSpc>
                  <a:spcPct val="150000"/>
                </a:lnSpc>
              </a:pPr>
              <a:r>
                <a:rPr lang="zh-CN" altLang="en-US" sz="1600" dirty="0" smtClean="0">
                  <a:latin typeface="Arial" panose="020B0604020202020204" pitchFamily="34" charset="0"/>
                  <a:ea typeface="微软雅黑" panose="020B0503020204020204" charset="-122"/>
                </a:rPr>
                <a:t>光盘表面标清：</a:t>
              </a:r>
              <a:r>
                <a:rPr lang="en-US" altLang="zh-CN" sz="1600" dirty="0" smtClean="0">
                  <a:latin typeface="Arial" panose="020B0604020202020204" pitchFamily="34" charset="0"/>
                  <a:ea typeface="微软雅黑" panose="020B0503020204020204" charset="-122"/>
                </a:rPr>
                <a:t>2026</a:t>
              </a:r>
              <a:r>
                <a:rPr lang="zh-CN" altLang="en-US" sz="1600" dirty="0" smtClean="0">
                  <a:latin typeface="Arial" panose="020B0604020202020204" pitchFamily="34" charset="0"/>
                  <a:ea typeface="微软雅黑" panose="020B0503020204020204" charset="-122"/>
                </a:rPr>
                <a:t>届、姓名、部门</a:t>
              </a:r>
              <a:endParaRPr lang="zh-CN" altLang="en-US" sz="1600" dirty="0" smtClean="0">
                <a:latin typeface="Arial" panose="020B0604020202020204" pitchFamily="34" charset="0"/>
                <a:ea typeface="微软雅黑" panose="020B0503020204020204" charset="-122"/>
              </a:endParaRPr>
            </a:p>
            <a:p>
              <a:pPr>
                <a:lnSpc>
                  <a:spcPct val="150000"/>
                </a:lnSpc>
              </a:pPr>
              <a:r>
                <a:rPr lang="zh-CN" altLang="en-US" sz="1600" dirty="0" smtClean="0">
                  <a:latin typeface="Arial" panose="020B0604020202020204" pitchFamily="34" charset="0"/>
                  <a:ea typeface="微软雅黑" panose="020B0503020204020204" charset="-122"/>
                </a:rPr>
                <a:t>光盘放入</a:t>
              </a:r>
              <a:r>
                <a:rPr lang="zh-CN" altLang="en-US" sz="1600" b="1" dirty="0" smtClean="0">
                  <a:latin typeface="Arial" panose="020B0604020202020204" pitchFamily="34" charset="0"/>
                  <a:ea typeface="微软雅黑" panose="020B0503020204020204" charset="-122"/>
                </a:rPr>
                <a:t>光盘套</a:t>
              </a:r>
              <a:endParaRPr lang="zh-CN" altLang="en-US" sz="1600" b="1" dirty="0" smtClean="0">
                <a:latin typeface="Arial" panose="020B0604020202020204" pitchFamily="34" charset="0"/>
                <a:ea typeface="微软雅黑" panose="020B0503020204020204" charset="-122"/>
              </a:endParaRPr>
            </a:p>
          </p:txBody>
        </p:sp>
      </p:grpSp>
      <p:sp>
        <p:nvSpPr>
          <p:cNvPr id="26" name="矩形 25"/>
          <p:cNvSpPr/>
          <p:nvPr/>
        </p:nvSpPr>
        <p:spPr>
          <a:xfrm>
            <a:off x="5005705" y="1484630"/>
            <a:ext cx="4982845" cy="4819650"/>
          </a:xfrm>
          <a:prstGeom prst="rect">
            <a:avLst/>
          </a:prstGeom>
          <a:solidFill>
            <a:srgbClr val="3D3F41">
              <a:lumMod val="20000"/>
              <a:lumOff val="80000"/>
              <a:alpha val="48000"/>
            </a:srgbClr>
          </a:solidFill>
          <a:ln w="12700" cap="flat" cmpd="sng" algn="ctr">
            <a:noFill/>
            <a:prstDash val="solid"/>
            <a:miter lim="800000"/>
          </a:ln>
          <a:effectLst/>
        </p:spPr>
        <p:txBody>
          <a:bodyPr rtlCol="0" anchor="ctr"/>
          <a:p>
            <a:pPr algn="ctr"/>
            <a:endParaRPr lang="zh-CN" altLang="en-US">
              <a:solidFill>
                <a:srgbClr val="FFFFFF"/>
              </a:solidFill>
              <a:latin typeface="Arial" panose="020B0604020202020204" pitchFamily="34" charset="0"/>
              <a:ea typeface="黑体" panose="02010609060101010101" charset="-122"/>
            </a:endParaRPr>
          </a:p>
        </p:txBody>
      </p:sp>
      <p:cxnSp>
        <p:nvCxnSpPr>
          <p:cNvPr id="27" name="直接箭头连接符 26"/>
          <p:cNvCxnSpPr/>
          <p:nvPr/>
        </p:nvCxnSpPr>
        <p:spPr>
          <a:xfrm flipV="1">
            <a:off x="9589770" y="4598670"/>
            <a:ext cx="1876425" cy="1062990"/>
          </a:xfrm>
          <a:prstGeom prst="straightConnector1">
            <a:avLst/>
          </a:prstGeom>
          <a:noFill/>
          <a:ln w="50800" cap="flat" cmpd="sng" algn="ctr">
            <a:solidFill>
              <a:srgbClr val="C00000"/>
            </a:solidFill>
            <a:prstDash val="solid"/>
            <a:miter lim="800000"/>
            <a:tailEnd type="triangle"/>
          </a:ln>
          <a:effectLst/>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1" descr="A-6.1 标志与中英文名称左右组合"/>
          <p:cNvPicPr>
            <a:picLocks noChangeAspect="1"/>
          </p:cNvPicPr>
          <p:nvPr/>
        </p:nvPicPr>
        <p:blipFill>
          <a:blip r:embed="rId1"/>
          <a:stretch>
            <a:fillRect/>
          </a:stretch>
        </p:blipFill>
        <p:spPr>
          <a:xfrm>
            <a:off x="352425" y="6000115"/>
            <a:ext cx="3599815" cy="682625"/>
          </a:xfrm>
          <a:prstGeom prst="rect">
            <a:avLst/>
          </a:prstGeom>
        </p:spPr>
      </p:pic>
      <p:sp>
        <p:nvSpPr>
          <p:cNvPr id="3" name="矩形 2"/>
          <p:cNvSpPr/>
          <p:nvPr/>
        </p:nvSpPr>
        <p:spPr>
          <a:xfrm>
            <a:off x="-17145" y="-5715"/>
            <a:ext cx="12212320" cy="1659255"/>
          </a:xfrm>
          <a:prstGeom prst="rect">
            <a:avLst/>
          </a:prstGeom>
          <a:gradFill>
            <a:gsLst>
              <a:gs pos="1000">
                <a:srgbClr val="A20000"/>
              </a:gs>
              <a:gs pos="100000">
                <a:srgbClr val="A20000"/>
              </a:gs>
              <a:gs pos="68000">
                <a:srgbClr val="DC0000"/>
              </a:gs>
              <a:gs pos="30000">
                <a:srgbClr val="DC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4610735" y="234950"/>
            <a:ext cx="7584440" cy="1050925"/>
          </a:xfrm>
          <a:prstGeom prst="rect">
            <a:avLst/>
          </a:prstGeom>
          <a:noFill/>
        </p:spPr>
        <p:txBody>
          <a:bodyPr wrap="square" rtlCol="0">
            <a:spAutoFit/>
          </a:bodyPr>
          <a:p>
            <a:pPr>
              <a:lnSpc>
                <a:spcPct val="130000"/>
              </a:lnSpc>
            </a:pPr>
            <a:r>
              <a:rPr lang="zh-CN" altLang="en-US" sz="4800" b="1" dirty="0" smtClean="0">
                <a:solidFill>
                  <a:srgbClr val="FFFF00"/>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cs typeface="微软雅黑" panose="020B0503020204020204" charset="-122"/>
              </a:rPr>
              <a:t>博士研究生学位论文答辩会</a:t>
            </a:r>
            <a:endParaRPr lang="zh-CN" altLang="en-US" sz="4800" b="1" dirty="0" smtClean="0">
              <a:solidFill>
                <a:srgbClr val="FFFF00"/>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996315" y="127000"/>
            <a:ext cx="3317875" cy="650875"/>
          </a:xfrm>
          <a:prstGeom prst="rect">
            <a:avLst/>
          </a:prstGeom>
          <a:noFill/>
        </p:spPr>
        <p:txBody>
          <a:bodyPr wrap="square" rtlCol="0">
            <a:spAutoFit/>
          </a:bodyPr>
          <a:p>
            <a:pPr>
              <a:lnSpc>
                <a:spcPct val="130000"/>
              </a:lnSpc>
            </a:pPr>
            <a:r>
              <a:rPr lang="zh-CN" altLang="en-US" sz="2800" b="1" dirty="0" smtClean="0">
                <a:solidFill>
                  <a:srgbClr val="FFFF00"/>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cs typeface="微软雅黑" panose="020B0503020204020204" charset="-122"/>
              </a:rPr>
              <a:t>中国科学院大学</a:t>
            </a:r>
            <a:endParaRPr lang="zh-CN" altLang="en-US" sz="2800" b="1" dirty="0" smtClean="0">
              <a:solidFill>
                <a:srgbClr val="FFFF00"/>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32385" y="749935"/>
            <a:ext cx="5245100" cy="650875"/>
          </a:xfrm>
          <a:prstGeom prst="rect">
            <a:avLst/>
          </a:prstGeom>
          <a:noFill/>
        </p:spPr>
        <p:txBody>
          <a:bodyPr wrap="square" rtlCol="0">
            <a:spAutoFit/>
          </a:bodyPr>
          <a:p>
            <a:pPr>
              <a:lnSpc>
                <a:spcPct val="130000"/>
              </a:lnSpc>
            </a:pPr>
            <a:r>
              <a:rPr lang="zh-CN" altLang="en-US" sz="2800" b="1" dirty="0" smtClean="0">
                <a:solidFill>
                  <a:srgbClr val="FFFF00"/>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cs typeface="微软雅黑" panose="020B0503020204020204" charset="-122"/>
                <a:sym typeface="+mn-ea"/>
              </a:rPr>
              <a:t>中国科学院</a:t>
            </a:r>
            <a:r>
              <a:rPr lang="zh-CN" altLang="en-US" sz="2800" b="1" dirty="0" smtClean="0">
                <a:solidFill>
                  <a:srgbClr val="FFFF00"/>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cs typeface="微软雅黑" panose="020B0503020204020204" charset="-122"/>
              </a:rPr>
              <a:t>信息工程研究所</a:t>
            </a:r>
            <a:endParaRPr lang="zh-CN" altLang="en-US" sz="2800" b="1" dirty="0" smtClean="0">
              <a:solidFill>
                <a:srgbClr val="FFFF00"/>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cs typeface="微软雅黑" panose="020B0503020204020204" charset="-122"/>
            </a:endParaRPr>
          </a:p>
        </p:txBody>
      </p:sp>
      <p:pic>
        <p:nvPicPr>
          <p:cNvPr id="8" name="图片 7" descr="UCAS2"/>
          <p:cNvPicPr>
            <a:picLocks noChangeAspect="1"/>
          </p:cNvPicPr>
          <p:nvPr/>
        </p:nvPicPr>
        <p:blipFill>
          <a:blip r:embed="rId2"/>
          <a:stretch>
            <a:fillRect/>
          </a:stretch>
        </p:blipFill>
        <p:spPr>
          <a:xfrm>
            <a:off x="9157970" y="6052185"/>
            <a:ext cx="2758440" cy="578485"/>
          </a:xfrm>
          <a:prstGeom prst="rect">
            <a:avLst/>
          </a:prstGeom>
        </p:spPr>
      </p:pic>
      <p:sp>
        <p:nvSpPr>
          <p:cNvPr id="11" name="文本框 10"/>
          <p:cNvSpPr txBox="1"/>
          <p:nvPr/>
        </p:nvSpPr>
        <p:spPr>
          <a:xfrm>
            <a:off x="3895091" y="2823210"/>
            <a:ext cx="4246880" cy="891540"/>
          </a:xfrm>
          <a:prstGeom prst="rect">
            <a:avLst/>
          </a:prstGeom>
          <a:noFill/>
        </p:spPr>
        <p:txBody>
          <a:bodyPr wrap="none" rtlCol="0">
            <a:spAutoFit/>
          </a:bodyPr>
          <a:p>
            <a:pPr algn="ctr">
              <a:lnSpc>
                <a:spcPct val="130000"/>
              </a:lnSpc>
            </a:pPr>
            <a:r>
              <a:rPr lang="zh-CN" altLang="en-US" sz="4000" dirty="0" smtClean="0">
                <a:solidFill>
                  <a:schemeClr val="tx1">
                    <a:lumMod val="50000"/>
                  </a:schemeClr>
                </a:solidFill>
                <a:latin typeface="微软雅黑" panose="020B0503020204020204" charset="-122"/>
                <a:ea typeface="微软雅黑" panose="020B0503020204020204" charset="-122"/>
                <a:cs typeface="微软雅黑" panose="020B0503020204020204" charset="-122"/>
              </a:rPr>
              <a:t>答辩合影</a:t>
            </a:r>
            <a:r>
              <a:rPr lang="zh-CN" sz="4000" dirty="0" smtClean="0">
                <a:solidFill>
                  <a:schemeClr val="tx1">
                    <a:lumMod val="50000"/>
                  </a:schemeClr>
                </a:solidFill>
                <a:latin typeface="微软雅黑" panose="020B0503020204020204" charset="-122"/>
                <a:ea typeface="微软雅黑" panose="020B0503020204020204" charset="-122"/>
                <a:cs typeface="微软雅黑" panose="020B0503020204020204" charset="-122"/>
              </a:rPr>
              <a:t>横幅</a:t>
            </a:r>
            <a:r>
              <a:rPr lang="zh-CN" altLang="en-US" sz="4000" dirty="0" smtClean="0">
                <a:solidFill>
                  <a:schemeClr val="tx1">
                    <a:lumMod val="50000"/>
                  </a:schemeClr>
                </a:solidFill>
                <a:latin typeface="微软雅黑" panose="020B0503020204020204" charset="-122"/>
                <a:ea typeface="微软雅黑" panose="020B0503020204020204" charset="-122"/>
                <a:cs typeface="微软雅黑" panose="020B0503020204020204" charset="-122"/>
              </a:rPr>
              <a:t>模板</a:t>
            </a:r>
            <a:endParaRPr lang="zh-CN" altLang="en-US" sz="4000" dirty="0" smtClean="0">
              <a:solidFill>
                <a:schemeClr val="tx1">
                  <a:lumMod val="50000"/>
                </a:schemeClr>
              </a:solidFill>
              <a:latin typeface="微软雅黑" panose="020B0503020204020204" charset="-122"/>
              <a:ea typeface="微软雅黑" panose="020B0503020204020204" charset="-122"/>
              <a:cs typeface="微软雅黑" panose="020B0503020204020204"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MH" val="20151016094337"/>
  <p:tag name="MH_LIBRARY" val="CONTENTS"/>
  <p:tag name="MH_TYPE" val="OTHERS"/>
  <p:tag name="ID" val="547141"/>
</p:tagLst>
</file>

<file path=ppt/tags/tag2.xml><?xml version="1.0" encoding="utf-8"?>
<p:tagLst xmlns:p="http://schemas.openxmlformats.org/presentationml/2006/main">
  <p:tag name="MH" val="20151016094337"/>
  <p:tag name="MH_LIBRARY" val="CONTENTS"/>
  <p:tag name="MH_TYPE" val="NUMBER"/>
  <p:tag name="ID" val="547141"/>
  <p:tag name="MH_ORDER" val="NUMBER"/>
</p:tagLst>
</file>

<file path=ppt/tags/tag3.xml><?xml version="1.0" encoding="utf-8"?>
<p:tagLst xmlns:p="http://schemas.openxmlformats.org/presentationml/2006/main">
  <p:tag name="MH" val="20151016100714"/>
  <p:tag name="MH_LIBRARY" val="GRAPHIC"/>
  <p:tag name="MH_ORDER" val="Straight Connector 10"/>
</p:tagLst>
</file>

<file path=ppt/tags/tag4.xml><?xml version="1.0" encoding="utf-8"?>
<p:tagLst xmlns:p="http://schemas.openxmlformats.org/presentationml/2006/main">
  <p:tag name="KSO_WM_SLIDE_MODEL_TYPE" val="cover"/>
  <p:tag name="KSO_WM_TEMPLATE_TOPIC_ID" val="2869567"/>
  <p:tag name="KSO_WM_TEMPLATE_OUTLINE_ID" val="15"/>
  <p:tag name="KSO_WM_TEMPLATE_SCENE_ID" val="1"/>
  <p:tag name="KSO_WM_TEMPLATE_JOB_ID" val="2"/>
  <p:tag name="KSO_WM_TEMPLATE_TOPIC_DEFAULT" val="1"/>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TABLE_BEAUTIFY" val="smartTable{3f0e8609-6f98-439f-a922-4cf79e899263}"/>
  <p:tag name="TABLE_ENDDRAG_ORIGIN_RECT" val="810*406"/>
  <p:tag name="TABLE_ENDDRAG_RECT" val="49*110*810*406"/>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UNIT_TABLE_BEAUTIFY" val="smartTable{94a2f7f9-a2e7-4919-9977-faf2696a6c0c}"/>
  <p:tag name="TABLE_ENDDRAG_ORIGIN_RECT" val="810*386"/>
  <p:tag name="TABLE_ENDDRAG_RECT" val="49*110*810*386"/>
</p:tagLst>
</file>

<file path=ppt/tags/tag10.xml><?xml version="1.0" encoding="utf-8"?>
<p:tagLst xmlns:p="http://schemas.openxmlformats.org/presentationml/2006/main">
  <p:tag name="KSO_WM_UNIT_PLACING_PICTURE_USER_VIEWPORT" val="{&quot;height&quot;:4732,&quot;width&quot;:8515}"/>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UNIT_TABLE_BEAUTIFY" val="smartTable{f527e89c-cb04-42e5-9cba-b95fc11c5cc1}"/>
  <p:tag name="TABLE_ENDDRAG_ORIGIN_RECT" val="862*396"/>
  <p:tag name="TABLE_ENDDRAG_RECT" val="48*118*862*396"/>
</p:tagLst>
</file>

<file path=ppt/tags/tag16.xml><?xml version="1.0" encoding="utf-8"?>
<p:tagLst xmlns:p="http://schemas.openxmlformats.org/presentationml/2006/main">
  <p:tag name="KSO_WM_BEAUTIFY_FLAG" val="#wm#"/>
  <p:tag name="KSO_WM_TEMPLATE_CATEGORY" val="diagram"/>
  <p:tag name="KSO_WM_TEMPLATE_INDEX" val="20200419"/>
  <p:tag name="KSO_WM_SLIDE_ID" val="diagram20200419_1"/>
  <p:tag name="KSO_WM_TEMPLATE_SUBCATEGORY" val="0"/>
  <p:tag name="KSO_WM_SLIDE_TYPE" val="text"/>
  <p:tag name="KSO_WM_SLIDE_SUBTYPE" val="picTxt"/>
  <p:tag name="KSO_WM_SLIDE_ITEM_CNT" val="0"/>
  <p:tag name="KSO_WM_SLIDE_INDEX" val="1"/>
  <p:tag name="KSO_WM_UNIT_SHOW_EDIT_AREA_INDICATION" val="1"/>
  <p:tag name="KSO_WM_SLIDE_SIZE" val="859*444"/>
  <p:tag name="KSO_WM_SLIDE_POSITION" val="52*47"/>
  <p:tag name="KSO_WM_TAG_VERSION" val="1.0"/>
  <p:tag name="KSO_WM_SLIDE_LAYOUT" val="a_d_f"/>
  <p:tag name="KSO_WM_SLIDE_LAYOUT_CNT" val="1_1_1"/>
  <p:tag name="KSO_WM_SLIDE_LAYOUT_INFO" val="{&quot;direction&quot;:1,&quot;horizontalAlign&quot;:-1,&quot;verticalAlign&quot;:-1,&quot;type&quot;:1,&quot;diagramDirection&quot;:0,&quot;canSetOverLayout&quot;:0,&quot;isOverLayout&quot;:0,&quot;normalSize&quot;:{&quot;size1&quot;:54.4},&quot;minSize&quot;:{&quot;size1&quot;:47.7},&quot;maxSize&quot;:{&quot;size1&quot;:61.2},&quot;backgroundInfo&quot;:[{&quot;type&quot;:&quot;general&quot;,&quot;left&quot;:0.0,&quot;top&quot;:0.0,&quot;right&quot;:0.0,&quot;bottom&quot;:0.0},{&quot;type&quot;:&quot;frame&quot;,&quot;left&quot;:0.0,&quot;top&quot;:0.0,&quot;right&quot;:0.0,&quot;bottom&quot;:0.0}],&quot;subLayout&quot;:[{&quot;direction&quot;:0,&quot;horizontalAlign&quot;:2,&quot;verticalAlign&quot;:1,&quot;type&quot;:0,&quot;diagramDirection&quot;:1,&quot;canSetOverLayout&quot;:0,&quot;isOverLayout&quot;:0,&quot;margin&quot;:{&quot;left&quot;:1.846,&quot;top&quot;:1.69,&quot;right&quot;:2.583,&quot;bottom&quot;:1.69}},{&quot;direction&quot;:0,&quot;horizontalAlign&quot;:0,&quot;verticalAlign&quot;:1,&quot;type&quot;:1,&quot;diagramDirection&quot;:0,&quot;canSetOverLayout&quot;:1,&quot;isOverLayout&quot;:0,&quot;margin&quot;:{&quot;left&quot;:0.026,&quot;top&quot;:1.69,&quot;right&quot;:1.707,&quot;bottom&quot;:1.69},&quot;marginOverLayout&quot;:{&quot;left&quot;:0.026,&quot;top&quot;:0.0,&quot;right&quot;:0.0,&quot;bottom&quot;:0.0}}]}"/>
  <p:tag name="KSO_WM_SLIDE_CAN_ADD_NAVIGATION" val="1"/>
  <p:tag name="KSO_WM_SLIDE_BACKGROUND" val="[&quot;general&quot;,&quot;frame&quot;]"/>
  <p:tag name="KSO_WM_SLIDE_RATIO" val="1.777778"/>
  <p:tag name="KSO_WM_SPECIAL_SOURCE" val="bdnul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模板 中国科学院信息工程研究所PPT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000120140530A99PPBG">
  <a:themeElements>
    <a:clrScheme name="kso_RED8">
      <a:dk1>
        <a:srgbClr val="4B4D4F"/>
      </a:dk1>
      <a:lt1>
        <a:srgbClr val="FFFFFF"/>
      </a:lt1>
      <a:dk2>
        <a:srgbClr val="3D3F41"/>
      </a:dk2>
      <a:lt2>
        <a:srgbClr val="EEECE1"/>
      </a:lt2>
      <a:accent1>
        <a:srgbClr val="DC5C31"/>
      </a:accent1>
      <a:accent2>
        <a:srgbClr val="EA9B26"/>
      </a:accent2>
      <a:accent3>
        <a:srgbClr val="D36D8D"/>
      </a:accent3>
      <a:accent4>
        <a:srgbClr val="D46E5A"/>
      </a:accent4>
      <a:accent5>
        <a:srgbClr val="FCCF86"/>
      </a:accent5>
      <a:accent6>
        <a:srgbClr val="AA5ED4"/>
      </a:accent6>
      <a:hlink>
        <a:srgbClr val="00B0F0"/>
      </a:hlink>
      <a:folHlink>
        <a:srgbClr val="AFB2B4"/>
      </a:folHlink>
    </a:clrScheme>
    <a:fontScheme name="自定义 10">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5616</Words>
  <Application>WPS 演示</Application>
  <PresentationFormat>宽屏</PresentationFormat>
  <Paragraphs>538</Paragraphs>
  <Slides>31</Slides>
  <Notes>4</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31</vt:i4>
      </vt:variant>
    </vt:vector>
  </HeadingPairs>
  <TitlesOfParts>
    <vt:vector size="47" baseType="lpstr">
      <vt:lpstr>Arial</vt:lpstr>
      <vt:lpstr>宋体</vt:lpstr>
      <vt:lpstr>Wingdings</vt:lpstr>
      <vt:lpstr>微软雅黑</vt:lpstr>
      <vt:lpstr>Wingdings 2</vt:lpstr>
      <vt:lpstr>Wingdings</vt:lpstr>
      <vt:lpstr>幼圆</vt:lpstr>
      <vt:lpstr>Times New Roman</vt:lpstr>
      <vt:lpstr>Calibri</vt:lpstr>
      <vt:lpstr>黑体</vt:lpstr>
      <vt:lpstr>仿宋_GB2312</vt:lpstr>
      <vt:lpstr>Arial Unicode MS</vt:lpstr>
      <vt:lpstr>Calibri Light</vt:lpstr>
      <vt:lpstr>Office 主题</vt:lpstr>
      <vt:lpstr>1_模板 中国科学院信息工程研究所PPT模板</vt:lpstr>
      <vt:lpstr>A000120140530A99PPBG</vt:lpstr>
      <vt:lpstr>学位论文答辩工作指南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Marga</cp:lastModifiedBy>
  <cp:revision>163</cp:revision>
  <dcterms:created xsi:type="dcterms:W3CDTF">2019-06-19T02:08:00Z</dcterms:created>
  <dcterms:modified xsi:type="dcterms:W3CDTF">2026-01-21T01:27:45Z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7330BF78CC0B44AB8C32F85099C51064_11</vt:lpwstr>
  </property>
</Properties>
</file>